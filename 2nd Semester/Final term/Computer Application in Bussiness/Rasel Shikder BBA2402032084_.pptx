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6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Garrison Sans 2" panose="020BE200000000000000"/>
      <p:regular r:id="rId10"/>
    </p:embeddedFont>
    <p:embeddedFont>
      <p:font typeface="Garrison Sans 1" panose="020B0604020202020204"/>
      <p:regular r:id="rId11"/>
    </p:embeddedFont>
    <p:embeddedFont>
      <p:font typeface="Cambria" panose="02040503050406030204" pitchFamily="18" charset="0"/>
      <p:regular r:id="rId12"/>
      <p:bold r:id="rId13"/>
      <p:italic r:id="rId14"/>
      <p:bold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libri Light" panose="020F0302020204030204" pitchFamily="34" charset="0"/>
      <p:regular r:id="rId20"/>
      <p: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5479F7"/>
    <a:srgbClr val="5FAD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2" d="100"/>
          <a:sy n="42" d="100"/>
        </p:scale>
        <p:origin x="78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8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234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06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4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40"/>
            <a:ext cx="7772400" cy="65270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40"/>
            <a:ext cx="7772400" cy="65270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96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547690"/>
            <a:ext cx="15773400" cy="198834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2521745"/>
            <a:ext cx="7774783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3757613"/>
            <a:ext cx="7774783" cy="55268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20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47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19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3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82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3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91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38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90"/>
            <a:ext cx="3943351" cy="871775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90"/>
            <a:ext cx="11601451" cy="871775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1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40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1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79F7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-196746"/>
            <a:ext cx="1477568" cy="850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12" tIns="393576" rIns="549102" bIns="17457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619108" y="497436"/>
            <a:ext cx="10668892" cy="8725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100" b="1" dirty="0" smtClean="0">
                <a:ea typeface="Cambria" panose="02040503050406030204" pitchFamily="18" charset="0"/>
                <a:cs typeface="Arial" panose="020B0604020202020204" pitchFamily="34" charset="0"/>
              </a:rPr>
              <a:t/>
            </a:r>
            <a:br>
              <a:rPr lang="en-US" altLang="en-US" sz="1100" b="1" dirty="0" smtClean="0">
                <a:ea typeface="Cambria" panose="02040503050406030204" pitchFamily="18" charset="0"/>
                <a:cs typeface="Arial" panose="020B0604020202020204" pitchFamily="34" charset="0"/>
              </a:rPr>
            </a:br>
            <a:endParaRPr lang="en-US" altLang="en-US" sz="1100" b="1" dirty="0" smtClean="0">
              <a:ea typeface="Cambria" panose="02040503050406030204" pitchFamily="18" charset="0"/>
              <a:cs typeface="Arial" panose="020B0604020202020204" pitchFamily="34" charset="0"/>
            </a:endParaRPr>
          </a:p>
          <a:p>
            <a:endParaRPr lang="en-US" altLang="en-US" sz="1100" b="1" dirty="0" smtClean="0">
              <a:ea typeface="Cambria" panose="02040503050406030204" pitchFamily="18" charset="0"/>
              <a:cs typeface="Arial" panose="020B0604020202020204" pitchFamily="34" charset="0"/>
            </a:endParaRPr>
          </a:p>
          <a:p>
            <a:endParaRPr lang="en-US" altLang="en-US" sz="1100" b="1" dirty="0" smtClean="0">
              <a:solidFill>
                <a:srgbClr val="7030A0"/>
              </a:solidFill>
              <a:ea typeface="Cambria" panose="02040503050406030204" pitchFamily="18" charset="0"/>
              <a:cs typeface="Arial" panose="020B0604020202020204" pitchFamily="34" charset="0"/>
            </a:endParaRPr>
          </a:p>
          <a:p>
            <a:endParaRPr lang="en-US" altLang="en-US" sz="1100" b="1" dirty="0" smtClean="0">
              <a:solidFill>
                <a:srgbClr val="7030A0"/>
              </a:solidFill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1">
              <a:spcBef>
                <a:spcPts val="800"/>
              </a:spcBef>
            </a:pPr>
            <a:r>
              <a:rPr lang="en-US" altLang="en-US" sz="3600" b="1" dirty="0" smtClean="0">
                <a:ea typeface="Cambria" panose="02040503050406030204" pitchFamily="18" charset="0"/>
                <a:cs typeface="Arial" panose="020B0604020202020204" pitchFamily="34" charset="0"/>
              </a:rPr>
              <a:t>Student </a:t>
            </a:r>
            <a:r>
              <a:rPr lang="en-US" altLang="en-US" sz="3600" b="1" dirty="0">
                <a:ea typeface="Cambria" panose="02040503050406030204" pitchFamily="18" charset="0"/>
                <a:cs typeface="Arial" panose="020B0604020202020204" pitchFamily="34" charset="0"/>
              </a:rPr>
              <a:t>Name: </a:t>
            </a:r>
            <a:r>
              <a:rPr lang="en-US" altLang="en-US" sz="3600" b="1" dirty="0" smtClean="0"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en-US" sz="3600" b="1" i="1" dirty="0" smtClean="0">
                <a:ea typeface="Cambria" panose="02040503050406030204" pitchFamily="18" charset="0"/>
                <a:cs typeface="Arial" panose="020B0604020202020204" pitchFamily="34" charset="0"/>
              </a:rPr>
              <a:t>Rasel </a:t>
            </a:r>
            <a:r>
              <a:rPr lang="en-US" altLang="en-US" sz="3600" b="1" i="1" dirty="0">
                <a:ea typeface="Cambria" panose="02040503050406030204" pitchFamily="18" charset="0"/>
                <a:cs typeface="Arial" panose="020B0604020202020204" pitchFamily="34" charset="0"/>
              </a:rPr>
              <a:t>Shikder</a:t>
            </a:r>
          </a:p>
          <a:p>
            <a:pPr lvl="1">
              <a:spcBef>
                <a:spcPts val="800"/>
              </a:spcBef>
            </a:pPr>
            <a:r>
              <a:rPr lang="en-US" altLang="en-US" sz="3600" b="1" dirty="0">
                <a:ea typeface="Cambria" panose="02040503050406030204" pitchFamily="18" charset="0"/>
                <a:cs typeface="Arial" panose="020B0604020202020204" pitchFamily="34" charset="0"/>
              </a:rPr>
              <a:t>ID No: </a:t>
            </a:r>
            <a:r>
              <a:rPr lang="en-US" altLang="en-US" sz="3600" b="1" dirty="0" smtClean="0"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en-US" sz="3600" b="1" i="1" dirty="0" smtClean="0">
                <a:ea typeface="Cambria" panose="02040503050406030204" pitchFamily="18" charset="0"/>
                <a:cs typeface="Arial" panose="020B0604020202020204" pitchFamily="34" charset="0"/>
              </a:rPr>
              <a:t>BBA2402032084</a:t>
            </a:r>
            <a:endParaRPr lang="en-US" altLang="en-US" sz="3600" b="1" i="1" dirty="0"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1">
              <a:spcBef>
                <a:spcPts val="800"/>
              </a:spcBef>
            </a:pPr>
            <a:r>
              <a:rPr lang="en-US" altLang="en-US" sz="3600" b="1" dirty="0" smtClean="0">
                <a:ea typeface="Cambria" panose="02040503050406030204" pitchFamily="18" charset="0"/>
                <a:cs typeface="Arial" panose="020B0604020202020204" pitchFamily="34" charset="0"/>
              </a:rPr>
              <a:t>Department:  BBA (Fall - </a:t>
            </a:r>
            <a:r>
              <a:rPr lang="en-US" altLang="en-US" sz="3600" b="1" dirty="0" smtClean="0">
                <a:ea typeface="Cambria" panose="02040503050406030204" pitchFamily="18" charset="0"/>
                <a:cs typeface="Arial" panose="020B0604020202020204" pitchFamily="34" charset="0"/>
              </a:rPr>
              <a:t>2024)</a:t>
            </a:r>
          </a:p>
          <a:p>
            <a:pPr lvl="1">
              <a:spcBef>
                <a:spcPts val="800"/>
              </a:spcBef>
            </a:pPr>
            <a:r>
              <a:rPr lang="en-US" altLang="en-US" sz="3600" b="1" dirty="0" smtClean="0">
                <a:ea typeface="Cambria" panose="02040503050406030204" pitchFamily="18" charset="0"/>
                <a:cs typeface="Arial" panose="020B0604020202020204" pitchFamily="34" charset="0"/>
              </a:rPr>
              <a:t>Section</a:t>
            </a:r>
            <a:r>
              <a:rPr lang="en-US" altLang="en-US" sz="3600" b="1" dirty="0" smtClean="0">
                <a:ea typeface="Cambria" panose="02040503050406030204" pitchFamily="18" charset="0"/>
                <a:cs typeface="Arial" panose="020B0604020202020204" pitchFamily="34" charset="0"/>
              </a:rPr>
              <a:t>:  </a:t>
            </a:r>
            <a:r>
              <a:rPr lang="en-US" altLang="en-US" sz="3600" b="1" dirty="0" err="1" smtClean="0">
                <a:ea typeface="Cambria" panose="02040503050406030204" pitchFamily="18" charset="0"/>
                <a:cs typeface="Arial" panose="020B0604020202020204" pitchFamily="34" charset="0"/>
              </a:rPr>
              <a:t>Dua</a:t>
            </a:r>
            <a:endParaRPr lang="en-US" altLang="en-US" sz="3600" b="1" dirty="0" smtClean="0"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1">
              <a:spcBef>
                <a:spcPts val="800"/>
              </a:spcBef>
            </a:pPr>
            <a:r>
              <a:rPr lang="en-US" altLang="en-US" sz="3600" b="1" dirty="0" smtClean="0">
                <a:ea typeface="Cambria" panose="02040503050406030204" pitchFamily="18" charset="0"/>
                <a:cs typeface="Arial" panose="020B0604020202020204" pitchFamily="34" charset="0"/>
              </a:rPr>
              <a:t>Course </a:t>
            </a:r>
            <a:r>
              <a:rPr lang="en-US" altLang="en-US" sz="3600" b="1" dirty="0" smtClean="0">
                <a:ea typeface="Cambria" panose="02040503050406030204" pitchFamily="18" charset="0"/>
                <a:cs typeface="Arial" panose="020B0604020202020204" pitchFamily="34" charset="0"/>
              </a:rPr>
              <a:t>Title:  Computer Application in Business</a:t>
            </a:r>
          </a:p>
          <a:p>
            <a:pPr lvl="1">
              <a:spcBef>
                <a:spcPts val="800"/>
              </a:spcBef>
            </a:pPr>
            <a:r>
              <a:rPr lang="en-US" altLang="en-US" sz="3600" b="1" dirty="0" smtClean="0">
                <a:ea typeface="Cambria" panose="02040503050406030204" pitchFamily="18" charset="0"/>
                <a:cs typeface="Arial" panose="020B0604020202020204" pitchFamily="34" charset="0"/>
              </a:rPr>
              <a:t>Course Code:  CSE 1105</a:t>
            </a:r>
          </a:p>
          <a:p>
            <a:pPr lvl="1">
              <a:spcBef>
                <a:spcPts val="800"/>
              </a:spcBef>
            </a:pPr>
            <a:r>
              <a:rPr lang="en-US" altLang="en-US" sz="3600" b="1" dirty="0" smtClean="0">
                <a:ea typeface="Cambria" panose="02040503050406030204" pitchFamily="18" charset="0"/>
                <a:cs typeface="Arial" panose="020B0604020202020204" pitchFamily="34" charset="0"/>
              </a:rPr>
              <a:t>Teacher:  Lecturer Farjana Rahman Farin</a:t>
            </a:r>
          </a:p>
          <a:p>
            <a:pPr lvl="1">
              <a:spcBef>
                <a:spcPts val="800"/>
              </a:spcBef>
            </a:pPr>
            <a:r>
              <a:rPr lang="en-US" altLang="en-US" sz="3600" b="1" dirty="0" smtClean="0">
                <a:ea typeface="Cambria" panose="02040503050406030204" pitchFamily="18" charset="0"/>
                <a:cs typeface="Arial" panose="020B0604020202020204" pitchFamily="34" charset="0"/>
              </a:rPr>
              <a:t>Topic:  </a:t>
            </a:r>
            <a:r>
              <a:rPr lang="en-US" altLang="en-US" sz="3600" b="1" dirty="0">
                <a:ea typeface="Cambria" panose="02040503050406030204" pitchFamily="18" charset="0"/>
                <a:cs typeface="Arial" panose="020B0604020202020204" pitchFamily="34" charset="0"/>
              </a:rPr>
              <a:t>Understandings of Artificial </a:t>
            </a:r>
            <a:r>
              <a:rPr lang="en-US" altLang="en-US" sz="3600" b="1" dirty="0" smtClean="0">
                <a:ea typeface="Cambria" panose="02040503050406030204" pitchFamily="18" charset="0"/>
                <a:cs typeface="Arial" panose="020B0604020202020204" pitchFamily="34" charset="0"/>
              </a:rPr>
              <a:t>Intelligence</a:t>
            </a:r>
          </a:p>
          <a:p>
            <a:pPr lvl="1">
              <a:spcBef>
                <a:spcPts val="800"/>
              </a:spcBef>
            </a:pPr>
            <a:r>
              <a:rPr lang="en-US" altLang="en-US" sz="3600" b="1" dirty="0" smtClean="0">
                <a:ea typeface="Cambria" panose="02040503050406030204" pitchFamily="18" charset="0"/>
                <a:cs typeface="Arial" panose="020B0604020202020204" pitchFamily="34" charset="0"/>
              </a:rPr>
              <a:t>Date</a:t>
            </a:r>
            <a:r>
              <a:rPr lang="en-US" altLang="en-US" sz="3600" b="1" dirty="0" smtClean="0">
                <a:ea typeface="Cambria" panose="02040503050406030204" pitchFamily="18" charset="0"/>
                <a:cs typeface="Arial" panose="020B0604020202020204" pitchFamily="34" charset="0"/>
              </a:rPr>
              <a:t>:  Sunday, 10 November, 2024</a:t>
            </a:r>
            <a:endParaRPr lang="en-US" altLang="en-US" sz="3600" dirty="0" smtClean="0">
              <a:cs typeface="Arial" panose="020B0604020202020204" pitchFamily="34" charset="0"/>
            </a:endParaRPr>
          </a:p>
          <a:p>
            <a:r>
              <a:rPr lang="en-US" altLang="en-US" sz="2000" b="1" dirty="0" smtClean="0">
                <a:ea typeface="Cambria" panose="02040503050406030204" pitchFamily="18" charset="0"/>
                <a:cs typeface="Arial" panose="020B0604020202020204" pitchFamily="34" charset="0"/>
              </a:rPr>
              <a:t/>
            </a:r>
            <a:br>
              <a:rPr lang="en-US" altLang="en-US" sz="2000" b="1" dirty="0" smtClean="0">
                <a:ea typeface="Cambria" panose="02040503050406030204" pitchFamily="18" charset="0"/>
                <a:cs typeface="Arial" panose="020B0604020202020204" pitchFamily="34" charset="0"/>
              </a:rPr>
            </a:br>
            <a:endParaRPr lang="en-US" altLang="en-US" sz="1200" dirty="0" smtClean="0">
              <a:cs typeface="Arial" panose="020B0604020202020204" pitchFamily="34" charset="0"/>
            </a:endParaRPr>
          </a:p>
          <a:p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" y="-1"/>
            <a:ext cx="7552959" cy="10287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8" y="1485900"/>
            <a:ext cx="7474775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6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7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97370" y="6275014"/>
            <a:ext cx="6862994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68"/>
              </a:lnSpc>
              <a:spcBef>
                <a:spcPct val="0"/>
              </a:spcBef>
            </a:pPr>
            <a:r>
              <a:rPr lang="en-US" sz="5334" dirty="0">
                <a:solidFill>
                  <a:srgbClr val="5479F7"/>
                </a:solidFill>
                <a:latin typeface="Garrison Sans 1"/>
                <a:ea typeface="Garrison Sans 1"/>
                <a:cs typeface="Garrison Sans 1"/>
                <a:sym typeface="Garrison Sans 1"/>
              </a:rPr>
              <a:t>l uses in EFL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0" y="3619500"/>
            <a:ext cx="9906000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7000" b="1" dirty="0">
                <a:solidFill>
                  <a:srgbClr val="F9FBFF"/>
                </a:solidFill>
                <a:latin typeface="Garrison Sans 2"/>
                <a:ea typeface="Garrison Sans 2"/>
                <a:cs typeface="Garrison Sans 2"/>
                <a:sym typeface="Garrison Sans 2"/>
              </a:rPr>
              <a:t>Understandings </a:t>
            </a:r>
            <a:r>
              <a:rPr lang="en-US" sz="7000" b="1" dirty="0" smtClean="0">
                <a:solidFill>
                  <a:srgbClr val="F9FBFF"/>
                </a:solidFill>
                <a:latin typeface="Garrison Sans 2"/>
                <a:ea typeface="Garrison Sans 2"/>
                <a:cs typeface="Garrison Sans 2"/>
                <a:sym typeface="Garrison Sans 2"/>
              </a:rPr>
              <a:t>of</a:t>
            </a:r>
            <a:endParaRPr lang="en-US" sz="7000" b="1" dirty="0">
              <a:solidFill>
                <a:srgbClr val="F9FBFF"/>
              </a:solidFill>
              <a:latin typeface="Garrison Sans 2"/>
              <a:ea typeface="Garrison Sans 2"/>
              <a:cs typeface="Garrison Sans 2"/>
              <a:sym typeface="Garrison Sans 2"/>
            </a:endParaRPr>
          </a:p>
          <a:p>
            <a:pPr>
              <a:lnSpc>
                <a:spcPts val="8000"/>
              </a:lnSpc>
            </a:pPr>
            <a:r>
              <a:rPr lang="en-US" sz="7000" b="1" dirty="0">
                <a:solidFill>
                  <a:srgbClr val="F9FBFF"/>
                </a:solidFill>
                <a:latin typeface="Garrison Sans 2"/>
                <a:ea typeface="Garrison Sans 2"/>
                <a:cs typeface="Garrison Sans 2"/>
                <a:sym typeface="Garrison Sans 2"/>
              </a:rPr>
              <a:t>Artificial Intelligence</a:t>
            </a:r>
          </a:p>
        </p:txBody>
      </p:sp>
      <p:sp>
        <p:nvSpPr>
          <p:cNvPr id="4" name="Freeform 4"/>
          <p:cNvSpPr/>
          <p:nvPr/>
        </p:nvSpPr>
        <p:spPr>
          <a:xfrm>
            <a:off x="1371600" y="1451528"/>
            <a:ext cx="5615274" cy="5864516"/>
          </a:xfrm>
          <a:custGeom>
            <a:avLst/>
            <a:gdLst/>
            <a:ahLst/>
            <a:cxnLst/>
            <a:rect l="l" t="t" r="r" b="b"/>
            <a:pathLst>
              <a:path w="5615274" h="5864516">
                <a:moveTo>
                  <a:pt x="0" y="0"/>
                </a:moveTo>
                <a:lnTo>
                  <a:pt x="5615274" y="0"/>
                </a:lnTo>
                <a:lnTo>
                  <a:pt x="5615274" y="5864516"/>
                </a:lnTo>
                <a:lnTo>
                  <a:pt x="0" y="5864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B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0795" y="2219847"/>
            <a:ext cx="10770165" cy="87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488" lvl="1" indent="-539744">
              <a:lnSpc>
                <a:spcPts val="7499"/>
              </a:lnSpc>
              <a:buFont typeface="Arial"/>
              <a:buChar char="•"/>
            </a:pPr>
            <a:r>
              <a:rPr lang="en-US" sz="4800" b="1" spc="9" dirty="0">
                <a:solidFill>
                  <a:srgbClr val="000000"/>
                </a:solidFill>
                <a:latin typeface="Arial" panose="020B0604020202020204" pitchFamily="34" charset="0"/>
                <a:ea typeface="Garrison Sans 1"/>
                <a:cs typeface="Arial" panose="020B0604020202020204" pitchFamily="34" charset="0"/>
                <a:sym typeface="Garrison Sans 1"/>
              </a:rPr>
              <a:t>What is Artificial Intelligence</a:t>
            </a:r>
            <a:r>
              <a:rPr lang="en-US" sz="4800" b="1" spc="9" dirty="0" smtClean="0">
                <a:solidFill>
                  <a:srgbClr val="000000"/>
                </a:solidFill>
                <a:latin typeface="Arial" panose="020B0604020202020204" pitchFamily="34" charset="0"/>
                <a:ea typeface="Garrison Sans 1"/>
                <a:cs typeface="Arial" panose="020B0604020202020204" pitchFamily="34" charset="0"/>
                <a:sym typeface="Garrison Sans 1"/>
              </a:rPr>
              <a:t>?</a:t>
            </a:r>
          </a:p>
        </p:txBody>
      </p:sp>
      <p:sp>
        <p:nvSpPr>
          <p:cNvPr id="3" name="Freeform 3"/>
          <p:cNvSpPr/>
          <p:nvPr/>
        </p:nvSpPr>
        <p:spPr>
          <a:xfrm>
            <a:off x="11887200" y="2019300"/>
            <a:ext cx="5802903" cy="5566763"/>
          </a:xfrm>
          <a:custGeom>
            <a:avLst/>
            <a:gdLst/>
            <a:ahLst/>
            <a:cxnLst/>
            <a:rect l="l" t="t" r="r" b="b"/>
            <a:pathLst>
              <a:path w="6031503" h="6023963">
                <a:moveTo>
                  <a:pt x="0" y="0"/>
                </a:moveTo>
                <a:lnTo>
                  <a:pt x="6031503" y="0"/>
                </a:lnTo>
                <a:lnTo>
                  <a:pt x="6031503" y="6023963"/>
                </a:lnTo>
                <a:lnTo>
                  <a:pt x="0" y="60239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7"/>
          <p:cNvSpPr txBox="1"/>
          <p:nvPr/>
        </p:nvSpPr>
        <p:spPr>
          <a:xfrm>
            <a:off x="1188720" y="3089532"/>
            <a:ext cx="960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AI is the ability of machines to perform tasks that normally require human </a:t>
            </a:r>
            <a:r>
              <a:rPr lang="en-US" sz="2800" b="1" dirty="0" smtClean="0"/>
              <a:t>intelligence.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188720" y="4779821"/>
            <a:ext cx="11049000" cy="1143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457200">
              <a:lnSpc>
                <a:spcPts val="406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Examples: Voice </a:t>
            </a:r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assistants </a:t>
            </a:r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&amp; Search Engine 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ecommendations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32560" y="6277840"/>
            <a:ext cx="990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Voice assistance makes calls and open apps </a:t>
            </a:r>
            <a:r>
              <a:rPr lang="en-US" sz="2800" b="1" dirty="0" smtClean="0"/>
              <a:t>and Search Engine of browser makes suggestions for human.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B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200" y="2324100"/>
            <a:ext cx="5943600" cy="5611045"/>
          </a:xfrm>
          <a:custGeom>
            <a:avLst/>
            <a:gdLst/>
            <a:ahLst/>
            <a:cxnLst/>
            <a:rect l="l" t="t" r="r" b="b"/>
            <a:pathLst>
              <a:path w="6528087" h="6373045">
                <a:moveTo>
                  <a:pt x="0" y="0"/>
                </a:moveTo>
                <a:lnTo>
                  <a:pt x="6528087" y="0"/>
                </a:lnTo>
                <a:lnTo>
                  <a:pt x="6528087" y="6373045"/>
                </a:lnTo>
                <a:lnTo>
                  <a:pt x="0" y="6373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239000" y="3808822"/>
            <a:ext cx="7704299" cy="132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>
              <a:lnSpc>
                <a:spcPts val="5050"/>
              </a:lnSpc>
              <a:buFont typeface="Arial"/>
              <a:buChar char="•"/>
            </a:pPr>
            <a:r>
              <a:rPr lang="en-US" sz="5000" b="1" dirty="0">
                <a:solidFill>
                  <a:srgbClr val="000000"/>
                </a:solidFill>
                <a:latin typeface="Arial" panose="020B0604020202020204" pitchFamily="34" charset="0"/>
                <a:ea typeface="Garrison Sans 2"/>
                <a:cs typeface="Arial" panose="020B0604020202020204" pitchFamily="34" charset="0"/>
                <a:sym typeface="Garrison Sans 2"/>
              </a:rPr>
              <a:t>Everyday uses  of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6200" y="5129622"/>
            <a:ext cx="906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b="1" dirty="0" smtClean="0"/>
              <a:t>Social </a:t>
            </a:r>
            <a:r>
              <a:rPr lang="en-US" sz="3200" b="1" dirty="0"/>
              <a:t>Media:</a:t>
            </a:r>
            <a:r>
              <a:rPr lang="en-US" sz="3200" dirty="0"/>
              <a:t> </a:t>
            </a:r>
            <a:r>
              <a:rPr lang="en-US" sz="2800" b="1" dirty="0"/>
              <a:t>Content recommendations </a:t>
            </a:r>
            <a:r>
              <a:rPr lang="en-US" sz="2800" b="1" dirty="0" smtClean="0"/>
              <a:t>in online platforms.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B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58200" y="190500"/>
            <a:ext cx="9544360" cy="9869753"/>
            <a:chOff x="0" y="0"/>
            <a:chExt cx="2553879" cy="28402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53879" cy="2840271"/>
            </a:xfrm>
            <a:custGeom>
              <a:avLst/>
              <a:gdLst/>
              <a:ahLst/>
              <a:cxnLst/>
              <a:rect l="l" t="t" r="r" b="b"/>
              <a:pathLst>
                <a:path w="2553879" h="2840271">
                  <a:moveTo>
                    <a:pt x="0" y="0"/>
                  </a:moveTo>
                  <a:lnTo>
                    <a:pt x="2553879" y="0"/>
                  </a:lnTo>
                  <a:lnTo>
                    <a:pt x="2553879" y="2840271"/>
                  </a:lnTo>
                  <a:lnTo>
                    <a:pt x="0" y="2840271"/>
                  </a:lnTo>
                  <a:close/>
                </a:path>
              </a:pathLst>
            </a:custGeom>
            <a:solidFill>
              <a:srgbClr val="99B9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53879" cy="2878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018027" y="3467100"/>
            <a:ext cx="7309853" cy="4092295"/>
          </a:xfrm>
          <a:custGeom>
            <a:avLst/>
            <a:gdLst/>
            <a:ahLst/>
            <a:cxnLst/>
            <a:rect l="l" t="t" r="r" b="b"/>
            <a:pathLst>
              <a:path w="7805155" h="4526990">
                <a:moveTo>
                  <a:pt x="0" y="0"/>
                </a:moveTo>
                <a:lnTo>
                  <a:pt x="7805155" y="0"/>
                </a:lnTo>
                <a:lnTo>
                  <a:pt x="7805155" y="4526990"/>
                </a:lnTo>
                <a:lnTo>
                  <a:pt x="0" y="4526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09600" y="3695700"/>
            <a:ext cx="110490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79501" lvl="1" indent="-539750">
              <a:lnSpc>
                <a:spcPts val="5000"/>
              </a:lnSpc>
              <a:buFont typeface="Arial"/>
              <a:buChar char="•"/>
            </a:pPr>
            <a:r>
              <a:rPr lang="en-US" sz="5000" b="1" dirty="0">
                <a:solidFill>
                  <a:srgbClr val="000000"/>
                </a:solidFill>
                <a:latin typeface="Arial" panose="020B0604020202020204" pitchFamily="34" charset="0"/>
                <a:ea typeface="Garrison Sans 2"/>
                <a:cs typeface="Arial" panose="020B0604020202020204" pitchFamily="34" charset="0"/>
                <a:sym typeface="Garrison Sans 2"/>
              </a:rPr>
              <a:t>Benefits of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4422671"/>
            <a:ext cx="8534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After inventions of Ai Increased </a:t>
            </a:r>
            <a:r>
              <a:rPr lang="en-US" sz="2800" b="1" dirty="0" smtClean="0"/>
              <a:t>Humans' </a:t>
            </a:r>
            <a:r>
              <a:rPr lang="en-US" sz="2800" b="1" dirty="0"/>
              <a:t>efficiency and productivity </a:t>
            </a:r>
            <a:r>
              <a:rPr lang="en-US" sz="2800" b="1" dirty="0" smtClean="0"/>
              <a:t>significantly.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B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53800" y="4457700"/>
            <a:ext cx="5931243" cy="4114800"/>
          </a:xfrm>
          <a:custGeom>
            <a:avLst/>
            <a:gdLst/>
            <a:ahLst/>
            <a:cxnLst/>
            <a:rect l="l" t="t" r="r" b="b"/>
            <a:pathLst>
              <a:path w="5931243" h="4114800">
                <a:moveTo>
                  <a:pt x="0" y="0"/>
                </a:moveTo>
                <a:lnTo>
                  <a:pt x="5931244" y="0"/>
                </a:lnTo>
                <a:lnTo>
                  <a:pt x="59312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43000" y="2476500"/>
            <a:ext cx="11925300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79501" lvl="1" indent="-539750" algn="ctr">
              <a:lnSpc>
                <a:spcPts val="5050"/>
              </a:lnSpc>
              <a:buFont typeface="Arial"/>
              <a:buChar char="•"/>
            </a:pPr>
            <a:r>
              <a:rPr lang="en-US" sz="5000" b="1" dirty="0">
                <a:solidFill>
                  <a:srgbClr val="000000"/>
                </a:solidFill>
                <a:latin typeface="Garrison Sans 2"/>
                <a:ea typeface="Garrison Sans 2"/>
                <a:cs typeface="Garrison Sans 2"/>
                <a:sym typeface="Garrison Sans 2"/>
              </a:rPr>
              <a:t>Problems of 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3130525"/>
            <a:ext cx="9982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 smtClean="0"/>
              <a:t>While comes about the problems of AI, it causes job displacement and in some certain circumstances AI is harmful for People’s privacy.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B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flipH="1">
            <a:off x="7467600" y="114300"/>
            <a:ext cx="87686" cy="45719"/>
            <a:chOff x="0" y="0"/>
            <a:chExt cx="2553879" cy="28402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53879" cy="2840271"/>
            </a:xfrm>
            <a:custGeom>
              <a:avLst/>
              <a:gdLst/>
              <a:ahLst/>
              <a:cxnLst/>
              <a:rect l="l" t="t" r="r" b="b"/>
              <a:pathLst>
                <a:path w="2553879" h="2840271">
                  <a:moveTo>
                    <a:pt x="0" y="0"/>
                  </a:moveTo>
                  <a:lnTo>
                    <a:pt x="2553879" y="0"/>
                  </a:lnTo>
                  <a:lnTo>
                    <a:pt x="2553879" y="2840271"/>
                  </a:lnTo>
                  <a:lnTo>
                    <a:pt x="0" y="2840271"/>
                  </a:lnTo>
                  <a:close/>
                </a:path>
              </a:pathLst>
            </a:custGeom>
            <a:solidFill>
              <a:srgbClr val="99B9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53879" cy="2878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382000" y="3628415"/>
            <a:ext cx="10732418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>
              <a:lnSpc>
                <a:spcPts val="5050"/>
              </a:lnSpc>
              <a:buFont typeface="Arial"/>
              <a:buChar char="•"/>
            </a:pPr>
            <a:r>
              <a:rPr lang="en-US" sz="5000" b="1">
                <a:solidFill>
                  <a:srgbClr val="000000"/>
                </a:solidFill>
                <a:latin typeface="Garrison Sans 2"/>
                <a:ea typeface="Garrison Sans 2"/>
                <a:cs typeface="Garrison Sans 2"/>
                <a:sym typeface="Garrison Sans 2"/>
              </a:rPr>
              <a:t>Potential Future</a:t>
            </a:r>
          </a:p>
        </p:txBody>
      </p:sp>
      <p:sp>
        <p:nvSpPr>
          <p:cNvPr id="6" name="Freeform 6"/>
          <p:cNvSpPr/>
          <p:nvPr/>
        </p:nvSpPr>
        <p:spPr>
          <a:xfrm>
            <a:off x="990600" y="1562100"/>
            <a:ext cx="7037372" cy="7108457"/>
          </a:xfrm>
          <a:custGeom>
            <a:avLst/>
            <a:gdLst/>
            <a:ahLst/>
            <a:cxnLst/>
            <a:rect l="l" t="t" r="r" b="b"/>
            <a:pathLst>
              <a:path w="7037372" h="7108457">
                <a:moveTo>
                  <a:pt x="0" y="0"/>
                </a:moveTo>
                <a:lnTo>
                  <a:pt x="7037373" y="0"/>
                </a:lnTo>
                <a:lnTo>
                  <a:pt x="7037373" y="7108457"/>
                </a:lnTo>
                <a:lnTo>
                  <a:pt x="0" y="7108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7"/>
          <p:cNvSpPr txBox="1"/>
          <p:nvPr/>
        </p:nvSpPr>
        <p:spPr>
          <a:xfrm>
            <a:off x="8839200" y="4308812"/>
            <a:ext cx="85344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b="1" dirty="0"/>
              <a:t>Trends:</a:t>
            </a:r>
            <a:r>
              <a:rPr lang="en-US" sz="3200" dirty="0"/>
              <a:t> </a:t>
            </a:r>
            <a:r>
              <a:rPr lang="en-US" sz="2800" b="1" dirty="0"/>
              <a:t>Continuous improvement in AI capabilities</a:t>
            </a:r>
            <a:r>
              <a:rPr lang="en-US" sz="2800" b="1" dirty="0" smtClean="0"/>
              <a:t>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b="1" dirty="0" smtClean="0"/>
              <a:t>New Innovations</a:t>
            </a:r>
            <a:r>
              <a:rPr lang="en-US" sz="3200" b="1" dirty="0"/>
              <a:t>:</a:t>
            </a:r>
            <a:r>
              <a:rPr lang="en-US" sz="3200" dirty="0"/>
              <a:t> </a:t>
            </a:r>
            <a:r>
              <a:rPr lang="en-US" sz="2800" b="1" dirty="0"/>
              <a:t>AI could help tackle global issues (e.g., healthcare, climate change).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7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62799" y="1790702"/>
            <a:ext cx="3475350" cy="3550805"/>
          </a:xfrm>
          <a:custGeom>
            <a:avLst/>
            <a:gdLst/>
            <a:ahLst/>
            <a:cxnLst/>
            <a:rect l="l" t="t" r="r" b="b"/>
            <a:pathLst>
              <a:path w="3475350" h="3550805">
                <a:moveTo>
                  <a:pt x="0" y="0"/>
                </a:moveTo>
                <a:lnTo>
                  <a:pt x="3475351" y="0"/>
                </a:lnTo>
                <a:lnTo>
                  <a:pt x="3475351" y="3550805"/>
                </a:lnTo>
                <a:lnTo>
                  <a:pt x="0" y="35508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88082" y="5753102"/>
            <a:ext cx="7824789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43"/>
              </a:lnSpc>
            </a:pPr>
            <a:r>
              <a:rPr lang="en-US" sz="6953" b="1" dirty="0">
                <a:solidFill>
                  <a:srgbClr val="000000"/>
                </a:solidFill>
                <a:latin typeface="Garrison Sans 2"/>
                <a:ea typeface="Garrison Sans 2"/>
                <a:cs typeface="Garrison Sans 2"/>
                <a:sym typeface="Garrison Sans 2"/>
              </a:rPr>
              <a:t>THANK YOU </a:t>
            </a:r>
          </a:p>
          <a:p>
            <a:pPr algn="ctr">
              <a:lnSpc>
                <a:spcPts val="8343"/>
              </a:lnSpc>
            </a:pPr>
            <a:r>
              <a:rPr lang="en-US" sz="6953" b="1" dirty="0">
                <a:solidFill>
                  <a:srgbClr val="000000"/>
                </a:solidFill>
                <a:latin typeface="Garrison Sans 2"/>
                <a:ea typeface="Garrison Sans 2"/>
                <a:cs typeface="Garrison Sans 2"/>
                <a:sym typeface="Garrison Sans 2"/>
              </a:rPr>
              <a:t>FOR LISTENING!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</TotalTime>
  <Words>143</Words>
  <Application>Microsoft Office PowerPoint</Application>
  <PresentationFormat>Custom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Courier New</vt:lpstr>
      <vt:lpstr>Garrison Sans 2</vt:lpstr>
      <vt:lpstr>Arial</vt:lpstr>
      <vt:lpstr>Garrison Sans 1</vt:lpstr>
      <vt:lpstr>Cambria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&amp; White Practical Uses of AI in EFL Presentation</dc:title>
  <cp:lastModifiedBy>oasis gadget</cp:lastModifiedBy>
  <cp:revision>27</cp:revision>
  <dcterms:created xsi:type="dcterms:W3CDTF">2006-08-16T00:00:00Z</dcterms:created>
  <dcterms:modified xsi:type="dcterms:W3CDTF">2024-11-09T16:08:49Z</dcterms:modified>
  <dc:identifier>DAGVb58Ua9U</dc:identifier>
</cp:coreProperties>
</file>