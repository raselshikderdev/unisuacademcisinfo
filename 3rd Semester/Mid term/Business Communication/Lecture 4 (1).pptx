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57" r:id="rId22"/>
  </p:sldIdLst>
  <p:sldSz cx="9144000" cy="6858000" type="screen4x3"/>
  <p:notesSz cx="9947275"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14"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4310486"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34487" y="2"/>
            <a:ext cx="4310486" cy="344091"/>
          </a:xfrm>
          <a:prstGeom prst="rect">
            <a:avLst/>
          </a:prstGeom>
        </p:spPr>
        <p:txBody>
          <a:bodyPr vert="horz" lIns="91440" tIns="45720" rIns="91440" bIns="45720" rtlCol="0"/>
          <a:lstStyle>
            <a:lvl1pPr algn="r">
              <a:defRPr sz="1200"/>
            </a:lvl1pPr>
          </a:lstStyle>
          <a:p>
            <a:fld id="{AF6A0634-BCC4-49AF-A502-3AFB2AA43366}" type="datetimeFigureOut">
              <a:rPr lang="en-US" smtClean="0"/>
              <a:t>9/15/2019</a:t>
            </a:fld>
            <a:endParaRPr lang="en-US"/>
          </a:p>
        </p:txBody>
      </p:sp>
      <p:sp>
        <p:nvSpPr>
          <p:cNvPr id="4" name="Footer Placeholder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D83EFD35-0803-4D2E-8EF7-C5745563257A}" type="slidenum">
              <a:rPr lang="en-US" smtClean="0"/>
              <a:t>‹#›</a:t>
            </a:fld>
            <a:endParaRPr lang="en-US"/>
          </a:p>
        </p:txBody>
      </p:sp>
    </p:spTree>
    <p:extLst>
      <p:ext uri="{BB962C8B-B14F-4D97-AF65-F5344CB8AC3E}">
        <p14:creationId xmlns:p14="http://schemas.microsoft.com/office/powerpoint/2010/main" val="15406826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8455969" cy="1938992"/>
          </a:xfrm>
          <a:prstGeom prst="rect">
            <a:avLst/>
          </a:prstGeom>
          <a:noFill/>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60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COMMUNICATION</a:t>
            </a:r>
          </a:p>
        </p:txBody>
      </p:sp>
      <p:sp>
        <p:nvSpPr>
          <p:cNvPr id="5" name="Rectangle 4"/>
          <p:cNvSpPr/>
          <p:nvPr/>
        </p:nvSpPr>
        <p:spPr>
          <a:xfrm>
            <a:off x="3008501" y="5096470"/>
            <a:ext cx="2935099"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BBA 2106</a:t>
            </a:r>
          </a:p>
        </p:txBody>
      </p:sp>
      <p:sp>
        <p:nvSpPr>
          <p:cNvPr id="2052" name="TextBox 6"/>
          <p:cNvSpPr txBox="1">
            <a:spLocks noChangeArrowheads="1"/>
          </p:cNvSpPr>
          <p:nvPr/>
        </p:nvSpPr>
        <p:spPr bwMode="auto">
          <a:xfrm>
            <a:off x="2209800" y="2858631"/>
            <a:ext cx="4724400" cy="2246769"/>
          </a:xfrm>
          <a:prstGeom prst="rect">
            <a:avLst/>
          </a:prstGeom>
          <a:noFill/>
          <a:ln w="9525">
            <a:noFill/>
            <a:miter lim="800000"/>
            <a:headEnd/>
            <a:tailEnd/>
          </a:ln>
        </p:spPr>
        <p:txBody>
          <a:bodyPr wrap="square">
            <a:spAutoFit/>
          </a:bodyPr>
          <a:lstStyle/>
          <a:p>
            <a:pPr algn="ctr"/>
            <a:r>
              <a:rPr lang="en-US" sz="3500" b="1" dirty="0" smtClean="0">
                <a:solidFill>
                  <a:srgbClr val="7030A0"/>
                </a:solidFill>
                <a:latin typeface="Algerian" pitchFamily="82" charset="0"/>
              </a:rPr>
              <a:t>Types</a:t>
            </a:r>
          </a:p>
          <a:p>
            <a:pPr algn="ctr"/>
            <a:r>
              <a:rPr lang="en-US" sz="3500" b="1" dirty="0" smtClean="0">
                <a:solidFill>
                  <a:srgbClr val="7030A0"/>
                </a:solidFill>
                <a:latin typeface="Algerian" pitchFamily="82" charset="0"/>
              </a:rPr>
              <a:t> of</a:t>
            </a:r>
          </a:p>
          <a:p>
            <a:pPr algn="ctr"/>
            <a:r>
              <a:rPr lang="en-US" sz="3500" b="1" dirty="0" smtClean="0">
                <a:solidFill>
                  <a:srgbClr val="7030A0"/>
                </a:solidFill>
                <a:latin typeface="Algerian" pitchFamily="82" charset="0"/>
              </a:rPr>
              <a:t>communication </a:t>
            </a:r>
          </a:p>
          <a:p>
            <a:pPr algn="ctr"/>
            <a:endParaRPr lang="en-US" sz="3500" b="1" dirty="0">
              <a:solidFill>
                <a:srgbClr val="7030A0"/>
              </a:solidFill>
              <a:latin typeface="Algerian"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743200" cy="715962"/>
          </a:xfrm>
          <a:solidFill>
            <a:schemeClr val="accent1">
              <a:lumMod val="20000"/>
              <a:lumOff val="80000"/>
            </a:schemeClr>
          </a:solidFill>
          <a:ln>
            <a:solidFill>
              <a:schemeClr val="accent1"/>
            </a:solidFill>
          </a:ln>
        </p:spPr>
        <p:txBody>
          <a:bodyPr>
            <a:normAutofit/>
          </a:bodyPr>
          <a:lstStyle/>
          <a:p>
            <a:r>
              <a:rPr lang="en-US" sz="3000" dirty="0" smtClean="0"/>
              <a:t>Introduction</a:t>
            </a:r>
            <a:endParaRPr lang="en-US" sz="3000" dirty="0"/>
          </a:p>
        </p:txBody>
      </p:sp>
      <p:sp>
        <p:nvSpPr>
          <p:cNvPr id="3" name="Content Placeholder 2"/>
          <p:cNvSpPr>
            <a:spLocks noGrp="1"/>
          </p:cNvSpPr>
          <p:nvPr>
            <p:ph idx="1"/>
          </p:nvPr>
        </p:nvSpPr>
        <p:spPr>
          <a:xfrm>
            <a:off x="457200" y="1219200"/>
            <a:ext cx="8229600" cy="4906963"/>
          </a:xfrm>
        </p:spPr>
        <p:style>
          <a:lnRef idx="2">
            <a:schemeClr val="accent1"/>
          </a:lnRef>
          <a:fillRef idx="1">
            <a:schemeClr val="lt1"/>
          </a:fillRef>
          <a:effectRef idx="0">
            <a:schemeClr val="accent1"/>
          </a:effectRef>
          <a:fontRef idx="minor">
            <a:schemeClr val="dk1"/>
          </a:fontRef>
        </p:style>
        <p:txBody>
          <a:bodyPr>
            <a:normAutofit/>
          </a:bodyPr>
          <a:lstStyle/>
          <a:p>
            <a:pPr algn="just">
              <a:buNone/>
            </a:pPr>
            <a:r>
              <a:rPr lang="en-US" sz="2800" dirty="0" smtClean="0">
                <a:sym typeface="Wingdings 2"/>
              </a:rPr>
              <a:t> </a:t>
            </a:r>
            <a:r>
              <a:rPr lang="en-US" sz="2800" dirty="0" smtClean="0"/>
              <a:t>There are various types of communication.</a:t>
            </a:r>
          </a:p>
          <a:p>
            <a:pPr algn="just"/>
            <a:endParaRPr lang="en-US" sz="2800" dirty="0" smtClean="0"/>
          </a:p>
          <a:p>
            <a:pPr algn="just">
              <a:buFont typeface="Wingdings 2"/>
              <a:buChar char="©"/>
            </a:pPr>
            <a:r>
              <a:rPr lang="en-US" sz="2800" dirty="0" smtClean="0"/>
              <a:t>They may varied from several angels___</a:t>
            </a:r>
          </a:p>
          <a:p>
            <a:pPr algn="just">
              <a:buNone/>
            </a:pPr>
            <a:endParaRPr lang="en-US" sz="2800" dirty="0" smtClean="0"/>
          </a:p>
          <a:p>
            <a:pPr algn="just">
              <a:buNone/>
            </a:pPr>
            <a:r>
              <a:rPr lang="en-US" sz="2800" dirty="0" smtClean="0">
                <a:sym typeface="Wingdings"/>
              </a:rPr>
              <a:t> </a:t>
            </a:r>
            <a:r>
              <a:rPr lang="en-US" sz="2800" dirty="0" smtClean="0"/>
              <a:t>Based on levels of communication,</a:t>
            </a:r>
          </a:p>
          <a:p>
            <a:pPr algn="just">
              <a:buNone/>
            </a:pPr>
            <a:r>
              <a:rPr lang="en-US" sz="2800" dirty="0" smtClean="0">
                <a:sym typeface="Wingdings"/>
              </a:rPr>
              <a:t> </a:t>
            </a:r>
            <a:r>
              <a:rPr lang="en-US" sz="2800" dirty="0" smtClean="0"/>
              <a:t>Intrapersonal,</a:t>
            </a:r>
          </a:p>
          <a:p>
            <a:pPr algn="just">
              <a:buNone/>
            </a:pPr>
            <a:r>
              <a:rPr lang="en-US" sz="2800" dirty="0" smtClean="0">
                <a:sym typeface="Wingdings"/>
              </a:rPr>
              <a:t> </a:t>
            </a:r>
            <a:r>
              <a:rPr lang="en-US" sz="2800" dirty="0" smtClean="0"/>
              <a:t>Interpersonal,</a:t>
            </a:r>
          </a:p>
          <a:p>
            <a:pPr algn="just">
              <a:buNone/>
            </a:pPr>
            <a:r>
              <a:rPr lang="en-US" sz="2800" dirty="0" smtClean="0">
                <a:sym typeface="Wingdings"/>
              </a:rPr>
              <a:t> </a:t>
            </a:r>
            <a:r>
              <a:rPr lang="en-US" sz="2800" dirty="0" smtClean="0"/>
              <a:t>Small group,</a:t>
            </a:r>
          </a:p>
          <a:p>
            <a:pPr algn="just">
              <a:buNone/>
            </a:pPr>
            <a:r>
              <a:rPr lang="en-US" sz="2800" dirty="0" smtClean="0">
                <a:sym typeface="Wingdings"/>
              </a:rPr>
              <a:t> </a:t>
            </a:r>
            <a:r>
              <a:rPr lang="en-US" sz="2800" dirty="0" smtClean="0"/>
              <a:t>Mass communication.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153400" cy="5486400"/>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600" b="1" dirty="0" smtClean="0"/>
              <a:t>Formalities of communication</a:t>
            </a:r>
          </a:p>
          <a:p>
            <a:pPr>
              <a:buFont typeface="Wingdings"/>
              <a:buChar char="¤"/>
            </a:pPr>
            <a:r>
              <a:rPr lang="en-US" sz="2600" dirty="0" smtClean="0">
                <a:sym typeface="Wingdings"/>
              </a:rPr>
              <a:t>Formal communication</a:t>
            </a:r>
          </a:p>
          <a:p>
            <a:pPr>
              <a:buFont typeface="Wingdings"/>
              <a:buChar char="¤"/>
            </a:pPr>
            <a:r>
              <a:rPr lang="en-US" sz="2600" dirty="0" smtClean="0">
                <a:sym typeface="Wingdings"/>
              </a:rPr>
              <a:t>Informal communication</a:t>
            </a:r>
          </a:p>
          <a:p>
            <a:pPr>
              <a:buNone/>
            </a:pPr>
            <a:endParaRPr lang="en-US" sz="2600" dirty="0" smtClean="0"/>
          </a:p>
          <a:p>
            <a:pPr>
              <a:buFont typeface="Wingdings 2"/>
              <a:buChar char="©"/>
            </a:pPr>
            <a:r>
              <a:rPr lang="en-US" sz="2600" b="1" dirty="0" smtClean="0"/>
              <a:t>Method of communication</a:t>
            </a:r>
          </a:p>
          <a:p>
            <a:pPr>
              <a:buFont typeface="Wingdings"/>
              <a:buChar char="¤"/>
            </a:pPr>
            <a:r>
              <a:rPr lang="en-US" sz="2600" dirty="0" smtClean="0">
                <a:sym typeface="Wingdings"/>
              </a:rPr>
              <a:t>Written,</a:t>
            </a:r>
          </a:p>
          <a:p>
            <a:pPr>
              <a:buFont typeface="Wingdings"/>
              <a:buChar char="¤"/>
            </a:pPr>
            <a:r>
              <a:rPr lang="en-US" sz="2600" dirty="0" smtClean="0">
                <a:sym typeface="Wingdings"/>
              </a:rPr>
              <a:t>Oral,</a:t>
            </a:r>
          </a:p>
          <a:p>
            <a:pPr>
              <a:buFont typeface="Wingdings"/>
              <a:buChar char="¤"/>
            </a:pPr>
            <a:r>
              <a:rPr lang="en-US" sz="2600" dirty="0" smtClean="0">
                <a:sym typeface="Wingdings"/>
              </a:rPr>
              <a:t>Face-to-face communication</a:t>
            </a:r>
            <a:r>
              <a:rPr lang="en-US" sz="2600" dirty="0" smtClean="0"/>
              <a:t>,</a:t>
            </a:r>
          </a:p>
          <a:p>
            <a:pPr>
              <a:buFont typeface="Wingdings"/>
              <a:buChar char="¤"/>
            </a:pPr>
            <a:r>
              <a:rPr lang="en-US" sz="2600" dirty="0" smtClean="0"/>
              <a:t>Electronic communication.</a:t>
            </a:r>
          </a:p>
          <a:p>
            <a:pPr>
              <a:buNone/>
            </a:pPr>
            <a:r>
              <a:rPr lang="en-US" sz="2600" dirty="0" smtClean="0"/>
              <a:t> </a:t>
            </a:r>
          </a:p>
          <a:p>
            <a:pPr>
              <a:buFont typeface="Wingdings"/>
              <a:buChar char="¤"/>
            </a:pPr>
            <a:endParaRPr lang="en-US" sz="2600" dirty="0" smtClean="0"/>
          </a:p>
          <a:p>
            <a:endParaRPr lang="en-US" sz="2600" dirty="0"/>
          </a:p>
        </p:txBody>
      </p:sp>
      <p:sp>
        <p:nvSpPr>
          <p:cNvPr id="4" name="Title 1"/>
          <p:cNvSpPr txBox="1">
            <a:spLocks/>
          </p:cNvSpPr>
          <p:nvPr/>
        </p:nvSpPr>
        <p:spPr>
          <a:xfrm>
            <a:off x="457200" y="228600"/>
            <a:ext cx="27432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Introduction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5791200" y="990600"/>
            <a:ext cx="2667000" cy="2492990"/>
          </a:xfrm>
          <a:prstGeom prst="rect">
            <a:avLst/>
          </a:prstGeom>
        </p:spPr>
        <p:txBody>
          <a:bodyPr wrap="square">
            <a:spAutoFit/>
          </a:bodyPr>
          <a:lstStyle/>
          <a:p>
            <a:pPr algn="just">
              <a:buFont typeface="Wingdings 2"/>
              <a:buChar char="©"/>
            </a:pPr>
            <a:r>
              <a:rPr lang="en-US" sz="2600" b="1" dirty="0" smtClean="0"/>
              <a:t>Direction of communication</a:t>
            </a:r>
          </a:p>
          <a:p>
            <a:pPr algn="just">
              <a:buFont typeface="Wingdings"/>
              <a:buChar char="¤"/>
            </a:pPr>
            <a:r>
              <a:rPr lang="en-US" sz="2600" dirty="0" smtClean="0">
                <a:sym typeface="Wingdings"/>
              </a:rPr>
              <a:t>External,</a:t>
            </a:r>
          </a:p>
          <a:p>
            <a:pPr algn="just">
              <a:buFont typeface="Wingdings"/>
              <a:buChar char="¤"/>
            </a:pPr>
            <a:r>
              <a:rPr lang="en-US" sz="2600" dirty="0" smtClean="0"/>
              <a:t>Internal,</a:t>
            </a:r>
          </a:p>
          <a:p>
            <a:pPr algn="just">
              <a:buFont typeface="Wingdings"/>
              <a:buChar char="¤"/>
            </a:pPr>
            <a:r>
              <a:rPr lang="en-US" sz="2600" dirty="0" smtClean="0"/>
              <a:t>Vertical,</a:t>
            </a:r>
          </a:p>
          <a:p>
            <a:pPr algn="just">
              <a:buFont typeface="Wingdings"/>
              <a:buChar char="¤"/>
            </a:pPr>
            <a:r>
              <a:rPr lang="en-US" sz="2600" dirty="0" smtClean="0"/>
              <a:t>Horizontal,</a:t>
            </a:r>
          </a:p>
        </p:txBody>
      </p:sp>
      <p:pic>
        <p:nvPicPr>
          <p:cNvPr id="3074" name="Picture 2" descr="F:\Mahbuba\Moni\Characters\209.jpeg"/>
          <p:cNvPicPr>
            <a:picLocks noChangeAspect="1" noChangeArrowheads="1"/>
          </p:cNvPicPr>
          <p:nvPr/>
        </p:nvPicPr>
        <p:blipFill>
          <a:blip r:embed="rId2"/>
          <a:srcRect/>
          <a:stretch>
            <a:fillRect/>
          </a:stretch>
        </p:blipFill>
        <p:spPr bwMode="auto">
          <a:xfrm>
            <a:off x="5591175" y="3505200"/>
            <a:ext cx="2867025" cy="295783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867400" cy="715962"/>
          </a:xfrm>
          <a:solidFill>
            <a:schemeClr val="accent1">
              <a:lumMod val="20000"/>
              <a:lumOff val="80000"/>
            </a:schemeClr>
          </a:solidFill>
          <a:ln>
            <a:solidFill>
              <a:schemeClr val="accent1"/>
            </a:solidFill>
          </a:ln>
        </p:spPr>
        <p:txBody>
          <a:bodyPr>
            <a:normAutofit/>
          </a:bodyPr>
          <a:lstStyle/>
          <a:p>
            <a:r>
              <a:rPr lang="en-US" sz="3000" dirty="0" smtClean="0"/>
              <a:t>Based on levels of communication</a:t>
            </a:r>
            <a:endParaRPr lang="en-US" sz="3000" dirty="0"/>
          </a:p>
        </p:txBody>
      </p:sp>
      <p:sp>
        <p:nvSpPr>
          <p:cNvPr id="3" name="Content Placeholder 2"/>
          <p:cNvSpPr>
            <a:spLocks noGrp="1"/>
          </p:cNvSpPr>
          <p:nvPr>
            <p:ph idx="1"/>
          </p:nvPr>
        </p:nvSpPr>
        <p:spPr>
          <a:xfrm>
            <a:off x="457200" y="1143000"/>
            <a:ext cx="5181600" cy="5410200"/>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800" b="1" dirty="0" smtClean="0">
                <a:sym typeface="Wingdings"/>
              </a:rPr>
              <a:t> </a:t>
            </a:r>
            <a:r>
              <a:rPr lang="en-US" sz="2800" b="1" dirty="0" smtClean="0"/>
              <a:t>Intrapersonal Communication:</a:t>
            </a:r>
          </a:p>
          <a:p>
            <a:pPr algn="just">
              <a:buNone/>
            </a:pPr>
            <a:r>
              <a:rPr lang="en-US" sz="2800" i="1" dirty="0" smtClean="0"/>
              <a:t>    “Communication occurring within an individual is called intrapersonal communication.”</a:t>
            </a:r>
          </a:p>
          <a:p>
            <a:pPr algn="just">
              <a:buNone/>
            </a:pPr>
            <a:r>
              <a:rPr lang="en-US" sz="2800" dirty="0" smtClean="0">
                <a:sym typeface="Wingdings"/>
              </a:rPr>
              <a:t> </a:t>
            </a:r>
            <a:r>
              <a:rPr lang="en-US" sz="2800" dirty="0" smtClean="0"/>
              <a:t>Feinberg states, “Intrapersonal communication, communicating with self, occurs when we think, feel or act, as well as when we verbalize to ourselves”.</a:t>
            </a:r>
          </a:p>
          <a:p>
            <a:pPr algn="just">
              <a:buNone/>
            </a:pPr>
            <a:r>
              <a:rPr lang="en-US" sz="2800" dirty="0" smtClean="0">
                <a:sym typeface="Wingdings"/>
              </a:rPr>
              <a:t> </a:t>
            </a:r>
            <a:r>
              <a:rPr lang="en-US" sz="2800" dirty="0" smtClean="0"/>
              <a:t>Intrapersonal communication may also be termed self-communication.</a:t>
            </a:r>
          </a:p>
          <a:p>
            <a:pPr algn="just"/>
            <a:endParaRPr lang="en-US" sz="2800" dirty="0"/>
          </a:p>
        </p:txBody>
      </p:sp>
      <p:pic>
        <p:nvPicPr>
          <p:cNvPr id="2050" name="Picture 2" descr="F:\Mahbuba\Moni\Characters\13.jpeg"/>
          <p:cNvPicPr>
            <a:picLocks noChangeAspect="1" noChangeArrowheads="1"/>
          </p:cNvPicPr>
          <p:nvPr/>
        </p:nvPicPr>
        <p:blipFill>
          <a:blip r:embed="rId2"/>
          <a:srcRect/>
          <a:stretch>
            <a:fillRect/>
          </a:stretch>
        </p:blipFill>
        <p:spPr bwMode="auto">
          <a:xfrm>
            <a:off x="5715000" y="1143000"/>
            <a:ext cx="3352800" cy="44958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5029200" cy="55927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b="1" dirty="0" smtClean="0">
                <a:sym typeface="Wingdings"/>
              </a:rPr>
              <a:t> </a:t>
            </a:r>
            <a:r>
              <a:rPr lang="en-US" sz="2800" b="1" dirty="0" smtClean="0"/>
              <a:t>Interpersonal Communication: </a:t>
            </a:r>
          </a:p>
          <a:p>
            <a:pPr>
              <a:buNone/>
            </a:pPr>
            <a:r>
              <a:rPr lang="en-US" sz="2800" dirty="0" smtClean="0">
                <a:sym typeface="Wingdings"/>
              </a:rPr>
              <a:t> </a:t>
            </a:r>
            <a:r>
              <a:rPr lang="en-US" sz="2800" i="1" dirty="0" smtClean="0">
                <a:sym typeface="Wingdings"/>
              </a:rPr>
              <a:t>“</a:t>
            </a:r>
            <a:r>
              <a:rPr lang="en-US" sz="2800" i="1" dirty="0" smtClean="0"/>
              <a:t>Interpersonal communication is the process of sending and receiving a message from one person to another.”</a:t>
            </a:r>
          </a:p>
          <a:p>
            <a:pPr>
              <a:buFont typeface="Wingdings"/>
              <a:buChar char="§"/>
            </a:pPr>
            <a:r>
              <a:rPr lang="en-US" sz="2800" dirty="0" smtClean="0"/>
              <a:t>A striking features of interpersonal communication is that it generally </a:t>
            </a:r>
          </a:p>
          <a:p>
            <a:pPr>
              <a:buNone/>
            </a:pPr>
            <a:r>
              <a:rPr lang="en-US" sz="2800" dirty="0" smtClean="0"/>
              <a:t>– spontaneous,</a:t>
            </a:r>
          </a:p>
          <a:p>
            <a:pPr>
              <a:buNone/>
            </a:pPr>
            <a:r>
              <a:rPr lang="en-US" sz="2800" dirty="0" smtClean="0"/>
              <a:t>– Loosely organized,</a:t>
            </a:r>
          </a:p>
          <a:p>
            <a:pPr>
              <a:buNone/>
            </a:pPr>
            <a:r>
              <a:rPr lang="en-US" sz="2800" dirty="0" smtClean="0"/>
              <a:t>– Unplanned.</a:t>
            </a:r>
          </a:p>
          <a:p>
            <a:endParaRPr lang="en-US" sz="2800" dirty="0" smtClean="0"/>
          </a:p>
        </p:txBody>
      </p:sp>
      <p:sp>
        <p:nvSpPr>
          <p:cNvPr id="5" name="Title 1"/>
          <p:cNvSpPr>
            <a:spLocks noGrp="1"/>
          </p:cNvSpPr>
          <p:nvPr>
            <p:ph type="title"/>
          </p:nvPr>
        </p:nvSpPr>
        <p:spPr>
          <a:xfrm>
            <a:off x="457200" y="198438"/>
            <a:ext cx="5867400" cy="715962"/>
          </a:xfrm>
          <a:solidFill>
            <a:schemeClr val="accent1">
              <a:lumMod val="20000"/>
              <a:lumOff val="80000"/>
            </a:schemeClr>
          </a:solidFill>
          <a:ln>
            <a:solidFill>
              <a:schemeClr val="accent1"/>
            </a:solidFill>
          </a:ln>
        </p:spPr>
        <p:txBody>
          <a:bodyPr>
            <a:normAutofit/>
          </a:bodyPr>
          <a:lstStyle/>
          <a:p>
            <a:r>
              <a:rPr lang="en-US" sz="3200" dirty="0" smtClean="0"/>
              <a:t>Based on levels of communication</a:t>
            </a:r>
            <a:endParaRPr lang="en-US" sz="3200" dirty="0"/>
          </a:p>
        </p:txBody>
      </p:sp>
      <p:pic>
        <p:nvPicPr>
          <p:cNvPr id="1026" name="Picture 2" descr="F:\Mahbuba\Moni\Characters\16.jpeg"/>
          <p:cNvPicPr>
            <a:picLocks noChangeAspect="1" noChangeArrowheads="1"/>
          </p:cNvPicPr>
          <p:nvPr/>
        </p:nvPicPr>
        <p:blipFill>
          <a:blip r:embed="rId2"/>
          <a:srcRect/>
          <a:stretch>
            <a:fillRect/>
          </a:stretch>
        </p:blipFill>
        <p:spPr bwMode="auto">
          <a:xfrm>
            <a:off x="5562600" y="1676400"/>
            <a:ext cx="3505200" cy="38862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50000"/>
              <a:lumOff val="5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04800" y="1143000"/>
            <a:ext cx="8229600" cy="4525963"/>
          </a:xfrm>
          <a:solidFill>
            <a:schemeClr val="accent2">
              <a:lumMod val="40000"/>
              <a:lumOff val="60000"/>
            </a:schemeClr>
          </a:solidFill>
        </p:spPr>
        <p:txBody>
          <a:bodyPr/>
          <a:lstStyle/>
          <a:p>
            <a:pPr algn="ctr">
              <a:buNone/>
            </a:pPr>
            <a:r>
              <a:rPr lang="en-US" b="1" dirty="0" smtClean="0">
                <a:latin typeface="Bernard MT Condensed" pitchFamily="18" charset="0"/>
              </a:rPr>
              <a:t>“Difference between </a:t>
            </a:r>
          </a:p>
          <a:p>
            <a:pPr algn="ctr">
              <a:buNone/>
            </a:pPr>
            <a:r>
              <a:rPr lang="en-US" b="1" dirty="0" smtClean="0">
                <a:latin typeface="Bernard MT Condensed" pitchFamily="18" charset="0"/>
              </a:rPr>
              <a:t>Intrapersonal &amp; Interpersonal communication”</a:t>
            </a:r>
          </a:p>
          <a:p>
            <a:pPr algn="ctr">
              <a:buNone/>
            </a:pPr>
            <a:endParaRPr lang="en-US" b="1" dirty="0" smtClean="0">
              <a:latin typeface="+mj-lt"/>
            </a:endParaRPr>
          </a:p>
          <a:p>
            <a:pPr algn="ctr">
              <a:buNone/>
            </a:pPr>
            <a:r>
              <a:rPr lang="en-US" b="1" dirty="0" smtClean="0">
                <a:latin typeface="+mj-lt"/>
              </a:rPr>
              <a:t>Business Communication</a:t>
            </a:r>
          </a:p>
          <a:p>
            <a:pPr algn="ctr">
              <a:buNone/>
            </a:pPr>
            <a:r>
              <a:rPr lang="en-US" b="1" dirty="0" smtClean="0">
                <a:latin typeface="+mj-lt"/>
              </a:rPr>
              <a:t>Dr. Abdul </a:t>
            </a:r>
            <a:r>
              <a:rPr lang="en-US" b="1" dirty="0" err="1" smtClean="0">
                <a:latin typeface="+mj-lt"/>
              </a:rPr>
              <a:t>Awal</a:t>
            </a:r>
            <a:r>
              <a:rPr lang="en-US" b="1" dirty="0" smtClean="0">
                <a:latin typeface="+mj-lt"/>
              </a:rPr>
              <a:t> Khan</a:t>
            </a:r>
          </a:p>
          <a:p>
            <a:pPr algn="ctr">
              <a:buNone/>
            </a:pPr>
            <a:r>
              <a:rPr lang="en-US" b="1" dirty="0" smtClean="0">
                <a:latin typeface="+mj-lt"/>
              </a:rPr>
              <a:t>Page:47 </a:t>
            </a:r>
            <a:r>
              <a:rPr lang="en-US" sz="5400" b="1" dirty="0" smtClean="0">
                <a:solidFill>
                  <a:srgbClr val="00B050"/>
                </a:solidFill>
                <a:latin typeface="+mj-lt"/>
                <a:sym typeface="Wingdings" pitchFamily="2" charset="2"/>
              </a:rPr>
              <a:t></a:t>
            </a:r>
            <a:endParaRPr lang="en-US" sz="5400" b="1" dirty="0">
              <a:solidFill>
                <a:srgbClr val="00B050"/>
              </a:solidFill>
              <a:latin typeface="+mj-lt"/>
            </a:endParaRPr>
          </a:p>
        </p:txBody>
      </p:sp>
      <p:pic>
        <p:nvPicPr>
          <p:cNvPr id="1026" name="Picture 2" descr="F:\Mahbuba\Moni\Characters\207.jpeg"/>
          <p:cNvPicPr>
            <a:picLocks noChangeAspect="1" noChangeArrowheads="1"/>
          </p:cNvPicPr>
          <p:nvPr/>
        </p:nvPicPr>
        <p:blipFill>
          <a:blip r:embed="rId2"/>
          <a:srcRect/>
          <a:stretch>
            <a:fillRect/>
          </a:stretch>
        </p:blipFill>
        <p:spPr bwMode="auto">
          <a:xfrm>
            <a:off x="5638801" y="3962400"/>
            <a:ext cx="2286000" cy="1589152"/>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288"/>
            <a:ext cx="4572000" cy="66294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b="1" dirty="0" smtClean="0">
                <a:sym typeface="Wingdings"/>
              </a:rPr>
              <a:t> </a:t>
            </a:r>
            <a:r>
              <a:rPr lang="en-US" sz="2800" b="1" dirty="0" smtClean="0"/>
              <a:t>Small Group Communication:</a:t>
            </a:r>
          </a:p>
          <a:p>
            <a:pPr>
              <a:buNone/>
            </a:pPr>
            <a:r>
              <a:rPr lang="en-US" sz="2800" dirty="0" smtClean="0"/>
              <a:t>     </a:t>
            </a:r>
            <a:r>
              <a:rPr lang="en-US" sz="2800" i="1" dirty="0" smtClean="0"/>
              <a:t>“Small group communication happens when more than two people are involved in communicating a message face-to-face.”</a:t>
            </a:r>
          </a:p>
          <a:p>
            <a:pPr>
              <a:buNone/>
            </a:pPr>
            <a:r>
              <a:rPr lang="en-US" sz="2800" dirty="0" smtClean="0">
                <a:sym typeface="Wingdings"/>
              </a:rPr>
              <a:t> </a:t>
            </a:r>
            <a:r>
              <a:rPr lang="en-US" sz="2800" dirty="0" smtClean="0"/>
              <a:t>This type of communication is formed for a specific purpose.</a:t>
            </a:r>
          </a:p>
          <a:p>
            <a:pPr>
              <a:buNone/>
            </a:pPr>
            <a:r>
              <a:rPr lang="en-US" sz="2800" dirty="0" smtClean="0">
                <a:sym typeface="Wingdings"/>
              </a:rPr>
              <a:t> </a:t>
            </a:r>
            <a:r>
              <a:rPr lang="en-US" sz="2800" dirty="0" smtClean="0"/>
              <a:t>An ideal size of a small group where the number of members varies between five and nine.</a:t>
            </a:r>
          </a:p>
          <a:p>
            <a:pPr>
              <a:buNone/>
            </a:pPr>
            <a:endParaRPr lang="en-US" sz="2800" dirty="0" smtClean="0"/>
          </a:p>
          <a:p>
            <a:pPr>
              <a:buNone/>
            </a:pPr>
            <a:r>
              <a:rPr lang="en-US" sz="2800" dirty="0" smtClean="0"/>
              <a:t>     </a:t>
            </a:r>
            <a:endParaRPr lang="en-US" sz="2800" dirty="0"/>
          </a:p>
        </p:txBody>
      </p:sp>
      <p:sp>
        <p:nvSpPr>
          <p:cNvPr id="5" name="Title 1"/>
          <p:cNvSpPr>
            <a:spLocks noGrp="1"/>
          </p:cNvSpPr>
          <p:nvPr>
            <p:ph type="title"/>
          </p:nvPr>
        </p:nvSpPr>
        <p:spPr>
          <a:xfrm rot="16200000">
            <a:off x="-2918619" y="3223419"/>
            <a:ext cx="6705600" cy="563562"/>
          </a:xfrm>
          <a:solidFill>
            <a:schemeClr val="accent1">
              <a:lumMod val="20000"/>
              <a:lumOff val="80000"/>
            </a:schemeClr>
          </a:solidFill>
          <a:ln>
            <a:solidFill>
              <a:schemeClr val="accent1"/>
            </a:solidFill>
          </a:ln>
        </p:spPr>
        <p:txBody>
          <a:bodyPr>
            <a:normAutofit/>
          </a:bodyPr>
          <a:lstStyle/>
          <a:p>
            <a:pPr algn="l"/>
            <a:r>
              <a:rPr lang="en-US" sz="3000" dirty="0" smtClean="0"/>
              <a:t>Based on levels of communication</a:t>
            </a:r>
            <a:endParaRPr lang="en-US" sz="3000" dirty="0"/>
          </a:p>
        </p:txBody>
      </p:sp>
      <p:pic>
        <p:nvPicPr>
          <p:cNvPr id="3074" name="Picture 2" descr="F:\Mahbuba\Moni\Characters\152.jpeg"/>
          <p:cNvPicPr>
            <a:picLocks noChangeAspect="1" noChangeArrowheads="1"/>
          </p:cNvPicPr>
          <p:nvPr/>
        </p:nvPicPr>
        <p:blipFill>
          <a:blip r:embed="rId2"/>
          <a:srcRect/>
          <a:stretch>
            <a:fillRect/>
          </a:stretch>
        </p:blipFill>
        <p:spPr bwMode="auto">
          <a:xfrm>
            <a:off x="5638800" y="1600200"/>
            <a:ext cx="3276600" cy="4038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80480"/>
            <a:ext cx="5105400" cy="65532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700" b="1" dirty="0" smtClean="0">
                <a:sym typeface="Wingdings"/>
              </a:rPr>
              <a:t> </a:t>
            </a:r>
            <a:r>
              <a:rPr lang="en-US" sz="2700" b="1" dirty="0" smtClean="0"/>
              <a:t>Mass Communication:</a:t>
            </a:r>
          </a:p>
          <a:p>
            <a:pPr>
              <a:buNone/>
            </a:pPr>
            <a:r>
              <a:rPr lang="en-US" sz="2700" dirty="0" smtClean="0">
                <a:sym typeface="Wingdings"/>
              </a:rPr>
              <a:t>  </a:t>
            </a:r>
            <a:r>
              <a:rPr lang="en-US" sz="2700" dirty="0" smtClean="0"/>
              <a:t>The term mass communication indicates a process through which a message is widely circulated among the persons who are far away from the source.</a:t>
            </a:r>
          </a:p>
          <a:p>
            <a:pPr>
              <a:buNone/>
            </a:pPr>
            <a:r>
              <a:rPr lang="en-US" sz="2700" dirty="0" smtClean="0">
                <a:sym typeface="Wingdings"/>
              </a:rPr>
              <a:t>  </a:t>
            </a:r>
            <a:r>
              <a:rPr lang="en-US" sz="2700" i="1" dirty="0" smtClean="0">
                <a:sym typeface="Wingdings"/>
              </a:rPr>
              <a:t>“</a:t>
            </a:r>
            <a:r>
              <a:rPr lang="en-US" sz="2700" i="1" dirty="0" smtClean="0"/>
              <a:t>Mass communication is a process though which professional communicators design and use intermediary channel (radio, TV, Newspaper), to disseminate messages quickly at a time to a large number of heterogeneous audience.”</a:t>
            </a:r>
            <a:endParaRPr lang="en-US" sz="2700" i="1" dirty="0"/>
          </a:p>
        </p:txBody>
      </p:sp>
      <p:sp>
        <p:nvSpPr>
          <p:cNvPr id="5" name="Title 1"/>
          <p:cNvSpPr>
            <a:spLocks noGrp="1"/>
          </p:cNvSpPr>
          <p:nvPr>
            <p:ph type="title"/>
          </p:nvPr>
        </p:nvSpPr>
        <p:spPr>
          <a:xfrm rot="16200000">
            <a:off x="-2926722" y="3125159"/>
            <a:ext cx="6585280" cy="639762"/>
          </a:xfrm>
          <a:solidFill>
            <a:schemeClr val="accent1">
              <a:lumMod val="20000"/>
              <a:lumOff val="80000"/>
            </a:schemeClr>
          </a:solidFill>
          <a:ln>
            <a:solidFill>
              <a:schemeClr val="accent1"/>
            </a:solidFill>
          </a:ln>
        </p:spPr>
        <p:txBody>
          <a:bodyPr>
            <a:normAutofit/>
          </a:bodyPr>
          <a:lstStyle/>
          <a:p>
            <a:r>
              <a:rPr lang="en-US" sz="3000" dirty="0" smtClean="0"/>
              <a:t>Based on levels of communication</a:t>
            </a:r>
            <a:endParaRPr lang="en-US" sz="3000" dirty="0"/>
          </a:p>
        </p:txBody>
      </p:sp>
      <p:pic>
        <p:nvPicPr>
          <p:cNvPr id="4098" name="Picture 2" descr="F:\Mahbuba\Moni\Characters\230.jpeg"/>
          <p:cNvPicPr>
            <a:picLocks noChangeAspect="1" noChangeArrowheads="1"/>
          </p:cNvPicPr>
          <p:nvPr/>
        </p:nvPicPr>
        <p:blipFill>
          <a:blip r:embed="rId2"/>
          <a:srcRect/>
          <a:stretch>
            <a:fillRect/>
          </a:stretch>
        </p:blipFill>
        <p:spPr bwMode="auto">
          <a:xfrm>
            <a:off x="6096000" y="1600200"/>
            <a:ext cx="2971800" cy="38862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781800" cy="715962"/>
          </a:xfrm>
          <a:solidFill>
            <a:schemeClr val="accent1">
              <a:lumMod val="20000"/>
              <a:lumOff val="80000"/>
            </a:schemeClr>
          </a:solidFill>
          <a:ln>
            <a:solidFill>
              <a:schemeClr val="accent1"/>
            </a:solidFill>
          </a:ln>
        </p:spPr>
        <p:txBody>
          <a:bodyPr>
            <a:normAutofit/>
          </a:bodyPr>
          <a:lstStyle/>
          <a:p>
            <a:r>
              <a:rPr lang="en-US" sz="3000" dirty="0" smtClean="0"/>
              <a:t>Based on Formalities in Communication</a:t>
            </a:r>
            <a:endParaRPr lang="en-US" sz="3000" dirty="0"/>
          </a:p>
        </p:txBody>
      </p:sp>
      <p:sp>
        <p:nvSpPr>
          <p:cNvPr id="3" name="Content Placeholder 2"/>
          <p:cNvSpPr>
            <a:spLocks noGrp="1"/>
          </p:cNvSpPr>
          <p:nvPr>
            <p:ph idx="1"/>
          </p:nvPr>
        </p:nvSpPr>
        <p:spPr>
          <a:xfrm>
            <a:off x="457200" y="1066800"/>
            <a:ext cx="4953000" cy="556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sym typeface="Wingdings"/>
              </a:rPr>
              <a:t> </a:t>
            </a:r>
            <a:r>
              <a:rPr lang="en-US" sz="2800" dirty="0" smtClean="0"/>
              <a:t>Communication may or may not go by formalities.</a:t>
            </a:r>
          </a:p>
          <a:p>
            <a:pPr algn="just">
              <a:buNone/>
            </a:pPr>
            <a:r>
              <a:rPr lang="en-US" sz="2800" dirty="0" smtClean="0">
                <a:sym typeface="Wingdings 2"/>
              </a:rPr>
              <a:t> </a:t>
            </a:r>
            <a:r>
              <a:rPr lang="en-US" sz="2800" b="1" dirty="0" smtClean="0"/>
              <a:t>Formal Communication: </a:t>
            </a:r>
          </a:p>
          <a:p>
            <a:pPr algn="just">
              <a:buNone/>
            </a:pPr>
            <a:r>
              <a:rPr lang="en-US" sz="2800" dirty="0" smtClean="0"/>
              <a:t>    If communication takes place between two or more formal positions and in relation to function of an organization then it has to be done in conformity with the discipline, procedures, rules, regulations etc. of the organization concerned.</a:t>
            </a:r>
            <a:endParaRPr lang="en-US" sz="2800" dirty="0"/>
          </a:p>
        </p:txBody>
      </p:sp>
      <p:pic>
        <p:nvPicPr>
          <p:cNvPr id="3074" name="Picture 2" descr="F:\Mahbuba\Moni\Characters\183.jpeg"/>
          <p:cNvPicPr>
            <a:picLocks noChangeAspect="1" noChangeArrowheads="1"/>
          </p:cNvPicPr>
          <p:nvPr/>
        </p:nvPicPr>
        <p:blipFill>
          <a:blip r:embed="rId2"/>
          <a:srcRect/>
          <a:stretch>
            <a:fillRect/>
          </a:stretch>
        </p:blipFill>
        <p:spPr bwMode="auto">
          <a:xfrm>
            <a:off x="5562600" y="1981200"/>
            <a:ext cx="3505200" cy="32004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4495800" cy="4830763"/>
          </a:xfrm>
        </p:spPr>
        <p:style>
          <a:lnRef idx="2">
            <a:schemeClr val="accent1"/>
          </a:lnRef>
          <a:fillRef idx="1">
            <a:schemeClr val="lt1"/>
          </a:fillRef>
          <a:effectRef idx="0">
            <a:schemeClr val="accent1"/>
          </a:effectRef>
          <a:fontRef idx="minor">
            <a:schemeClr val="dk1"/>
          </a:fontRef>
        </p:style>
        <p:txBody>
          <a:bodyPr>
            <a:normAutofit/>
          </a:bodyPr>
          <a:lstStyle/>
          <a:p>
            <a:pPr algn="just">
              <a:buFont typeface="Wingdings 2"/>
              <a:buChar char="©"/>
            </a:pPr>
            <a:r>
              <a:rPr lang="en-US" sz="2800" b="1" dirty="0" smtClean="0"/>
              <a:t>Informal Communication</a:t>
            </a:r>
            <a:r>
              <a:rPr lang="en-US" sz="2800" dirty="0" smtClean="0"/>
              <a:t>: </a:t>
            </a:r>
          </a:p>
          <a:p>
            <a:pPr algn="just">
              <a:buNone/>
            </a:pPr>
            <a:r>
              <a:rPr lang="en-US" sz="2800" dirty="0" smtClean="0"/>
              <a:t>     If two or more persons, although holding some organizational positions, communicate on some personal grounds and levels, compliance of organizational discipline, rules etc. is beyond  question.</a:t>
            </a:r>
            <a:endParaRPr lang="en-US" sz="2800" dirty="0"/>
          </a:p>
        </p:txBody>
      </p:sp>
      <p:sp>
        <p:nvSpPr>
          <p:cNvPr id="4" name="Title 1"/>
          <p:cNvSpPr txBox="1">
            <a:spLocks/>
          </p:cNvSpPr>
          <p:nvPr/>
        </p:nvSpPr>
        <p:spPr>
          <a:xfrm>
            <a:off x="457200" y="274638"/>
            <a:ext cx="67818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Formalities in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descr="F:\Mahbuba\Moni\Characters\98.jpeg"/>
          <p:cNvPicPr>
            <a:picLocks noChangeAspect="1" noChangeArrowheads="1"/>
          </p:cNvPicPr>
          <p:nvPr/>
        </p:nvPicPr>
        <p:blipFill>
          <a:blip r:embed="rId2"/>
          <a:srcRect/>
          <a:stretch>
            <a:fillRect/>
          </a:stretch>
        </p:blipFill>
        <p:spPr bwMode="auto">
          <a:xfrm>
            <a:off x="5029200" y="1219200"/>
            <a:ext cx="3962400" cy="39624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189037"/>
            <a:ext cx="8229600" cy="4525963"/>
          </a:xfrm>
          <a:solidFill>
            <a:schemeClr val="accent2">
              <a:lumMod val="40000"/>
              <a:lumOff val="60000"/>
            </a:schemeClr>
          </a:solidFill>
        </p:spPr>
        <p:txBody>
          <a:bodyPr/>
          <a:lstStyle/>
          <a:p>
            <a:pPr algn="ctr">
              <a:buNone/>
            </a:pPr>
            <a:r>
              <a:rPr lang="en-US" dirty="0" smtClean="0">
                <a:latin typeface="Bernard MT Condensed" pitchFamily="18" charset="0"/>
              </a:rPr>
              <a:t> “Distinction between </a:t>
            </a:r>
          </a:p>
          <a:p>
            <a:pPr algn="ctr">
              <a:buNone/>
            </a:pPr>
            <a:r>
              <a:rPr lang="en-US" dirty="0" smtClean="0">
                <a:latin typeface="Bernard MT Condensed" pitchFamily="18" charset="0"/>
              </a:rPr>
              <a:t>Formal And Informal Communication”</a:t>
            </a:r>
          </a:p>
          <a:p>
            <a:pPr algn="ctr">
              <a:buNone/>
            </a:pPr>
            <a:endParaRPr lang="en-US" dirty="0" smtClean="0">
              <a:latin typeface="Bernard MT Condensed" pitchFamily="18" charset="0"/>
            </a:endParaRPr>
          </a:p>
          <a:p>
            <a:pPr algn="ctr">
              <a:buNone/>
            </a:pPr>
            <a:r>
              <a:rPr lang="en-US" b="1" dirty="0" smtClean="0"/>
              <a:t>Business Communication</a:t>
            </a:r>
          </a:p>
          <a:p>
            <a:pPr algn="ctr">
              <a:buNone/>
            </a:pPr>
            <a:r>
              <a:rPr lang="en-US" b="1" dirty="0" smtClean="0"/>
              <a:t>Dr. Abdul </a:t>
            </a:r>
            <a:r>
              <a:rPr lang="en-US" b="1" dirty="0" err="1" smtClean="0"/>
              <a:t>Awal</a:t>
            </a:r>
            <a:r>
              <a:rPr lang="en-US" b="1" dirty="0" smtClean="0"/>
              <a:t> Khan</a:t>
            </a:r>
          </a:p>
          <a:p>
            <a:pPr algn="ctr">
              <a:buNone/>
            </a:pPr>
            <a:r>
              <a:rPr lang="en-US" b="1" dirty="0" smtClean="0"/>
              <a:t>Page:55-56 </a:t>
            </a:r>
            <a:r>
              <a:rPr lang="en-US" sz="5400" b="1" dirty="0" smtClean="0">
                <a:solidFill>
                  <a:srgbClr val="00B050"/>
                </a:solidFill>
                <a:sym typeface="Wingdings" pitchFamily="2" charset="2"/>
              </a:rPr>
              <a:t></a:t>
            </a:r>
            <a:endParaRPr lang="en-US" sz="5400" b="1" dirty="0" smtClean="0">
              <a:solidFill>
                <a:srgbClr val="00B050"/>
              </a:solidFill>
            </a:endParaRPr>
          </a:p>
          <a:p>
            <a:pPr algn="ctr">
              <a:buNone/>
            </a:pPr>
            <a:endParaRPr lang="en-US" dirty="0" smtClean="0">
              <a:latin typeface="+mj-lt"/>
            </a:endParaRPr>
          </a:p>
          <a:p>
            <a:pPr algn="ctr">
              <a:buNone/>
            </a:pPr>
            <a:endParaRPr lang="en-US" dirty="0" smtClean="0">
              <a:latin typeface="+mj-lt"/>
            </a:endParaRPr>
          </a:p>
          <a:p>
            <a:pPr algn="ctr">
              <a:buNone/>
            </a:pPr>
            <a:endParaRPr lang="en-US" dirty="0">
              <a:latin typeface="Bernard MT Condensed" pitchFamily="18" charset="0"/>
            </a:endParaRPr>
          </a:p>
        </p:txBody>
      </p:sp>
      <p:pic>
        <p:nvPicPr>
          <p:cNvPr id="6" name="Picture 2" descr="F:\Mahbuba\Moni\Characters\207.jpeg"/>
          <p:cNvPicPr>
            <a:picLocks noChangeAspect="1" noChangeArrowheads="1"/>
          </p:cNvPicPr>
          <p:nvPr/>
        </p:nvPicPr>
        <p:blipFill>
          <a:blip r:embed="rId2"/>
          <a:srcRect/>
          <a:stretch>
            <a:fillRect/>
          </a:stretch>
        </p:blipFill>
        <p:spPr bwMode="auto">
          <a:xfrm>
            <a:off x="5943600" y="4049648"/>
            <a:ext cx="2286000" cy="1589152"/>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629400" cy="639762"/>
          </a:xfrm>
          <a:solidFill>
            <a:schemeClr val="accent1">
              <a:lumMod val="20000"/>
              <a:lumOff val="80000"/>
            </a:schemeClr>
          </a:solidFill>
          <a:ln>
            <a:solidFill>
              <a:schemeClr val="accent1"/>
            </a:solidFill>
          </a:ln>
        </p:spPr>
        <p:txBody>
          <a:bodyPr>
            <a:normAutofit/>
          </a:bodyPr>
          <a:lstStyle/>
          <a:p>
            <a:r>
              <a:rPr lang="en-US" sz="3000" dirty="0" smtClean="0"/>
              <a:t>Based on Methods of Communication</a:t>
            </a:r>
            <a:endParaRPr lang="en-US" sz="3000" dirty="0"/>
          </a:p>
        </p:txBody>
      </p:sp>
      <p:sp>
        <p:nvSpPr>
          <p:cNvPr id="3" name="Content Placeholder 2"/>
          <p:cNvSpPr>
            <a:spLocks noGrp="1"/>
          </p:cNvSpPr>
          <p:nvPr>
            <p:ph idx="1"/>
          </p:nvPr>
        </p:nvSpPr>
        <p:spPr>
          <a:xfrm>
            <a:off x="457200" y="1295400"/>
            <a:ext cx="82296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sym typeface="Wingdings 2"/>
              </a:rPr>
              <a:t> </a:t>
            </a:r>
            <a:r>
              <a:rPr lang="en-US" sz="2800" dirty="0" smtClean="0"/>
              <a:t>A communicator can transmit the message in different ways-</a:t>
            </a:r>
          </a:p>
          <a:p>
            <a:pPr>
              <a:buNone/>
            </a:pPr>
            <a:r>
              <a:rPr lang="en-US" sz="2800" dirty="0" smtClean="0">
                <a:latin typeface="Wide Latin"/>
              </a:rPr>
              <a:t>– </a:t>
            </a:r>
            <a:r>
              <a:rPr lang="en-US" sz="2800" dirty="0" smtClean="0"/>
              <a:t>In writing,</a:t>
            </a:r>
          </a:p>
          <a:p>
            <a:pPr>
              <a:buNone/>
            </a:pPr>
            <a:r>
              <a:rPr lang="en-US" sz="2800" dirty="0" smtClean="0">
                <a:latin typeface="Wide Latin"/>
              </a:rPr>
              <a:t>– </a:t>
            </a:r>
            <a:r>
              <a:rPr lang="en-US" sz="2800" dirty="0" smtClean="0"/>
              <a:t>By speaking face-to-face or </a:t>
            </a:r>
          </a:p>
          <a:p>
            <a:pPr>
              <a:buNone/>
            </a:pPr>
            <a:r>
              <a:rPr lang="en-US" sz="2800" dirty="0" smtClean="0">
                <a:latin typeface="Wide Latin"/>
              </a:rPr>
              <a:t>– </a:t>
            </a:r>
            <a:r>
              <a:rPr lang="en-US" sz="2800" dirty="0" smtClean="0"/>
              <a:t>By using electronic/computer devices.</a:t>
            </a:r>
          </a:p>
          <a:p>
            <a:pPr>
              <a:buNone/>
            </a:pPr>
            <a:r>
              <a:rPr lang="en-US" sz="2800" dirty="0" smtClean="0">
                <a:sym typeface="Wingdings 2"/>
              </a:rPr>
              <a:t> </a:t>
            </a:r>
            <a:r>
              <a:rPr lang="en-US" sz="2800" dirty="0" smtClean="0"/>
              <a:t>On the basis of symbols used communication may be of mainly three types:</a:t>
            </a:r>
          </a:p>
          <a:p>
            <a:pPr>
              <a:buNone/>
            </a:pPr>
            <a:r>
              <a:rPr lang="en-US" sz="2800" dirty="0" smtClean="0">
                <a:sym typeface="Wingdings 3"/>
              </a:rPr>
              <a:t> </a:t>
            </a:r>
            <a:r>
              <a:rPr lang="en-US" sz="2800" dirty="0" smtClean="0"/>
              <a:t>Written</a:t>
            </a:r>
          </a:p>
          <a:p>
            <a:pPr>
              <a:buNone/>
            </a:pPr>
            <a:r>
              <a:rPr lang="en-US" sz="2800" dirty="0" smtClean="0">
                <a:sym typeface="Wingdings 3"/>
              </a:rPr>
              <a:t> </a:t>
            </a:r>
            <a:r>
              <a:rPr lang="en-US" sz="2800" dirty="0" smtClean="0"/>
              <a:t>Oral,</a:t>
            </a:r>
          </a:p>
          <a:p>
            <a:pPr>
              <a:buNone/>
            </a:pPr>
            <a:r>
              <a:rPr lang="en-US" sz="2800" dirty="0" smtClean="0">
                <a:sym typeface="Wingdings 3"/>
              </a:rPr>
              <a:t> </a:t>
            </a:r>
            <a:r>
              <a:rPr lang="en-US" sz="2800" dirty="0" smtClean="0"/>
              <a:t>Electronic/computer based.</a:t>
            </a:r>
            <a:endParaRPr 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latin typeface="+mj-lt"/>
                <a:sym typeface="Wingdings"/>
              </a:rPr>
              <a:t> </a:t>
            </a:r>
            <a:r>
              <a:rPr lang="en-US" sz="2800" b="1" dirty="0" smtClean="0">
                <a:latin typeface="+mj-lt"/>
              </a:rPr>
              <a:t>Written communication:</a:t>
            </a:r>
          </a:p>
          <a:p>
            <a:pPr>
              <a:buNone/>
            </a:pPr>
            <a:r>
              <a:rPr lang="en-US" sz="2800" dirty="0" smtClean="0">
                <a:latin typeface="+mj-lt"/>
              </a:rPr>
              <a:t>     </a:t>
            </a:r>
            <a:r>
              <a:rPr lang="en-US" sz="2800" i="1" dirty="0" smtClean="0">
                <a:latin typeface="+mj-lt"/>
              </a:rPr>
              <a:t>“A message communicated in a written from is known as written communication.”</a:t>
            </a:r>
          </a:p>
          <a:p>
            <a:pPr>
              <a:buNone/>
            </a:pPr>
            <a:r>
              <a:rPr lang="en-US" sz="2800" dirty="0" smtClean="0">
                <a:latin typeface="+mj-lt"/>
                <a:sym typeface="Wingdings"/>
              </a:rPr>
              <a:t> </a:t>
            </a:r>
            <a:r>
              <a:rPr lang="en-US" sz="2800" b="1" dirty="0" smtClean="0">
                <a:latin typeface="+mj-lt"/>
              </a:rPr>
              <a:t>Oral Communication:</a:t>
            </a:r>
          </a:p>
          <a:p>
            <a:pPr>
              <a:buNone/>
            </a:pPr>
            <a:r>
              <a:rPr lang="en-US" sz="2800" dirty="0" smtClean="0">
                <a:latin typeface="+mj-lt"/>
              </a:rPr>
              <a:t>    </a:t>
            </a:r>
            <a:r>
              <a:rPr lang="en-US" sz="2800" i="1" dirty="0" smtClean="0">
                <a:latin typeface="+mj-lt"/>
              </a:rPr>
              <a:t>“In oral communication spoken words are used to express meaning.”</a:t>
            </a:r>
          </a:p>
          <a:p>
            <a:pPr>
              <a:buNone/>
            </a:pPr>
            <a:r>
              <a:rPr lang="en-US" sz="2800" b="1" dirty="0" smtClean="0">
                <a:latin typeface="+mj-lt"/>
                <a:sym typeface="Wingdings"/>
              </a:rPr>
              <a:t> </a:t>
            </a:r>
            <a:r>
              <a:rPr lang="en-US" sz="2800" b="1" dirty="0" smtClean="0">
                <a:latin typeface="+mj-lt"/>
              </a:rPr>
              <a:t>Face-to-face Communication:</a:t>
            </a:r>
          </a:p>
          <a:p>
            <a:pPr>
              <a:buNone/>
            </a:pPr>
            <a:r>
              <a:rPr lang="en-US" sz="2800" dirty="0" smtClean="0">
                <a:latin typeface="+mj-lt"/>
              </a:rPr>
              <a:t>    </a:t>
            </a:r>
            <a:r>
              <a:rPr lang="en-US" sz="2800" i="1" dirty="0" smtClean="0">
                <a:latin typeface="+mj-lt"/>
              </a:rPr>
              <a:t>“Face-to-face communication are almost oral. Telephonic conversation, voice over internet, voice mail etc. are oral but not face-to-face.” </a:t>
            </a:r>
          </a:p>
          <a:p>
            <a:pPr>
              <a:buNone/>
            </a:pPr>
            <a:r>
              <a:rPr lang="en-US" sz="2800" dirty="0" smtClean="0">
                <a:latin typeface="+mj-lt"/>
              </a:rPr>
              <a:t>– When communication transfer with the presence of two persons. </a:t>
            </a:r>
          </a:p>
        </p:txBody>
      </p:sp>
      <p:sp>
        <p:nvSpPr>
          <p:cNvPr id="4" name="Title 1"/>
          <p:cNvSpPr txBox="1">
            <a:spLocks/>
          </p:cNvSpPr>
          <p:nvPr/>
        </p:nvSpPr>
        <p:spPr>
          <a:xfrm>
            <a:off x="457200" y="274638"/>
            <a:ext cx="6629400" cy="639762"/>
          </a:xfrm>
          <a:prstGeom prst="rect">
            <a:avLst/>
          </a:prstGeom>
          <a:solidFill>
            <a:schemeClr val="accent1">
              <a:lumMod val="20000"/>
              <a:lumOff val="80000"/>
            </a:schemeClr>
          </a:solidFill>
          <a:ln>
            <a:solidFill>
              <a:schemeClr val="accent1"/>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smtClean="0">
                <a:ln>
                  <a:noFill/>
                </a:ln>
                <a:solidFill>
                  <a:schemeClr val="tx1"/>
                </a:solidFill>
                <a:effectLst/>
                <a:uLnTx/>
                <a:uFillTx/>
                <a:latin typeface="+mj-lt"/>
                <a:ea typeface="+mj-ea"/>
                <a:cs typeface="+mj-cs"/>
              </a:rPr>
              <a:t>Based on Methods of Communication</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114800" cy="45259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a:t>
            </a:r>
            <a:r>
              <a:rPr lang="en-US" sz="2800" b="1" dirty="0" smtClean="0">
                <a:sym typeface="Wingdings"/>
              </a:rPr>
              <a:t> </a:t>
            </a:r>
            <a:r>
              <a:rPr lang="en-US" sz="2800" b="1" dirty="0" smtClean="0"/>
              <a:t>Electronic Communication:</a:t>
            </a:r>
          </a:p>
          <a:p>
            <a:pPr>
              <a:buNone/>
            </a:pPr>
            <a:r>
              <a:rPr lang="en-US" sz="2800" dirty="0" smtClean="0">
                <a:latin typeface="Wide Latin"/>
              </a:rPr>
              <a:t>– </a:t>
            </a:r>
            <a:r>
              <a:rPr lang="en-US" sz="2800" dirty="0" smtClean="0"/>
              <a:t>Electronic communication (e- communication) involves collection, processing, storage, and distribution of information through electronic device.</a:t>
            </a:r>
            <a:endParaRPr lang="en-US" sz="2800" dirty="0"/>
          </a:p>
        </p:txBody>
      </p:sp>
      <p:sp>
        <p:nvSpPr>
          <p:cNvPr id="4" name="Title 1"/>
          <p:cNvSpPr txBox="1">
            <a:spLocks/>
          </p:cNvSpPr>
          <p:nvPr/>
        </p:nvSpPr>
        <p:spPr>
          <a:xfrm>
            <a:off x="457200" y="274638"/>
            <a:ext cx="66294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Methods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4098" name="Picture 2" descr="F:\Mahbuba\Moni\Characters\111.jpeg"/>
          <p:cNvPicPr>
            <a:picLocks noChangeAspect="1" noChangeArrowheads="1"/>
          </p:cNvPicPr>
          <p:nvPr/>
        </p:nvPicPr>
        <p:blipFill>
          <a:blip r:embed="rId2"/>
          <a:srcRect/>
          <a:stretch>
            <a:fillRect/>
          </a:stretch>
        </p:blipFill>
        <p:spPr bwMode="auto">
          <a:xfrm>
            <a:off x="5419726" y="2133600"/>
            <a:ext cx="3048000" cy="30480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6400800" cy="762000"/>
          </a:xfrm>
          <a:solidFill>
            <a:schemeClr val="accent1">
              <a:lumMod val="20000"/>
              <a:lumOff val="80000"/>
            </a:schemeClr>
          </a:solidFill>
          <a:ln>
            <a:solidFill>
              <a:schemeClr val="accent1"/>
            </a:solidFill>
          </a:ln>
        </p:spPr>
        <p:txBody>
          <a:bodyPr>
            <a:normAutofit/>
          </a:bodyPr>
          <a:lstStyle/>
          <a:p>
            <a:r>
              <a:rPr lang="en-US" sz="3000" dirty="0" smtClean="0"/>
              <a:t>Based on Direction of communication</a:t>
            </a:r>
            <a:endParaRPr lang="en-US" sz="3000" dirty="0"/>
          </a:p>
        </p:txBody>
      </p:sp>
      <p:sp>
        <p:nvSpPr>
          <p:cNvPr id="3" name="Content Placeholder 2"/>
          <p:cNvSpPr>
            <a:spLocks noGrp="1"/>
          </p:cNvSpPr>
          <p:nvPr>
            <p:ph idx="1"/>
          </p:nvPr>
        </p:nvSpPr>
        <p:spPr>
          <a:xfrm>
            <a:off x="457200" y="1295400"/>
            <a:ext cx="8229600" cy="48307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2"/>
              </a:rPr>
              <a:t> </a:t>
            </a:r>
            <a:r>
              <a:rPr lang="en-US" sz="2800" dirty="0" smtClean="0"/>
              <a:t>The direction of communication may take any of the following patterns:</a:t>
            </a:r>
          </a:p>
          <a:p>
            <a:pPr>
              <a:buNone/>
            </a:pPr>
            <a:r>
              <a:rPr lang="en-US" sz="2800" dirty="0" smtClean="0">
                <a:sym typeface="Wingdings"/>
              </a:rPr>
              <a:t> </a:t>
            </a:r>
            <a:r>
              <a:rPr lang="en-US" sz="2800" dirty="0" smtClean="0"/>
              <a:t>External communication</a:t>
            </a:r>
          </a:p>
          <a:p>
            <a:pPr>
              <a:buNone/>
            </a:pPr>
            <a:r>
              <a:rPr lang="en-US" sz="2800" dirty="0" smtClean="0">
                <a:sym typeface="Wingdings"/>
              </a:rPr>
              <a:t> </a:t>
            </a:r>
            <a:r>
              <a:rPr lang="en-US" sz="2800" dirty="0" smtClean="0"/>
              <a:t>Internal Communication</a:t>
            </a:r>
          </a:p>
          <a:p>
            <a:pPr>
              <a:buNone/>
            </a:pPr>
            <a:r>
              <a:rPr lang="en-US" sz="2800" dirty="0" smtClean="0">
                <a:sym typeface="Wingdings"/>
              </a:rPr>
              <a:t> </a:t>
            </a:r>
            <a:r>
              <a:rPr lang="en-US" sz="2800" dirty="0" smtClean="0"/>
              <a:t>Vertical Communication</a:t>
            </a:r>
          </a:p>
          <a:p>
            <a:pPr>
              <a:buNone/>
            </a:pPr>
            <a:r>
              <a:rPr lang="en-US" sz="2800" dirty="0" smtClean="0">
                <a:sym typeface="Wingdings 2"/>
              </a:rPr>
              <a:t>        </a:t>
            </a:r>
            <a:r>
              <a:rPr lang="en-US" sz="2800" dirty="0" smtClean="0"/>
              <a:t>Downward communication</a:t>
            </a:r>
          </a:p>
          <a:p>
            <a:pPr>
              <a:buNone/>
            </a:pPr>
            <a:r>
              <a:rPr lang="en-US" sz="2800" dirty="0" smtClean="0"/>
              <a:t>        </a:t>
            </a:r>
            <a:r>
              <a:rPr lang="en-US" sz="2800" dirty="0" smtClean="0">
                <a:sym typeface="Wingdings 2"/>
              </a:rPr>
              <a:t></a:t>
            </a:r>
            <a:r>
              <a:rPr lang="en-US" sz="2800" dirty="0" smtClean="0"/>
              <a:t>Upward Communication</a:t>
            </a:r>
          </a:p>
          <a:p>
            <a:pPr>
              <a:buNone/>
            </a:pPr>
            <a:r>
              <a:rPr lang="en-US" sz="2800" dirty="0" smtClean="0">
                <a:sym typeface="Wingdings"/>
              </a:rPr>
              <a:t> </a:t>
            </a:r>
            <a:r>
              <a:rPr lang="en-US" sz="2800" dirty="0" smtClean="0"/>
              <a:t>Horizontal communication.</a:t>
            </a:r>
            <a:endParaRPr lang="en-US" sz="2800" dirty="0"/>
          </a:p>
        </p:txBody>
      </p:sp>
      <p:pic>
        <p:nvPicPr>
          <p:cNvPr id="5122" name="Picture 2" descr="F:\Mahbuba\Moni\Characters\108.jpeg"/>
          <p:cNvPicPr>
            <a:picLocks noChangeAspect="1" noChangeArrowheads="1"/>
          </p:cNvPicPr>
          <p:nvPr/>
        </p:nvPicPr>
        <p:blipFill>
          <a:blip r:embed="rId2"/>
          <a:srcRect/>
          <a:stretch>
            <a:fillRect/>
          </a:stretch>
        </p:blipFill>
        <p:spPr bwMode="auto">
          <a:xfrm>
            <a:off x="5562600" y="2286000"/>
            <a:ext cx="3055200" cy="28956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7391400" cy="4876800"/>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800" dirty="0" smtClean="0">
                <a:sym typeface="Wingdings"/>
              </a:rPr>
              <a:t> </a:t>
            </a:r>
            <a:r>
              <a:rPr lang="en-US" sz="2800" b="1" dirty="0" smtClean="0"/>
              <a:t>External communication:</a:t>
            </a:r>
          </a:p>
          <a:p>
            <a:pPr algn="just">
              <a:buNone/>
            </a:pPr>
            <a:r>
              <a:rPr lang="en-US" sz="2800" dirty="0" smtClean="0">
                <a:latin typeface="Wide Latin"/>
              </a:rPr>
              <a:t>– </a:t>
            </a:r>
            <a:r>
              <a:rPr lang="en-US" sz="2800" dirty="0" smtClean="0"/>
              <a:t>External communication takes place with outsiders.</a:t>
            </a:r>
          </a:p>
          <a:p>
            <a:pPr algn="just">
              <a:buNone/>
            </a:pPr>
            <a:r>
              <a:rPr lang="en-US" sz="2800" dirty="0" smtClean="0">
                <a:latin typeface="Wide Latin"/>
              </a:rPr>
              <a:t>– </a:t>
            </a:r>
            <a:r>
              <a:rPr lang="en-US" sz="2800" dirty="0" smtClean="0"/>
              <a:t>An external communication serve the purpose of making contact with outsiders  so as to know from them issues of their mutual interest.</a:t>
            </a:r>
          </a:p>
          <a:p>
            <a:pPr algn="just">
              <a:buNone/>
            </a:pPr>
            <a:r>
              <a:rPr lang="en-US" sz="2800" dirty="0" smtClean="0">
                <a:sym typeface="Wingdings"/>
              </a:rPr>
              <a:t> </a:t>
            </a:r>
            <a:r>
              <a:rPr lang="en-US" sz="2800" b="1" dirty="0" smtClean="0"/>
              <a:t>Internal Communication:</a:t>
            </a:r>
          </a:p>
          <a:p>
            <a:pPr algn="just">
              <a:buNone/>
            </a:pPr>
            <a:r>
              <a:rPr lang="en-US" sz="2800" dirty="0" smtClean="0">
                <a:latin typeface="Wide Latin"/>
              </a:rPr>
              <a:t>– </a:t>
            </a:r>
            <a:r>
              <a:rPr lang="en-US" sz="2800" dirty="0" smtClean="0"/>
              <a:t>Communication occurring within the some organization structure is called internal communication.</a:t>
            </a:r>
            <a:endParaRPr lang="en-US" sz="2800" dirty="0"/>
          </a:p>
        </p:txBody>
      </p:sp>
      <p:sp>
        <p:nvSpPr>
          <p:cNvPr id="4" name="Title 1"/>
          <p:cNvSpPr txBox="1">
            <a:spLocks/>
          </p:cNvSpPr>
          <p:nvPr/>
        </p:nvSpPr>
        <p:spPr>
          <a:xfrm>
            <a:off x="457200" y="228600"/>
            <a:ext cx="64008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Direction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189037"/>
            <a:ext cx="8229600" cy="4525963"/>
          </a:xfrm>
          <a:solidFill>
            <a:schemeClr val="accent2">
              <a:lumMod val="40000"/>
              <a:lumOff val="60000"/>
            </a:schemeClr>
          </a:solidFill>
        </p:spPr>
        <p:txBody>
          <a:bodyPr/>
          <a:lstStyle/>
          <a:p>
            <a:pPr algn="ctr">
              <a:buNone/>
            </a:pPr>
            <a:r>
              <a:rPr lang="en-US" dirty="0" smtClean="0">
                <a:latin typeface="Bernard MT Condensed" pitchFamily="18" charset="0"/>
              </a:rPr>
              <a:t> “Distinction between </a:t>
            </a:r>
          </a:p>
          <a:p>
            <a:pPr algn="ctr">
              <a:buNone/>
            </a:pPr>
            <a:r>
              <a:rPr lang="en-US" dirty="0" smtClean="0">
                <a:latin typeface="Bernard MT Condensed" pitchFamily="18" charset="0"/>
              </a:rPr>
              <a:t>Internal &amp; External Communication”</a:t>
            </a:r>
          </a:p>
          <a:p>
            <a:pPr algn="ctr">
              <a:buNone/>
            </a:pPr>
            <a:endParaRPr lang="en-US" dirty="0" smtClean="0">
              <a:latin typeface="Bernard MT Condensed" pitchFamily="18" charset="0"/>
            </a:endParaRPr>
          </a:p>
          <a:p>
            <a:pPr algn="ctr">
              <a:buNone/>
            </a:pPr>
            <a:r>
              <a:rPr lang="en-US" b="1" dirty="0" smtClean="0"/>
              <a:t>Business Communication</a:t>
            </a:r>
          </a:p>
          <a:p>
            <a:pPr algn="ctr">
              <a:buNone/>
            </a:pPr>
            <a:r>
              <a:rPr lang="en-US" b="1" dirty="0" smtClean="0"/>
              <a:t>Dr. Abdul </a:t>
            </a:r>
            <a:r>
              <a:rPr lang="en-US" b="1" dirty="0" err="1" smtClean="0"/>
              <a:t>Awal</a:t>
            </a:r>
            <a:r>
              <a:rPr lang="en-US" b="1" dirty="0" smtClean="0"/>
              <a:t> Khan</a:t>
            </a:r>
          </a:p>
          <a:p>
            <a:pPr algn="ctr">
              <a:buNone/>
            </a:pPr>
            <a:r>
              <a:rPr lang="en-US" b="1" dirty="0" smtClean="0"/>
              <a:t>Page:61-62  </a:t>
            </a:r>
            <a:r>
              <a:rPr lang="en-US" sz="5400" b="1" dirty="0" smtClean="0">
                <a:solidFill>
                  <a:srgbClr val="00B050"/>
                </a:solidFill>
                <a:sym typeface="Wingdings" pitchFamily="2" charset="2"/>
              </a:rPr>
              <a:t></a:t>
            </a:r>
            <a:endParaRPr lang="en-US" sz="5400" b="1" dirty="0" smtClean="0">
              <a:solidFill>
                <a:srgbClr val="00B050"/>
              </a:solidFill>
            </a:endParaRPr>
          </a:p>
          <a:p>
            <a:pPr algn="ctr">
              <a:buNone/>
            </a:pPr>
            <a:endParaRPr lang="en-US" dirty="0" smtClean="0">
              <a:latin typeface="+mj-lt"/>
            </a:endParaRPr>
          </a:p>
          <a:p>
            <a:pPr algn="ctr">
              <a:buNone/>
            </a:pPr>
            <a:endParaRPr lang="en-US" dirty="0" smtClean="0">
              <a:latin typeface="+mj-lt"/>
            </a:endParaRPr>
          </a:p>
          <a:p>
            <a:pPr algn="ctr">
              <a:buNone/>
            </a:pPr>
            <a:endParaRPr lang="en-US" dirty="0">
              <a:latin typeface="Bernard MT Condensed" pitchFamily="18" charset="0"/>
            </a:endParaRPr>
          </a:p>
        </p:txBody>
      </p:sp>
      <p:pic>
        <p:nvPicPr>
          <p:cNvPr id="6" name="Picture 2" descr="F:\Mahbuba\Moni\Characters\207.jpeg"/>
          <p:cNvPicPr>
            <a:picLocks noChangeAspect="1" noChangeArrowheads="1"/>
          </p:cNvPicPr>
          <p:nvPr/>
        </p:nvPicPr>
        <p:blipFill>
          <a:blip r:embed="rId2"/>
          <a:srcRect/>
          <a:stretch>
            <a:fillRect/>
          </a:stretch>
        </p:blipFill>
        <p:spPr bwMode="auto">
          <a:xfrm>
            <a:off x="5943600" y="4049648"/>
            <a:ext cx="2286000" cy="1589152"/>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 </a:t>
            </a:r>
            <a:r>
              <a:rPr lang="en-US" sz="2800" b="1" dirty="0" smtClean="0"/>
              <a:t>Vertical Communication:</a:t>
            </a:r>
          </a:p>
          <a:p>
            <a:pPr>
              <a:buNone/>
            </a:pPr>
            <a:r>
              <a:rPr lang="en-US" sz="2800" dirty="0" smtClean="0">
                <a:latin typeface="Wide Latin"/>
              </a:rPr>
              <a:t>– </a:t>
            </a:r>
            <a:r>
              <a:rPr lang="en-US" sz="2800" dirty="0" smtClean="0"/>
              <a:t>Vertical communication can be both downward and upward.</a:t>
            </a:r>
          </a:p>
          <a:p>
            <a:pPr>
              <a:buNone/>
            </a:pPr>
            <a:r>
              <a:rPr lang="en-US" sz="2800" b="1" dirty="0" smtClean="0">
                <a:sym typeface="Wingdings 2"/>
              </a:rPr>
              <a:t>     </a:t>
            </a:r>
            <a:r>
              <a:rPr lang="en-US" sz="2800" b="1" dirty="0" smtClean="0"/>
              <a:t>Downward Communication:</a:t>
            </a:r>
          </a:p>
          <a:p>
            <a:pPr>
              <a:buNone/>
            </a:pPr>
            <a:r>
              <a:rPr lang="en-US" sz="2800" dirty="0" smtClean="0">
                <a:latin typeface="Wide Latin"/>
              </a:rPr>
              <a:t>– </a:t>
            </a:r>
            <a:r>
              <a:rPr lang="en-US" sz="2800" dirty="0" smtClean="0"/>
              <a:t>Downward communication is a process of sending a message from a superior to a subordinate.</a:t>
            </a:r>
          </a:p>
          <a:p>
            <a:pPr>
              <a:buNone/>
            </a:pPr>
            <a:r>
              <a:rPr lang="en-US" sz="2800" dirty="0" smtClean="0">
                <a:latin typeface="Wide Latin"/>
              </a:rPr>
              <a:t>– </a:t>
            </a:r>
            <a:r>
              <a:rPr lang="en-US" sz="2800" dirty="0" smtClean="0"/>
              <a:t>The purpose of downward  communication is to  supply the subordinates with relevant information instruction etc.</a:t>
            </a:r>
            <a:endParaRPr lang="en-US" sz="2800" dirty="0"/>
          </a:p>
        </p:txBody>
      </p:sp>
      <p:sp>
        <p:nvSpPr>
          <p:cNvPr id="4" name="Title 1"/>
          <p:cNvSpPr txBox="1">
            <a:spLocks/>
          </p:cNvSpPr>
          <p:nvPr/>
        </p:nvSpPr>
        <p:spPr>
          <a:xfrm>
            <a:off x="457200" y="228600"/>
            <a:ext cx="64008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Direction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4191000" cy="5334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b="1" dirty="0" smtClean="0">
                <a:latin typeface="+mj-lt"/>
                <a:sym typeface="Wingdings"/>
              </a:rPr>
              <a:t>   </a:t>
            </a:r>
            <a:r>
              <a:rPr lang="en-US" sz="2800" b="1" dirty="0" smtClean="0">
                <a:latin typeface="+mj-lt"/>
                <a:sym typeface="Wingdings 2"/>
              </a:rPr>
              <a:t> </a:t>
            </a:r>
            <a:r>
              <a:rPr lang="en-US" sz="2800" b="1" dirty="0" smtClean="0">
                <a:latin typeface="+mj-lt"/>
              </a:rPr>
              <a:t>Upward Communication</a:t>
            </a:r>
            <a:r>
              <a:rPr lang="en-US" sz="2800" dirty="0" smtClean="0">
                <a:latin typeface="+mj-lt"/>
              </a:rPr>
              <a:t>: </a:t>
            </a:r>
          </a:p>
          <a:p>
            <a:pPr>
              <a:buNone/>
            </a:pPr>
            <a:r>
              <a:rPr lang="en-US" sz="2800" dirty="0" smtClean="0">
                <a:latin typeface="+mj-lt"/>
              </a:rPr>
              <a:t>– Upward communication flows from one level of an organization or a group to a higher level.</a:t>
            </a:r>
          </a:p>
          <a:p>
            <a:pPr>
              <a:buNone/>
            </a:pPr>
            <a:r>
              <a:rPr lang="en-US" sz="2800" dirty="0" smtClean="0">
                <a:latin typeface="+mj-lt"/>
              </a:rPr>
              <a:t>– The main purpose of upward communication is to know if the subordinates have properly received the message.</a:t>
            </a:r>
            <a:endParaRPr lang="en-US" sz="2800" dirty="0">
              <a:latin typeface="+mj-lt"/>
            </a:endParaRPr>
          </a:p>
        </p:txBody>
      </p:sp>
      <p:sp>
        <p:nvSpPr>
          <p:cNvPr id="4" name="Title 1"/>
          <p:cNvSpPr txBox="1">
            <a:spLocks/>
          </p:cNvSpPr>
          <p:nvPr/>
        </p:nvSpPr>
        <p:spPr>
          <a:xfrm>
            <a:off x="457200" y="228600"/>
            <a:ext cx="64008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Direction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73.jpeg"/>
          <p:cNvPicPr>
            <a:picLocks noChangeAspect="1" noChangeArrowheads="1"/>
          </p:cNvPicPr>
          <p:nvPr/>
        </p:nvPicPr>
        <p:blipFill>
          <a:blip r:embed="rId2"/>
          <a:srcRect/>
          <a:stretch>
            <a:fillRect/>
          </a:stretch>
        </p:blipFill>
        <p:spPr bwMode="auto">
          <a:xfrm>
            <a:off x="5410200" y="1600200"/>
            <a:ext cx="3200400" cy="411480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lgn="just">
              <a:buNone/>
            </a:pPr>
            <a:r>
              <a:rPr lang="en-US" sz="2600" dirty="0" smtClean="0">
                <a:sym typeface="Wingdings"/>
              </a:rPr>
              <a:t>  </a:t>
            </a:r>
            <a:r>
              <a:rPr lang="en-US" sz="2600" b="1" dirty="0" smtClean="0"/>
              <a:t>Horizontal </a:t>
            </a:r>
            <a:r>
              <a:rPr lang="en-US" sz="2800" b="1" dirty="0" smtClean="0"/>
              <a:t>Communication</a:t>
            </a:r>
            <a:r>
              <a:rPr lang="en-US" sz="2600" b="1" dirty="0" smtClean="0"/>
              <a:t>:</a:t>
            </a:r>
          </a:p>
          <a:p>
            <a:pPr algn="just">
              <a:buNone/>
            </a:pPr>
            <a:r>
              <a:rPr lang="en-US" sz="2600" dirty="0" smtClean="0">
                <a:latin typeface="Wide Latin"/>
              </a:rPr>
              <a:t>– </a:t>
            </a:r>
            <a:r>
              <a:rPr lang="en-US" sz="2600" dirty="0" smtClean="0"/>
              <a:t>Communication between the individuals of the same level or group within the same departments or across departments is called horizontal communication.</a:t>
            </a:r>
          </a:p>
          <a:p>
            <a:pPr algn="just">
              <a:buNone/>
            </a:pPr>
            <a:endParaRPr lang="en-US" sz="2600" dirty="0" smtClean="0"/>
          </a:p>
          <a:p>
            <a:pPr algn="just">
              <a:buNone/>
            </a:pPr>
            <a:r>
              <a:rPr lang="en-US" sz="2600" dirty="0" smtClean="0">
                <a:latin typeface="Wide Latin"/>
              </a:rPr>
              <a:t>– </a:t>
            </a:r>
            <a:r>
              <a:rPr lang="en-US" sz="2600" dirty="0" smtClean="0"/>
              <a:t>The overall purpose of horizontal communication is to quickly facilitate the co-ordination of activities across different departments of the organization.</a:t>
            </a:r>
            <a:endParaRPr lang="en-US" sz="2600" dirty="0"/>
          </a:p>
        </p:txBody>
      </p:sp>
      <p:sp>
        <p:nvSpPr>
          <p:cNvPr id="4" name="Title 1"/>
          <p:cNvSpPr txBox="1">
            <a:spLocks/>
          </p:cNvSpPr>
          <p:nvPr/>
        </p:nvSpPr>
        <p:spPr>
          <a:xfrm>
            <a:off x="457200" y="228600"/>
            <a:ext cx="64008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Based on Direction of communication</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590800"/>
            <a:ext cx="3660169"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5400" b="1" dirty="0">
                <a:ln/>
                <a:solidFill>
                  <a:schemeClr val="accent3"/>
                </a:solidFill>
              </a:rPr>
              <a:t>Thank You</a:t>
            </a:r>
          </a:p>
        </p:txBody>
      </p:sp>
      <p:pic>
        <p:nvPicPr>
          <p:cNvPr id="1026" name="Picture 2" descr="F:\Mahbuba\Moni\Characters\196.jpeg"/>
          <p:cNvPicPr>
            <a:picLocks noChangeAspect="1" noChangeArrowheads="1"/>
          </p:cNvPicPr>
          <p:nvPr/>
        </p:nvPicPr>
        <p:blipFill>
          <a:blip r:embed="rId2"/>
          <a:srcRect/>
          <a:stretch>
            <a:fillRect/>
          </a:stretch>
        </p:blipFill>
        <p:spPr bwMode="auto">
          <a:xfrm>
            <a:off x="5562600" y="2590800"/>
            <a:ext cx="995362" cy="99536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900</Words>
  <Application>Microsoft Office PowerPoint</Application>
  <PresentationFormat>On-screen Show (4:3)</PresentationFormat>
  <Paragraphs>131</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Algerian</vt:lpstr>
      <vt:lpstr>Arial</vt:lpstr>
      <vt:lpstr>Bernard MT Condensed</vt:lpstr>
      <vt:lpstr>Calibri</vt:lpstr>
      <vt:lpstr>Wide Latin</vt:lpstr>
      <vt:lpstr>Wingdings</vt:lpstr>
      <vt:lpstr>Wingdings 2</vt:lpstr>
      <vt:lpstr>Wingdings 3</vt:lpstr>
      <vt:lpstr>Office Theme</vt:lpstr>
      <vt:lpstr>PowerPoint Presentation</vt:lpstr>
      <vt:lpstr>Introduction</vt:lpstr>
      <vt:lpstr>PowerPoint Presentation</vt:lpstr>
      <vt:lpstr>Based on levels of communication</vt:lpstr>
      <vt:lpstr>Based on levels of communication</vt:lpstr>
      <vt:lpstr>PowerPoint Presentation</vt:lpstr>
      <vt:lpstr>Based on levels of communication</vt:lpstr>
      <vt:lpstr>Based on levels of communication</vt:lpstr>
      <vt:lpstr>Based on Formalities in Communication</vt:lpstr>
      <vt:lpstr>PowerPoint Presentation</vt:lpstr>
      <vt:lpstr>PowerPoint Presentation</vt:lpstr>
      <vt:lpstr>Based on Methods of Communication</vt:lpstr>
      <vt:lpstr>PowerPoint Presentation</vt:lpstr>
      <vt:lpstr>PowerPoint Presentation</vt:lpstr>
      <vt:lpstr>Based on Direction of communication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Windows User</cp:lastModifiedBy>
  <cp:revision>8</cp:revision>
  <cp:lastPrinted>2019-09-15T10:58:02Z</cp:lastPrinted>
  <dcterms:created xsi:type="dcterms:W3CDTF">2006-08-16T00:00:00Z</dcterms:created>
  <dcterms:modified xsi:type="dcterms:W3CDTF">2019-09-15T10:59:42Z</dcterms:modified>
</cp:coreProperties>
</file>