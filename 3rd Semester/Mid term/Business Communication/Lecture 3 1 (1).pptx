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80" r:id="rId15"/>
    <p:sldId id="270" r:id="rId16"/>
    <p:sldId id="271" r:id="rId17"/>
    <p:sldId id="272" r:id="rId18"/>
    <p:sldId id="273" r:id="rId19"/>
    <p:sldId id="274" r:id="rId20"/>
    <p:sldId id="275" r:id="rId21"/>
    <p:sldId id="281" r:id="rId22"/>
    <p:sldId id="276" r:id="rId23"/>
    <p:sldId id="277" r:id="rId24"/>
    <p:sldId id="278" r:id="rId25"/>
    <p:sldId id="279" r:id="rId26"/>
    <p:sldId id="257"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D4968C-EE57-4951-86ED-5462F6CA10D2}" type="doc">
      <dgm:prSet loTypeId="urn:microsoft.com/office/officeart/2005/8/layout/process1" loCatId="process" qsTypeId="urn:microsoft.com/office/officeart/2005/8/quickstyle/simple1" qsCatId="simple" csTypeId="urn:microsoft.com/office/officeart/2005/8/colors/accent1_2" csCatId="accent1" phldr="1"/>
      <dgm:spPr/>
    </dgm:pt>
    <dgm:pt modelId="{DEA6DF9E-F17E-4C41-9465-5427CC3F0257}">
      <dgm:prSet phldrT="[Text]" custT="1"/>
      <dgm:spPr/>
      <dgm:t>
        <a:bodyPr/>
        <a:lstStyle/>
        <a:p>
          <a:r>
            <a:rPr lang="en-US" sz="2800" dirty="0" smtClean="0"/>
            <a:t>Speaker</a:t>
          </a:r>
          <a:endParaRPr lang="en-US" sz="2800" dirty="0"/>
        </a:p>
      </dgm:t>
    </dgm:pt>
    <dgm:pt modelId="{0AE13645-3BD9-43D3-9766-8E42BA17F410}" type="parTrans" cxnId="{C23BF816-3252-4553-9209-8762027CFDB6}">
      <dgm:prSet/>
      <dgm:spPr/>
      <dgm:t>
        <a:bodyPr/>
        <a:lstStyle/>
        <a:p>
          <a:endParaRPr lang="en-US"/>
        </a:p>
      </dgm:t>
    </dgm:pt>
    <dgm:pt modelId="{FF2EFD38-04A7-421C-BB78-46856A711087}" type="sibTrans" cxnId="{C23BF816-3252-4553-9209-8762027CFDB6}">
      <dgm:prSet/>
      <dgm:spPr/>
      <dgm:t>
        <a:bodyPr/>
        <a:lstStyle/>
        <a:p>
          <a:endParaRPr lang="en-US"/>
        </a:p>
      </dgm:t>
    </dgm:pt>
    <dgm:pt modelId="{2C8B4883-7C9D-40B0-8976-AB8C62F38352}">
      <dgm:prSet phldrT="[Text]" custT="1"/>
      <dgm:spPr/>
      <dgm:t>
        <a:bodyPr/>
        <a:lstStyle/>
        <a:p>
          <a:r>
            <a:rPr lang="en-US" sz="2800" dirty="0" smtClean="0"/>
            <a:t>Message</a:t>
          </a:r>
          <a:endParaRPr lang="en-US" sz="2800" dirty="0"/>
        </a:p>
      </dgm:t>
    </dgm:pt>
    <dgm:pt modelId="{849268D8-F45E-4319-9B0F-70106407CD2D}" type="parTrans" cxnId="{E0E96EDE-379D-4150-97F4-94705DF20D7B}">
      <dgm:prSet/>
      <dgm:spPr/>
      <dgm:t>
        <a:bodyPr/>
        <a:lstStyle/>
        <a:p>
          <a:endParaRPr lang="en-US"/>
        </a:p>
      </dgm:t>
    </dgm:pt>
    <dgm:pt modelId="{90EAD7A4-AD59-4F80-AB1D-ABF2CDDD7D62}" type="sibTrans" cxnId="{E0E96EDE-379D-4150-97F4-94705DF20D7B}">
      <dgm:prSet/>
      <dgm:spPr/>
      <dgm:t>
        <a:bodyPr/>
        <a:lstStyle/>
        <a:p>
          <a:endParaRPr lang="en-US"/>
        </a:p>
      </dgm:t>
    </dgm:pt>
    <dgm:pt modelId="{56C8DDB8-5E53-42D0-82D6-1C69E1DD72F9}">
      <dgm:prSet phldrT="[Text]" custT="1"/>
      <dgm:spPr/>
      <dgm:t>
        <a:bodyPr/>
        <a:lstStyle/>
        <a:p>
          <a:r>
            <a:rPr lang="en-US" sz="2800" dirty="0" smtClean="0"/>
            <a:t>Listener</a:t>
          </a:r>
          <a:endParaRPr lang="en-US" sz="2800" dirty="0"/>
        </a:p>
      </dgm:t>
    </dgm:pt>
    <dgm:pt modelId="{D3BEE9B2-FC59-49E0-9F09-F89B925111A1}" type="parTrans" cxnId="{C626F14C-B4C4-470B-98D8-43B633C63C79}">
      <dgm:prSet/>
      <dgm:spPr/>
      <dgm:t>
        <a:bodyPr/>
        <a:lstStyle/>
        <a:p>
          <a:endParaRPr lang="en-US"/>
        </a:p>
      </dgm:t>
    </dgm:pt>
    <dgm:pt modelId="{0A28773D-7C23-4A18-BB01-97810C403B12}" type="sibTrans" cxnId="{C626F14C-B4C4-470B-98D8-43B633C63C79}">
      <dgm:prSet/>
      <dgm:spPr/>
      <dgm:t>
        <a:bodyPr/>
        <a:lstStyle/>
        <a:p>
          <a:endParaRPr lang="en-US"/>
        </a:p>
      </dgm:t>
    </dgm:pt>
    <dgm:pt modelId="{339B3D67-48A0-428F-B4AB-96CCAA72716C}" type="pres">
      <dgm:prSet presAssocID="{6BD4968C-EE57-4951-86ED-5462F6CA10D2}" presName="Name0" presStyleCnt="0">
        <dgm:presLayoutVars>
          <dgm:dir/>
          <dgm:resizeHandles val="exact"/>
        </dgm:presLayoutVars>
      </dgm:prSet>
      <dgm:spPr/>
    </dgm:pt>
    <dgm:pt modelId="{CEEA8792-DC80-4753-98A0-C9129E9A6CBF}" type="pres">
      <dgm:prSet presAssocID="{DEA6DF9E-F17E-4C41-9465-5427CC3F0257}" presName="node" presStyleLbl="node1" presStyleIdx="0" presStyleCnt="3">
        <dgm:presLayoutVars>
          <dgm:bulletEnabled val="1"/>
        </dgm:presLayoutVars>
      </dgm:prSet>
      <dgm:spPr/>
      <dgm:t>
        <a:bodyPr/>
        <a:lstStyle/>
        <a:p>
          <a:endParaRPr lang="en-US"/>
        </a:p>
      </dgm:t>
    </dgm:pt>
    <dgm:pt modelId="{ACFCB3D0-CEAE-4772-A0F0-562DB1ABD8A6}" type="pres">
      <dgm:prSet presAssocID="{FF2EFD38-04A7-421C-BB78-46856A711087}" presName="sibTrans" presStyleLbl="sibTrans2D1" presStyleIdx="0" presStyleCnt="2"/>
      <dgm:spPr/>
      <dgm:t>
        <a:bodyPr/>
        <a:lstStyle/>
        <a:p>
          <a:endParaRPr lang="en-US"/>
        </a:p>
      </dgm:t>
    </dgm:pt>
    <dgm:pt modelId="{5323EFD1-FBA1-4D99-85F2-32BAA5BD2013}" type="pres">
      <dgm:prSet presAssocID="{FF2EFD38-04A7-421C-BB78-46856A711087}" presName="connectorText" presStyleLbl="sibTrans2D1" presStyleIdx="0" presStyleCnt="2"/>
      <dgm:spPr/>
      <dgm:t>
        <a:bodyPr/>
        <a:lstStyle/>
        <a:p>
          <a:endParaRPr lang="en-US"/>
        </a:p>
      </dgm:t>
    </dgm:pt>
    <dgm:pt modelId="{FF3C4860-436A-46FB-9973-5FAB780A5DFD}" type="pres">
      <dgm:prSet presAssocID="{2C8B4883-7C9D-40B0-8976-AB8C62F38352}" presName="node" presStyleLbl="node1" presStyleIdx="1" presStyleCnt="3">
        <dgm:presLayoutVars>
          <dgm:bulletEnabled val="1"/>
        </dgm:presLayoutVars>
      </dgm:prSet>
      <dgm:spPr/>
      <dgm:t>
        <a:bodyPr/>
        <a:lstStyle/>
        <a:p>
          <a:endParaRPr lang="en-US"/>
        </a:p>
      </dgm:t>
    </dgm:pt>
    <dgm:pt modelId="{23E3B64B-C5D8-42BB-99E9-515975C2BBE1}" type="pres">
      <dgm:prSet presAssocID="{90EAD7A4-AD59-4F80-AB1D-ABF2CDDD7D62}" presName="sibTrans" presStyleLbl="sibTrans2D1" presStyleIdx="1" presStyleCnt="2"/>
      <dgm:spPr/>
      <dgm:t>
        <a:bodyPr/>
        <a:lstStyle/>
        <a:p>
          <a:endParaRPr lang="en-US"/>
        </a:p>
      </dgm:t>
    </dgm:pt>
    <dgm:pt modelId="{1FB71CAF-41BB-49DF-96AC-1905037F3E27}" type="pres">
      <dgm:prSet presAssocID="{90EAD7A4-AD59-4F80-AB1D-ABF2CDDD7D62}" presName="connectorText" presStyleLbl="sibTrans2D1" presStyleIdx="1" presStyleCnt="2"/>
      <dgm:spPr/>
      <dgm:t>
        <a:bodyPr/>
        <a:lstStyle/>
        <a:p>
          <a:endParaRPr lang="en-US"/>
        </a:p>
      </dgm:t>
    </dgm:pt>
    <dgm:pt modelId="{84A20004-AFE7-4CEA-9224-69ACA0170AC4}" type="pres">
      <dgm:prSet presAssocID="{56C8DDB8-5E53-42D0-82D6-1C69E1DD72F9}" presName="node" presStyleLbl="node1" presStyleIdx="2" presStyleCnt="3">
        <dgm:presLayoutVars>
          <dgm:bulletEnabled val="1"/>
        </dgm:presLayoutVars>
      </dgm:prSet>
      <dgm:spPr/>
      <dgm:t>
        <a:bodyPr/>
        <a:lstStyle/>
        <a:p>
          <a:endParaRPr lang="en-US"/>
        </a:p>
      </dgm:t>
    </dgm:pt>
  </dgm:ptLst>
  <dgm:cxnLst>
    <dgm:cxn modelId="{E0E96EDE-379D-4150-97F4-94705DF20D7B}" srcId="{6BD4968C-EE57-4951-86ED-5462F6CA10D2}" destId="{2C8B4883-7C9D-40B0-8976-AB8C62F38352}" srcOrd="1" destOrd="0" parTransId="{849268D8-F45E-4319-9B0F-70106407CD2D}" sibTransId="{90EAD7A4-AD59-4F80-AB1D-ABF2CDDD7D62}"/>
    <dgm:cxn modelId="{C626F14C-B4C4-470B-98D8-43B633C63C79}" srcId="{6BD4968C-EE57-4951-86ED-5462F6CA10D2}" destId="{56C8DDB8-5E53-42D0-82D6-1C69E1DD72F9}" srcOrd="2" destOrd="0" parTransId="{D3BEE9B2-FC59-49E0-9F09-F89B925111A1}" sibTransId="{0A28773D-7C23-4A18-BB01-97810C403B12}"/>
    <dgm:cxn modelId="{FE93A065-71D7-4490-9028-13837E447042}" type="presOf" srcId="{FF2EFD38-04A7-421C-BB78-46856A711087}" destId="{5323EFD1-FBA1-4D99-85F2-32BAA5BD2013}" srcOrd="1" destOrd="0" presId="urn:microsoft.com/office/officeart/2005/8/layout/process1"/>
    <dgm:cxn modelId="{C23BF816-3252-4553-9209-8762027CFDB6}" srcId="{6BD4968C-EE57-4951-86ED-5462F6CA10D2}" destId="{DEA6DF9E-F17E-4C41-9465-5427CC3F0257}" srcOrd="0" destOrd="0" parTransId="{0AE13645-3BD9-43D3-9766-8E42BA17F410}" sibTransId="{FF2EFD38-04A7-421C-BB78-46856A711087}"/>
    <dgm:cxn modelId="{4BEB33A6-0535-4A4C-9AD3-4B057F01029E}" type="presOf" srcId="{90EAD7A4-AD59-4F80-AB1D-ABF2CDDD7D62}" destId="{23E3B64B-C5D8-42BB-99E9-515975C2BBE1}" srcOrd="0" destOrd="0" presId="urn:microsoft.com/office/officeart/2005/8/layout/process1"/>
    <dgm:cxn modelId="{B90F946A-84BE-4A15-B0A7-520C57C87186}" type="presOf" srcId="{56C8DDB8-5E53-42D0-82D6-1C69E1DD72F9}" destId="{84A20004-AFE7-4CEA-9224-69ACA0170AC4}" srcOrd="0" destOrd="0" presId="urn:microsoft.com/office/officeart/2005/8/layout/process1"/>
    <dgm:cxn modelId="{1174DB5D-2D71-430F-B1E5-442E1F5E3CCB}" type="presOf" srcId="{2C8B4883-7C9D-40B0-8976-AB8C62F38352}" destId="{FF3C4860-436A-46FB-9973-5FAB780A5DFD}" srcOrd="0" destOrd="0" presId="urn:microsoft.com/office/officeart/2005/8/layout/process1"/>
    <dgm:cxn modelId="{8F172F37-8CDE-4D26-9669-615BFFDD7B10}" type="presOf" srcId="{FF2EFD38-04A7-421C-BB78-46856A711087}" destId="{ACFCB3D0-CEAE-4772-A0F0-562DB1ABD8A6}" srcOrd="0" destOrd="0" presId="urn:microsoft.com/office/officeart/2005/8/layout/process1"/>
    <dgm:cxn modelId="{98979B2E-37A1-434E-AAA9-BDDAB1335E33}" type="presOf" srcId="{90EAD7A4-AD59-4F80-AB1D-ABF2CDDD7D62}" destId="{1FB71CAF-41BB-49DF-96AC-1905037F3E27}" srcOrd="1" destOrd="0" presId="urn:microsoft.com/office/officeart/2005/8/layout/process1"/>
    <dgm:cxn modelId="{DFC1071B-4B09-4341-9191-AF364AFA63CB}" type="presOf" srcId="{6BD4968C-EE57-4951-86ED-5462F6CA10D2}" destId="{339B3D67-48A0-428F-B4AB-96CCAA72716C}" srcOrd="0" destOrd="0" presId="urn:microsoft.com/office/officeart/2005/8/layout/process1"/>
    <dgm:cxn modelId="{B515451F-E2BD-4544-911D-05A89DF54D86}" type="presOf" srcId="{DEA6DF9E-F17E-4C41-9465-5427CC3F0257}" destId="{CEEA8792-DC80-4753-98A0-C9129E9A6CBF}" srcOrd="0" destOrd="0" presId="urn:microsoft.com/office/officeart/2005/8/layout/process1"/>
    <dgm:cxn modelId="{1842EC53-7315-4F7D-8882-32B25A22F494}" type="presParOf" srcId="{339B3D67-48A0-428F-B4AB-96CCAA72716C}" destId="{CEEA8792-DC80-4753-98A0-C9129E9A6CBF}" srcOrd="0" destOrd="0" presId="urn:microsoft.com/office/officeart/2005/8/layout/process1"/>
    <dgm:cxn modelId="{5A369870-81BA-4482-990C-C4429F94DE99}" type="presParOf" srcId="{339B3D67-48A0-428F-B4AB-96CCAA72716C}" destId="{ACFCB3D0-CEAE-4772-A0F0-562DB1ABD8A6}" srcOrd="1" destOrd="0" presId="urn:microsoft.com/office/officeart/2005/8/layout/process1"/>
    <dgm:cxn modelId="{A1D430A3-A01F-434D-886A-A0D8A8D8B053}" type="presParOf" srcId="{ACFCB3D0-CEAE-4772-A0F0-562DB1ABD8A6}" destId="{5323EFD1-FBA1-4D99-85F2-32BAA5BD2013}" srcOrd="0" destOrd="0" presId="urn:microsoft.com/office/officeart/2005/8/layout/process1"/>
    <dgm:cxn modelId="{412CC85E-0D9E-4E01-8F35-40ACD386349E}" type="presParOf" srcId="{339B3D67-48A0-428F-B4AB-96CCAA72716C}" destId="{FF3C4860-436A-46FB-9973-5FAB780A5DFD}" srcOrd="2" destOrd="0" presId="urn:microsoft.com/office/officeart/2005/8/layout/process1"/>
    <dgm:cxn modelId="{53BB38E1-8761-4958-A123-39B73342998E}" type="presParOf" srcId="{339B3D67-48A0-428F-B4AB-96CCAA72716C}" destId="{23E3B64B-C5D8-42BB-99E9-515975C2BBE1}" srcOrd="3" destOrd="0" presId="urn:microsoft.com/office/officeart/2005/8/layout/process1"/>
    <dgm:cxn modelId="{276B1892-CB08-4CA2-BB2A-B11922C83F75}" type="presParOf" srcId="{23E3B64B-C5D8-42BB-99E9-515975C2BBE1}" destId="{1FB71CAF-41BB-49DF-96AC-1905037F3E27}" srcOrd="0" destOrd="0" presId="urn:microsoft.com/office/officeart/2005/8/layout/process1"/>
    <dgm:cxn modelId="{DA2E43D8-573C-4F82-91A6-856D3458080C}" type="presParOf" srcId="{339B3D67-48A0-428F-B4AB-96CCAA72716C}" destId="{84A20004-AFE7-4CEA-9224-69ACA0170AC4}"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EA8792-DC80-4753-98A0-C9129E9A6CBF}">
      <dsp:nvSpPr>
        <dsp:cNvPr id="0" name=""/>
        <dsp:cNvSpPr/>
      </dsp:nvSpPr>
      <dsp:spPr>
        <a:xfrm>
          <a:off x="5357" y="1551582"/>
          <a:ext cx="1601390" cy="96083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Speaker</a:t>
          </a:r>
          <a:endParaRPr lang="en-US" sz="2800" kern="1200" dirty="0"/>
        </a:p>
      </dsp:txBody>
      <dsp:txXfrm>
        <a:off x="33499" y="1579724"/>
        <a:ext cx="1545106" cy="904550"/>
      </dsp:txXfrm>
    </dsp:sp>
    <dsp:sp modelId="{ACFCB3D0-CEAE-4772-A0F0-562DB1ABD8A6}">
      <dsp:nvSpPr>
        <dsp:cNvPr id="0" name=""/>
        <dsp:cNvSpPr/>
      </dsp:nvSpPr>
      <dsp:spPr>
        <a:xfrm>
          <a:off x="1766887" y="1833427"/>
          <a:ext cx="339494" cy="3971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1766887" y="1912856"/>
        <a:ext cx="237646" cy="238286"/>
      </dsp:txXfrm>
    </dsp:sp>
    <dsp:sp modelId="{FF3C4860-436A-46FB-9973-5FAB780A5DFD}">
      <dsp:nvSpPr>
        <dsp:cNvPr id="0" name=""/>
        <dsp:cNvSpPr/>
      </dsp:nvSpPr>
      <dsp:spPr>
        <a:xfrm>
          <a:off x="2247304" y="1551582"/>
          <a:ext cx="1601390" cy="96083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Message</a:t>
          </a:r>
          <a:endParaRPr lang="en-US" sz="2800" kern="1200" dirty="0"/>
        </a:p>
      </dsp:txBody>
      <dsp:txXfrm>
        <a:off x="2275446" y="1579724"/>
        <a:ext cx="1545106" cy="904550"/>
      </dsp:txXfrm>
    </dsp:sp>
    <dsp:sp modelId="{23E3B64B-C5D8-42BB-99E9-515975C2BBE1}">
      <dsp:nvSpPr>
        <dsp:cNvPr id="0" name=""/>
        <dsp:cNvSpPr/>
      </dsp:nvSpPr>
      <dsp:spPr>
        <a:xfrm>
          <a:off x="4008834" y="1833427"/>
          <a:ext cx="339494" cy="3971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4008834" y="1912856"/>
        <a:ext cx="237646" cy="238286"/>
      </dsp:txXfrm>
    </dsp:sp>
    <dsp:sp modelId="{84A20004-AFE7-4CEA-9224-69ACA0170AC4}">
      <dsp:nvSpPr>
        <dsp:cNvPr id="0" name=""/>
        <dsp:cNvSpPr/>
      </dsp:nvSpPr>
      <dsp:spPr>
        <a:xfrm>
          <a:off x="4489251" y="1551582"/>
          <a:ext cx="1601390" cy="96083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Listener</a:t>
          </a:r>
          <a:endParaRPr lang="en-US" sz="2800" kern="1200" dirty="0"/>
        </a:p>
      </dsp:txBody>
      <dsp:txXfrm>
        <a:off x="4517393" y="1579724"/>
        <a:ext cx="1545106" cy="90455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B52663-CC1A-4F59-A3E0-673A606ED55A}" type="datetimeFigureOut">
              <a:rPr lang="en-US" smtClean="0"/>
              <a:pPr/>
              <a:t>5/13/2019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9F225C-BFE8-4457-B16C-35A70C4F5BA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7D3E416-7426-4260-8D17-5612CF128DC0}"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5/13/2019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685800"/>
            <a:ext cx="8455969" cy="1938992"/>
          </a:xfrm>
          <a:prstGeom prst="rect">
            <a:avLst/>
          </a:prstGeom>
          <a:noFill/>
        </p:spPr>
        <p:txBody>
          <a:bodyPr>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fontAlgn="auto">
              <a:spcBef>
                <a:spcPts val="0"/>
              </a:spcBef>
              <a:spcAft>
                <a:spcPts val="0"/>
              </a:spcAft>
              <a:defRPr/>
            </a:pPr>
            <a:r>
              <a:rPr lang="en-US" sz="60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rPr>
              <a:t>BUSINESS COMMUNICATION</a:t>
            </a:r>
          </a:p>
        </p:txBody>
      </p:sp>
      <p:sp>
        <p:nvSpPr>
          <p:cNvPr id="5" name="Rectangle 4"/>
          <p:cNvSpPr/>
          <p:nvPr/>
        </p:nvSpPr>
        <p:spPr>
          <a:xfrm>
            <a:off x="3008501" y="4639270"/>
            <a:ext cx="2935099" cy="923330"/>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fontAlgn="auto">
              <a:spcBef>
                <a:spcPts val="0"/>
              </a:spcBef>
              <a:spcAft>
                <a:spcPts val="0"/>
              </a:spcAft>
              <a:defRPr/>
            </a:pPr>
            <a:r>
              <a:rPr lang="en-US" sz="54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rPr>
              <a:t>BBA 2106</a:t>
            </a:r>
          </a:p>
        </p:txBody>
      </p:sp>
      <p:sp>
        <p:nvSpPr>
          <p:cNvPr id="2052" name="TextBox 6"/>
          <p:cNvSpPr txBox="1">
            <a:spLocks noChangeArrowheads="1"/>
          </p:cNvSpPr>
          <p:nvPr/>
        </p:nvSpPr>
        <p:spPr bwMode="auto">
          <a:xfrm>
            <a:off x="2438400" y="3048000"/>
            <a:ext cx="4099199" cy="1323439"/>
          </a:xfrm>
          <a:prstGeom prst="rect">
            <a:avLst/>
          </a:prstGeom>
          <a:noFill/>
          <a:ln w="9525">
            <a:noFill/>
            <a:miter lim="800000"/>
            <a:headEnd/>
            <a:tailEnd/>
          </a:ln>
        </p:spPr>
        <p:txBody>
          <a:bodyPr wrap="none">
            <a:spAutoFit/>
          </a:bodyPr>
          <a:lstStyle/>
          <a:p>
            <a:pPr algn="ctr"/>
            <a:r>
              <a:rPr lang="en-US" sz="4000" b="1" dirty="0" smtClean="0">
                <a:solidFill>
                  <a:srgbClr val="7030A0"/>
                </a:solidFill>
                <a:latin typeface="Algerian" pitchFamily="82" charset="0"/>
              </a:rPr>
              <a:t>Communication</a:t>
            </a:r>
          </a:p>
          <a:p>
            <a:pPr algn="ctr"/>
            <a:r>
              <a:rPr lang="en-US" sz="4000" b="1" dirty="0" smtClean="0">
                <a:solidFill>
                  <a:srgbClr val="7030A0"/>
                </a:solidFill>
                <a:latin typeface="Algerian" pitchFamily="82" charset="0"/>
              </a:rPr>
              <a:t>model</a:t>
            </a:r>
            <a:endParaRPr lang="en-US" sz="4000" b="1" dirty="0">
              <a:solidFill>
                <a:srgbClr val="7030A0"/>
              </a:solidFill>
              <a:latin typeface="Algerian" pitchFamily="8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5334000" cy="487362"/>
          </a:xfrm>
          <a:solidFill>
            <a:schemeClr val="accent1">
              <a:lumMod val="20000"/>
              <a:lumOff val="80000"/>
            </a:schemeClr>
          </a:solidFill>
          <a:ln>
            <a:solidFill>
              <a:schemeClr val="accent1"/>
            </a:solidFill>
          </a:ln>
        </p:spPr>
        <p:txBody>
          <a:bodyPr>
            <a:noAutofit/>
          </a:bodyPr>
          <a:lstStyle/>
          <a:p>
            <a:r>
              <a:rPr lang="en-US" sz="3000" dirty="0" smtClean="0"/>
              <a:t>Nature of Communication Model</a:t>
            </a:r>
            <a:endParaRPr lang="en-US" sz="3000" dirty="0"/>
          </a:p>
        </p:txBody>
      </p:sp>
      <p:sp>
        <p:nvSpPr>
          <p:cNvPr id="5" name="Content Placeholder 4"/>
          <p:cNvSpPr>
            <a:spLocks noGrp="1"/>
          </p:cNvSpPr>
          <p:nvPr>
            <p:ph idx="1"/>
          </p:nvPr>
        </p:nvSpPr>
        <p:spPr>
          <a:xfrm>
            <a:off x="457200" y="1066800"/>
            <a:ext cx="8229600" cy="53340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algn="just">
              <a:buNone/>
            </a:pPr>
            <a:r>
              <a:rPr lang="en-US" sz="2800" dirty="0" smtClean="0">
                <a:sym typeface="Wingdings 2"/>
              </a:rPr>
              <a:t> </a:t>
            </a:r>
            <a:r>
              <a:rPr lang="en-US" sz="2800" dirty="0" smtClean="0"/>
              <a:t>Model refers to the representation of a process, an event or a situation. It does not show the details message, rather it only represent the elements which is the reason of sending the message. </a:t>
            </a:r>
          </a:p>
          <a:p>
            <a:pPr algn="just">
              <a:buNone/>
            </a:pPr>
            <a:r>
              <a:rPr lang="en-US" sz="2800" dirty="0" smtClean="0">
                <a:sym typeface="Wingdings 3"/>
              </a:rPr>
              <a:t> </a:t>
            </a:r>
            <a:r>
              <a:rPr lang="en-US" sz="2800" b="1" dirty="0" smtClean="0"/>
              <a:t>Communication Model</a:t>
            </a:r>
          </a:p>
          <a:p>
            <a:pPr algn="just">
              <a:buNone/>
            </a:pPr>
            <a:r>
              <a:rPr lang="en-US" sz="2800" dirty="0" smtClean="0"/>
              <a:t>     A model of communication is a symbolic representation of the communication process.</a:t>
            </a:r>
          </a:p>
          <a:p>
            <a:pPr algn="just">
              <a:buNone/>
            </a:pPr>
            <a:r>
              <a:rPr lang="en-US" sz="2800" dirty="0" smtClean="0">
                <a:sym typeface="Wingdings 3"/>
              </a:rPr>
              <a:t> </a:t>
            </a:r>
            <a:r>
              <a:rPr lang="en-US" sz="2800" b="1" dirty="0" smtClean="0"/>
              <a:t>According to W.R. Tracy,</a:t>
            </a:r>
          </a:p>
          <a:p>
            <a:pPr algn="just">
              <a:buNone/>
            </a:pPr>
            <a:r>
              <a:rPr lang="en-US" sz="2800" dirty="0" smtClean="0"/>
              <a:t>    “ Communication model is representation of a communication process and not any separate system; rather a simple way to present the various objective oriented events”.</a:t>
            </a:r>
            <a:endParaRPr 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410200" cy="487362"/>
          </a:xfrm>
          <a:solidFill>
            <a:schemeClr val="accent1">
              <a:lumMod val="20000"/>
              <a:lumOff val="80000"/>
            </a:schemeClr>
          </a:solidFill>
          <a:ln>
            <a:solidFill>
              <a:schemeClr val="accent1"/>
            </a:solidFill>
          </a:ln>
        </p:spPr>
        <p:txBody>
          <a:bodyPr>
            <a:noAutofit/>
          </a:bodyPr>
          <a:lstStyle/>
          <a:p>
            <a:r>
              <a:rPr lang="en-US" sz="3000" dirty="0" smtClean="0"/>
              <a:t>Types of Communication Models</a:t>
            </a:r>
            <a:endParaRPr lang="en-US" sz="3000" dirty="0"/>
          </a:p>
        </p:txBody>
      </p:sp>
      <p:sp>
        <p:nvSpPr>
          <p:cNvPr id="3" name="Content Placeholder 2"/>
          <p:cNvSpPr>
            <a:spLocks noGrp="1"/>
          </p:cNvSpPr>
          <p:nvPr>
            <p:ph idx="1"/>
          </p:nvPr>
        </p:nvSpPr>
        <p:spPr>
          <a:xfrm>
            <a:off x="457200" y="990600"/>
            <a:ext cx="8229600" cy="54864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800" dirty="0" smtClean="0"/>
              <a:t>Several models have been identified by communication theorists. All models include at least three elements:</a:t>
            </a:r>
          </a:p>
          <a:p>
            <a:pPr algn="just">
              <a:buNone/>
            </a:pPr>
            <a:r>
              <a:rPr lang="en-US" sz="2800" dirty="0" smtClean="0">
                <a:sym typeface="Wingdings"/>
              </a:rPr>
              <a:t> </a:t>
            </a:r>
            <a:r>
              <a:rPr lang="en-US" sz="2800" i="1" dirty="0" smtClean="0">
                <a:effectLst>
                  <a:outerShdw blurRad="38100" dist="38100" dir="2700000" algn="tl">
                    <a:srgbClr val="000000">
                      <a:alpha val="43137"/>
                    </a:srgbClr>
                  </a:outerShdw>
                </a:effectLst>
              </a:rPr>
              <a:t>A receiver</a:t>
            </a:r>
          </a:p>
          <a:p>
            <a:pPr algn="just">
              <a:buNone/>
            </a:pPr>
            <a:r>
              <a:rPr lang="en-US" sz="2800" dirty="0" smtClean="0">
                <a:sym typeface="Wingdings"/>
              </a:rPr>
              <a:t> </a:t>
            </a:r>
            <a:r>
              <a:rPr lang="en-US" sz="2800" i="1" dirty="0" smtClean="0">
                <a:effectLst>
                  <a:outerShdw blurRad="38100" dist="38100" dir="2700000" algn="tl">
                    <a:srgbClr val="000000">
                      <a:alpha val="43137"/>
                    </a:srgbClr>
                  </a:outerShdw>
                </a:effectLst>
              </a:rPr>
              <a:t>A massage,</a:t>
            </a:r>
          </a:p>
          <a:p>
            <a:pPr algn="just">
              <a:buFont typeface="Wingdings" pitchFamily="2" charset="2"/>
              <a:buChar char="ð"/>
            </a:pPr>
            <a:r>
              <a:rPr lang="en-US" sz="2800" i="1" dirty="0" smtClean="0">
                <a:effectLst>
                  <a:outerShdw blurRad="38100" dist="38100" dir="2700000" algn="tl">
                    <a:srgbClr val="000000">
                      <a:alpha val="43137"/>
                    </a:srgbClr>
                  </a:outerShdw>
                </a:effectLst>
              </a:rPr>
              <a:t>A source.</a:t>
            </a:r>
          </a:p>
          <a:p>
            <a:pPr algn="just">
              <a:buNone/>
            </a:pPr>
            <a:endParaRPr lang="en-US" sz="2800" dirty="0" smtClean="0"/>
          </a:p>
          <a:p>
            <a:pPr algn="just">
              <a:buNone/>
            </a:pPr>
            <a:r>
              <a:rPr lang="en-US" sz="2800" dirty="0" smtClean="0"/>
              <a:t>    There are some communication models, each giving a little different perspective.</a:t>
            </a:r>
            <a:endParaRPr 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9432"/>
            <a:ext cx="8229600" cy="6460968"/>
          </a:xfrm>
        </p:spPr>
        <p:style>
          <a:lnRef idx="2">
            <a:schemeClr val="accent1"/>
          </a:lnRef>
          <a:fillRef idx="1">
            <a:schemeClr val="lt1"/>
          </a:fillRef>
          <a:effectRef idx="0">
            <a:schemeClr val="accent1"/>
          </a:effectRef>
          <a:fontRef idx="minor">
            <a:schemeClr val="dk1"/>
          </a:fontRef>
        </p:style>
        <p:txBody>
          <a:bodyPr>
            <a:normAutofit fontScale="92500"/>
          </a:bodyPr>
          <a:lstStyle/>
          <a:p>
            <a:pPr algn="just">
              <a:buFont typeface="Wingdings 2" pitchFamily="18" charset="2"/>
              <a:buChar char="u"/>
            </a:pPr>
            <a:r>
              <a:rPr lang="en-US" sz="2800" b="1" dirty="0" smtClean="0">
                <a:sym typeface="Wingdings 2"/>
              </a:rPr>
              <a:t>Aristotelian Persuation Model</a:t>
            </a:r>
          </a:p>
          <a:p>
            <a:pPr algn="just">
              <a:buNone/>
            </a:pPr>
            <a:r>
              <a:rPr lang="en-US" sz="2800" dirty="0" smtClean="0">
                <a:sym typeface="Wingdings 2"/>
              </a:rPr>
              <a:t>     It is the oldest and simplest model of communication. According to Aristotle- “The form of communication is persuasive in nature.” This model does not include all the elements of communication. It includes only three elements of communication such as</a:t>
            </a:r>
          </a:p>
          <a:p>
            <a:pPr algn="just">
              <a:buNone/>
            </a:pPr>
            <a:r>
              <a:rPr lang="en-US" sz="2800" dirty="0" smtClean="0">
                <a:sym typeface="Wingdings 2"/>
              </a:rPr>
              <a:t>     </a:t>
            </a:r>
            <a:r>
              <a:rPr lang="en-US" sz="2800" dirty="0" smtClean="0">
                <a:sym typeface="Wingdings"/>
              </a:rPr>
              <a:t> Speaker,</a:t>
            </a:r>
          </a:p>
          <a:p>
            <a:pPr algn="just">
              <a:buNone/>
            </a:pPr>
            <a:r>
              <a:rPr lang="en-US" sz="2800" dirty="0" smtClean="0">
                <a:sym typeface="Wingdings"/>
              </a:rPr>
              <a:t>     Message, and</a:t>
            </a:r>
          </a:p>
          <a:p>
            <a:pPr algn="just">
              <a:buNone/>
            </a:pPr>
            <a:r>
              <a:rPr lang="en-US" sz="2800" dirty="0" smtClean="0">
                <a:sym typeface="Wingdings"/>
              </a:rPr>
              <a:t>      Listener/Receiver.</a:t>
            </a:r>
          </a:p>
          <a:p>
            <a:pPr algn="just">
              <a:buNone/>
            </a:pPr>
            <a:r>
              <a:rPr lang="en-US" sz="2800" dirty="0" smtClean="0">
                <a:sym typeface="Wingdings"/>
              </a:rPr>
              <a:t>     In this model the messages flow in a one way process.</a:t>
            </a:r>
          </a:p>
          <a:p>
            <a:pPr algn="just">
              <a:buNone/>
            </a:pPr>
            <a:endParaRPr lang="en-US" sz="2800" dirty="0" smtClean="0">
              <a:sym typeface="Wingdings"/>
            </a:endParaRPr>
          </a:p>
          <a:p>
            <a:pPr algn="just">
              <a:buNone/>
            </a:pPr>
            <a:endParaRPr lang="en-US" sz="2800" dirty="0" smtClean="0">
              <a:sym typeface="Wingdings"/>
            </a:endParaRPr>
          </a:p>
          <a:p>
            <a:pPr algn="just">
              <a:buNone/>
            </a:pPr>
            <a:r>
              <a:rPr lang="en-US" sz="2800" dirty="0" smtClean="0">
                <a:sym typeface="Wingdings"/>
              </a:rPr>
              <a:t>    </a:t>
            </a:r>
            <a:r>
              <a:rPr lang="en-US" sz="2800" dirty="0" smtClean="0">
                <a:sym typeface="Wingdings 2"/>
              </a:rPr>
              <a:t> </a:t>
            </a:r>
            <a:endParaRPr lang="en-US" sz="2800" dirty="0"/>
          </a:p>
        </p:txBody>
      </p:sp>
      <p:sp>
        <p:nvSpPr>
          <p:cNvPr id="4" name="Title 1"/>
          <p:cNvSpPr txBox="1">
            <a:spLocks/>
          </p:cNvSpPr>
          <p:nvPr/>
        </p:nvSpPr>
        <p:spPr>
          <a:xfrm>
            <a:off x="457200" y="44112"/>
            <a:ext cx="5791200" cy="487362"/>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Types of Communication Models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graphicFrame>
        <p:nvGraphicFramePr>
          <p:cNvPr id="5" name="Diagram 4"/>
          <p:cNvGraphicFramePr/>
          <p:nvPr/>
        </p:nvGraphicFramePr>
        <p:xfrm>
          <a:off x="1295400" y="36576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6015878" y="4800600"/>
            <a:ext cx="1055482" cy="461665"/>
          </a:xfrm>
          <a:prstGeom prst="rect">
            <a:avLst/>
          </a:prstGeom>
          <a:noFill/>
        </p:spPr>
        <p:txBody>
          <a:bodyPr wrap="none" rtlCol="0">
            <a:spAutoFit/>
          </a:bodyPr>
          <a:lstStyle/>
          <a:p>
            <a:r>
              <a:rPr lang="en-US" sz="2400" dirty="0" smtClean="0"/>
              <a:t>Setting</a:t>
            </a:r>
            <a:endParaRPr lang="en-US" sz="2400" dirty="0"/>
          </a:p>
        </p:txBody>
      </p:sp>
      <p:sp>
        <p:nvSpPr>
          <p:cNvPr id="7" name="TextBox 6"/>
          <p:cNvSpPr txBox="1"/>
          <p:nvPr/>
        </p:nvSpPr>
        <p:spPr>
          <a:xfrm>
            <a:off x="6031118" y="6172200"/>
            <a:ext cx="1055482" cy="461665"/>
          </a:xfrm>
          <a:prstGeom prst="rect">
            <a:avLst/>
          </a:prstGeom>
          <a:noFill/>
        </p:spPr>
        <p:txBody>
          <a:bodyPr wrap="none" rtlCol="0">
            <a:spAutoFit/>
          </a:bodyPr>
          <a:lstStyle/>
          <a:p>
            <a:r>
              <a:rPr lang="en-US" sz="2400" dirty="0" smtClean="0"/>
              <a:t>Setting</a:t>
            </a:r>
            <a:endParaRPr lang="en-US" sz="2400" dirty="0"/>
          </a:p>
        </p:txBody>
      </p:sp>
      <p:sp>
        <p:nvSpPr>
          <p:cNvPr id="8" name="TextBox 7"/>
          <p:cNvSpPr txBox="1"/>
          <p:nvPr/>
        </p:nvSpPr>
        <p:spPr>
          <a:xfrm>
            <a:off x="5638800" y="4648200"/>
            <a:ext cx="2045753" cy="369332"/>
          </a:xfrm>
          <a:prstGeom prst="rect">
            <a:avLst/>
          </a:prstGeom>
          <a:noFill/>
        </p:spPr>
        <p:txBody>
          <a:bodyPr wrap="none" rtlCol="0">
            <a:spAutoFit/>
          </a:bodyPr>
          <a:lstStyle/>
          <a:p>
            <a:r>
              <a:rPr lang="en-US" dirty="0" smtClean="0"/>
              <a:t>……………………………..</a:t>
            </a:r>
            <a:endParaRPr lang="en-US" dirty="0"/>
          </a:p>
        </p:txBody>
      </p:sp>
      <p:sp>
        <p:nvSpPr>
          <p:cNvPr id="10" name="TextBox 9"/>
          <p:cNvSpPr txBox="1"/>
          <p:nvPr/>
        </p:nvSpPr>
        <p:spPr>
          <a:xfrm rot="5400000">
            <a:off x="6629390" y="5650457"/>
            <a:ext cx="2045753" cy="369332"/>
          </a:xfrm>
          <a:prstGeom prst="rect">
            <a:avLst/>
          </a:prstGeom>
          <a:noFill/>
        </p:spPr>
        <p:txBody>
          <a:bodyPr wrap="none" rtlCol="0">
            <a:spAutoFit/>
          </a:bodyPr>
          <a:lstStyle/>
          <a:p>
            <a:r>
              <a:rPr lang="en-US" dirty="0" smtClean="0"/>
              <a:t>……………………………..</a:t>
            </a:r>
            <a:endParaRPr lang="en-US" dirty="0"/>
          </a:p>
        </p:txBody>
      </p:sp>
      <p:sp>
        <p:nvSpPr>
          <p:cNvPr id="11" name="TextBox 10"/>
          <p:cNvSpPr txBox="1"/>
          <p:nvPr/>
        </p:nvSpPr>
        <p:spPr>
          <a:xfrm>
            <a:off x="5638800" y="6488668"/>
            <a:ext cx="2045753" cy="369332"/>
          </a:xfrm>
          <a:prstGeom prst="rect">
            <a:avLst/>
          </a:prstGeom>
          <a:noFill/>
        </p:spPr>
        <p:txBody>
          <a:bodyPr wrap="none" rtlCol="0">
            <a:spAutoFit/>
          </a:bodyPr>
          <a:lstStyle/>
          <a:p>
            <a:r>
              <a:rPr lang="en-US" dirty="0" smtClean="0"/>
              <a:t>……………………………..</a:t>
            </a:r>
            <a:endParaRPr lang="en-US" dirty="0"/>
          </a:p>
        </p:txBody>
      </p:sp>
      <p:sp>
        <p:nvSpPr>
          <p:cNvPr id="12" name="TextBox 11"/>
          <p:cNvSpPr txBox="1"/>
          <p:nvPr/>
        </p:nvSpPr>
        <p:spPr>
          <a:xfrm rot="5400000">
            <a:off x="4800590" y="5650457"/>
            <a:ext cx="2045753" cy="369332"/>
          </a:xfrm>
          <a:prstGeom prst="rect">
            <a:avLst/>
          </a:prstGeom>
          <a:noFill/>
        </p:spPr>
        <p:txBody>
          <a:bodyPr wrap="none" rtlCol="0">
            <a:spAutoFit/>
          </a:bodyPr>
          <a:lstStyle/>
          <a:p>
            <a:r>
              <a:rPr lang="en-US" dirty="0" smtClean="0"/>
              <a:t>……………………………..</a:t>
            </a:r>
            <a:endParaRPr lang="en-US" dirty="0"/>
          </a:p>
        </p:txBody>
      </p:sp>
      <p:cxnSp>
        <p:nvCxnSpPr>
          <p:cNvPr id="17" name="Straight Connector 16"/>
          <p:cNvCxnSpPr/>
          <p:nvPr/>
        </p:nvCxnSpPr>
        <p:spPr>
          <a:xfrm>
            <a:off x="589544" y="4648200"/>
            <a:ext cx="8077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589544" y="6781800"/>
            <a:ext cx="8077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a:off x="-476462" y="5714206"/>
            <a:ext cx="2132806" cy="79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rot="16200000" flipH="1">
            <a:off x="7561843" y="5753099"/>
            <a:ext cx="2209800" cy="2"/>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867400"/>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2"/>
              <a:buChar char="v"/>
            </a:pPr>
            <a:r>
              <a:rPr lang="en-US" sz="2800" b="1" dirty="0" err="1" smtClean="0">
                <a:sym typeface="Wingdings 2"/>
              </a:rPr>
              <a:t>Hovland</a:t>
            </a:r>
            <a:r>
              <a:rPr lang="en-US" sz="2800" b="1" dirty="0" smtClean="0">
                <a:sym typeface="Wingdings 2"/>
              </a:rPr>
              <a:t> model of Communication</a:t>
            </a:r>
          </a:p>
          <a:p>
            <a:pPr algn="just">
              <a:buNone/>
            </a:pPr>
            <a:r>
              <a:rPr lang="en-US" sz="2800" dirty="0" smtClean="0">
                <a:sym typeface="Wingdings 2"/>
              </a:rPr>
              <a:t>    This model of communication is almost similar to Aristotelian persuation model, the only difference is that in </a:t>
            </a:r>
            <a:r>
              <a:rPr lang="en-US" sz="2800" dirty="0" err="1" smtClean="0">
                <a:sym typeface="Wingdings 2"/>
              </a:rPr>
              <a:t>Hovland</a:t>
            </a:r>
            <a:r>
              <a:rPr lang="en-US" sz="2800" dirty="0" smtClean="0">
                <a:sym typeface="Wingdings 2"/>
              </a:rPr>
              <a:t> model the listener will be in a pre-determined position. According to </a:t>
            </a:r>
            <a:r>
              <a:rPr lang="en-US" sz="2800" dirty="0" err="1" smtClean="0">
                <a:sym typeface="Wingdings 2"/>
              </a:rPr>
              <a:t>Hovland</a:t>
            </a:r>
            <a:r>
              <a:rPr lang="en-US" sz="2800" dirty="0" smtClean="0">
                <a:sym typeface="Wingdings 2"/>
              </a:rPr>
              <a:t>, the message is sent to a pre-determined listener and the listener also gives his reaction to the speaker.</a:t>
            </a:r>
          </a:p>
          <a:p>
            <a:pPr algn="just">
              <a:buNone/>
            </a:pPr>
            <a:endParaRPr lang="en-US" sz="2800" dirty="0"/>
          </a:p>
        </p:txBody>
      </p:sp>
      <p:sp>
        <p:nvSpPr>
          <p:cNvPr id="4" name="Title 1"/>
          <p:cNvSpPr txBox="1">
            <a:spLocks/>
          </p:cNvSpPr>
          <p:nvPr/>
        </p:nvSpPr>
        <p:spPr>
          <a:xfrm>
            <a:off x="381000" y="152400"/>
            <a:ext cx="5410200" cy="487362"/>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Types of Communication Models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
        <p:nvSpPr>
          <p:cNvPr id="6" name="Flowchart: Alternate Process 5"/>
          <p:cNvSpPr/>
          <p:nvPr/>
        </p:nvSpPr>
        <p:spPr>
          <a:xfrm>
            <a:off x="914400" y="4511040"/>
            <a:ext cx="1600200" cy="96012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dirty="0" smtClean="0"/>
              <a:t>Speaker</a:t>
            </a:r>
            <a:endParaRPr lang="en-US" sz="2600" dirty="0"/>
          </a:p>
        </p:txBody>
      </p:sp>
      <p:sp>
        <p:nvSpPr>
          <p:cNvPr id="7" name="Flowchart: Alternate Process 6"/>
          <p:cNvSpPr/>
          <p:nvPr/>
        </p:nvSpPr>
        <p:spPr>
          <a:xfrm>
            <a:off x="6217920" y="4564380"/>
            <a:ext cx="1663700" cy="99822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dirty="0" smtClean="0"/>
              <a:t>Listener</a:t>
            </a:r>
            <a:endParaRPr lang="en-US" sz="2600" dirty="0"/>
          </a:p>
        </p:txBody>
      </p:sp>
      <p:sp>
        <p:nvSpPr>
          <p:cNvPr id="8" name="Flowchart: Alternate Process 7"/>
          <p:cNvSpPr/>
          <p:nvPr/>
        </p:nvSpPr>
        <p:spPr>
          <a:xfrm>
            <a:off x="3657600" y="4511040"/>
            <a:ext cx="1600200" cy="96012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dirty="0" smtClean="0"/>
              <a:t>Message</a:t>
            </a:r>
            <a:endParaRPr lang="en-US" sz="2600" dirty="0"/>
          </a:p>
        </p:txBody>
      </p:sp>
      <p:cxnSp>
        <p:nvCxnSpPr>
          <p:cNvPr id="10" name="Straight Arrow Connector 9"/>
          <p:cNvCxnSpPr/>
          <p:nvPr/>
        </p:nvCxnSpPr>
        <p:spPr>
          <a:xfrm>
            <a:off x="2819400" y="4876800"/>
            <a:ext cx="533400"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4" name="Straight Arrow Connector 13"/>
          <p:cNvCxnSpPr/>
          <p:nvPr/>
        </p:nvCxnSpPr>
        <p:spPr>
          <a:xfrm>
            <a:off x="5486400" y="4876800"/>
            <a:ext cx="533400"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6" name="Straight Arrow Connector 15"/>
          <p:cNvCxnSpPr/>
          <p:nvPr/>
        </p:nvCxnSpPr>
        <p:spPr>
          <a:xfrm rot="10800000">
            <a:off x="5486401" y="5181600"/>
            <a:ext cx="533399"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0" name="Straight Arrow Connector 19"/>
          <p:cNvCxnSpPr/>
          <p:nvPr/>
        </p:nvCxnSpPr>
        <p:spPr>
          <a:xfrm rot="10800000">
            <a:off x="2819401" y="5181600"/>
            <a:ext cx="533399"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1" name="TextBox 20"/>
          <p:cNvSpPr txBox="1"/>
          <p:nvPr/>
        </p:nvSpPr>
        <p:spPr>
          <a:xfrm>
            <a:off x="6396878" y="4114800"/>
            <a:ext cx="1055482" cy="461665"/>
          </a:xfrm>
          <a:prstGeom prst="rect">
            <a:avLst/>
          </a:prstGeom>
          <a:noFill/>
        </p:spPr>
        <p:txBody>
          <a:bodyPr wrap="none" rtlCol="0">
            <a:spAutoFit/>
          </a:bodyPr>
          <a:lstStyle/>
          <a:p>
            <a:r>
              <a:rPr lang="en-US" sz="2400" dirty="0" smtClean="0"/>
              <a:t>Setting</a:t>
            </a:r>
            <a:endParaRPr lang="en-US" sz="2400" dirty="0"/>
          </a:p>
        </p:txBody>
      </p:sp>
      <p:sp>
        <p:nvSpPr>
          <p:cNvPr id="22" name="TextBox 21"/>
          <p:cNvSpPr txBox="1"/>
          <p:nvPr/>
        </p:nvSpPr>
        <p:spPr>
          <a:xfrm>
            <a:off x="6412118" y="5486400"/>
            <a:ext cx="1055482" cy="461665"/>
          </a:xfrm>
          <a:prstGeom prst="rect">
            <a:avLst/>
          </a:prstGeom>
          <a:noFill/>
        </p:spPr>
        <p:txBody>
          <a:bodyPr wrap="none" rtlCol="0">
            <a:spAutoFit/>
          </a:bodyPr>
          <a:lstStyle/>
          <a:p>
            <a:r>
              <a:rPr lang="en-US" sz="2400" dirty="0" smtClean="0"/>
              <a:t>Setting</a:t>
            </a:r>
            <a:endParaRPr lang="en-US" sz="2400" dirty="0"/>
          </a:p>
        </p:txBody>
      </p:sp>
      <p:sp>
        <p:nvSpPr>
          <p:cNvPr id="23" name="TextBox 22"/>
          <p:cNvSpPr txBox="1"/>
          <p:nvPr/>
        </p:nvSpPr>
        <p:spPr>
          <a:xfrm>
            <a:off x="6019800" y="3962400"/>
            <a:ext cx="2045753" cy="369332"/>
          </a:xfrm>
          <a:prstGeom prst="rect">
            <a:avLst/>
          </a:prstGeom>
          <a:noFill/>
        </p:spPr>
        <p:txBody>
          <a:bodyPr wrap="none" rtlCol="0">
            <a:spAutoFit/>
          </a:bodyPr>
          <a:lstStyle/>
          <a:p>
            <a:r>
              <a:rPr lang="en-US" dirty="0" smtClean="0"/>
              <a:t>……………………………..</a:t>
            </a:r>
            <a:endParaRPr lang="en-US" dirty="0"/>
          </a:p>
        </p:txBody>
      </p:sp>
      <p:sp>
        <p:nvSpPr>
          <p:cNvPr id="24" name="TextBox 23"/>
          <p:cNvSpPr txBox="1"/>
          <p:nvPr/>
        </p:nvSpPr>
        <p:spPr>
          <a:xfrm rot="5400000">
            <a:off x="7010390" y="4964657"/>
            <a:ext cx="2045753" cy="369332"/>
          </a:xfrm>
          <a:prstGeom prst="rect">
            <a:avLst/>
          </a:prstGeom>
          <a:noFill/>
        </p:spPr>
        <p:txBody>
          <a:bodyPr wrap="none" rtlCol="0">
            <a:spAutoFit/>
          </a:bodyPr>
          <a:lstStyle/>
          <a:p>
            <a:r>
              <a:rPr lang="en-US" dirty="0" smtClean="0"/>
              <a:t>……………………………..</a:t>
            </a:r>
            <a:endParaRPr lang="en-US" dirty="0"/>
          </a:p>
        </p:txBody>
      </p:sp>
      <p:sp>
        <p:nvSpPr>
          <p:cNvPr id="25" name="TextBox 24"/>
          <p:cNvSpPr txBox="1"/>
          <p:nvPr/>
        </p:nvSpPr>
        <p:spPr>
          <a:xfrm>
            <a:off x="6019800" y="5802868"/>
            <a:ext cx="2045753" cy="369332"/>
          </a:xfrm>
          <a:prstGeom prst="rect">
            <a:avLst/>
          </a:prstGeom>
          <a:noFill/>
        </p:spPr>
        <p:txBody>
          <a:bodyPr wrap="none" rtlCol="0">
            <a:spAutoFit/>
          </a:bodyPr>
          <a:lstStyle/>
          <a:p>
            <a:r>
              <a:rPr lang="en-US" dirty="0" smtClean="0"/>
              <a:t>……………………………..</a:t>
            </a:r>
            <a:endParaRPr lang="en-US" dirty="0"/>
          </a:p>
        </p:txBody>
      </p:sp>
      <p:sp>
        <p:nvSpPr>
          <p:cNvPr id="26" name="TextBox 25"/>
          <p:cNvSpPr txBox="1"/>
          <p:nvPr/>
        </p:nvSpPr>
        <p:spPr>
          <a:xfrm rot="5400000">
            <a:off x="5181590" y="4964657"/>
            <a:ext cx="2045753" cy="369332"/>
          </a:xfrm>
          <a:prstGeom prst="rect">
            <a:avLst/>
          </a:prstGeom>
          <a:noFill/>
        </p:spPr>
        <p:txBody>
          <a:bodyPr wrap="none" rtlCol="0">
            <a:spAutoFit/>
          </a:bodyPr>
          <a:lstStyle/>
          <a:p>
            <a:r>
              <a:rPr lang="en-US" dirty="0" smtClean="0"/>
              <a:t>……………………………..</a:t>
            </a:r>
            <a:endParaRPr lang="en-US" dirty="0"/>
          </a:p>
        </p:txBody>
      </p:sp>
      <p:cxnSp>
        <p:nvCxnSpPr>
          <p:cNvPr id="28" name="Straight Connector 27"/>
          <p:cNvCxnSpPr/>
          <p:nvPr/>
        </p:nvCxnSpPr>
        <p:spPr>
          <a:xfrm>
            <a:off x="561472" y="3918288"/>
            <a:ext cx="8077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61472" y="6659900"/>
            <a:ext cx="8077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rot="5400000">
            <a:off x="-810128" y="5289888"/>
            <a:ext cx="2743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rot="5400000">
            <a:off x="7266278" y="5289094"/>
            <a:ext cx="27432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3824"/>
            <a:ext cx="8229600" cy="6019800"/>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2"/>
              <a:buChar char="w"/>
            </a:pPr>
            <a:r>
              <a:rPr lang="en-US" sz="2600" b="1" dirty="0" smtClean="0">
                <a:sym typeface="Wingdings 2"/>
              </a:rPr>
              <a:t>The Newcomb Interpersonal Model</a:t>
            </a:r>
          </a:p>
          <a:p>
            <a:pPr algn="just">
              <a:buNone/>
            </a:pPr>
            <a:r>
              <a:rPr lang="en-US" sz="2600" dirty="0" smtClean="0">
                <a:sym typeface="Wingdings 2"/>
              </a:rPr>
              <a:t>     the Newcomb interpersonal model is one of the simplest models of communication. Newcomb advocate that “communication between the sender and the receiver takes place through a third person.”</a:t>
            </a:r>
          </a:p>
          <a:p>
            <a:pPr algn="just">
              <a:buNone/>
            </a:pPr>
            <a:r>
              <a:rPr lang="en-US" sz="2600" dirty="0" smtClean="0">
                <a:sym typeface="Wingdings 2"/>
              </a:rPr>
              <a:t>     Suppose, A wants to communicate a message to B. But B is not known to him. Another person X is known to both A and B. Hence, A will communicate the message to B through the help of X. And also B will communicate message to A with the help of X.</a:t>
            </a:r>
          </a:p>
          <a:p>
            <a:pPr algn="just">
              <a:buNone/>
            </a:pPr>
            <a:r>
              <a:rPr lang="en-US" sz="2600" dirty="0" smtClean="0">
                <a:sym typeface="Wingdings 2"/>
              </a:rPr>
              <a:t>     </a:t>
            </a:r>
            <a:endParaRPr lang="en-US" sz="2600" dirty="0"/>
          </a:p>
        </p:txBody>
      </p:sp>
      <p:sp>
        <p:nvSpPr>
          <p:cNvPr id="4" name="Title 1"/>
          <p:cNvSpPr txBox="1">
            <a:spLocks/>
          </p:cNvSpPr>
          <p:nvPr/>
        </p:nvSpPr>
        <p:spPr>
          <a:xfrm>
            <a:off x="457200" y="152400"/>
            <a:ext cx="5486400" cy="487362"/>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Types of Communication Models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cxnSp>
        <p:nvCxnSpPr>
          <p:cNvPr id="6" name="Straight Arrow Connector 5"/>
          <p:cNvCxnSpPr/>
          <p:nvPr/>
        </p:nvCxnSpPr>
        <p:spPr>
          <a:xfrm flipV="1">
            <a:off x="2590800" y="5024735"/>
            <a:ext cx="1600200" cy="13716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9" name="Straight Arrow Connector 8"/>
          <p:cNvCxnSpPr/>
          <p:nvPr/>
        </p:nvCxnSpPr>
        <p:spPr>
          <a:xfrm rot="16200000" flipV="1">
            <a:off x="4305300" y="5062836"/>
            <a:ext cx="1447800" cy="13716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1" name="Straight Arrow Connector 10"/>
          <p:cNvCxnSpPr/>
          <p:nvPr/>
        </p:nvCxnSpPr>
        <p:spPr>
          <a:xfrm rot="10800000" flipV="1">
            <a:off x="2667000" y="6548733"/>
            <a:ext cx="2971800" cy="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7" name="TextBox 16"/>
          <p:cNvSpPr txBox="1"/>
          <p:nvPr/>
        </p:nvSpPr>
        <p:spPr>
          <a:xfrm>
            <a:off x="2438400" y="5950803"/>
            <a:ext cx="317716" cy="369332"/>
          </a:xfrm>
          <a:prstGeom prst="rect">
            <a:avLst/>
          </a:prstGeom>
          <a:noFill/>
        </p:spPr>
        <p:txBody>
          <a:bodyPr wrap="none" rtlCol="0">
            <a:spAutoFit/>
          </a:bodyPr>
          <a:lstStyle/>
          <a:p>
            <a:r>
              <a:rPr lang="en-US" dirty="0" smtClean="0"/>
              <a:t>A</a:t>
            </a:r>
            <a:endParaRPr lang="en-US" dirty="0"/>
          </a:p>
        </p:txBody>
      </p:sp>
      <p:sp>
        <p:nvSpPr>
          <p:cNvPr id="18" name="TextBox 17"/>
          <p:cNvSpPr txBox="1"/>
          <p:nvPr/>
        </p:nvSpPr>
        <p:spPr>
          <a:xfrm>
            <a:off x="4419508" y="4812268"/>
            <a:ext cx="304892" cy="369332"/>
          </a:xfrm>
          <a:prstGeom prst="rect">
            <a:avLst/>
          </a:prstGeom>
          <a:noFill/>
        </p:spPr>
        <p:txBody>
          <a:bodyPr wrap="none" rtlCol="0">
            <a:spAutoFit/>
          </a:bodyPr>
          <a:lstStyle/>
          <a:p>
            <a:r>
              <a:rPr lang="en-US" dirty="0" smtClean="0"/>
              <a:t>X</a:t>
            </a:r>
            <a:endParaRPr lang="en-US" dirty="0"/>
          </a:p>
        </p:txBody>
      </p:sp>
      <p:sp>
        <p:nvSpPr>
          <p:cNvPr id="19" name="TextBox 18"/>
          <p:cNvSpPr txBox="1"/>
          <p:nvPr/>
        </p:nvSpPr>
        <p:spPr>
          <a:xfrm>
            <a:off x="5638800" y="6091535"/>
            <a:ext cx="309700" cy="369332"/>
          </a:xfrm>
          <a:prstGeom prst="rect">
            <a:avLst/>
          </a:prstGeom>
          <a:noFill/>
        </p:spPr>
        <p:txBody>
          <a:bodyPr wrap="none" rtlCol="0">
            <a:spAutoFit/>
          </a:bodyPr>
          <a:lstStyle/>
          <a:p>
            <a:r>
              <a:rPr lang="en-US" dirty="0" smtClean="0"/>
              <a:t>B</a:t>
            </a:r>
            <a:endParaRPr lang="en-US" dirty="0"/>
          </a:p>
        </p:txBody>
      </p:sp>
      <p:cxnSp>
        <p:nvCxnSpPr>
          <p:cNvPr id="20" name="Straight Arrow Connector 19"/>
          <p:cNvCxnSpPr/>
          <p:nvPr/>
        </p:nvCxnSpPr>
        <p:spPr>
          <a:xfrm>
            <a:off x="2895600" y="6243935"/>
            <a:ext cx="2438400"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3" name="TextBox 22"/>
          <p:cNvSpPr txBox="1"/>
          <p:nvPr/>
        </p:nvSpPr>
        <p:spPr>
          <a:xfrm>
            <a:off x="3352800" y="6167735"/>
            <a:ext cx="1726498" cy="461665"/>
          </a:xfrm>
          <a:prstGeom prst="rect">
            <a:avLst/>
          </a:prstGeom>
          <a:noFill/>
        </p:spPr>
        <p:txBody>
          <a:bodyPr wrap="none" rtlCol="0">
            <a:spAutoFit/>
          </a:bodyPr>
          <a:lstStyle/>
          <a:p>
            <a:r>
              <a:rPr lang="en-US" sz="2400" dirty="0" smtClean="0"/>
              <a:t>Relationship</a:t>
            </a:r>
            <a:endParaRPr lang="en-US" sz="2400" dirty="0"/>
          </a:p>
        </p:txBody>
      </p:sp>
      <p:cxnSp>
        <p:nvCxnSpPr>
          <p:cNvPr id="25" name="Straight Connector 24"/>
          <p:cNvCxnSpPr/>
          <p:nvPr/>
        </p:nvCxnSpPr>
        <p:spPr>
          <a:xfrm>
            <a:off x="685800" y="4812632"/>
            <a:ext cx="7772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685800" y="6717632"/>
            <a:ext cx="7772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rot="5400000">
            <a:off x="-266700" y="5765132"/>
            <a:ext cx="1905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rot="5400000">
            <a:off x="7506494" y="5764338"/>
            <a:ext cx="19050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13872"/>
            <a:ext cx="8610600" cy="5991728"/>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2"/>
              <a:buChar char="x"/>
            </a:pPr>
            <a:r>
              <a:rPr lang="en-US" sz="2800" b="1" dirty="0" err="1" smtClean="0">
                <a:sym typeface="Wingdings 2"/>
              </a:rPr>
              <a:t>Shanon</a:t>
            </a:r>
            <a:r>
              <a:rPr lang="en-US" sz="2800" b="1" dirty="0" smtClean="0">
                <a:sym typeface="Wingdings 2"/>
              </a:rPr>
              <a:t> and Weaver’s information theory Model</a:t>
            </a:r>
          </a:p>
          <a:p>
            <a:pPr algn="just">
              <a:buNone/>
            </a:pPr>
            <a:r>
              <a:rPr lang="en-US" sz="2800" dirty="0" smtClean="0">
                <a:sym typeface="Wingdings 2"/>
              </a:rPr>
              <a:t>     This model involves an information source which selects a desired message, a transmitter which changes the message and it is sent through some communication channel to a receiver to whom the message was originally intended.</a:t>
            </a:r>
          </a:p>
          <a:p>
            <a:pPr algn="just">
              <a:buNone/>
            </a:pPr>
            <a:r>
              <a:rPr lang="en-US" sz="2800" dirty="0" smtClean="0">
                <a:sym typeface="Wingdings 2"/>
              </a:rPr>
              <a:t>     </a:t>
            </a:r>
            <a:endParaRPr lang="en-US" sz="2800" dirty="0"/>
          </a:p>
        </p:txBody>
      </p:sp>
      <p:sp>
        <p:nvSpPr>
          <p:cNvPr id="4" name="Title 1"/>
          <p:cNvSpPr txBox="1">
            <a:spLocks/>
          </p:cNvSpPr>
          <p:nvPr/>
        </p:nvSpPr>
        <p:spPr>
          <a:xfrm>
            <a:off x="304800" y="152400"/>
            <a:ext cx="5486400" cy="487362"/>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Types of Communication Models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
        <p:nvSpPr>
          <p:cNvPr id="6" name="Flowchart: Alternate Process 5"/>
          <p:cNvSpPr/>
          <p:nvPr/>
        </p:nvSpPr>
        <p:spPr>
          <a:xfrm>
            <a:off x="381000" y="3810000"/>
            <a:ext cx="1905000" cy="6096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Information source</a:t>
            </a:r>
            <a:endParaRPr lang="en-US" sz="2400" dirty="0"/>
          </a:p>
        </p:txBody>
      </p:sp>
      <p:sp>
        <p:nvSpPr>
          <p:cNvPr id="7" name="Flowchart: Alternate Process 6"/>
          <p:cNvSpPr/>
          <p:nvPr/>
        </p:nvSpPr>
        <p:spPr>
          <a:xfrm>
            <a:off x="2590800" y="3886200"/>
            <a:ext cx="1676400" cy="381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Transmitter</a:t>
            </a:r>
            <a:endParaRPr lang="en-US" sz="2400" dirty="0"/>
          </a:p>
        </p:txBody>
      </p:sp>
      <p:sp>
        <p:nvSpPr>
          <p:cNvPr id="8" name="Flowchart: Alternate Process 7"/>
          <p:cNvSpPr/>
          <p:nvPr/>
        </p:nvSpPr>
        <p:spPr>
          <a:xfrm>
            <a:off x="4572000" y="3886200"/>
            <a:ext cx="1143000" cy="381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Alternate Process 8"/>
          <p:cNvSpPr/>
          <p:nvPr/>
        </p:nvSpPr>
        <p:spPr>
          <a:xfrm>
            <a:off x="6019800" y="3886200"/>
            <a:ext cx="1676400" cy="381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Receiver</a:t>
            </a:r>
            <a:endParaRPr lang="en-US" sz="2400" dirty="0"/>
          </a:p>
        </p:txBody>
      </p:sp>
      <p:sp>
        <p:nvSpPr>
          <p:cNvPr id="10" name="Flowchart: Alternate Process 9"/>
          <p:cNvSpPr/>
          <p:nvPr/>
        </p:nvSpPr>
        <p:spPr>
          <a:xfrm>
            <a:off x="6858000" y="4800600"/>
            <a:ext cx="1828800" cy="381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Destination</a:t>
            </a:r>
            <a:endParaRPr lang="en-US" sz="2400" dirty="0"/>
          </a:p>
        </p:txBody>
      </p:sp>
      <p:sp>
        <p:nvSpPr>
          <p:cNvPr id="11" name="Flowchart: Alternate Process 10"/>
          <p:cNvSpPr/>
          <p:nvPr/>
        </p:nvSpPr>
        <p:spPr>
          <a:xfrm>
            <a:off x="4114800" y="5410200"/>
            <a:ext cx="1981200" cy="4572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Noise source</a:t>
            </a:r>
            <a:endParaRPr lang="en-US" sz="2400" dirty="0"/>
          </a:p>
        </p:txBody>
      </p:sp>
      <p:cxnSp>
        <p:nvCxnSpPr>
          <p:cNvPr id="13" name="Straight Arrow Connector 12"/>
          <p:cNvCxnSpPr/>
          <p:nvPr/>
        </p:nvCxnSpPr>
        <p:spPr>
          <a:xfrm>
            <a:off x="2286000" y="4113212"/>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267200" y="4113212"/>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a:off x="4115594" y="43426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715000" y="4113212"/>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5584666" y="435022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0800000">
            <a:off x="7467601" y="4037012"/>
            <a:ext cx="45799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5400000">
            <a:off x="7544197" y="4419203"/>
            <a:ext cx="762000"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124200" y="4572000"/>
            <a:ext cx="1328569" cy="369332"/>
          </a:xfrm>
          <a:prstGeom prst="rect">
            <a:avLst/>
          </a:prstGeom>
          <a:solidFill>
            <a:schemeClr val="accent1">
              <a:lumMod val="20000"/>
              <a:lumOff val="80000"/>
            </a:schemeClr>
          </a:solidFill>
        </p:spPr>
        <p:txBody>
          <a:bodyPr wrap="none" rtlCol="0">
            <a:spAutoFit/>
          </a:bodyPr>
          <a:lstStyle/>
          <a:p>
            <a:r>
              <a:rPr lang="en-US" dirty="0" smtClean="0"/>
              <a:t>Signal Given</a:t>
            </a:r>
            <a:endParaRPr lang="en-US" dirty="0"/>
          </a:p>
        </p:txBody>
      </p:sp>
      <p:sp>
        <p:nvSpPr>
          <p:cNvPr id="42" name="TextBox 41"/>
          <p:cNvSpPr txBox="1"/>
          <p:nvPr/>
        </p:nvSpPr>
        <p:spPr>
          <a:xfrm>
            <a:off x="5072231" y="4572000"/>
            <a:ext cx="1632306" cy="369332"/>
          </a:xfrm>
          <a:prstGeom prst="rect">
            <a:avLst/>
          </a:prstGeom>
          <a:solidFill>
            <a:schemeClr val="accent1">
              <a:lumMod val="20000"/>
              <a:lumOff val="80000"/>
            </a:schemeClr>
          </a:solidFill>
        </p:spPr>
        <p:txBody>
          <a:bodyPr wrap="none" rtlCol="0">
            <a:spAutoFit/>
          </a:bodyPr>
          <a:lstStyle/>
          <a:p>
            <a:r>
              <a:rPr lang="en-US" dirty="0" smtClean="0"/>
              <a:t>Signal Received</a:t>
            </a:r>
            <a:endParaRPr lang="en-US" dirty="0"/>
          </a:p>
        </p:txBody>
      </p:sp>
      <p:cxnSp>
        <p:nvCxnSpPr>
          <p:cNvPr id="43" name="Straight Arrow Connector 42"/>
          <p:cNvCxnSpPr/>
          <p:nvPr/>
        </p:nvCxnSpPr>
        <p:spPr>
          <a:xfrm rot="5400000" flipH="1" flipV="1">
            <a:off x="4305697" y="4838303"/>
            <a:ext cx="1143000"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371600" y="3276600"/>
            <a:ext cx="7595156" cy="369332"/>
          </a:xfrm>
          <a:prstGeom prst="rect">
            <a:avLst/>
          </a:prstGeom>
          <a:noFill/>
        </p:spPr>
        <p:txBody>
          <a:bodyPr wrap="none" rtlCol="0">
            <a:spAutoFit/>
          </a:bodyPr>
          <a:lstStyle/>
          <a:p>
            <a:r>
              <a:rPr lang="en-US" dirty="0" smtClean="0"/>
              <a:t>…....................……………Feedback……………………………………………………………………......</a:t>
            </a:r>
            <a:endParaRPr lang="en-US" dirty="0"/>
          </a:p>
        </p:txBody>
      </p:sp>
      <p:sp>
        <p:nvSpPr>
          <p:cNvPr id="49" name="TextBox 48"/>
          <p:cNvSpPr txBox="1"/>
          <p:nvPr/>
        </p:nvSpPr>
        <p:spPr>
          <a:xfrm>
            <a:off x="1111968" y="6336268"/>
            <a:ext cx="7955832" cy="369332"/>
          </a:xfrm>
          <a:prstGeom prst="rect">
            <a:avLst/>
          </a:prstGeom>
          <a:noFill/>
        </p:spPr>
        <p:txBody>
          <a:bodyPr wrap="none" rtlCol="0">
            <a:spAutoFit/>
          </a:bodyPr>
          <a:lstStyle/>
          <a:p>
            <a:r>
              <a:rPr lang="en-US" dirty="0" smtClean="0"/>
              <a:t>………………………………………………………Feedback………………………………………………………….</a:t>
            </a:r>
            <a:endParaRPr lang="en-US" dirty="0"/>
          </a:p>
        </p:txBody>
      </p:sp>
      <p:sp>
        <p:nvSpPr>
          <p:cNvPr id="51" name="TextBox 50"/>
          <p:cNvSpPr txBox="1"/>
          <p:nvPr/>
        </p:nvSpPr>
        <p:spPr>
          <a:xfrm rot="5400000">
            <a:off x="7029226" y="4827494"/>
            <a:ext cx="3437068" cy="640080"/>
          </a:xfrm>
          <a:prstGeom prst="rect">
            <a:avLst/>
          </a:prstGeom>
          <a:noFill/>
        </p:spPr>
        <p:txBody>
          <a:bodyPr wrap="square" rtlCol="0">
            <a:spAutoFit/>
          </a:bodyPr>
          <a:lstStyle/>
          <a:p>
            <a:r>
              <a:rPr lang="en-US" dirty="0" smtClean="0"/>
              <a:t>…………………………………………………..</a:t>
            </a:r>
            <a:endParaRPr lang="en-US" dirty="0"/>
          </a:p>
        </p:txBody>
      </p:sp>
      <p:sp>
        <p:nvSpPr>
          <p:cNvPr id="55" name="TextBox 54"/>
          <p:cNvSpPr txBox="1"/>
          <p:nvPr/>
        </p:nvSpPr>
        <p:spPr>
          <a:xfrm rot="5400000">
            <a:off x="82033" y="5568433"/>
            <a:ext cx="2362201" cy="369332"/>
          </a:xfrm>
          <a:prstGeom prst="rect">
            <a:avLst/>
          </a:prstGeom>
          <a:noFill/>
        </p:spPr>
        <p:txBody>
          <a:bodyPr wrap="square" rtlCol="0">
            <a:spAutoFit/>
          </a:bodyPr>
          <a:lstStyle/>
          <a:p>
            <a:r>
              <a:rPr lang="en-US" dirty="0" smtClean="0"/>
              <a:t>………………………………..</a:t>
            </a:r>
            <a:endParaRPr lang="en-US" dirty="0"/>
          </a:p>
        </p:txBody>
      </p:sp>
      <p:sp>
        <p:nvSpPr>
          <p:cNvPr id="57" name="Chevron 56"/>
          <p:cNvSpPr/>
          <p:nvPr/>
        </p:nvSpPr>
        <p:spPr>
          <a:xfrm rot="16200000">
            <a:off x="1028700" y="4457700"/>
            <a:ext cx="381000" cy="30480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Down Arrow 57"/>
          <p:cNvSpPr/>
          <p:nvPr/>
        </p:nvSpPr>
        <p:spPr>
          <a:xfrm>
            <a:off x="1371600" y="3505200"/>
            <a:ext cx="304800" cy="2926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Chevron 58"/>
          <p:cNvSpPr/>
          <p:nvPr/>
        </p:nvSpPr>
        <p:spPr>
          <a:xfrm rot="10800000">
            <a:off x="5638800" y="6477000"/>
            <a:ext cx="152400" cy="22860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Chevron 59"/>
          <p:cNvSpPr/>
          <p:nvPr/>
        </p:nvSpPr>
        <p:spPr>
          <a:xfrm rot="10800000">
            <a:off x="5791200" y="3429000"/>
            <a:ext cx="152400" cy="22860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style>
          <a:lnRef idx="2">
            <a:schemeClr val="accent1"/>
          </a:lnRef>
          <a:fillRef idx="1">
            <a:schemeClr val="lt1"/>
          </a:fillRef>
          <a:effectRef idx="0">
            <a:schemeClr val="accent1"/>
          </a:effectRef>
          <a:fontRef idx="minor">
            <a:schemeClr val="dk1"/>
          </a:fontRef>
        </p:style>
        <p:txBody>
          <a:bodyPr>
            <a:normAutofit/>
          </a:bodyPr>
          <a:lstStyle/>
          <a:p>
            <a:pPr algn="just">
              <a:buNone/>
            </a:pPr>
            <a:r>
              <a:rPr lang="en-US" sz="2800" dirty="0" smtClean="0">
                <a:sym typeface="Wingdings 3"/>
              </a:rPr>
              <a:t> </a:t>
            </a:r>
            <a:r>
              <a:rPr lang="en-US" sz="2800" dirty="0" smtClean="0"/>
              <a:t>A noise source means any interference with the transmission and  reception of the message. The noise may be two types:</a:t>
            </a:r>
          </a:p>
          <a:p>
            <a:pPr algn="just">
              <a:buNone/>
            </a:pPr>
            <a:r>
              <a:rPr lang="en-US" sz="2800" dirty="0" smtClean="0">
                <a:sym typeface="Wingdings"/>
              </a:rPr>
              <a:t> </a:t>
            </a:r>
            <a:r>
              <a:rPr lang="en-US" sz="2800" b="1" dirty="0" smtClean="0"/>
              <a:t>Mechanical Noise:</a:t>
            </a:r>
          </a:p>
          <a:p>
            <a:pPr algn="just"/>
            <a:r>
              <a:rPr lang="en-US" sz="2800" dirty="0" smtClean="0"/>
              <a:t>It comes from any mechanical source.</a:t>
            </a:r>
          </a:p>
          <a:p>
            <a:pPr algn="just">
              <a:buNone/>
            </a:pPr>
            <a:r>
              <a:rPr lang="en-US" sz="2800" dirty="0" smtClean="0">
                <a:sym typeface="Wingdings"/>
              </a:rPr>
              <a:t> </a:t>
            </a:r>
            <a:r>
              <a:rPr lang="en-US" sz="2800" b="1" dirty="0" smtClean="0"/>
              <a:t>Semantic Noise:</a:t>
            </a:r>
          </a:p>
          <a:p>
            <a:pPr algn="just"/>
            <a:r>
              <a:rPr lang="en-US" sz="2800" dirty="0" smtClean="0"/>
              <a:t>Difference between the meaning intended by the sender and the receiver of the message.</a:t>
            </a:r>
            <a:endParaRPr lang="en-US" sz="2800" dirty="0"/>
          </a:p>
        </p:txBody>
      </p:sp>
      <p:sp>
        <p:nvSpPr>
          <p:cNvPr id="4" name="Title 1"/>
          <p:cNvSpPr txBox="1">
            <a:spLocks/>
          </p:cNvSpPr>
          <p:nvPr/>
        </p:nvSpPr>
        <p:spPr>
          <a:xfrm>
            <a:off x="457200" y="152400"/>
            <a:ext cx="5638800" cy="487362"/>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Types of Communication Models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8458200" cy="60960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Wingdings 2"/>
              <a:buChar char="y"/>
            </a:pPr>
            <a:r>
              <a:rPr lang="en-US" sz="2800" b="1" dirty="0" smtClean="0"/>
              <a:t>Collin’s and Guetzkuw’s  group Communication Model:</a:t>
            </a:r>
          </a:p>
          <a:p>
            <a:pPr algn="just">
              <a:buNone/>
            </a:pPr>
            <a:r>
              <a:rPr lang="en-US" sz="2800" dirty="0" smtClean="0"/>
              <a:t>     It deals with communication in the decision making group which occurs as basic part of organizational communication.</a:t>
            </a:r>
          </a:p>
          <a:p>
            <a:pPr algn="just">
              <a:buFont typeface="Wingdings 3"/>
              <a:buChar char=""/>
            </a:pPr>
            <a:r>
              <a:rPr lang="en-US" sz="2800" dirty="0" smtClean="0"/>
              <a:t>In below the top three boxes represent the source, behavior, and reward associated with the task aspects of group operation, while the lower three boxes represents the source, behavior and reward associated with interpersonal aspects of group operation.</a:t>
            </a:r>
          </a:p>
          <a:p>
            <a:pPr algn="just">
              <a:buFont typeface="Wingdings 3"/>
              <a:buChar char=""/>
            </a:pPr>
            <a:r>
              <a:rPr lang="en-US" sz="2800" dirty="0" smtClean="0"/>
              <a:t>Obstacle in the task environment and interpersonal environment affects the group’s interpersonal communication behavior.</a:t>
            </a:r>
          </a:p>
          <a:p>
            <a:pPr algn="just">
              <a:buNone/>
            </a:pPr>
            <a:endParaRPr lang="en-US" sz="2800" dirty="0" smtClean="0"/>
          </a:p>
          <a:p>
            <a:pPr algn="just">
              <a:buNone/>
            </a:pPr>
            <a:endParaRPr lang="en-US" sz="2800" dirty="0" smtClean="0"/>
          </a:p>
          <a:p>
            <a:pPr algn="just">
              <a:buNone/>
            </a:pPr>
            <a:r>
              <a:rPr lang="en-US" sz="2800" dirty="0" smtClean="0"/>
              <a:t>     </a:t>
            </a:r>
            <a:endParaRPr lang="en-US" sz="2800" dirty="0"/>
          </a:p>
        </p:txBody>
      </p:sp>
      <p:sp>
        <p:nvSpPr>
          <p:cNvPr id="4" name="Title 1"/>
          <p:cNvSpPr txBox="1">
            <a:spLocks/>
          </p:cNvSpPr>
          <p:nvPr/>
        </p:nvSpPr>
        <p:spPr>
          <a:xfrm>
            <a:off x="304800" y="48128"/>
            <a:ext cx="5562600" cy="487362"/>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Types of Communication Models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19600" y="2819400"/>
            <a:ext cx="3429000" cy="10668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85800" y="1676400"/>
            <a:ext cx="1828800" cy="1200329"/>
          </a:xfrm>
          <a:prstGeom prst="rect">
            <a:avLst/>
          </a:prstGeom>
          <a:solidFill>
            <a:schemeClr val="bg2">
              <a:lumMod val="75000"/>
            </a:schemeClr>
          </a:solidFill>
        </p:spPr>
        <p:txBody>
          <a:bodyPr wrap="square" rtlCol="0">
            <a:spAutoFit/>
          </a:bodyPr>
          <a:lstStyle/>
          <a:p>
            <a:r>
              <a:rPr lang="en-US" sz="2400" dirty="0" smtClean="0"/>
              <a:t>Obstacles in </a:t>
            </a:r>
          </a:p>
          <a:p>
            <a:r>
              <a:rPr lang="en-US" sz="2400" dirty="0" smtClean="0"/>
              <a:t>task environment</a:t>
            </a:r>
            <a:endParaRPr lang="en-US" sz="2400" dirty="0"/>
          </a:p>
        </p:txBody>
      </p:sp>
      <p:sp>
        <p:nvSpPr>
          <p:cNvPr id="6" name="TextBox 5"/>
          <p:cNvSpPr txBox="1"/>
          <p:nvPr/>
        </p:nvSpPr>
        <p:spPr>
          <a:xfrm>
            <a:off x="2941138" y="1828800"/>
            <a:ext cx="2697662" cy="830997"/>
          </a:xfrm>
          <a:prstGeom prst="rect">
            <a:avLst/>
          </a:prstGeom>
          <a:solidFill>
            <a:schemeClr val="accent2">
              <a:lumMod val="40000"/>
              <a:lumOff val="60000"/>
            </a:schemeClr>
          </a:solidFill>
        </p:spPr>
        <p:txBody>
          <a:bodyPr wrap="square" rtlCol="0">
            <a:spAutoFit/>
          </a:bodyPr>
          <a:lstStyle/>
          <a:p>
            <a:r>
              <a:rPr lang="en-US" sz="2400" dirty="0" smtClean="0"/>
              <a:t>Behavior related </a:t>
            </a:r>
          </a:p>
          <a:p>
            <a:r>
              <a:rPr lang="en-US" sz="2400" dirty="0" smtClean="0"/>
              <a:t>to task environment</a:t>
            </a:r>
            <a:endParaRPr lang="en-US" sz="2400" dirty="0"/>
          </a:p>
        </p:txBody>
      </p:sp>
      <p:sp>
        <p:nvSpPr>
          <p:cNvPr id="7" name="TextBox 6"/>
          <p:cNvSpPr txBox="1"/>
          <p:nvPr/>
        </p:nvSpPr>
        <p:spPr>
          <a:xfrm>
            <a:off x="6858000" y="1295400"/>
            <a:ext cx="1861279" cy="1200329"/>
          </a:xfrm>
          <a:prstGeom prst="rect">
            <a:avLst/>
          </a:prstGeom>
          <a:solidFill>
            <a:schemeClr val="accent3">
              <a:lumMod val="40000"/>
              <a:lumOff val="60000"/>
            </a:schemeClr>
          </a:solidFill>
        </p:spPr>
        <p:txBody>
          <a:bodyPr wrap="none" rtlCol="0">
            <a:spAutoFit/>
          </a:bodyPr>
          <a:lstStyle/>
          <a:p>
            <a:r>
              <a:rPr lang="en-US" sz="2400" dirty="0" smtClean="0"/>
              <a:t>Task </a:t>
            </a:r>
          </a:p>
          <a:p>
            <a:r>
              <a:rPr lang="en-US" sz="2400" dirty="0" smtClean="0"/>
              <a:t>environment </a:t>
            </a:r>
          </a:p>
          <a:p>
            <a:r>
              <a:rPr lang="en-US" sz="2400" dirty="0" smtClean="0"/>
              <a:t>reward</a:t>
            </a:r>
            <a:endParaRPr lang="en-US" sz="2400" dirty="0"/>
          </a:p>
        </p:txBody>
      </p:sp>
      <p:sp>
        <p:nvSpPr>
          <p:cNvPr id="8" name="TextBox 7"/>
          <p:cNvSpPr txBox="1"/>
          <p:nvPr/>
        </p:nvSpPr>
        <p:spPr>
          <a:xfrm>
            <a:off x="4495800" y="2971800"/>
            <a:ext cx="2191113" cy="646331"/>
          </a:xfrm>
          <a:prstGeom prst="rect">
            <a:avLst/>
          </a:prstGeom>
          <a:solidFill>
            <a:srgbClr val="92D050"/>
          </a:solidFill>
        </p:spPr>
        <p:txBody>
          <a:bodyPr wrap="none" rtlCol="0">
            <a:spAutoFit/>
          </a:bodyPr>
          <a:lstStyle/>
          <a:p>
            <a:r>
              <a:rPr lang="en-US" dirty="0" smtClean="0"/>
              <a:t>Individual production</a:t>
            </a:r>
          </a:p>
          <a:p>
            <a:endParaRPr lang="en-US" dirty="0"/>
          </a:p>
        </p:txBody>
      </p:sp>
      <p:sp>
        <p:nvSpPr>
          <p:cNvPr id="9" name="TextBox 8"/>
          <p:cNvSpPr txBox="1"/>
          <p:nvPr/>
        </p:nvSpPr>
        <p:spPr>
          <a:xfrm>
            <a:off x="4495800" y="3288268"/>
            <a:ext cx="2163862" cy="369332"/>
          </a:xfrm>
          <a:prstGeom prst="rect">
            <a:avLst/>
          </a:prstGeom>
          <a:solidFill>
            <a:srgbClr val="92D050"/>
          </a:solidFill>
        </p:spPr>
        <p:txBody>
          <a:bodyPr wrap="none" rtlCol="0">
            <a:spAutoFit/>
          </a:bodyPr>
          <a:lstStyle/>
          <a:p>
            <a:r>
              <a:rPr lang="en-US" dirty="0" smtClean="0"/>
              <a:t>Assembly production</a:t>
            </a:r>
            <a:endParaRPr lang="en-US" dirty="0"/>
          </a:p>
        </p:txBody>
      </p:sp>
      <p:cxnSp>
        <p:nvCxnSpPr>
          <p:cNvPr id="11" name="Straight Connector 10"/>
          <p:cNvCxnSpPr/>
          <p:nvPr/>
        </p:nvCxnSpPr>
        <p:spPr>
          <a:xfrm>
            <a:off x="4419600" y="3352800"/>
            <a:ext cx="2209800" cy="1588"/>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p:cNvCxnSpPr/>
          <p:nvPr/>
        </p:nvCxnSpPr>
        <p:spPr>
          <a:xfrm rot="5400000">
            <a:off x="6096000" y="3352800"/>
            <a:ext cx="1066800" cy="1588"/>
          </a:xfrm>
          <a:prstGeom prst="line">
            <a:avLst/>
          </a:prstGeom>
        </p:spPr>
        <p:style>
          <a:lnRef idx="1">
            <a:schemeClr val="accent2"/>
          </a:lnRef>
          <a:fillRef idx="0">
            <a:schemeClr val="accent2"/>
          </a:fillRef>
          <a:effectRef idx="0">
            <a:schemeClr val="accent2"/>
          </a:effectRef>
          <a:fontRef idx="minor">
            <a:schemeClr val="tx1"/>
          </a:fontRef>
        </p:style>
      </p:cxnSp>
      <p:sp>
        <p:nvSpPr>
          <p:cNvPr id="13" name="TextBox 12"/>
          <p:cNvSpPr txBox="1"/>
          <p:nvPr/>
        </p:nvSpPr>
        <p:spPr>
          <a:xfrm>
            <a:off x="609600" y="4800600"/>
            <a:ext cx="1992597" cy="1200329"/>
          </a:xfrm>
          <a:prstGeom prst="rect">
            <a:avLst/>
          </a:prstGeom>
          <a:solidFill>
            <a:schemeClr val="accent4">
              <a:lumMod val="40000"/>
              <a:lumOff val="60000"/>
            </a:schemeClr>
          </a:solidFill>
        </p:spPr>
        <p:txBody>
          <a:bodyPr wrap="none" rtlCol="0">
            <a:spAutoFit/>
          </a:bodyPr>
          <a:lstStyle/>
          <a:p>
            <a:r>
              <a:rPr lang="en-US" sz="2400" dirty="0" smtClean="0"/>
              <a:t>Obstacles in</a:t>
            </a:r>
          </a:p>
          <a:p>
            <a:r>
              <a:rPr lang="en-US" sz="2400" dirty="0" smtClean="0"/>
              <a:t> interpersonal </a:t>
            </a:r>
          </a:p>
          <a:p>
            <a:r>
              <a:rPr lang="en-US" sz="2400" dirty="0" smtClean="0"/>
              <a:t>environment</a:t>
            </a:r>
            <a:endParaRPr lang="en-US" sz="2400" dirty="0"/>
          </a:p>
        </p:txBody>
      </p:sp>
      <p:sp>
        <p:nvSpPr>
          <p:cNvPr id="14" name="TextBox 13"/>
          <p:cNvSpPr txBox="1"/>
          <p:nvPr/>
        </p:nvSpPr>
        <p:spPr>
          <a:xfrm>
            <a:off x="2936434" y="4648200"/>
            <a:ext cx="2245166" cy="1569660"/>
          </a:xfrm>
          <a:prstGeom prst="rect">
            <a:avLst/>
          </a:prstGeom>
          <a:solidFill>
            <a:schemeClr val="accent5">
              <a:lumMod val="40000"/>
              <a:lumOff val="60000"/>
            </a:schemeClr>
          </a:solidFill>
        </p:spPr>
        <p:txBody>
          <a:bodyPr wrap="none" rtlCol="0">
            <a:spAutoFit/>
          </a:bodyPr>
          <a:lstStyle/>
          <a:p>
            <a:r>
              <a:rPr lang="en-US" sz="2400" dirty="0" smtClean="0"/>
              <a:t>Behavior related</a:t>
            </a:r>
          </a:p>
          <a:p>
            <a:r>
              <a:rPr lang="en-US" sz="2400" dirty="0" smtClean="0"/>
              <a:t> to </a:t>
            </a:r>
          </a:p>
          <a:p>
            <a:r>
              <a:rPr lang="en-US" sz="2400" dirty="0" smtClean="0"/>
              <a:t>interpersonal </a:t>
            </a:r>
          </a:p>
          <a:p>
            <a:r>
              <a:rPr lang="en-US" sz="2400" dirty="0" smtClean="0"/>
              <a:t>stimuli</a:t>
            </a:r>
            <a:endParaRPr lang="en-US" sz="2400" dirty="0"/>
          </a:p>
        </p:txBody>
      </p:sp>
      <p:sp>
        <p:nvSpPr>
          <p:cNvPr id="15" name="TextBox 14"/>
          <p:cNvSpPr txBox="1"/>
          <p:nvPr/>
        </p:nvSpPr>
        <p:spPr>
          <a:xfrm>
            <a:off x="6858000" y="4648200"/>
            <a:ext cx="1930080" cy="830997"/>
          </a:xfrm>
          <a:prstGeom prst="rect">
            <a:avLst/>
          </a:prstGeom>
          <a:solidFill>
            <a:schemeClr val="accent6">
              <a:lumMod val="60000"/>
              <a:lumOff val="40000"/>
            </a:schemeClr>
          </a:solidFill>
        </p:spPr>
        <p:txBody>
          <a:bodyPr wrap="none" rtlCol="0">
            <a:spAutoFit/>
          </a:bodyPr>
          <a:lstStyle/>
          <a:p>
            <a:r>
              <a:rPr lang="en-US" sz="2400" dirty="0" smtClean="0"/>
              <a:t>Interpersonal </a:t>
            </a:r>
          </a:p>
          <a:p>
            <a:r>
              <a:rPr lang="en-US" sz="2400" dirty="0" smtClean="0"/>
              <a:t>reward</a:t>
            </a:r>
            <a:endParaRPr lang="en-US" sz="2400" dirty="0"/>
          </a:p>
        </p:txBody>
      </p:sp>
      <p:cxnSp>
        <p:nvCxnSpPr>
          <p:cNvPr id="16" name="Straight Connector 15"/>
          <p:cNvCxnSpPr/>
          <p:nvPr/>
        </p:nvCxnSpPr>
        <p:spPr>
          <a:xfrm>
            <a:off x="152400" y="304800"/>
            <a:ext cx="8839200" cy="1588"/>
          </a:xfrm>
          <a:prstGeom prst="line">
            <a:avLst/>
          </a:prstGeom>
        </p:spPr>
        <p:style>
          <a:lnRef idx="3">
            <a:schemeClr val="accent2"/>
          </a:lnRef>
          <a:fillRef idx="0">
            <a:schemeClr val="accent2"/>
          </a:fillRef>
          <a:effectRef idx="2">
            <a:schemeClr val="accent2"/>
          </a:effectRef>
          <a:fontRef idx="minor">
            <a:schemeClr val="tx1"/>
          </a:fontRef>
        </p:style>
      </p:cxnSp>
      <p:cxnSp>
        <p:nvCxnSpPr>
          <p:cNvPr id="17" name="Straight Connector 16"/>
          <p:cNvCxnSpPr/>
          <p:nvPr/>
        </p:nvCxnSpPr>
        <p:spPr>
          <a:xfrm>
            <a:off x="152400" y="6780212"/>
            <a:ext cx="8839200" cy="1588"/>
          </a:xfrm>
          <a:prstGeom prst="line">
            <a:avLst/>
          </a:prstGeom>
        </p:spPr>
        <p:style>
          <a:lnRef idx="3">
            <a:schemeClr val="accent2"/>
          </a:lnRef>
          <a:fillRef idx="0">
            <a:schemeClr val="accent2"/>
          </a:fillRef>
          <a:effectRef idx="2">
            <a:schemeClr val="accent2"/>
          </a:effectRef>
          <a:fontRef idx="minor">
            <a:schemeClr val="tx1"/>
          </a:fontRef>
        </p:style>
      </p:cxnSp>
      <p:cxnSp>
        <p:nvCxnSpPr>
          <p:cNvPr id="18" name="Straight Connector 17"/>
          <p:cNvCxnSpPr/>
          <p:nvPr/>
        </p:nvCxnSpPr>
        <p:spPr>
          <a:xfrm rot="5400000">
            <a:off x="-3123406" y="3580606"/>
            <a:ext cx="6553200" cy="1588"/>
          </a:xfrm>
          <a:prstGeom prst="line">
            <a:avLst/>
          </a:prstGeom>
        </p:spPr>
        <p:style>
          <a:lnRef idx="3">
            <a:schemeClr val="accent2"/>
          </a:lnRef>
          <a:fillRef idx="0">
            <a:schemeClr val="accent2"/>
          </a:fillRef>
          <a:effectRef idx="2">
            <a:schemeClr val="accent2"/>
          </a:effectRef>
          <a:fontRef idx="minor">
            <a:schemeClr val="tx1"/>
          </a:fontRef>
        </p:style>
      </p:cxnSp>
      <p:cxnSp>
        <p:nvCxnSpPr>
          <p:cNvPr id="19" name="Straight Connector 18"/>
          <p:cNvCxnSpPr/>
          <p:nvPr/>
        </p:nvCxnSpPr>
        <p:spPr>
          <a:xfrm rot="5400000">
            <a:off x="5752306" y="3542506"/>
            <a:ext cx="6477000" cy="1588"/>
          </a:xfrm>
          <a:prstGeom prst="line">
            <a:avLst/>
          </a:prstGeom>
        </p:spPr>
        <p:style>
          <a:lnRef idx="3">
            <a:schemeClr val="accent2"/>
          </a:lnRef>
          <a:fillRef idx="0">
            <a:schemeClr val="accent2"/>
          </a:fillRef>
          <a:effectRef idx="2">
            <a:schemeClr val="accent2"/>
          </a:effectRef>
          <a:fontRef idx="minor">
            <a:schemeClr val="tx1"/>
          </a:fontRef>
        </p:style>
      </p:cxnSp>
      <p:sp>
        <p:nvSpPr>
          <p:cNvPr id="20" name="TextBox 19"/>
          <p:cNvSpPr txBox="1"/>
          <p:nvPr/>
        </p:nvSpPr>
        <p:spPr>
          <a:xfrm>
            <a:off x="838200" y="312003"/>
            <a:ext cx="1430520" cy="830997"/>
          </a:xfrm>
          <a:prstGeom prst="rect">
            <a:avLst/>
          </a:prstGeom>
          <a:noFill/>
        </p:spPr>
        <p:txBody>
          <a:bodyPr wrap="none" rtlCol="0">
            <a:spAutoFit/>
          </a:bodyPr>
          <a:lstStyle/>
          <a:p>
            <a:r>
              <a:rPr lang="en-US" sz="2400" dirty="0" smtClean="0"/>
              <a:t>Source of </a:t>
            </a:r>
          </a:p>
          <a:p>
            <a:r>
              <a:rPr lang="en-US" sz="2400" dirty="0" smtClean="0"/>
              <a:t>problem</a:t>
            </a:r>
            <a:endParaRPr lang="en-US" sz="2400" dirty="0"/>
          </a:p>
        </p:txBody>
      </p:sp>
      <p:sp>
        <p:nvSpPr>
          <p:cNvPr id="28" name="TextBox 27"/>
          <p:cNvSpPr txBox="1"/>
          <p:nvPr/>
        </p:nvSpPr>
        <p:spPr>
          <a:xfrm>
            <a:off x="2667000" y="304800"/>
            <a:ext cx="1288814" cy="830997"/>
          </a:xfrm>
          <a:prstGeom prst="rect">
            <a:avLst/>
          </a:prstGeom>
          <a:noFill/>
        </p:spPr>
        <p:txBody>
          <a:bodyPr wrap="none" rtlCol="0">
            <a:spAutoFit/>
          </a:bodyPr>
          <a:lstStyle/>
          <a:p>
            <a:r>
              <a:rPr lang="en-US" sz="2400" dirty="0" smtClean="0"/>
              <a:t>Group </a:t>
            </a:r>
          </a:p>
          <a:p>
            <a:r>
              <a:rPr lang="en-US" sz="2400" dirty="0" smtClean="0"/>
              <a:t>Behavior</a:t>
            </a:r>
            <a:endParaRPr lang="en-US" sz="2400" dirty="0"/>
          </a:p>
        </p:txBody>
      </p:sp>
      <p:sp>
        <p:nvSpPr>
          <p:cNvPr id="29" name="TextBox 28"/>
          <p:cNvSpPr txBox="1"/>
          <p:nvPr/>
        </p:nvSpPr>
        <p:spPr>
          <a:xfrm>
            <a:off x="5257800" y="609600"/>
            <a:ext cx="1079142" cy="461665"/>
          </a:xfrm>
          <a:prstGeom prst="rect">
            <a:avLst/>
          </a:prstGeom>
          <a:noFill/>
        </p:spPr>
        <p:txBody>
          <a:bodyPr wrap="none" rtlCol="0">
            <a:spAutoFit/>
          </a:bodyPr>
          <a:lstStyle/>
          <a:p>
            <a:r>
              <a:rPr lang="en-US" sz="2400" dirty="0" smtClean="0"/>
              <a:t>Output</a:t>
            </a:r>
            <a:endParaRPr lang="en-US" sz="2400" dirty="0"/>
          </a:p>
        </p:txBody>
      </p:sp>
      <p:sp>
        <p:nvSpPr>
          <p:cNvPr id="30" name="TextBox 29"/>
          <p:cNvSpPr txBox="1"/>
          <p:nvPr/>
        </p:nvSpPr>
        <p:spPr>
          <a:xfrm>
            <a:off x="7391400" y="609600"/>
            <a:ext cx="1127103" cy="461665"/>
          </a:xfrm>
          <a:prstGeom prst="rect">
            <a:avLst/>
          </a:prstGeom>
          <a:noFill/>
        </p:spPr>
        <p:txBody>
          <a:bodyPr wrap="none" rtlCol="0">
            <a:spAutoFit/>
          </a:bodyPr>
          <a:lstStyle/>
          <a:p>
            <a:r>
              <a:rPr lang="en-US" sz="2400" dirty="0" smtClean="0"/>
              <a:t>Reward</a:t>
            </a:r>
            <a:endParaRPr lang="en-US" sz="2400" dirty="0"/>
          </a:p>
        </p:txBody>
      </p:sp>
      <p:cxnSp>
        <p:nvCxnSpPr>
          <p:cNvPr id="32" name="Straight Connector 31"/>
          <p:cNvCxnSpPr/>
          <p:nvPr/>
        </p:nvCxnSpPr>
        <p:spPr>
          <a:xfrm>
            <a:off x="685800" y="1066800"/>
            <a:ext cx="1600200" cy="1588"/>
          </a:xfrm>
          <a:prstGeom prst="line">
            <a:avLst/>
          </a:prstGeom>
        </p:spPr>
        <p:style>
          <a:lnRef idx="2">
            <a:schemeClr val="accent4"/>
          </a:lnRef>
          <a:fillRef idx="0">
            <a:schemeClr val="accent4"/>
          </a:fillRef>
          <a:effectRef idx="1">
            <a:schemeClr val="accent4"/>
          </a:effectRef>
          <a:fontRef idx="minor">
            <a:schemeClr val="tx1"/>
          </a:fontRef>
        </p:style>
      </p:cxnSp>
      <p:cxnSp>
        <p:nvCxnSpPr>
          <p:cNvPr id="33" name="Straight Connector 32"/>
          <p:cNvCxnSpPr/>
          <p:nvPr/>
        </p:nvCxnSpPr>
        <p:spPr>
          <a:xfrm>
            <a:off x="2438400" y="1065212"/>
            <a:ext cx="1600200" cy="1588"/>
          </a:xfrm>
          <a:prstGeom prst="line">
            <a:avLst/>
          </a:prstGeom>
        </p:spPr>
        <p:style>
          <a:lnRef idx="2">
            <a:schemeClr val="accent4"/>
          </a:lnRef>
          <a:fillRef idx="0">
            <a:schemeClr val="accent4"/>
          </a:fillRef>
          <a:effectRef idx="1">
            <a:schemeClr val="accent4"/>
          </a:effectRef>
          <a:fontRef idx="minor">
            <a:schemeClr val="tx1"/>
          </a:fontRef>
        </p:style>
      </p:cxnSp>
      <p:cxnSp>
        <p:nvCxnSpPr>
          <p:cNvPr id="34" name="Straight Connector 33"/>
          <p:cNvCxnSpPr/>
          <p:nvPr/>
        </p:nvCxnSpPr>
        <p:spPr>
          <a:xfrm>
            <a:off x="5105400" y="1065212"/>
            <a:ext cx="1600200" cy="1588"/>
          </a:xfrm>
          <a:prstGeom prst="line">
            <a:avLst/>
          </a:prstGeom>
        </p:spPr>
        <p:style>
          <a:lnRef idx="2">
            <a:schemeClr val="accent4"/>
          </a:lnRef>
          <a:fillRef idx="0">
            <a:schemeClr val="accent4"/>
          </a:fillRef>
          <a:effectRef idx="1">
            <a:schemeClr val="accent4"/>
          </a:effectRef>
          <a:fontRef idx="minor">
            <a:schemeClr val="tx1"/>
          </a:fontRef>
        </p:style>
      </p:cxnSp>
      <p:cxnSp>
        <p:nvCxnSpPr>
          <p:cNvPr id="35" name="Straight Connector 34"/>
          <p:cNvCxnSpPr/>
          <p:nvPr/>
        </p:nvCxnSpPr>
        <p:spPr>
          <a:xfrm>
            <a:off x="7239000" y="1066800"/>
            <a:ext cx="1600200" cy="1588"/>
          </a:xfrm>
          <a:prstGeom prst="line">
            <a:avLst/>
          </a:prstGeom>
        </p:spPr>
        <p:style>
          <a:lnRef idx="2">
            <a:schemeClr val="accent4"/>
          </a:lnRef>
          <a:fillRef idx="0">
            <a:schemeClr val="accent4"/>
          </a:fillRef>
          <a:effectRef idx="1">
            <a:schemeClr val="accent4"/>
          </a:effectRef>
          <a:fontRef idx="minor">
            <a:schemeClr val="tx1"/>
          </a:fontRef>
        </p:style>
      </p:cxnSp>
      <p:sp>
        <p:nvSpPr>
          <p:cNvPr id="36" name="TextBox 35"/>
          <p:cNvSpPr txBox="1"/>
          <p:nvPr/>
        </p:nvSpPr>
        <p:spPr>
          <a:xfrm>
            <a:off x="152400" y="1676400"/>
            <a:ext cx="228600" cy="1219200"/>
          </a:xfrm>
          <a:prstGeom prst="rect">
            <a:avLst/>
          </a:prstGeom>
          <a:noFill/>
        </p:spPr>
        <p:txBody>
          <a:bodyPr wrap="square" rtlCol="0">
            <a:spAutoFit/>
          </a:bodyPr>
          <a:lstStyle/>
          <a:p>
            <a:r>
              <a:rPr lang="en-US" dirty="0" smtClean="0"/>
              <a:t>Task</a:t>
            </a:r>
            <a:endParaRPr lang="en-US" dirty="0"/>
          </a:p>
        </p:txBody>
      </p:sp>
      <p:sp>
        <p:nvSpPr>
          <p:cNvPr id="37" name="TextBox 36"/>
          <p:cNvSpPr txBox="1"/>
          <p:nvPr/>
        </p:nvSpPr>
        <p:spPr>
          <a:xfrm>
            <a:off x="228600" y="4495800"/>
            <a:ext cx="228600" cy="1752600"/>
          </a:xfrm>
          <a:prstGeom prst="rect">
            <a:avLst/>
          </a:prstGeom>
          <a:noFill/>
        </p:spPr>
        <p:txBody>
          <a:bodyPr wrap="square" rtlCol="0">
            <a:spAutoFit/>
          </a:bodyPr>
          <a:lstStyle/>
          <a:p>
            <a:r>
              <a:rPr lang="en-US" dirty="0" smtClean="0"/>
              <a:t>People</a:t>
            </a:r>
            <a:endParaRPr lang="en-US" dirty="0"/>
          </a:p>
        </p:txBody>
      </p:sp>
      <p:cxnSp>
        <p:nvCxnSpPr>
          <p:cNvPr id="41" name="Straight Arrow Connector 40"/>
          <p:cNvCxnSpPr/>
          <p:nvPr/>
        </p:nvCxnSpPr>
        <p:spPr>
          <a:xfrm rot="5400000">
            <a:off x="6172200" y="2438400"/>
            <a:ext cx="7620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a:off x="5638800" y="2057400"/>
            <a:ext cx="12192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p:nvPr/>
        </p:nvCxnSpPr>
        <p:spPr>
          <a:xfrm>
            <a:off x="2438400" y="2286000"/>
            <a:ext cx="502738"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05601" y="2895600"/>
            <a:ext cx="1066800" cy="923330"/>
          </a:xfrm>
          <a:prstGeom prst="rect">
            <a:avLst/>
          </a:prstGeom>
          <a:solidFill>
            <a:srgbClr val="92D050"/>
          </a:solidFill>
        </p:spPr>
        <p:txBody>
          <a:bodyPr wrap="square" rtlCol="0">
            <a:spAutoFit/>
          </a:bodyPr>
          <a:lstStyle/>
          <a:p>
            <a:r>
              <a:rPr lang="en-US" dirty="0" smtClean="0"/>
              <a:t>Group </a:t>
            </a:r>
          </a:p>
          <a:p>
            <a:r>
              <a:rPr lang="en-US" dirty="0" smtClean="0"/>
              <a:t>Production</a:t>
            </a:r>
            <a:endParaRPr lang="en-US" dirty="0"/>
          </a:p>
        </p:txBody>
      </p:sp>
      <p:cxnSp>
        <p:nvCxnSpPr>
          <p:cNvPr id="64" name="Straight Arrow Connector 63"/>
          <p:cNvCxnSpPr/>
          <p:nvPr/>
        </p:nvCxnSpPr>
        <p:spPr>
          <a:xfrm>
            <a:off x="228600" y="5334000"/>
            <a:ext cx="3810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p:nvPr/>
        </p:nvCxnSpPr>
        <p:spPr>
          <a:xfrm>
            <a:off x="2819400" y="2438400"/>
            <a:ext cx="152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819400" y="5029200"/>
            <a:ext cx="152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94" name="Straight Connector 93"/>
          <p:cNvCxnSpPr/>
          <p:nvPr/>
        </p:nvCxnSpPr>
        <p:spPr>
          <a:xfrm>
            <a:off x="3657600" y="3124200"/>
            <a:ext cx="762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4191000" y="3810000"/>
            <a:ext cx="228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rot="5400000">
            <a:off x="6438106" y="4229100"/>
            <a:ext cx="4801394" cy="7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5" name="Straight Connector 114"/>
          <p:cNvCxnSpPr/>
          <p:nvPr/>
        </p:nvCxnSpPr>
        <p:spPr>
          <a:xfrm>
            <a:off x="2667000" y="6629400"/>
            <a:ext cx="6172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18" name="Straight Connector 117"/>
          <p:cNvCxnSpPr/>
          <p:nvPr/>
        </p:nvCxnSpPr>
        <p:spPr>
          <a:xfrm rot="5400000">
            <a:off x="1104900" y="5067300"/>
            <a:ext cx="3124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8686800" y="1819366"/>
            <a:ext cx="152400" cy="9434"/>
          </a:xfrm>
          <a:prstGeom prst="line">
            <a:avLst/>
          </a:prstGeom>
        </p:spPr>
        <p:style>
          <a:lnRef idx="2">
            <a:schemeClr val="accent1"/>
          </a:lnRef>
          <a:fillRef idx="0">
            <a:schemeClr val="accent1"/>
          </a:fillRef>
          <a:effectRef idx="1">
            <a:schemeClr val="accent1"/>
          </a:effectRef>
          <a:fontRef idx="minor">
            <a:schemeClr val="tx1"/>
          </a:fontRef>
        </p:style>
      </p:cxnSp>
      <p:cxnSp>
        <p:nvCxnSpPr>
          <p:cNvPr id="150" name="Straight Connector 149"/>
          <p:cNvCxnSpPr/>
          <p:nvPr/>
        </p:nvCxnSpPr>
        <p:spPr>
          <a:xfrm rot="5400000">
            <a:off x="1105694" y="5066506"/>
            <a:ext cx="3124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1" name="Straight Arrow Connector 150"/>
          <p:cNvCxnSpPr/>
          <p:nvPr/>
        </p:nvCxnSpPr>
        <p:spPr>
          <a:xfrm>
            <a:off x="228600" y="2286000"/>
            <a:ext cx="3810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2" name="Straight Arrow Connector 151"/>
          <p:cNvCxnSpPr/>
          <p:nvPr/>
        </p:nvCxnSpPr>
        <p:spPr>
          <a:xfrm flipV="1">
            <a:off x="2590800" y="5562600"/>
            <a:ext cx="381000" cy="72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3" name="Straight Arrow Connector 152"/>
          <p:cNvCxnSpPr/>
          <p:nvPr/>
        </p:nvCxnSpPr>
        <p:spPr>
          <a:xfrm>
            <a:off x="5181600" y="5257800"/>
            <a:ext cx="16764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4" name="Straight Connector 153"/>
          <p:cNvCxnSpPr/>
          <p:nvPr/>
        </p:nvCxnSpPr>
        <p:spPr>
          <a:xfrm rot="5400000">
            <a:off x="3695701" y="4229099"/>
            <a:ext cx="838200" cy="2"/>
          </a:xfrm>
          <a:prstGeom prst="line">
            <a:avLst/>
          </a:prstGeom>
        </p:spPr>
        <p:style>
          <a:lnRef idx="2">
            <a:schemeClr val="accent1"/>
          </a:lnRef>
          <a:fillRef idx="0">
            <a:schemeClr val="accent1"/>
          </a:fillRef>
          <a:effectRef idx="1">
            <a:schemeClr val="accent1"/>
          </a:effectRef>
          <a:fontRef idx="minor">
            <a:schemeClr val="tx1"/>
          </a:fontRef>
        </p:style>
      </p:cxnSp>
      <p:cxnSp>
        <p:nvCxnSpPr>
          <p:cNvPr id="155" name="Straight Connector 154"/>
          <p:cNvCxnSpPr/>
          <p:nvPr/>
        </p:nvCxnSpPr>
        <p:spPr>
          <a:xfrm rot="5400000">
            <a:off x="2819400" y="3886200"/>
            <a:ext cx="1524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6" name="Straight Connector 155"/>
          <p:cNvCxnSpPr/>
          <p:nvPr/>
        </p:nvCxnSpPr>
        <p:spPr>
          <a:xfrm>
            <a:off x="3581400" y="3124200"/>
            <a:ext cx="762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7" name="Straight Connector 156"/>
          <p:cNvCxnSpPr/>
          <p:nvPr/>
        </p:nvCxnSpPr>
        <p:spPr>
          <a:xfrm>
            <a:off x="4114800" y="3810000"/>
            <a:ext cx="228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8" name="Straight Connector 157"/>
          <p:cNvCxnSpPr/>
          <p:nvPr/>
        </p:nvCxnSpPr>
        <p:spPr>
          <a:xfrm rot="5400000">
            <a:off x="494903" y="3836945"/>
            <a:ext cx="1905000" cy="7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59" name="Straight Arrow Connector 158"/>
          <p:cNvCxnSpPr/>
          <p:nvPr/>
        </p:nvCxnSpPr>
        <p:spPr>
          <a:xfrm>
            <a:off x="2667000" y="3505200"/>
            <a:ext cx="1524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0" name="Straight Connector 159"/>
          <p:cNvCxnSpPr/>
          <p:nvPr/>
        </p:nvCxnSpPr>
        <p:spPr>
          <a:xfrm rot="5400000">
            <a:off x="1523205" y="3733006"/>
            <a:ext cx="2591594" cy="794"/>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60198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Wingdings 2"/>
              <a:buChar char="z"/>
            </a:pPr>
            <a:r>
              <a:rPr lang="en-US" sz="2700" b="1" dirty="0" smtClean="0"/>
              <a:t>Thayer’s Organizational Model</a:t>
            </a:r>
          </a:p>
          <a:p>
            <a:pPr algn="just">
              <a:buNone/>
            </a:pPr>
            <a:r>
              <a:rPr lang="en-US" sz="2700" dirty="0" smtClean="0"/>
              <a:t>     Thayer emphasizes upon individual communication efforts within the large organizational communication setting.</a:t>
            </a:r>
          </a:p>
          <a:p>
            <a:pPr algn="just">
              <a:buFont typeface="Wingdings 3"/>
              <a:buChar char=""/>
            </a:pPr>
            <a:r>
              <a:rPr lang="en-US" sz="2700" dirty="0" smtClean="0">
                <a:sym typeface="Wingdings 3"/>
              </a:rPr>
              <a:t>It is </a:t>
            </a:r>
            <a:r>
              <a:rPr lang="en-US" sz="2700" b="1" dirty="0" smtClean="0">
                <a:sym typeface="Wingdings 3"/>
              </a:rPr>
              <a:t>based on levels</a:t>
            </a:r>
            <a:r>
              <a:rPr lang="en-US" sz="2700" dirty="0" smtClean="0">
                <a:sym typeface="Wingdings 3"/>
              </a:rPr>
              <a:t> of communication. The levels are</a:t>
            </a:r>
          </a:p>
          <a:p>
            <a:pPr algn="just">
              <a:buNone/>
            </a:pPr>
            <a:r>
              <a:rPr lang="en-US" sz="2700" dirty="0" smtClean="0">
                <a:sym typeface="Wingdings 3"/>
              </a:rPr>
              <a:t>    (</a:t>
            </a:r>
            <a:r>
              <a:rPr lang="en-US" sz="2700" dirty="0" err="1" smtClean="0">
                <a:sym typeface="Wingdings 3"/>
              </a:rPr>
              <a:t>i</a:t>
            </a:r>
            <a:r>
              <a:rPr lang="en-US" sz="2700" dirty="0" smtClean="0">
                <a:sym typeface="Wingdings 3"/>
              </a:rPr>
              <a:t>) </a:t>
            </a:r>
            <a:r>
              <a:rPr lang="en-US" sz="2700" i="1" dirty="0" smtClean="0">
                <a:sym typeface="Wingdings 3"/>
              </a:rPr>
              <a:t>Organizational</a:t>
            </a:r>
          </a:p>
          <a:p>
            <a:pPr algn="just">
              <a:buNone/>
            </a:pPr>
            <a:r>
              <a:rPr lang="en-US" sz="2700" dirty="0" smtClean="0">
                <a:sym typeface="Wingdings 3"/>
              </a:rPr>
              <a:t>    (ii) </a:t>
            </a:r>
            <a:r>
              <a:rPr lang="en-US" sz="2700" i="1" dirty="0" smtClean="0">
                <a:sym typeface="Wingdings 3"/>
              </a:rPr>
              <a:t>Interpersonal</a:t>
            </a:r>
          </a:p>
          <a:p>
            <a:pPr algn="just">
              <a:buNone/>
            </a:pPr>
            <a:r>
              <a:rPr lang="en-US" sz="2700" dirty="0" smtClean="0">
                <a:sym typeface="Wingdings 3"/>
              </a:rPr>
              <a:t>    (iii) </a:t>
            </a:r>
            <a:r>
              <a:rPr lang="en-US" sz="2700" i="1" dirty="0" smtClean="0">
                <a:sym typeface="Wingdings 3"/>
              </a:rPr>
              <a:t>Intrapersonal</a:t>
            </a:r>
          </a:p>
          <a:p>
            <a:pPr algn="just">
              <a:buNone/>
            </a:pPr>
            <a:r>
              <a:rPr lang="en-US" sz="2700" dirty="0" smtClean="0">
                <a:sym typeface="Wingdings 3"/>
              </a:rPr>
              <a:t>    (iv) </a:t>
            </a:r>
            <a:r>
              <a:rPr lang="en-US" sz="2700" i="1" dirty="0" smtClean="0">
                <a:sym typeface="Wingdings 3"/>
              </a:rPr>
              <a:t>Technological</a:t>
            </a:r>
            <a:r>
              <a:rPr lang="en-US" sz="2700" dirty="0" smtClean="0">
                <a:sym typeface="Wingdings 3"/>
              </a:rPr>
              <a:t> which are derived from four basic sources or determinates of human communication behavior. </a:t>
            </a:r>
          </a:p>
          <a:p>
            <a:pPr algn="just">
              <a:buNone/>
            </a:pPr>
            <a:r>
              <a:rPr lang="en-US" sz="2700" dirty="0" smtClean="0">
                <a:sym typeface="Wingdings 3"/>
              </a:rPr>
              <a:t> The </a:t>
            </a:r>
            <a:r>
              <a:rPr lang="en-US" sz="2700" b="1" dirty="0" smtClean="0">
                <a:sym typeface="Wingdings 3"/>
              </a:rPr>
              <a:t>basic sources </a:t>
            </a:r>
            <a:r>
              <a:rPr lang="en-US" sz="2700" dirty="0" smtClean="0">
                <a:sym typeface="Wingdings 3"/>
              </a:rPr>
              <a:t>are:</a:t>
            </a:r>
          </a:p>
          <a:p>
            <a:pPr algn="just">
              <a:buNone/>
            </a:pPr>
            <a:r>
              <a:rPr lang="en-US" sz="2700" dirty="0" smtClean="0">
                <a:sym typeface="Wingdings 3"/>
              </a:rPr>
              <a:t>     </a:t>
            </a:r>
            <a:r>
              <a:rPr lang="en-US" sz="2700" i="1" dirty="0" smtClean="0">
                <a:sym typeface="Wingdings 3"/>
              </a:rPr>
              <a:t>physiological, psychological, sociological, technical</a:t>
            </a:r>
            <a:endParaRPr lang="en-US" sz="2700" i="1" dirty="0" smtClean="0"/>
          </a:p>
          <a:p>
            <a:pPr algn="just">
              <a:buNone/>
            </a:pPr>
            <a:endParaRPr lang="en-US" sz="2700" dirty="0"/>
          </a:p>
        </p:txBody>
      </p:sp>
      <p:sp>
        <p:nvSpPr>
          <p:cNvPr id="4" name="Title 1"/>
          <p:cNvSpPr txBox="1">
            <a:spLocks/>
          </p:cNvSpPr>
          <p:nvPr/>
        </p:nvSpPr>
        <p:spPr>
          <a:xfrm>
            <a:off x="445168" y="152400"/>
            <a:ext cx="5410200" cy="487362"/>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Types of Communication Models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a:xfrm>
            <a:off x="152400" y="228600"/>
            <a:ext cx="8991600" cy="6324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p:cNvSpPr/>
          <p:nvPr/>
        </p:nvSpPr>
        <p:spPr>
          <a:xfrm rot="10800000">
            <a:off x="1828800" y="762000"/>
            <a:ext cx="4267200" cy="3657600"/>
          </a:xfrm>
          <a:prstGeom prst="triangle">
            <a:avLst>
              <a:gd name="adj" fmla="val 5023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ym typeface="Wingdings 3"/>
              </a:rPr>
              <a:t></a:t>
            </a:r>
            <a:endParaRPr lang="en-US" dirty="0"/>
          </a:p>
        </p:txBody>
      </p:sp>
      <p:sp>
        <p:nvSpPr>
          <p:cNvPr id="5" name="Rectangle 4"/>
          <p:cNvSpPr/>
          <p:nvPr/>
        </p:nvSpPr>
        <p:spPr>
          <a:xfrm>
            <a:off x="1066800" y="1371600"/>
            <a:ext cx="5673969" cy="7000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a:off x="6760284" y="1600200"/>
            <a:ext cx="3810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6248400" y="2286000"/>
            <a:ext cx="3810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5715000" y="3124200"/>
            <a:ext cx="3810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162800" y="1367135"/>
            <a:ext cx="1981200" cy="461665"/>
          </a:xfrm>
          <a:prstGeom prst="rect">
            <a:avLst/>
          </a:prstGeom>
          <a:solidFill>
            <a:schemeClr val="accent2">
              <a:lumMod val="40000"/>
              <a:lumOff val="60000"/>
            </a:schemeClr>
          </a:solidFill>
        </p:spPr>
        <p:txBody>
          <a:bodyPr wrap="square" rtlCol="0">
            <a:spAutoFit/>
          </a:bodyPr>
          <a:lstStyle/>
          <a:p>
            <a:r>
              <a:rPr lang="en-US" sz="2400" dirty="0" smtClean="0"/>
              <a:t>Organizational</a:t>
            </a:r>
            <a:endParaRPr lang="en-US" sz="2400" dirty="0"/>
          </a:p>
        </p:txBody>
      </p:sp>
      <p:sp>
        <p:nvSpPr>
          <p:cNvPr id="14" name="TextBox 13"/>
          <p:cNvSpPr txBox="1"/>
          <p:nvPr/>
        </p:nvSpPr>
        <p:spPr>
          <a:xfrm>
            <a:off x="6629400" y="2057400"/>
            <a:ext cx="1861151" cy="461665"/>
          </a:xfrm>
          <a:prstGeom prst="rect">
            <a:avLst/>
          </a:prstGeom>
          <a:solidFill>
            <a:schemeClr val="tx2">
              <a:lumMod val="40000"/>
              <a:lumOff val="60000"/>
            </a:schemeClr>
          </a:solidFill>
        </p:spPr>
        <p:txBody>
          <a:bodyPr wrap="none" rtlCol="0">
            <a:spAutoFit/>
          </a:bodyPr>
          <a:lstStyle/>
          <a:p>
            <a:r>
              <a:rPr lang="en-US" sz="2400" dirty="0" smtClean="0"/>
              <a:t>Interpersonal</a:t>
            </a:r>
            <a:endParaRPr lang="en-US" sz="2400" dirty="0"/>
          </a:p>
        </p:txBody>
      </p:sp>
      <p:sp>
        <p:nvSpPr>
          <p:cNvPr id="15" name="TextBox 14"/>
          <p:cNvSpPr txBox="1"/>
          <p:nvPr/>
        </p:nvSpPr>
        <p:spPr>
          <a:xfrm>
            <a:off x="6096000" y="2895600"/>
            <a:ext cx="1851789" cy="461665"/>
          </a:xfrm>
          <a:prstGeom prst="rect">
            <a:avLst/>
          </a:prstGeom>
          <a:solidFill>
            <a:schemeClr val="bg2">
              <a:lumMod val="90000"/>
            </a:schemeClr>
          </a:solidFill>
        </p:spPr>
        <p:txBody>
          <a:bodyPr wrap="none" rtlCol="0">
            <a:spAutoFit/>
          </a:bodyPr>
          <a:lstStyle/>
          <a:p>
            <a:r>
              <a:rPr lang="en-US" sz="2400" dirty="0" smtClean="0"/>
              <a:t>Intrapersonal</a:t>
            </a:r>
            <a:endParaRPr lang="en-US" sz="2400" dirty="0"/>
          </a:p>
        </p:txBody>
      </p:sp>
      <p:cxnSp>
        <p:nvCxnSpPr>
          <p:cNvPr id="18" name="Straight Connector 17"/>
          <p:cNvCxnSpPr/>
          <p:nvPr/>
        </p:nvCxnSpPr>
        <p:spPr>
          <a:xfrm rot="10800000">
            <a:off x="914400" y="4419600"/>
            <a:ext cx="1905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a:off x="-877094" y="2628900"/>
            <a:ext cx="3582194" cy="794"/>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2209800" y="4419600"/>
            <a:ext cx="17526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rot="5400000">
            <a:off x="5524103" y="2933303"/>
            <a:ext cx="381000" cy="794"/>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a:off x="914400" y="838200"/>
            <a:ext cx="902748"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04800" y="3657600"/>
            <a:ext cx="2057400" cy="461665"/>
          </a:xfrm>
          <a:prstGeom prst="rect">
            <a:avLst/>
          </a:prstGeom>
          <a:solidFill>
            <a:schemeClr val="accent3">
              <a:lumMod val="60000"/>
              <a:lumOff val="40000"/>
            </a:schemeClr>
          </a:solidFill>
        </p:spPr>
        <p:txBody>
          <a:bodyPr wrap="square" rtlCol="0">
            <a:spAutoFit/>
          </a:bodyPr>
          <a:lstStyle/>
          <a:p>
            <a:r>
              <a:rPr lang="en-US" sz="2400" dirty="0" smtClean="0"/>
              <a:t>Technological</a:t>
            </a:r>
            <a:endParaRPr lang="en-US" sz="2400" dirty="0"/>
          </a:p>
        </p:txBody>
      </p:sp>
      <p:sp>
        <p:nvSpPr>
          <p:cNvPr id="22" name="Rectangle 21"/>
          <p:cNvSpPr/>
          <p:nvPr/>
        </p:nvSpPr>
        <p:spPr>
          <a:xfrm>
            <a:off x="1592952" y="665194"/>
            <a:ext cx="388248" cy="369332"/>
          </a:xfrm>
          <a:prstGeom prst="rect">
            <a:avLst/>
          </a:prstGeom>
        </p:spPr>
        <p:txBody>
          <a:bodyPr wrap="none">
            <a:spAutoFit/>
          </a:bodyPr>
          <a:lstStyle/>
          <a:p>
            <a:r>
              <a:rPr lang="en-US" dirty="0" smtClean="0">
                <a:sym typeface="Wingdings 3"/>
              </a:rPr>
              <a:t></a:t>
            </a:r>
            <a:endParaRPr lang="en-US" dirty="0"/>
          </a:p>
        </p:txBody>
      </p:sp>
      <p:sp>
        <p:nvSpPr>
          <p:cNvPr id="23" name="Rectangle 22"/>
          <p:cNvSpPr/>
          <p:nvPr/>
        </p:nvSpPr>
        <p:spPr>
          <a:xfrm>
            <a:off x="794274" y="1524000"/>
            <a:ext cx="388248" cy="369332"/>
          </a:xfrm>
          <a:prstGeom prst="rect">
            <a:avLst/>
          </a:prstGeom>
        </p:spPr>
        <p:txBody>
          <a:bodyPr wrap="none">
            <a:spAutoFit/>
          </a:bodyPr>
          <a:lstStyle/>
          <a:p>
            <a:r>
              <a:rPr lang="en-US" dirty="0" smtClean="0">
                <a:sym typeface="Wingdings 3"/>
              </a:rPr>
              <a:t></a:t>
            </a:r>
            <a:endParaRPr lang="en-US" dirty="0"/>
          </a:p>
        </p:txBody>
      </p:sp>
      <p:sp>
        <p:nvSpPr>
          <p:cNvPr id="24" name="Rectangle 23"/>
          <p:cNvSpPr/>
          <p:nvPr/>
        </p:nvSpPr>
        <p:spPr>
          <a:xfrm>
            <a:off x="3669186" y="4245700"/>
            <a:ext cx="388248" cy="369332"/>
          </a:xfrm>
          <a:prstGeom prst="rect">
            <a:avLst/>
          </a:prstGeom>
        </p:spPr>
        <p:txBody>
          <a:bodyPr wrap="none">
            <a:spAutoFit/>
          </a:bodyPr>
          <a:lstStyle/>
          <a:p>
            <a:r>
              <a:rPr lang="en-US" dirty="0" smtClean="0">
                <a:sym typeface="Wingdings 3"/>
              </a:rPr>
              <a:t></a:t>
            </a:r>
            <a:endParaRPr lang="en-US" dirty="0"/>
          </a:p>
        </p:txBody>
      </p:sp>
      <p:sp>
        <p:nvSpPr>
          <p:cNvPr id="25" name="Rectangle 24"/>
          <p:cNvSpPr/>
          <p:nvPr/>
        </p:nvSpPr>
        <p:spPr>
          <a:xfrm>
            <a:off x="6886602" y="1449604"/>
            <a:ext cx="388248" cy="369332"/>
          </a:xfrm>
          <a:prstGeom prst="rect">
            <a:avLst/>
          </a:prstGeom>
        </p:spPr>
        <p:txBody>
          <a:bodyPr wrap="none">
            <a:spAutoFit/>
          </a:bodyPr>
          <a:lstStyle/>
          <a:p>
            <a:r>
              <a:rPr lang="en-US" dirty="0" smtClean="0">
                <a:sym typeface="Wingdings 3"/>
              </a:rPr>
              <a:t></a:t>
            </a:r>
            <a:endParaRPr lang="en-US" dirty="0"/>
          </a:p>
        </p:txBody>
      </p:sp>
      <p:sp>
        <p:nvSpPr>
          <p:cNvPr id="26" name="Rectangle 25"/>
          <p:cNvSpPr/>
          <p:nvPr/>
        </p:nvSpPr>
        <p:spPr>
          <a:xfrm>
            <a:off x="6351414" y="2112084"/>
            <a:ext cx="388248" cy="369332"/>
          </a:xfrm>
          <a:prstGeom prst="rect">
            <a:avLst/>
          </a:prstGeom>
        </p:spPr>
        <p:txBody>
          <a:bodyPr wrap="none">
            <a:spAutoFit/>
          </a:bodyPr>
          <a:lstStyle/>
          <a:p>
            <a:r>
              <a:rPr lang="en-US" dirty="0" smtClean="0">
                <a:sym typeface="Wingdings 3"/>
              </a:rPr>
              <a:t></a:t>
            </a:r>
            <a:endParaRPr lang="en-US" dirty="0"/>
          </a:p>
        </p:txBody>
      </p:sp>
      <p:sp>
        <p:nvSpPr>
          <p:cNvPr id="27" name="Rectangle 26"/>
          <p:cNvSpPr/>
          <p:nvPr/>
        </p:nvSpPr>
        <p:spPr>
          <a:xfrm>
            <a:off x="5835954" y="2938632"/>
            <a:ext cx="388248" cy="369332"/>
          </a:xfrm>
          <a:prstGeom prst="rect">
            <a:avLst/>
          </a:prstGeom>
        </p:spPr>
        <p:txBody>
          <a:bodyPr wrap="none">
            <a:spAutoFit/>
          </a:bodyPr>
          <a:lstStyle/>
          <a:p>
            <a:r>
              <a:rPr lang="en-US" dirty="0" smtClean="0">
                <a:sym typeface="Wingdings 3"/>
              </a:rPr>
              <a:t></a:t>
            </a:r>
            <a:endParaRPr lang="en-US" dirty="0"/>
          </a:p>
        </p:txBody>
      </p:sp>
      <p:sp>
        <p:nvSpPr>
          <p:cNvPr id="6" name="Rectangle 5"/>
          <p:cNvSpPr/>
          <p:nvPr/>
        </p:nvSpPr>
        <p:spPr>
          <a:xfrm>
            <a:off x="1447800" y="1752600"/>
            <a:ext cx="4835769" cy="6334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62200" y="2209800"/>
            <a:ext cx="3352800" cy="533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1828800" y="5867400"/>
            <a:ext cx="4819717" cy="523220"/>
          </a:xfrm>
          <a:prstGeom prst="rect">
            <a:avLst/>
          </a:prstGeom>
          <a:solidFill>
            <a:schemeClr val="accent5">
              <a:lumMod val="20000"/>
              <a:lumOff val="80000"/>
            </a:schemeClr>
          </a:solidFill>
        </p:spPr>
        <p:txBody>
          <a:bodyPr wrap="none" rtlCol="0">
            <a:spAutoFit/>
          </a:bodyPr>
          <a:lstStyle/>
          <a:p>
            <a:pPr algn="ctr"/>
            <a:r>
              <a:rPr lang="en-US" sz="2800" dirty="0" smtClean="0"/>
              <a:t>Thayer’s Communication Model</a:t>
            </a:r>
            <a:endParaRPr 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7244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Wingdings 2"/>
              <a:buChar char="{"/>
            </a:pPr>
            <a:r>
              <a:rPr lang="en-US" sz="2800" b="1" dirty="0" err="1" smtClean="0">
                <a:sym typeface="Wingdings 2"/>
              </a:rPr>
              <a:t>Wenburg</a:t>
            </a:r>
            <a:r>
              <a:rPr lang="en-US" sz="2800" b="1" dirty="0" smtClean="0">
                <a:sym typeface="Wingdings 2"/>
              </a:rPr>
              <a:t> and Wilmot’s Transactional Model</a:t>
            </a:r>
          </a:p>
          <a:p>
            <a:pPr algn="just">
              <a:buNone/>
            </a:pPr>
            <a:r>
              <a:rPr lang="en-US" sz="2800" dirty="0" smtClean="0">
                <a:sym typeface="Wingdings 2"/>
              </a:rPr>
              <a:t>     The transaction model represents the communication as a process of simultaneous message exchange. According to </a:t>
            </a:r>
            <a:r>
              <a:rPr lang="en-US" sz="2800" dirty="0" err="1" smtClean="0">
                <a:sym typeface="Wingdings 2"/>
              </a:rPr>
              <a:t>Wenburg</a:t>
            </a:r>
            <a:r>
              <a:rPr lang="en-US" sz="2800" dirty="0" smtClean="0">
                <a:sym typeface="Wingdings 2"/>
              </a:rPr>
              <a:t> and Wilmot, “ All persons are engaged in sending (encoding) and receiving (decoding) messages simultaneously. Each person is constantly sharing in the encoding and decoding process and each person is affecting the others.”</a:t>
            </a:r>
          </a:p>
          <a:p>
            <a:pPr algn="just">
              <a:buNone/>
            </a:pPr>
            <a:r>
              <a:rPr lang="en-US" sz="2800" dirty="0" smtClean="0">
                <a:sym typeface="Wingdings 2"/>
              </a:rPr>
              <a:t> </a:t>
            </a:r>
          </a:p>
          <a:p>
            <a:pPr algn="just">
              <a:buNone/>
            </a:pPr>
            <a:endParaRPr lang="en-US" sz="2800" dirty="0"/>
          </a:p>
        </p:txBody>
      </p:sp>
      <p:sp>
        <p:nvSpPr>
          <p:cNvPr id="4" name="Title 1"/>
          <p:cNvSpPr txBox="1">
            <a:spLocks/>
          </p:cNvSpPr>
          <p:nvPr/>
        </p:nvSpPr>
        <p:spPr>
          <a:xfrm>
            <a:off x="457200" y="350838"/>
            <a:ext cx="5638800" cy="487362"/>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Types of Communication Models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3810000"/>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3"/>
              <a:buChar char=""/>
            </a:pPr>
            <a:r>
              <a:rPr lang="en-US" sz="2800" dirty="0" smtClean="0">
                <a:sym typeface="Wingdings 3"/>
              </a:rPr>
              <a:t>The transactional model emphasizes the idea that  communication is mutual as well as reciprocal.</a:t>
            </a:r>
          </a:p>
          <a:p>
            <a:pPr algn="just">
              <a:buFont typeface="Wingdings 3"/>
              <a:buChar char=""/>
            </a:pPr>
            <a:r>
              <a:rPr lang="en-US" sz="2800" dirty="0" smtClean="0">
                <a:sym typeface="Wingdings 3"/>
              </a:rPr>
              <a:t>The transaction model is most appropriately used in situation where face-to-face communication occurs through speech and various non-verbal behavior.</a:t>
            </a:r>
            <a:endParaRPr lang="en-US" sz="2800" dirty="0" smtClean="0"/>
          </a:p>
          <a:p>
            <a:endParaRPr lang="en-US" sz="2800" dirty="0"/>
          </a:p>
        </p:txBody>
      </p:sp>
      <p:sp>
        <p:nvSpPr>
          <p:cNvPr id="4" name="Title 1"/>
          <p:cNvSpPr txBox="1">
            <a:spLocks/>
          </p:cNvSpPr>
          <p:nvPr/>
        </p:nvSpPr>
        <p:spPr>
          <a:xfrm>
            <a:off x="609600" y="350838"/>
            <a:ext cx="5638800" cy="487362"/>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Types of Communication Models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457200" y="685800"/>
            <a:ext cx="8458200" cy="5791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Content Placeholder 2"/>
          <p:cNvSpPr>
            <a:spLocks noGrp="1"/>
          </p:cNvSpPr>
          <p:nvPr>
            <p:ph idx="1"/>
          </p:nvPr>
        </p:nvSpPr>
        <p:spPr>
          <a:xfrm>
            <a:off x="457200" y="4572000"/>
            <a:ext cx="8229600" cy="1981200"/>
          </a:xfrm>
        </p:spPr>
        <p:txBody>
          <a:bodyPr>
            <a:normAutofit/>
          </a:bodyPr>
          <a:lstStyle/>
          <a:p>
            <a:pPr>
              <a:buNone/>
            </a:pPr>
            <a:r>
              <a:rPr lang="en-US" sz="2600" dirty="0" smtClean="0">
                <a:sym typeface="Wingdings 3"/>
              </a:rPr>
              <a:t> </a:t>
            </a:r>
            <a:r>
              <a:rPr lang="en-US" sz="2800" dirty="0" smtClean="0">
                <a:sym typeface="Wingdings 3"/>
              </a:rPr>
              <a:t>In the transactional model, communication takes place without sharp distinction between the source and receiver roles. A person occupies both roles at the some time. </a:t>
            </a:r>
            <a:endParaRPr lang="en-US" sz="2800" dirty="0"/>
          </a:p>
        </p:txBody>
      </p:sp>
      <p:sp>
        <p:nvSpPr>
          <p:cNvPr id="4" name="Title 1"/>
          <p:cNvSpPr txBox="1">
            <a:spLocks/>
          </p:cNvSpPr>
          <p:nvPr/>
        </p:nvSpPr>
        <p:spPr>
          <a:xfrm>
            <a:off x="457200" y="152400"/>
            <a:ext cx="5105400" cy="4873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smtClean="0">
                <a:ln>
                  <a:noFill/>
                </a:ln>
                <a:solidFill>
                  <a:schemeClr val="tx1"/>
                </a:solidFill>
                <a:effectLst/>
                <a:uLnTx/>
                <a:uFillTx/>
                <a:latin typeface="+mj-lt"/>
                <a:ea typeface="+mj-ea"/>
                <a:cs typeface="+mj-cs"/>
              </a:rPr>
              <a:t>Types of Communication Models</a:t>
            </a:r>
            <a:endParaRPr kumimoji="0" lang="en-US" sz="32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Oval 4"/>
          <p:cNvSpPr/>
          <p:nvPr/>
        </p:nvSpPr>
        <p:spPr>
          <a:xfrm>
            <a:off x="609600" y="1143000"/>
            <a:ext cx="2590800" cy="2667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Sender</a:t>
            </a:r>
          </a:p>
          <a:p>
            <a:pPr algn="ctr"/>
            <a:r>
              <a:rPr lang="en-US" sz="2400" dirty="0" smtClean="0">
                <a:solidFill>
                  <a:schemeClr val="tx1"/>
                </a:solidFill>
              </a:rPr>
              <a:t> encoding</a:t>
            </a:r>
          </a:p>
          <a:p>
            <a:pPr algn="ctr"/>
            <a:r>
              <a:rPr lang="en-US" sz="2400" dirty="0" smtClean="0">
                <a:solidFill>
                  <a:schemeClr val="tx1"/>
                </a:solidFill>
              </a:rPr>
              <a:t>Decoding Receiver</a:t>
            </a:r>
          </a:p>
          <a:p>
            <a:pPr algn="ctr"/>
            <a:endParaRPr lang="en-US" sz="2400" dirty="0"/>
          </a:p>
        </p:txBody>
      </p:sp>
      <p:sp>
        <p:nvSpPr>
          <p:cNvPr id="7" name="Oval 6"/>
          <p:cNvSpPr/>
          <p:nvPr/>
        </p:nvSpPr>
        <p:spPr>
          <a:xfrm>
            <a:off x="6248400" y="1143000"/>
            <a:ext cx="2590800" cy="2667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Receiver decoding</a:t>
            </a:r>
          </a:p>
          <a:p>
            <a:pPr algn="ctr"/>
            <a:r>
              <a:rPr lang="en-US" sz="2400" dirty="0" smtClean="0">
                <a:solidFill>
                  <a:schemeClr val="tx1"/>
                </a:solidFill>
              </a:rPr>
              <a:t>Encoding </a:t>
            </a:r>
          </a:p>
          <a:p>
            <a:pPr algn="ctr"/>
            <a:r>
              <a:rPr lang="en-US" sz="2400" dirty="0" smtClean="0">
                <a:solidFill>
                  <a:schemeClr val="tx1"/>
                </a:solidFill>
              </a:rPr>
              <a:t>Sender</a:t>
            </a:r>
            <a:endParaRPr lang="en-US" sz="2400" dirty="0">
              <a:solidFill>
                <a:schemeClr val="tx1"/>
              </a:solidFill>
            </a:endParaRPr>
          </a:p>
        </p:txBody>
      </p:sp>
      <p:cxnSp>
        <p:nvCxnSpPr>
          <p:cNvPr id="9" name="Straight Connector 8"/>
          <p:cNvCxnSpPr/>
          <p:nvPr/>
        </p:nvCxnSpPr>
        <p:spPr>
          <a:xfrm>
            <a:off x="1828800" y="760412"/>
            <a:ext cx="5715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5400000">
            <a:off x="1638697" y="952103"/>
            <a:ext cx="381000" cy="794"/>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rot="5400000">
            <a:off x="7353697" y="952103"/>
            <a:ext cx="381000" cy="794"/>
          </a:xfrm>
          <a:prstGeom prst="line">
            <a:avLst/>
          </a:prstGeom>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344450" y="926068"/>
            <a:ext cx="389850" cy="369332"/>
          </a:xfrm>
          <a:prstGeom prst="rect">
            <a:avLst/>
          </a:prstGeom>
        </p:spPr>
        <p:txBody>
          <a:bodyPr wrap="none">
            <a:spAutoFit/>
          </a:bodyPr>
          <a:lstStyle/>
          <a:p>
            <a:r>
              <a:rPr lang="en-US" dirty="0" smtClean="0">
                <a:sym typeface="Wingdings 3"/>
              </a:rPr>
              <a:t></a:t>
            </a:r>
            <a:endParaRPr lang="en-US" dirty="0"/>
          </a:p>
        </p:txBody>
      </p:sp>
      <p:cxnSp>
        <p:nvCxnSpPr>
          <p:cNvPr id="27" name="Straight Connector 26"/>
          <p:cNvCxnSpPr/>
          <p:nvPr/>
        </p:nvCxnSpPr>
        <p:spPr>
          <a:xfrm>
            <a:off x="1828800" y="4189412"/>
            <a:ext cx="5715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rot="5400000">
            <a:off x="1637903" y="4000103"/>
            <a:ext cx="381000" cy="794"/>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rot="5400000">
            <a:off x="7353697" y="4000103"/>
            <a:ext cx="381000" cy="794"/>
          </a:xfrm>
          <a:prstGeom prst="line">
            <a:avLst/>
          </a:prstGeom>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rot="10800000">
            <a:off x="1640114" y="3681186"/>
            <a:ext cx="389850" cy="369332"/>
          </a:xfrm>
          <a:prstGeom prst="rect">
            <a:avLst/>
          </a:prstGeom>
        </p:spPr>
        <p:txBody>
          <a:bodyPr wrap="none">
            <a:spAutoFit/>
          </a:bodyPr>
          <a:lstStyle/>
          <a:p>
            <a:r>
              <a:rPr lang="en-US" dirty="0" smtClean="0">
                <a:sym typeface="Wingdings 3"/>
              </a:rPr>
              <a:t></a:t>
            </a:r>
            <a:endParaRPr lang="en-US" dirty="0"/>
          </a:p>
        </p:txBody>
      </p:sp>
      <p:cxnSp>
        <p:nvCxnSpPr>
          <p:cNvPr id="32" name="Straight Connector 31"/>
          <p:cNvCxnSpPr/>
          <p:nvPr/>
        </p:nvCxnSpPr>
        <p:spPr>
          <a:xfrm>
            <a:off x="3200400" y="2360612"/>
            <a:ext cx="6858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5257800" y="2362200"/>
            <a:ext cx="762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092955" y="2133600"/>
            <a:ext cx="1241045" cy="461665"/>
          </a:xfrm>
          <a:prstGeom prst="rect">
            <a:avLst/>
          </a:prstGeom>
          <a:noFill/>
        </p:spPr>
        <p:txBody>
          <a:bodyPr wrap="none" rtlCol="0">
            <a:spAutoFit/>
          </a:bodyPr>
          <a:lstStyle/>
          <a:p>
            <a:r>
              <a:rPr lang="en-US" sz="2400" dirty="0" smtClean="0"/>
              <a:t>Medium</a:t>
            </a:r>
            <a:endParaRPr lang="en-US" sz="2400" dirty="0"/>
          </a:p>
        </p:txBody>
      </p:sp>
      <p:sp>
        <p:nvSpPr>
          <p:cNvPr id="38" name="Rectangle 37"/>
          <p:cNvSpPr/>
          <p:nvPr/>
        </p:nvSpPr>
        <p:spPr>
          <a:xfrm>
            <a:off x="3746500" y="2183368"/>
            <a:ext cx="442750" cy="369332"/>
          </a:xfrm>
          <a:prstGeom prst="rect">
            <a:avLst/>
          </a:prstGeom>
        </p:spPr>
        <p:txBody>
          <a:bodyPr wrap="none">
            <a:spAutoFit/>
          </a:bodyPr>
          <a:lstStyle/>
          <a:p>
            <a:r>
              <a:rPr lang="en-US" dirty="0" smtClean="0">
                <a:sym typeface="Wingdings 3"/>
              </a:rPr>
              <a:t> </a:t>
            </a:r>
            <a:endParaRPr lang="en-US" dirty="0"/>
          </a:p>
        </p:txBody>
      </p:sp>
      <p:sp>
        <p:nvSpPr>
          <p:cNvPr id="39" name="Rectangle 38"/>
          <p:cNvSpPr/>
          <p:nvPr/>
        </p:nvSpPr>
        <p:spPr>
          <a:xfrm>
            <a:off x="5883950" y="2186214"/>
            <a:ext cx="389850" cy="369332"/>
          </a:xfrm>
          <a:prstGeom prst="rect">
            <a:avLst/>
          </a:prstGeom>
        </p:spPr>
        <p:txBody>
          <a:bodyPr wrap="none">
            <a:spAutoFit/>
          </a:bodyPr>
          <a:lstStyle/>
          <a:p>
            <a:r>
              <a:rPr lang="en-US" dirty="0" smtClean="0">
                <a:sym typeface="Wingdings 3"/>
              </a:rPr>
              <a:t></a:t>
            </a:r>
            <a:endParaRPr lang="en-US" dirty="0"/>
          </a:p>
        </p:txBody>
      </p:sp>
      <p:sp>
        <p:nvSpPr>
          <p:cNvPr id="40" name="TextBox 39"/>
          <p:cNvSpPr txBox="1"/>
          <p:nvPr/>
        </p:nvSpPr>
        <p:spPr>
          <a:xfrm>
            <a:off x="3962400" y="3729335"/>
            <a:ext cx="1505861" cy="461665"/>
          </a:xfrm>
          <a:prstGeom prst="rect">
            <a:avLst/>
          </a:prstGeom>
          <a:noFill/>
        </p:spPr>
        <p:txBody>
          <a:bodyPr wrap="none" rtlCol="0">
            <a:spAutoFit/>
          </a:bodyPr>
          <a:lstStyle/>
          <a:p>
            <a:r>
              <a:rPr lang="en-US" sz="2400" dirty="0" smtClean="0"/>
              <a:t>(feedback)</a:t>
            </a:r>
            <a:endParaRPr lang="en-US" sz="2400" dirty="0"/>
          </a:p>
        </p:txBody>
      </p:sp>
      <p:sp>
        <p:nvSpPr>
          <p:cNvPr id="41" name="TextBox 40"/>
          <p:cNvSpPr txBox="1"/>
          <p:nvPr/>
        </p:nvSpPr>
        <p:spPr>
          <a:xfrm>
            <a:off x="4049033" y="4191000"/>
            <a:ext cx="1284967" cy="461665"/>
          </a:xfrm>
          <a:prstGeom prst="rect">
            <a:avLst/>
          </a:prstGeom>
          <a:noFill/>
        </p:spPr>
        <p:txBody>
          <a:bodyPr wrap="none" rtlCol="0">
            <a:spAutoFit/>
          </a:bodyPr>
          <a:lstStyle/>
          <a:p>
            <a:r>
              <a:rPr lang="en-US" sz="2400" dirty="0" smtClean="0"/>
              <a:t>Message</a:t>
            </a:r>
            <a:endParaRPr lang="en-US"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6934200" cy="609600"/>
          </a:xfrm>
          <a:solidFill>
            <a:schemeClr val="accent1">
              <a:lumMod val="20000"/>
              <a:lumOff val="80000"/>
            </a:schemeClr>
          </a:solidFill>
          <a:ln>
            <a:solidFill>
              <a:schemeClr val="accent1"/>
            </a:solidFill>
          </a:ln>
        </p:spPr>
        <p:txBody>
          <a:bodyPr>
            <a:noAutofit/>
          </a:bodyPr>
          <a:lstStyle/>
          <a:p>
            <a:r>
              <a:rPr lang="en-US" sz="3000" dirty="0" smtClean="0"/>
              <a:t>Most Acceptable Communication Model</a:t>
            </a:r>
            <a:endParaRPr lang="en-US" sz="3000" dirty="0"/>
          </a:p>
        </p:txBody>
      </p:sp>
      <p:sp>
        <p:nvSpPr>
          <p:cNvPr id="3" name="Content Placeholder 2"/>
          <p:cNvSpPr>
            <a:spLocks noGrp="1"/>
          </p:cNvSpPr>
          <p:nvPr>
            <p:ph idx="1"/>
          </p:nvPr>
        </p:nvSpPr>
        <p:spPr>
          <a:xfrm>
            <a:off x="457200" y="1371600"/>
            <a:ext cx="8229600" cy="4876800"/>
          </a:xfrm>
        </p:spPr>
        <p:style>
          <a:lnRef idx="2">
            <a:schemeClr val="accent1"/>
          </a:lnRef>
          <a:fillRef idx="1">
            <a:schemeClr val="lt1"/>
          </a:fillRef>
          <a:effectRef idx="0">
            <a:schemeClr val="accent1"/>
          </a:effectRef>
          <a:fontRef idx="minor">
            <a:schemeClr val="dk1"/>
          </a:fontRef>
        </p:style>
        <p:txBody>
          <a:bodyPr>
            <a:normAutofit/>
          </a:bodyPr>
          <a:lstStyle/>
          <a:p>
            <a:pPr algn="just">
              <a:buNone/>
            </a:pPr>
            <a:r>
              <a:rPr lang="en-US" sz="2800" dirty="0" smtClean="0">
                <a:sym typeface="Wingdings 2"/>
              </a:rPr>
              <a:t></a:t>
            </a:r>
            <a:r>
              <a:rPr lang="en-US" sz="2800" dirty="0" smtClean="0"/>
              <a:t>From all of these models, transactional model of communication is considered to be the most acceptable on the following grounds:</a:t>
            </a:r>
          </a:p>
          <a:p>
            <a:pPr algn="just">
              <a:buNone/>
            </a:pPr>
            <a:r>
              <a:rPr lang="en-US" sz="2800" dirty="0" smtClean="0">
                <a:sym typeface="Wingdings 3"/>
              </a:rPr>
              <a:t> It brings fulfillment in communication process because all the elements of communication process are present here.</a:t>
            </a:r>
          </a:p>
          <a:p>
            <a:pPr algn="just">
              <a:buFont typeface="Wingdings 3"/>
              <a:buChar char=""/>
            </a:pPr>
            <a:r>
              <a:rPr lang="en-US" sz="2800" dirty="0" smtClean="0">
                <a:sym typeface="Wingdings 3"/>
              </a:rPr>
              <a:t>Without any feedback communication is supposed to be incomplete.  The transactional model emphasizes more on feedback and therefore, gives a full view of communicational process.</a:t>
            </a:r>
          </a:p>
          <a:p>
            <a:pPr algn="just">
              <a:buFont typeface="Wingdings 3"/>
              <a:buChar char=""/>
            </a:pPr>
            <a:endParaRPr 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029200"/>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3"/>
              <a:buChar char=""/>
            </a:pPr>
            <a:r>
              <a:rPr lang="en-US" sz="2800" dirty="0" smtClean="0">
                <a:sym typeface="Wingdings 3"/>
              </a:rPr>
              <a:t>Transactional model reflects simplicity and thereby, anybody can easily understand the actual content of the message. </a:t>
            </a:r>
          </a:p>
          <a:p>
            <a:pPr algn="just">
              <a:buFont typeface="Wingdings 3"/>
              <a:buChar char=""/>
            </a:pPr>
            <a:r>
              <a:rPr lang="en-US" sz="2800" dirty="0" smtClean="0">
                <a:sym typeface="Wingdings 3"/>
              </a:rPr>
              <a:t>Obtaining the concise and complete information through exchanging the message between the sender and the receiver under transactional model, the decision making task is very simple.</a:t>
            </a:r>
          </a:p>
          <a:p>
            <a:endParaRPr lang="en-US" sz="2800" dirty="0"/>
          </a:p>
        </p:txBody>
      </p:sp>
      <p:sp>
        <p:nvSpPr>
          <p:cNvPr id="5" name="Title 1"/>
          <p:cNvSpPr txBox="1">
            <a:spLocks/>
          </p:cNvSpPr>
          <p:nvPr/>
        </p:nvSpPr>
        <p:spPr>
          <a:xfrm>
            <a:off x="457200" y="381000"/>
            <a:ext cx="6934200" cy="609600"/>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Most Acceptable Communication Model</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descr="F:\Mahbuba\Moni\Characters\27.jpeg"/>
          <p:cNvPicPr>
            <a:picLocks noChangeAspect="1" noChangeArrowheads="1"/>
          </p:cNvPicPr>
          <p:nvPr/>
        </p:nvPicPr>
        <p:blipFill>
          <a:blip r:embed="rId2"/>
          <a:srcRect/>
          <a:stretch>
            <a:fillRect/>
          </a:stretch>
        </p:blipFill>
        <p:spPr bwMode="auto">
          <a:xfrm>
            <a:off x="5305425" y="4114800"/>
            <a:ext cx="3228975" cy="2418614"/>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20000"/>
              <a:lumOff val="80000"/>
            </a:schemeClr>
          </a:solidFill>
          <a:ln>
            <a:solidFill>
              <a:schemeClr val="accent1"/>
            </a:solidFill>
          </a:ln>
        </p:spPr>
        <p:txBody>
          <a:bodyPr>
            <a:normAutofit/>
          </a:bodyPr>
          <a:lstStyle/>
          <a:p>
            <a:r>
              <a:rPr lang="en-US" sz="3200" dirty="0" smtClean="0"/>
              <a:t>Difference between the process and Model of communication</a:t>
            </a:r>
            <a:endParaRPr lang="en-US" sz="3200" dirty="0"/>
          </a:p>
        </p:txBody>
      </p:sp>
      <p:sp>
        <p:nvSpPr>
          <p:cNvPr id="6" name="Content Placeholder 5"/>
          <p:cNvSpPr>
            <a:spLocks noGrp="1"/>
          </p:cNvSpPr>
          <p:nvPr>
            <p:ph idx="1"/>
          </p:nvPr>
        </p:nvSpPr>
        <p:spPr>
          <a:xfrm>
            <a:off x="457200" y="1600200"/>
            <a:ext cx="8229600" cy="46482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Wingdings 3"/>
              <a:buChar char=""/>
            </a:pPr>
            <a:r>
              <a:rPr lang="en-US" sz="2800" dirty="0" smtClean="0"/>
              <a:t>The communication process and communicational model both represent how communication works at individual and organizational life.</a:t>
            </a:r>
          </a:p>
          <a:p>
            <a:pPr algn="just">
              <a:buFont typeface="Wingdings 3"/>
              <a:buChar char=""/>
            </a:pPr>
            <a:r>
              <a:rPr lang="en-US" sz="2800" dirty="0" smtClean="0"/>
              <a:t>The aspects of communication are just like the two sides of the same coin.</a:t>
            </a:r>
          </a:p>
          <a:p>
            <a:pPr algn="just">
              <a:buFont typeface="Wingdings 3"/>
              <a:buChar char=""/>
            </a:pPr>
            <a:r>
              <a:rPr lang="en-US" sz="2800" dirty="0" smtClean="0"/>
              <a:t>It may seem that, communicational model and communicational process are one and the same thing.</a:t>
            </a:r>
          </a:p>
          <a:p>
            <a:pPr algn="just">
              <a:buFont typeface="Wingdings 3"/>
              <a:buChar char=""/>
            </a:pPr>
            <a:r>
              <a:rPr lang="en-US" sz="2800" dirty="0" smtClean="0"/>
              <a:t>But in spite of having many similarities between the two, they differ from each other in some respects.</a:t>
            </a:r>
          </a:p>
          <a:p>
            <a:pPr algn="just">
              <a:buNone/>
            </a:pPr>
            <a:endParaRPr lang="en-US" sz="2800" dirty="0" smtClean="0"/>
          </a:p>
          <a:p>
            <a:pPr algn="just"/>
            <a:endParaRPr 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rot="16200000">
            <a:off x="-2819399" y="3048001"/>
            <a:ext cx="6477000" cy="685800"/>
          </a:xfrm>
          <a:solidFill>
            <a:schemeClr val="accent1">
              <a:lumMod val="20000"/>
              <a:lumOff val="80000"/>
            </a:schemeClr>
          </a:solidFill>
          <a:ln>
            <a:solidFill>
              <a:schemeClr val="accent1"/>
            </a:solidFill>
          </a:ln>
        </p:spPr>
        <p:txBody>
          <a:bodyPr>
            <a:normAutofit/>
          </a:bodyPr>
          <a:lstStyle/>
          <a:p>
            <a:r>
              <a:rPr lang="en-US" sz="3200" dirty="0" smtClean="0"/>
              <a:t>Significance of Communication Model</a:t>
            </a:r>
            <a:endParaRPr lang="en-US" sz="3200" dirty="0"/>
          </a:p>
        </p:txBody>
      </p:sp>
      <p:sp>
        <p:nvSpPr>
          <p:cNvPr id="7" name="Content Placeholder 6"/>
          <p:cNvSpPr>
            <a:spLocks noGrp="1"/>
          </p:cNvSpPr>
          <p:nvPr>
            <p:ph idx="1"/>
          </p:nvPr>
        </p:nvSpPr>
        <p:spPr>
          <a:xfrm>
            <a:off x="838200" y="228600"/>
            <a:ext cx="8229600" cy="65532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600" dirty="0" smtClean="0"/>
              <a:t> The significance of communication model can be described as under:</a:t>
            </a:r>
          </a:p>
          <a:p>
            <a:pPr algn="just">
              <a:buNone/>
            </a:pPr>
            <a:r>
              <a:rPr lang="en-US" sz="2600" dirty="0" smtClean="0">
                <a:sym typeface="Wingdings"/>
              </a:rPr>
              <a:t> It is pictorial representation of the communication process which provides complete idea regarding the message.</a:t>
            </a:r>
          </a:p>
          <a:p>
            <a:pPr algn="just">
              <a:buFont typeface="Wingdings"/>
              <a:buChar char="ð"/>
            </a:pPr>
            <a:r>
              <a:rPr lang="en-US" sz="2600" dirty="0" smtClean="0">
                <a:sym typeface="Wingdings"/>
              </a:rPr>
              <a:t>It can use the various elements of communication which may be considered as a sample for further research and investigation.</a:t>
            </a:r>
          </a:p>
          <a:p>
            <a:pPr algn="just">
              <a:buFont typeface="Wingdings"/>
              <a:buChar char="ð"/>
            </a:pPr>
            <a:r>
              <a:rPr lang="en-US" sz="2600" dirty="0" smtClean="0">
                <a:sym typeface="Wingdings"/>
              </a:rPr>
              <a:t>It represents the objectives and relevant aspects regarding the message sent and therefore creates a meaningful picture.</a:t>
            </a:r>
          </a:p>
          <a:p>
            <a:pPr algn="just">
              <a:buFont typeface="Wingdings"/>
              <a:buChar char="ð"/>
            </a:pPr>
            <a:r>
              <a:rPr lang="en-US" sz="2600" dirty="0" smtClean="0">
                <a:sym typeface="Wingdings"/>
              </a:rPr>
              <a:t>To understand the nature of inflexibility, communication model can be an effective source.</a:t>
            </a:r>
          </a:p>
          <a:p>
            <a:pPr algn="just">
              <a:buFont typeface="Wingdings"/>
              <a:buChar char="ð"/>
            </a:pPr>
            <a:r>
              <a:rPr lang="en-US" sz="2600" dirty="0" smtClean="0">
                <a:sym typeface="Wingdings"/>
              </a:rPr>
              <a:t>It helps us to measure the effectiveness of communication and also helps in decision making.</a:t>
            </a:r>
          </a:p>
          <a:p>
            <a:pPr algn="just">
              <a:buFont typeface="Wingdings"/>
              <a:buChar char="ð"/>
            </a:pPr>
            <a:endParaRPr lang="en-US" sz="2600" dirty="0" smtClean="0">
              <a:sym typeface="Wingdings"/>
            </a:endParaRPr>
          </a:p>
          <a:p>
            <a:pPr algn="just">
              <a:buFont typeface="Wingdings"/>
              <a:buChar char="ð"/>
            </a:pPr>
            <a:endParaRPr lang="en-US" sz="2600" dirty="0" smtClean="0">
              <a:sym typeface="Wingdings"/>
            </a:endParaRPr>
          </a:p>
          <a:p>
            <a:pPr algn="just">
              <a:buFont typeface="Wingdings"/>
              <a:buChar char="ð"/>
            </a:pPr>
            <a:endParaRPr lang="en-US" sz="26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6629400" cy="639762"/>
          </a:xfrm>
          <a:solidFill>
            <a:schemeClr val="accent1">
              <a:lumMod val="20000"/>
              <a:lumOff val="80000"/>
            </a:schemeClr>
          </a:solidFill>
          <a:ln>
            <a:solidFill>
              <a:schemeClr val="accent1"/>
            </a:solidFill>
          </a:ln>
        </p:spPr>
        <p:txBody>
          <a:bodyPr>
            <a:normAutofit/>
          </a:bodyPr>
          <a:lstStyle/>
          <a:p>
            <a:r>
              <a:rPr lang="en-US" sz="3000" dirty="0" smtClean="0"/>
              <a:t>Usefulness of Communicational Model</a:t>
            </a:r>
            <a:endParaRPr lang="en-US" sz="3000" dirty="0"/>
          </a:p>
        </p:txBody>
      </p:sp>
      <p:sp>
        <p:nvSpPr>
          <p:cNvPr id="3" name="Content Placeholder 2"/>
          <p:cNvSpPr>
            <a:spLocks noGrp="1"/>
          </p:cNvSpPr>
          <p:nvPr>
            <p:ph idx="1"/>
          </p:nvPr>
        </p:nvSpPr>
        <p:spPr>
          <a:xfrm>
            <a:off x="457200" y="1143000"/>
            <a:ext cx="8229600" cy="5410200"/>
          </a:xfrm>
        </p:spPr>
        <p:style>
          <a:lnRef idx="2">
            <a:schemeClr val="accent1"/>
          </a:lnRef>
          <a:fillRef idx="1">
            <a:schemeClr val="lt1"/>
          </a:fillRef>
          <a:effectRef idx="0">
            <a:schemeClr val="accent1"/>
          </a:effectRef>
          <a:fontRef idx="minor">
            <a:schemeClr val="dk1"/>
          </a:fontRef>
        </p:style>
        <p:txBody>
          <a:bodyPr>
            <a:noAutofit/>
          </a:bodyPr>
          <a:lstStyle/>
          <a:p>
            <a:pPr algn="just"/>
            <a:r>
              <a:rPr lang="en-US" sz="2800" dirty="0" smtClean="0"/>
              <a:t>A communication model shows the picture of a situation and also the diagram of the process of communication. </a:t>
            </a:r>
          </a:p>
          <a:p>
            <a:pPr algn="just">
              <a:buFont typeface="Wingdings"/>
              <a:buChar char="Ø"/>
            </a:pPr>
            <a:r>
              <a:rPr lang="en-US" sz="2800" b="1" dirty="0" smtClean="0">
                <a:sym typeface="Wingdings"/>
              </a:rPr>
              <a:t>Better understanding: </a:t>
            </a:r>
            <a:r>
              <a:rPr lang="en-US" sz="2800" dirty="0" smtClean="0">
                <a:sym typeface="Wingdings"/>
              </a:rPr>
              <a:t>as communication model is diagrammatic, we better understand the situation and process of communication with the help of a model.</a:t>
            </a:r>
          </a:p>
          <a:p>
            <a:pPr algn="just">
              <a:buFont typeface="Wingdings"/>
              <a:buChar char="Ø"/>
            </a:pPr>
            <a:r>
              <a:rPr lang="en-US" sz="2800" b="1" dirty="0" smtClean="0">
                <a:sym typeface="Wingdings"/>
              </a:rPr>
              <a:t>Quick understanding: </a:t>
            </a:r>
            <a:r>
              <a:rPr lang="en-US" sz="2800" dirty="0" smtClean="0">
                <a:sym typeface="Wingdings"/>
              </a:rPr>
              <a:t>a communication model exhibits the main elements of a communication process, so we can quickly generate an idea in our mind about the utility and effectiveness of the model at a glance.</a:t>
            </a:r>
          </a:p>
          <a:p>
            <a:pPr algn="just">
              <a:buFont typeface="Wingdings"/>
              <a:buChar char="Ø"/>
            </a:pPr>
            <a:endParaRPr 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5105400" cy="4572000"/>
          </a:xfrm>
        </p:spPr>
        <p:style>
          <a:lnRef idx="2">
            <a:schemeClr val="accent1"/>
          </a:lnRef>
          <a:fillRef idx="1">
            <a:schemeClr val="lt1"/>
          </a:fillRef>
          <a:effectRef idx="0">
            <a:schemeClr val="accent1"/>
          </a:effectRef>
          <a:fontRef idx="minor">
            <a:schemeClr val="dk1"/>
          </a:fontRef>
        </p:style>
        <p:txBody>
          <a:bodyPr>
            <a:normAutofit/>
          </a:bodyPr>
          <a:lstStyle/>
          <a:p>
            <a:r>
              <a:rPr lang="en-US" sz="2800" b="1" dirty="0" smtClean="0">
                <a:sym typeface="Wingdings"/>
              </a:rPr>
              <a:t> improvement over traditional model: </a:t>
            </a:r>
            <a:r>
              <a:rPr lang="en-US" sz="2800" dirty="0" smtClean="0">
                <a:sym typeface="Wingdings"/>
              </a:rPr>
              <a:t>traditional organizational models are not competent to fully display the ongoing flow of messages among the officers and employees. A communication model displays the horizontal channel between the people at the same level. </a:t>
            </a:r>
          </a:p>
          <a:p>
            <a:endParaRPr lang="en-US" sz="2800" dirty="0"/>
          </a:p>
        </p:txBody>
      </p:sp>
      <p:sp>
        <p:nvSpPr>
          <p:cNvPr id="4" name="Title 1"/>
          <p:cNvSpPr txBox="1">
            <a:spLocks/>
          </p:cNvSpPr>
          <p:nvPr/>
        </p:nvSpPr>
        <p:spPr>
          <a:xfrm>
            <a:off x="457200" y="685800"/>
            <a:ext cx="66294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Usefulness of Communicational Model</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descr="F:\Mahbuba\Moni\Characters\190.jpeg"/>
          <p:cNvPicPr>
            <a:picLocks noChangeAspect="1" noChangeArrowheads="1"/>
          </p:cNvPicPr>
          <p:nvPr/>
        </p:nvPicPr>
        <p:blipFill>
          <a:blip r:embed="rId2"/>
          <a:srcRect/>
          <a:stretch>
            <a:fillRect/>
          </a:stretch>
        </p:blipFill>
        <p:spPr bwMode="auto">
          <a:xfrm>
            <a:off x="5715000" y="1871730"/>
            <a:ext cx="3039341" cy="376707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486400"/>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a:buChar char="Ø"/>
            </a:pPr>
            <a:r>
              <a:rPr lang="en-US" sz="2800" b="1" dirty="0" smtClean="0">
                <a:sym typeface="Wingdings"/>
              </a:rPr>
              <a:t>Facilitating communication plan: </a:t>
            </a:r>
            <a:r>
              <a:rPr lang="en-US" sz="2800" dirty="0" smtClean="0">
                <a:sym typeface="Wingdings"/>
              </a:rPr>
              <a:t>models are used to help us plan communication efforts. If any change is brought about in the policy matters, just look at the chart, convert it to communication model, look at the media available to the organization and in the above light and draw up a plan ensuring a changed policy to everybody in the organization.</a:t>
            </a:r>
          </a:p>
          <a:p>
            <a:pPr algn="just">
              <a:buFont typeface="Wingdings"/>
              <a:buChar char="Ø"/>
            </a:pPr>
            <a:r>
              <a:rPr lang="en-US" sz="2800" b="1" dirty="0" smtClean="0">
                <a:sym typeface="Wingdings"/>
              </a:rPr>
              <a:t>Feedback facility: </a:t>
            </a:r>
            <a:r>
              <a:rPr lang="en-US" sz="2800" dirty="0" smtClean="0">
                <a:sym typeface="Wingdings"/>
              </a:rPr>
              <a:t>communication is never a one-way process. Models remind us that it is a two way process. There are always at least two people and frequently many more involved in the exchange of a message.</a:t>
            </a:r>
            <a:endParaRPr lang="en-US" sz="2800" dirty="0"/>
          </a:p>
        </p:txBody>
      </p:sp>
      <p:sp>
        <p:nvSpPr>
          <p:cNvPr id="4" name="Title 1"/>
          <p:cNvSpPr txBox="1">
            <a:spLocks/>
          </p:cNvSpPr>
          <p:nvPr/>
        </p:nvSpPr>
        <p:spPr>
          <a:xfrm>
            <a:off x="457200" y="274638"/>
            <a:ext cx="66294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Usefulness of Communicational Model</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5334000" cy="4525963"/>
          </a:xfrm>
        </p:spPr>
        <p:style>
          <a:lnRef idx="2">
            <a:schemeClr val="accent1"/>
          </a:lnRef>
          <a:fillRef idx="1">
            <a:schemeClr val="lt1"/>
          </a:fillRef>
          <a:effectRef idx="0">
            <a:schemeClr val="accent1"/>
          </a:effectRef>
          <a:fontRef idx="minor">
            <a:schemeClr val="dk1"/>
          </a:fontRef>
        </p:style>
        <p:txBody>
          <a:bodyPr>
            <a:normAutofit lnSpcReduction="10000"/>
          </a:bodyPr>
          <a:lstStyle/>
          <a:p>
            <a:pPr algn="just">
              <a:buFont typeface="Wingdings"/>
              <a:buChar char="Ø"/>
            </a:pPr>
            <a:r>
              <a:rPr lang="en-US" sz="2800" b="1" dirty="0" smtClean="0">
                <a:sym typeface="Wingdings"/>
              </a:rPr>
              <a:t>Using as a sample: </a:t>
            </a:r>
            <a:r>
              <a:rPr lang="en-US" sz="2800" dirty="0" smtClean="0">
                <a:sym typeface="Wingdings"/>
              </a:rPr>
              <a:t>since a communication model represents a pictorial statement of the elements of a communication process, a researcher while conducting research on communication process, finds I convenient to use a communication model as a sample for the purpose.</a:t>
            </a:r>
          </a:p>
          <a:p>
            <a:pPr algn="just">
              <a:buNone/>
            </a:pPr>
            <a:r>
              <a:rPr lang="en-US" sz="2800" dirty="0" smtClean="0">
                <a:sym typeface="Wingdings"/>
              </a:rPr>
              <a:t> </a:t>
            </a:r>
            <a:endParaRPr lang="en-US" sz="2800" dirty="0"/>
          </a:p>
        </p:txBody>
      </p:sp>
      <p:sp>
        <p:nvSpPr>
          <p:cNvPr id="4" name="Title 1"/>
          <p:cNvSpPr txBox="1">
            <a:spLocks/>
          </p:cNvSpPr>
          <p:nvPr/>
        </p:nvSpPr>
        <p:spPr>
          <a:xfrm>
            <a:off x="457200" y="274638"/>
            <a:ext cx="66294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smtClean="0">
                <a:ln>
                  <a:noFill/>
                </a:ln>
                <a:solidFill>
                  <a:schemeClr val="tx1"/>
                </a:solidFill>
                <a:effectLst/>
                <a:uLnTx/>
                <a:uFillTx/>
                <a:latin typeface="+mj-lt"/>
                <a:ea typeface="+mj-ea"/>
                <a:cs typeface="+mj-cs"/>
              </a:rPr>
              <a:t>Usefulness of </a:t>
            </a:r>
            <a:r>
              <a:rPr kumimoji="0" lang="en-US" sz="3000" b="0" i="0" u="none" strike="noStrike" kern="1200" cap="none" spc="0" normalizeH="0" baseline="0" noProof="0" dirty="0" smtClean="0">
                <a:ln>
                  <a:noFill/>
                </a:ln>
                <a:solidFill>
                  <a:schemeClr val="tx1"/>
                </a:solidFill>
                <a:effectLst/>
                <a:uLnTx/>
                <a:uFillTx/>
                <a:latin typeface="+mj-lt"/>
                <a:ea typeface="+mj-ea"/>
                <a:cs typeface="+mj-cs"/>
              </a:rPr>
              <a:t>Communicational</a:t>
            </a:r>
            <a:r>
              <a:rPr kumimoji="0" lang="en-US" sz="3200" b="0" i="0" u="none" strike="noStrike" kern="1200" cap="none" spc="0" normalizeH="0" baseline="0" noProof="0" dirty="0" smtClean="0">
                <a:ln>
                  <a:noFill/>
                </a:ln>
                <a:solidFill>
                  <a:schemeClr val="tx1"/>
                </a:solidFill>
                <a:effectLst/>
                <a:uLnTx/>
                <a:uFillTx/>
                <a:latin typeface="+mj-lt"/>
                <a:ea typeface="+mj-ea"/>
                <a:cs typeface="+mj-cs"/>
              </a:rPr>
              <a:t> Model</a:t>
            </a:r>
            <a:endParaRPr kumimoji="0" lang="en-US" sz="3200" b="0" i="0" u="none" strike="noStrike" kern="1200" cap="none" spc="0" normalizeH="0" baseline="0" noProof="0" dirty="0">
              <a:ln>
                <a:noFill/>
              </a:ln>
              <a:solidFill>
                <a:schemeClr val="tx1"/>
              </a:solidFill>
              <a:effectLst/>
              <a:uLnTx/>
              <a:uFillTx/>
              <a:latin typeface="+mj-lt"/>
              <a:ea typeface="+mj-ea"/>
              <a:cs typeface="+mj-cs"/>
            </a:endParaRPr>
          </a:p>
        </p:txBody>
      </p:sp>
      <p:pic>
        <p:nvPicPr>
          <p:cNvPr id="2050" name="Picture 2" descr="F:\Mahbuba\Moni\Characters\999.jpg"/>
          <p:cNvPicPr>
            <a:picLocks noChangeAspect="1" noChangeArrowheads="1"/>
          </p:cNvPicPr>
          <p:nvPr/>
        </p:nvPicPr>
        <p:blipFill>
          <a:blip r:embed="rId2"/>
          <a:srcRect/>
          <a:stretch>
            <a:fillRect/>
          </a:stretch>
        </p:blipFill>
        <p:spPr bwMode="auto">
          <a:xfrm>
            <a:off x="5943600" y="2362200"/>
            <a:ext cx="2895600" cy="2895600"/>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6400800" cy="639762"/>
          </a:xfrm>
          <a:solidFill>
            <a:schemeClr val="accent1">
              <a:lumMod val="20000"/>
              <a:lumOff val="80000"/>
            </a:schemeClr>
          </a:solidFill>
          <a:ln>
            <a:solidFill>
              <a:schemeClr val="accent1"/>
            </a:solidFill>
          </a:ln>
        </p:spPr>
        <p:txBody>
          <a:bodyPr>
            <a:normAutofit/>
          </a:bodyPr>
          <a:lstStyle/>
          <a:p>
            <a:r>
              <a:rPr lang="en-US" sz="3000" dirty="0" smtClean="0"/>
              <a:t>Limitations of communication Model</a:t>
            </a:r>
            <a:endParaRPr lang="en-US" sz="3000" dirty="0"/>
          </a:p>
        </p:txBody>
      </p:sp>
      <p:sp>
        <p:nvSpPr>
          <p:cNvPr id="3" name="Content Placeholder 2"/>
          <p:cNvSpPr>
            <a:spLocks noGrp="1"/>
          </p:cNvSpPr>
          <p:nvPr>
            <p:ph idx="1"/>
          </p:nvPr>
        </p:nvSpPr>
        <p:spPr>
          <a:xfrm>
            <a:off x="457200" y="990600"/>
            <a:ext cx="8229600" cy="5715000"/>
          </a:xfrm>
        </p:spPr>
        <p:style>
          <a:lnRef idx="2">
            <a:schemeClr val="accent1"/>
          </a:lnRef>
          <a:fillRef idx="1">
            <a:schemeClr val="lt1"/>
          </a:fillRef>
          <a:effectRef idx="0">
            <a:schemeClr val="accent1"/>
          </a:effectRef>
          <a:fontRef idx="minor">
            <a:schemeClr val="dk1"/>
          </a:fontRef>
        </p:style>
        <p:txBody>
          <a:bodyPr>
            <a:noAutofit/>
          </a:bodyPr>
          <a:lstStyle/>
          <a:p>
            <a:pPr algn="just"/>
            <a:r>
              <a:rPr lang="en-US" sz="2800" dirty="0" smtClean="0"/>
              <a:t>Communication models are useful in many ways. Still they suffer from some limitations. Among them following are important: </a:t>
            </a:r>
          </a:p>
          <a:p>
            <a:pPr algn="just">
              <a:buFont typeface="Wingdings"/>
              <a:buChar char="ð"/>
            </a:pPr>
            <a:r>
              <a:rPr lang="en-US" sz="2800" b="1" dirty="0" smtClean="0">
                <a:sym typeface="Wingdings"/>
              </a:rPr>
              <a:t>Details of a message are absent: </a:t>
            </a:r>
            <a:r>
              <a:rPr lang="en-US" sz="2800" dirty="0" smtClean="0">
                <a:sym typeface="Wingdings"/>
              </a:rPr>
              <a:t>A model is a symbolic representation of a communication process. Details of a message are not available in a model which hinders to reach a sound decision.</a:t>
            </a:r>
          </a:p>
          <a:p>
            <a:pPr algn="just">
              <a:buFont typeface="Wingdings"/>
              <a:buChar char="ð"/>
            </a:pPr>
            <a:r>
              <a:rPr lang="en-US" sz="2800" b="1" dirty="0" smtClean="0">
                <a:sym typeface="Wingdings"/>
              </a:rPr>
              <a:t>Difficult to form an idea about a complete message: </a:t>
            </a:r>
            <a:r>
              <a:rPr lang="en-US" sz="2800" dirty="0" smtClean="0">
                <a:sym typeface="Wingdings"/>
              </a:rPr>
              <a:t>As a model is a symbolic representation, only very important elements are presented in it. The less important elements are not shown . It becomes very difficult to form an idea about complex message from a model.</a:t>
            </a:r>
          </a:p>
          <a:p>
            <a:pPr algn="just">
              <a:buFont typeface="Wingdings"/>
              <a:buChar char="ð"/>
            </a:pPr>
            <a:endParaRPr lang="en-US" sz="2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4102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Wingdings"/>
              <a:buChar char="ð"/>
            </a:pPr>
            <a:r>
              <a:rPr lang="en-US" sz="2800" b="1" dirty="0" smtClean="0">
                <a:sym typeface="Wingdings"/>
              </a:rPr>
              <a:t>Inflexibility cannot be presented: </a:t>
            </a:r>
            <a:r>
              <a:rPr lang="en-US" sz="2800" dirty="0" smtClean="0">
                <a:sym typeface="Wingdings"/>
              </a:rPr>
              <a:t>Communication is an ever changing process. We never know with certainty what works and what does not. This inflexibility can not be represented in a model.</a:t>
            </a:r>
          </a:p>
          <a:p>
            <a:pPr algn="just">
              <a:buFont typeface="Wingdings"/>
              <a:buChar char="ð"/>
            </a:pPr>
            <a:r>
              <a:rPr lang="en-US" sz="2800" dirty="0" smtClean="0">
                <a:sym typeface="Wingdings"/>
              </a:rPr>
              <a:t> </a:t>
            </a:r>
            <a:r>
              <a:rPr lang="en-US" sz="2800" b="1" dirty="0" smtClean="0">
                <a:sym typeface="Wingdings"/>
              </a:rPr>
              <a:t>May not be cost effective: </a:t>
            </a:r>
            <a:r>
              <a:rPr lang="en-US" sz="2800" dirty="0" smtClean="0">
                <a:sym typeface="Wingdings"/>
              </a:rPr>
              <a:t>Formulation of communication model for transmitting message requires a lot of valuable time. But the benefits may be less from the cost of application.</a:t>
            </a:r>
          </a:p>
          <a:p>
            <a:pPr algn="just">
              <a:buFont typeface="Wingdings"/>
              <a:buChar char="ð"/>
            </a:pPr>
            <a:r>
              <a:rPr lang="en-US" sz="2800" b="1" dirty="0" smtClean="0">
                <a:sym typeface="Wingdings"/>
              </a:rPr>
              <a:t>Requirement of skilled manpower may remain unfulfilled</a:t>
            </a:r>
            <a:r>
              <a:rPr lang="en-US" sz="2800" dirty="0" smtClean="0">
                <a:sym typeface="Wingdings"/>
              </a:rPr>
              <a:t>: To run the communication model properly, effective manpower is essential. But such man power may not always be available.</a:t>
            </a:r>
          </a:p>
          <a:p>
            <a:pPr algn="just">
              <a:buFont typeface="Wingdings"/>
              <a:buChar char="ð"/>
            </a:pPr>
            <a:endParaRPr lang="en-US" sz="2800" dirty="0"/>
          </a:p>
        </p:txBody>
      </p:sp>
      <p:sp>
        <p:nvSpPr>
          <p:cNvPr id="4" name="Title 1"/>
          <p:cNvSpPr txBox="1">
            <a:spLocks/>
          </p:cNvSpPr>
          <p:nvPr/>
        </p:nvSpPr>
        <p:spPr>
          <a:xfrm>
            <a:off x="457200" y="274638"/>
            <a:ext cx="64008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Limitations of communication Model</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2590800"/>
            <a:ext cx="3660169" cy="923330"/>
          </a:xfrm>
          <a:prstGeom prst="rect">
            <a:avLst/>
          </a:prstGeom>
          <a:noFill/>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defRPr/>
            </a:pPr>
            <a:r>
              <a:rPr lang="en-US" sz="5400" b="1" dirty="0">
                <a:ln/>
                <a:solidFill>
                  <a:schemeClr val="accent3"/>
                </a:solidFill>
              </a:rPr>
              <a:t>Thank You</a:t>
            </a:r>
          </a:p>
        </p:txBody>
      </p:sp>
      <p:pic>
        <p:nvPicPr>
          <p:cNvPr id="1026" name="Picture 2" descr="F:\Mahbuba\Moni\Characters\196.jpeg"/>
          <p:cNvPicPr>
            <a:picLocks noChangeAspect="1" noChangeArrowheads="1"/>
          </p:cNvPicPr>
          <p:nvPr/>
        </p:nvPicPr>
        <p:blipFill>
          <a:blip r:embed="rId2"/>
          <a:srcRect/>
          <a:stretch>
            <a:fillRect/>
          </a:stretch>
        </p:blipFill>
        <p:spPr bwMode="auto">
          <a:xfrm>
            <a:off x="5562600" y="2590800"/>
            <a:ext cx="995362" cy="995362"/>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1721</Words>
  <Application>Microsoft Office PowerPoint</Application>
  <PresentationFormat>On-screen Show (4:3)</PresentationFormat>
  <Paragraphs>200</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Algerian</vt:lpstr>
      <vt:lpstr>Arial</vt:lpstr>
      <vt:lpstr>Calibri</vt:lpstr>
      <vt:lpstr>Wingdings</vt:lpstr>
      <vt:lpstr>Wingdings 2</vt:lpstr>
      <vt:lpstr>Wingdings 3</vt:lpstr>
      <vt:lpstr>Office Theme</vt:lpstr>
      <vt:lpstr>PowerPoint Presentation</vt:lpstr>
      <vt:lpstr>Nature of Communication Model</vt:lpstr>
      <vt:lpstr>Types of Communication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Most Acceptable Communication Model</vt:lpstr>
      <vt:lpstr>PowerPoint Presentation</vt:lpstr>
      <vt:lpstr>Difference between the process and Model of communication</vt:lpstr>
      <vt:lpstr>Significance of Communication Model</vt:lpstr>
      <vt:lpstr>Usefulness of Communicational Model</vt:lpstr>
      <vt:lpstr>PowerPoint Presentation</vt:lpstr>
      <vt:lpstr>PowerPoint Presentation</vt:lpstr>
      <vt:lpstr>PowerPoint Presentation</vt:lpstr>
      <vt:lpstr>Limitations of communication Model</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Windows User</cp:lastModifiedBy>
  <cp:revision>18</cp:revision>
  <dcterms:created xsi:type="dcterms:W3CDTF">2006-08-16T00:00:00Z</dcterms:created>
  <dcterms:modified xsi:type="dcterms:W3CDTF">2019-05-13T23:14:38Z</dcterms:modified>
</cp:coreProperties>
</file>