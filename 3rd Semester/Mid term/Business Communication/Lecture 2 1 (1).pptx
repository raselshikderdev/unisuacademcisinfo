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4"/>
  </p:handoutMasterIdLst>
  <p:sldIdLst>
    <p:sldId id="256" r:id="rId2"/>
    <p:sldId id="257" r:id="rId3"/>
    <p:sldId id="258" r:id="rId4"/>
    <p:sldId id="259" r:id="rId5"/>
    <p:sldId id="260" r:id="rId6"/>
    <p:sldId id="269" r:id="rId7"/>
    <p:sldId id="261" r:id="rId8"/>
    <p:sldId id="262" r:id="rId9"/>
    <p:sldId id="263" r:id="rId10"/>
    <p:sldId id="264" r:id="rId11"/>
    <p:sldId id="265" r:id="rId12"/>
    <p:sldId id="270" r:id="rId13"/>
    <p:sldId id="266" r:id="rId14"/>
    <p:sldId id="271" r:id="rId15"/>
    <p:sldId id="267" r:id="rId16"/>
    <p:sldId id="268" r:id="rId17"/>
    <p:sldId id="273" r:id="rId18"/>
    <p:sldId id="274" r:id="rId19"/>
    <p:sldId id="275" r:id="rId20"/>
    <p:sldId id="276" r:id="rId21"/>
    <p:sldId id="277" r:id="rId22"/>
    <p:sldId id="272"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5E0DD05-5A22-47E0-BCED-2462CAA438F5}" type="datetimeFigureOut">
              <a:rPr lang="en-US" smtClean="0"/>
              <a:pPr/>
              <a:t>4/17/2019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DAE29A3-F99E-4890-BEDA-BA7E491AC0ED}"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685800"/>
            <a:ext cx="8455969" cy="1938992"/>
          </a:xfrm>
          <a:prstGeom prst="rect">
            <a:avLst/>
          </a:prstGeom>
          <a:noFill/>
        </p:spPr>
        <p:txBody>
          <a:bodyPr>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60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BUSINESS COMMUNICATION</a:t>
            </a:r>
          </a:p>
        </p:txBody>
      </p:sp>
      <p:sp>
        <p:nvSpPr>
          <p:cNvPr id="5" name="Rectangle 4"/>
          <p:cNvSpPr/>
          <p:nvPr/>
        </p:nvSpPr>
        <p:spPr>
          <a:xfrm>
            <a:off x="3008501" y="4639270"/>
            <a:ext cx="2935099" cy="923330"/>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5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BBA 2106</a:t>
            </a:r>
          </a:p>
        </p:txBody>
      </p:sp>
      <p:sp>
        <p:nvSpPr>
          <p:cNvPr id="2052" name="TextBox 6"/>
          <p:cNvSpPr txBox="1">
            <a:spLocks noChangeArrowheads="1"/>
          </p:cNvSpPr>
          <p:nvPr/>
        </p:nvSpPr>
        <p:spPr bwMode="auto">
          <a:xfrm>
            <a:off x="2743200" y="3178175"/>
            <a:ext cx="3594100" cy="708025"/>
          </a:xfrm>
          <a:prstGeom prst="rect">
            <a:avLst/>
          </a:prstGeom>
          <a:noFill/>
          <a:ln w="9525">
            <a:noFill/>
            <a:miter lim="800000"/>
            <a:headEnd/>
            <a:tailEnd/>
          </a:ln>
        </p:spPr>
        <p:txBody>
          <a:bodyPr wrap="none">
            <a:spAutoFit/>
          </a:bodyPr>
          <a:lstStyle/>
          <a:p>
            <a:pPr algn="ctr"/>
            <a:r>
              <a:rPr lang="en-US" sz="4000" b="1">
                <a:solidFill>
                  <a:srgbClr val="7030A0"/>
                </a:solidFill>
                <a:latin typeface="Algerian" pitchFamily="82" charset="0"/>
              </a:rPr>
              <a:t>INTRODUCTION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7912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defRPr/>
            </a:pPr>
            <a:r>
              <a:rPr lang="en-US" sz="2800" dirty="0" smtClean="0"/>
              <a:t>      Behind objectives of management there is an objectives. Communication is alone with some objectives in mind such as:</a:t>
            </a:r>
          </a:p>
          <a:p>
            <a:pPr marL="457200" indent="-457200" algn="just">
              <a:buFont typeface="Arial" charset="0"/>
              <a:buAutoNum type="arabicPeriod"/>
              <a:defRPr/>
            </a:pPr>
            <a:r>
              <a:rPr lang="en-US" sz="2800" b="1" dirty="0" smtClean="0">
                <a:sym typeface="Wingdings 3"/>
              </a:rPr>
              <a:t>Receiving or Passing Information:</a:t>
            </a:r>
          </a:p>
          <a:p>
            <a:pPr marL="457200" indent="-457200" algn="just">
              <a:buFont typeface="Arial" charset="0"/>
              <a:buNone/>
              <a:defRPr/>
            </a:pPr>
            <a:r>
              <a:rPr lang="en-US" sz="2800" dirty="0" smtClean="0">
                <a:sym typeface="Wingdings 3"/>
              </a:rPr>
              <a:t>      Managerial decisions are to be based on right information which may be either external or internal.</a:t>
            </a:r>
          </a:p>
          <a:p>
            <a:pPr marL="457200" indent="-457200" algn="just">
              <a:buFont typeface="Wingdings 2"/>
              <a:buChar char="©"/>
              <a:defRPr/>
            </a:pPr>
            <a:r>
              <a:rPr lang="en-US" sz="2800" b="1" dirty="0" smtClean="0">
                <a:sym typeface="Wingdings 2"/>
              </a:rPr>
              <a:t>External Information</a:t>
            </a:r>
            <a:r>
              <a:rPr lang="en-US" sz="2800" dirty="0" smtClean="0">
                <a:sym typeface="Wingdings 2"/>
              </a:rPr>
              <a:t>, being concerned with outside world, may relate to the following:</a:t>
            </a:r>
          </a:p>
          <a:p>
            <a:pPr marL="457200" indent="-457200" algn="just">
              <a:buFont typeface="Arial" charset="0"/>
              <a:buNone/>
              <a:defRPr/>
            </a:pPr>
            <a:r>
              <a:rPr lang="en-US" sz="2800" b="1" dirty="0" smtClean="0">
                <a:sym typeface="Wingdings 2"/>
              </a:rPr>
              <a:t>a). Demand for products in the market: </a:t>
            </a:r>
            <a:r>
              <a:rPr lang="en-US" sz="2800" dirty="0" smtClean="0">
                <a:sym typeface="Wingdings 2"/>
              </a:rPr>
              <a:t>Manager can not take production or marketing decision without having this information.</a:t>
            </a:r>
          </a:p>
        </p:txBody>
      </p:sp>
      <p:sp>
        <p:nvSpPr>
          <p:cNvPr id="4" name="Title 1"/>
          <p:cNvSpPr>
            <a:spLocks noGrp="1"/>
          </p:cNvSpPr>
          <p:nvPr>
            <p:ph type="title"/>
          </p:nvPr>
        </p:nvSpPr>
        <p:spPr>
          <a:xfrm>
            <a:off x="457200" y="202446"/>
            <a:ext cx="5486400" cy="487362"/>
          </a:xfrm>
          <a:solidFill>
            <a:schemeClr val="accent1">
              <a:lumMod val="20000"/>
              <a:lumOff val="80000"/>
            </a:schemeClr>
          </a:solidFill>
          <a:ln>
            <a:solidFill>
              <a:schemeClr val="accent1"/>
            </a:solidFill>
          </a:ln>
        </p:spPr>
        <p:txBody>
          <a:bodyPr>
            <a:noAutofit/>
          </a:bodyPr>
          <a:lstStyle/>
          <a:p>
            <a:pPr eaLnBrk="1" hangingPunct="1">
              <a:defRPr/>
            </a:pPr>
            <a:r>
              <a:rPr lang="en-US" sz="3000" dirty="0" smtClean="0"/>
              <a:t>Objectives of Communication</a:t>
            </a:r>
            <a:endParaRPr lang="en-US" sz="3000" dirty="0"/>
          </a:p>
        </p:txBody>
      </p:sp>
      <p:sp>
        <p:nvSpPr>
          <p:cNvPr id="5" name="Minus 4"/>
          <p:cNvSpPr/>
          <p:nvPr/>
        </p:nvSpPr>
        <p:spPr>
          <a:xfrm>
            <a:off x="533400" y="914400"/>
            <a:ext cx="381000" cy="381000"/>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p:cNvSpPr>
            <a:spLocks noGrp="1"/>
          </p:cNvSpPr>
          <p:nvPr>
            <p:ph idx="1"/>
          </p:nvPr>
        </p:nvSpPr>
        <p:spPr>
          <a:xfrm>
            <a:off x="457200" y="838200"/>
            <a:ext cx="8229600" cy="5791200"/>
          </a:xfrm>
        </p:spPr>
        <p:style>
          <a:lnRef idx="2">
            <a:schemeClr val="accent1"/>
          </a:lnRef>
          <a:fillRef idx="1">
            <a:schemeClr val="lt1"/>
          </a:fillRef>
          <a:effectRef idx="0">
            <a:schemeClr val="accent1"/>
          </a:effectRef>
          <a:fontRef idx="minor">
            <a:schemeClr val="dk1"/>
          </a:fontRef>
        </p:style>
        <p:txBody>
          <a:bodyPr>
            <a:noAutofit/>
          </a:bodyPr>
          <a:lstStyle/>
          <a:p>
            <a:pPr algn="just">
              <a:buNone/>
            </a:pPr>
            <a:r>
              <a:rPr lang="en-US" sz="2800" b="1" dirty="0" smtClean="0">
                <a:sym typeface="Wingdings 2"/>
              </a:rPr>
              <a:t>b). Strategies for competitors: </a:t>
            </a:r>
            <a:r>
              <a:rPr lang="en-US" sz="2800" dirty="0" smtClean="0">
                <a:sym typeface="Wingdings 2"/>
              </a:rPr>
              <a:t>One who is ignorant about the strategies of competitors may fail in business.</a:t>
            </a:r>
          </a:p>
          <a:p>
            <a:pPr algn="just">
              <a:buFont typeface="Arial" charset="0"/>
              <a:buNone/>
            </a:pPr>
            <a:r>
              <a:rPr lang="en-US" sz="2800" b="1" dirty="0" smtClean="0"/>
              <a:t>c). Supply of labor and raw-materials:</a:t>
            </a:r>
            <a:r>
              <a:rPr lang="en-US" sz="2800" dirty="0" smtClean="0"/>
              <a:t> A manager has to have information about the sources of supply of labor and raw material.</a:t>
            </a:r>
          </a:p>
          <a:p>
            <a:pPr algn="just">
              <a:buFont typeface="Arial" charset="0"/>
              <a:buNone/>
            </a:pPr>
            <a:r>
              <a:rPr lang="en-US" sz="2800" b="1" dirty="0" smtClean="0"/>
              <a:t>d). Government Policies: </a:t>
            </a:r>
            <a:r>
              <a:rPr lang="en-US" sz="2800" dirty="0" smtClean="0"/>
              <a:t>Ignorance about government policies may be disastrous. An importer, for example, has to know about the import policy of the government.</a:t>
            </a:r>
          </a:p>
          <a:p>
            <a:pPr algn="just">
              <a:buFont typeface="Arial" charset="0"/>
              <a:buNone/>
            </a:pPr>
            <a:r>
              <a:rPr lang="en-US" sz="2800" b="1" dirty="0" smtClean="0"/>
              <a:t>e). Technological developments: </a:t>
            </a:r>
            <a:r>
              <a:rPr lang="en-US" sz="2800" dirty="0" smtClean="0"/>
              <a:t>No business can run properly without having information about and illustration of latest technologies.</a:t>
            </a:r>
          </a:p>
        </p:txBody>
      </p:sp>
      <p:sp>
        <p:nvSpPr>
          <p:cNvPr id="4" name="Title 1"/>
          <p:cNvSpPr>
            <a:spLocks noGrp="1"/>
          </p:cNvSpPr>
          <p:nvPr>
            <p:ph type="title"/>
          </p:nvPr>
        </p:nvSpPr>
        <p:spPr>
          <a:xfrm>
            <a:off x="457200" y="122238"/>
            <a:ext cx="5486400" cy="563562"/>
          </a:xfrm>
          <a:solidFill>
            <a:schemeClr val="accent1">
              <a:lumMod val="20000"/>
              <a:lumOff val="80000"/>
            </a:schemeClr>
          </a:solidFill>
          <a:ln>
            <a:solidFill>
              <a:schemeClr val="accent1"/>
            </a:solidFill>
          </a:ln>
        </p:spPr>
        <p:txBody>
          <a:bodyPr>
            <a:noAutofit/>
          </a:bodyPr>
          <a:lstStyle/>
          <a:p>
            <a:pPr eaLnBrk="1" hangingPunct="1">
              <a:defRPr/>
            </a:pPr>
            <a:r>
              <a:rPr lang="en-US" sz="3000" dirty="0" smtClean="0"/>
              <a:t>Objectives of Communication</a:t>
            </a:r>
            <a:endParaRPr lang="en-US" sz="3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p:cNvSpPr>
            <a:spLocks noGrp="1"/>
          </p:cNvSpPr>
          <p:nvPr>
            <p:ph idx="1"/>
          </p:nvPr>
        </p:nvSpPr>
        <p:spPr>
          <a:xfrm>
            <a:off x="457200" y="838200"/>
            <a:ext cx="8229600" cy="57912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b="1" dirty="0" smtClean="0"/>
              <a:t>f). Changes in tastes and fashions: </a:t>
            </a:r>
            <a:r>
              <a:rPr lang="en-US" sz="2800" dirty="0" smtClean="0"/>
              <a:t>Information about changes in tastes and fashion help managers to keep pace with needs of market.</a:t>
            </a:r>
          </a:p>
          <a:p>
            <a:pPr algn="just">
              <a:buFont typeface="Arial" charset="0"/>
              <a:buNone/>
            </a:pPr>
            <a:r>
              <a:rPr lang="en-US" sz="2800" dirty="0" smtClean="0"/>
              <a:t>    Management has to collect such information in order to reduce uncertainty in decisions, and the dissemination of these information help to take proper decision.</a:t>
            </a:r>
          </a:p>
          <a:p>
            <a:pPr algn="just">
              <a:buFont typeface="Wingdings 2" pitchFamily="18" charset="2"/>
              <a:buChar char="©"/>
            </a:pPr>
            <a:r>
              <a:rPr lang="en-US" sz="2800" b="1" dirty="0" smtClean="0">
                <a:sym typeface="Wingdings 2" pitchFamily="18" charset="2"/>
              </a:rPr>
              <a:t>Internal Information, </a:t>
            </a:r>
            <a:r>
              <a:rPr lang="en-US" sz="2800" dirty="0" smtClean="0">
                <a:sym typeface="Wingdings 2" pitchFamily="18" charset="2"/>
              </a:rPr>
              <a:t>on the other hand, generate within the organization. They may relate to the following:</a:t>
            </a:r>
          </a:p>
          <a:p>
            <a:pPr algn="just">
              <a:buFont typeface="Arial" charset="0"/>
              <a:buNone/>
            </a:pPr>
            <a:r>
              <a:rPr lang="en-US" sz="2800" b="1" dirty="0" smtClean="0">
                <a:sym typeface="Wingdings 2" pitchFamily="18" charset="2"/>
              </a:rPr>
              <a:t>a). Job performance of employees: </a:t>
            </a:r>
            <a:r>
              <a:rPr lang="en-US" sz="2800" dirty="0" smtClean="0">
                <a:sym typeface="Wingdings 2" pitchFamily="18" charset="2"/>
              </a:rPr>
              <a:t>Information about job performance of employees is essential for managerial decisions relating to employees.</a:t>
            </a:r>
          </a:p>
        </p:txBody>
      </p:sp>
      <p:sp>
        <p:nvSpPr>
          <p:cNvPr id="4" name="Title 1"/>
          <p:cNvSpPr>
            <a:spLocks noGrp="1"/>
          </p:cNvSpPr>
          <p:nvPr>
            <p:ph type="title"/>
          </p:nvPr>
        </p:nvSpPr>
        <p:spPr>
          <a:xfrm>
            <a:off x="457200" y="274638"/>
            <a:ext cx="5181600" cy="487362"/>
          </a:xfrm>
          <a:solidFill>
            <a:schemeClr val="accent1">
              <a:lumMod val="20000"/>
              <a:lumOff val="80000"/>
            </a:schemeClr>
          </a:solidFill>
          <a:ln>
            <a:solidFill>
              <a:schemeClr val="accent1"/>
            </a:solidFill>
          </a:ln>
        </p:spPr>
        <p:txBody>
          <a:bodyPr>
            <a:noAutofit/>
          </a:bodyPr>
          <a:lstStyle/>
          <a:p>
            <a:pPr eaLnBrk="1" hangingPunct="1">
              <a:defRPr/>
            </a:pPr>
            <a:r>
              <a:rPr lang="en-US" sz="3000" dirty="0" smtClean="0"/>
              <a:t>Objectives of Communication</a:t>
            </a:r>
            <a:endParaRPr lang="en-US" sz="3000" dirty="0"/>
          </a:p>
        </p:txBody>
      </p:sp>
      <p:sp>
        <p:nvSpPr>
          <p:cNvPr id="5" name="Minus 4"/>
          <p:cNvSpPr/>
          <p:nvPr/>
        </p:nvSpPr>
        <p:spPr>
          <a:xfrm>
            <a:off x="457200" y="2286000"/>
            <a:ext cx="381000" cy="381000"/>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457200" y="1219200"/>
            <a:ext cx="8229600" cy="50292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b="1" dirty="0" smtClean="0">
                <a:sym typeface="Wingdings 2" pitchFamily="18" charset="2"/>
              </a:rPr>
              <a:t>b). Disciplinary conditions in the work place: </a:t>
            </a:r>
            <a:r>
              <a:rPr lang="en-US" sz="2800" dirty="0" smtClean="0">
                <a:sym typeface="Wingdings 2" pitchFamily="18" charset="2"/>
              </a:rPr>
              <a:t>Such information help management to take corrective actions. </a:t>
            </a:r>
          </a:p>
          <a:p>
            <a:pPr algn="just">
              <a:buFont typeface="Arial" charset="0"/>
              <a:buNone/>
            </a:pPr>
            <a:r>
              <a:rPr lang="en-US" sz="2800" b="1" dirty="0" smtClean="0">
                <a:sym typeface="Wingdings 2" pitchFamily="18" charset="2"/>
              </a:rPr>
              <a:t>c). Job Assignment: </a:t>
            </a:r>
            <a:r>
              <a:rPr lang="en-US" sz="2800" dirty="0" smtClean="0">
                <a:sym typeface="Wingdings 2" pitchFamily="18" charset="2"/>
              </a:rPr>
              <a:t>Job related proper job assignment ensure success of management.</a:t>
            </a:r>
            <a:endParaRPr lang="en-US" sz="2800" dirty="0" smtClean="0"/>
          </a:p>
          <a:p>
            <a:pPr algn="just">
              <a:buFont typeface="Arial" charset="0"/>
              <a:buNone/>
            </a:pPr>
            <a:r>
              <a:rPr lang="en-US" sz="2800" b="1" dirty="0" smtClean="0"/>
              <a:t>d). Demand for employees, raw materials, machinery and spare parts: </a:t>
            </a:r>
            <a:r>
              <a:rPr lang="en-US" sz="2800" dirty="0" smtClean="0"/>
              <a:t>These demands come from within and must be taken care of.</a:t>
            </a:r>
          </a:p>
          <a:p>
            <a:pPr algn="just">
              <a:buFont typeface="Arial" charset="0"/>
              <a:buNone/>
            </a:pPr>
            <a:r>
              <a:rPr lang="en-US" sz="2800" b="1" dirty="0" smtClean="0"/>
              <a:t>e). Need for money, etc.: </a:t>
            </a:r>
            <a:r>
              <a:rPr lang="en-US" sz="2800" dirty="0" smtClean="0"/>
              <a:t>Management has to be well aware about the need for finance and such other things.</a:t>
            </a:r>
          </a:p>
        </p:txBody>
      </p:sp>
      <p:sp>
        <p:nvSpPr>
          <p:cNvPr id="3" name="Title 1"/>
          <p:cNvSpPr>
            <a:spLocks noGrp="1"/>
          </p:cNvSpPr>
          <p:nvPr>
            <p:ph type="title"/>
          </p:nvPr>
        </p:nvSpPr>
        <p:spPr>
          <a:xfrm>
            <a:off x="457200" y="274638"/>
            <a:ext cx="5257800" cy="487362"/>
          </a:xfrm>
          <a:solidFill>
            <a:schemeClr val="accent1">
              <a:lumMod val="20000"/>
              <a:lumOff val="80000"/>
            </a:schemeClr>
          </a:solidFill>
          <a:ln>
            <a:solidFill>
              <a:schemeClr val="accent1"/>
            </a:solidFill>
          </a:ln>
        </p:spPr>
        <p:txBody>
          <a:bodyPr>
            <a:noAutofit/>
          </a:bodyPr>
          <a:lstStyle/>
          <a:p>
            <a:pPr eaLnBrk="1" hangingPunct="1">
              <a:defRPr/>
            </a:pPr>
            <a:r>
              <a:rPr lang="en-US" sz="3000" dirty="0" smtClean="0"/>
              <a:t>Objectives of Communication</a:t>
            </a:r>
            <a:endParaRPr lang="en-US" sz="3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5237"/>
            <a:ext cx="8229600" cy="4297363"/>
          </a:xfrm>
        </p:spPr>
        <p:style>
          <a:lnRef idx="2">
            <a:schemeClr val="accent1"/>
          </a:lnRef>
          <a:fillRef idx="1">
            <a:schemeClr val="lt1"/>
          </a:fillRef>
          <a:effectRef idx="0">
            <a:schemeClr val="accent1"/>
          </a:effectRef>
          <a:fontRef idx="minor">
            <a:schemeClr val="dk1"/>
          </a:fontRef>
        </p:style>
        <p:txBody>
          <a:bodyPr>
            <a:normAutofit lnSpcReduction="10000"/>
          </a:bodyPr>
          <a:lstStyle/>
          <a:p>
            <a:pPr algn="just">
              <a:buFont typeface="Arial" charset="0"/>
              <a:buNone/>
            </a:pPr>
            <a:endParaRPr lang="en-US" sz="2800" dirty="0" smtClean="0"/>
          </a:p>
          <a:p>
            <a:pPr algn="just">
              <a:buFont typeface="Wingdings" pitchFamily="2" charset="2"/>
              <a:buChar char="r"/>
            </a:pPr>
            <a:r>
              <a:rPr lang="en-US" sz="2800" i="1" dirty="0" smtClean="0"/>
              <a:t>The source of information may be:</a:t>
            </a:r>
          </a:p>
          <a:p>
            <a:pPr algn="just">
              <a:buFont typeface="Wingdings" pitchFamily="2" charset="2"/>
              <a:buChar char="ð"/>
            </a:pPr>
            <a:r>
              <a:rPr lang="en-US" sz="2800" dirty="0" smtClean="0">
                <a:sym typeface="Wingdings" pitchFamily="2" charset="2"/>
              </a:rPr>
              <a:t>Company records,</a:t>
            </a:r>
          </a:p>
          <a:p>
            <a:pPr algn="just">
              <a:buFont typeface="Wingdings" pitchFamily="2" charset="2"/>
              <a:buChar char="ð"/>
            </a:pPr>
            <a:r>
              <a:rPr lang="en-US" sz="2800" dirty="0" smtClean="0">
                <a:sym typeface="Wingdings" pitchFamily="2" charset="2"/>
              </a:rPr>
              <a:t>Library Search,</a:t>
            </a:r>
          </a:p>
          <a:p>
            <a:pPr algn="just">
              <a:buFont typeface="Wingdings" pitchFamily="2" charset="2"/>
              <a:buChar char="ð"/>
            </a:pPr>
            <a:r>
              <a:rPr lang="en-US" sz="2800" dirty="0" smtClean="0">
                <a:sym typeface="Wingdings" pitchFamily="2" charset="2"/>
              </a:rPr>
              <a:t>Observations and Interviews,</a:t>
            </a:r>
          </a:p>
          <a:p>
            <a:pPr algn="just">
              <a:buFont typeface="Wingdings" pitchFamily="2" charset="2"/>
              <a:buChar char="ð"/>
            </a:pPr>
            <a:r>
              <a:rPr lang="en-US" sz="2800" dirty="0" smtClean="0">
                <a:sym typeface="Wingdings" pitchFamily="2" charset="2"/>
              </a:rPr>
              <a:t>Mass media,</a:t>
            </a:r>
          </a:p>
          <a:p>
            <a:pPr algn="just">
              <a:buFont typeface="Wingdings" pitchFamily="2" charset="2"/>
              <a:buChar char="ð"/>
            </a:pPr>
            <a:r>
              <a:rPr lang="en-US" sz="2800" dirty="0" smtClean="0">
                <a:sym typeface="Wingdings" pitchFamily="2" charset="2"/>
              </a:rPr>
              <a:t>Meetings, workshops, and seminars,</a:t>
            </a:r>
          </a:p>
          <a:p>
            <a:pPr algn="just">
              <a:buFont typeface="Wingdings" pitchFamily="2" charset="2"/>
              <a:buChar char="ð"/>
            </a:pPr>
            <a:r>
              <a:rPr lang="en-US" sz="2800" dirty="0" smtClean="0">
                <a:sym typeface="Wingdings" pitchFamily="2" charset="2"/>
              </a:rPr>
              <a:t>Exhibitions and trade fairs,</a:t>
            </a:r>
          </a:p>
          <a:p>
            <a:pPr algn="just">
              <a:buFont typeface="Wingdings" pitchFamily="2" charset="2"/>
              <a:buChar char="ð"/>
            </a:pPr>
            <a:r>
              <a:rPr lang="en-US" sz="2800" dirty="0" smtClean="0">
                <a:sym typeface="Wingdings" pitchFamily="2" charset="2"/>
              </a:rPr>
              <a:t>Internet, etc.</a:t>
            </a:r>
          </a:p>
          <a:p>
            <a:pPr algn="just">
              <a:buFont typeface="Wingdings" pitchFamily="2" charset="2"/>
              <a:buChar char="ð"/>
            </a:pPr>
            <a:endParaRPr lang="en-US" sz="2800" dirty="0" smtClean="0"/>
          </a:p>
          <a:p>
            <a:endParaRPr lang="en-US" sz="2800" dirty="0"/>
          </a:p>
        </p:txBody>
      </p:sp>
      <p:sp>
        <p:nvSpPr>
          <p:cNvPr id="4" name="Title 1"/>
          <p:cNvSpPr txBox="1">
            <a:spLocks/>
          </p:cNvSpPr>
          <p:nvPr/>
        </p:nvSpPr>
        <p:spPr>
          <a:xfrm>
            <a:off x="457200" y="274638"/>
            <a:ext cx="5257800" cy="487362"/>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Objectives of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p:cNvSpPr>
            <a:spLocks noGrp="1"/>
          </p:cNvSpPr>
          <p:nvPr>
            <p:ph idx="1"/>
          </p:nvPr>
        </p:nvSpPr>
        <p:spPr>
          <a:xfrm>
            <a:off x="457200" y="884238"/>
            <a:ext cx="8229600" cy="5821362"/>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700" dirty="0" smtClean="0"/>
              <a:t>2</a:t>
            </a:r>
            <a:r>
              <a:rPr lang="en-US" sz="2700" b="1" dirty="0" smtClean="0"/>
              <a:t>. Giving advice to colleagues/subordinates:</a:t>
            </a:r>
          </a:p>
          <a:p>
            <a:pPr algn="just">
              <a:buFont typeface="Arial" charset="0"/>
              <a:buNone/>
            </a:pPr>
            <a:r>
              <a:rPr lang="en-US" sz="2700" dirty="0" smtClean="0"/>
              <a:t>     Advice is given in order to influence the attitudes, opinions, behavior etc. of individuals concerned. It flows order either horizontally or downwards. There are some tips to make advice effective.</a:t>
            </a:r>
          </a:p>
          <a:p>
            <a:pPr algn="just">
              <a:buFont typeface="Wingdings" pitchFamily="2" charset="2"/>
              <a:buChar char="r"/>
            </a:pPr>
            <a:r>
              <a:rPr lang="en-US" sz="2700" i="1" dirty="0" smtClean="0">
                <a:sym typeface="Wingdings" pitchFamily="2" charset="2"/>
              </a:rPr>
              <a:t>T</a:t>
            </a:r>
            <a:r>
              <a:rPr lang="en-US" sz="2700" i="1" dirty="0" smtClean="0"/>
              <a:t>ips to make advice effective:</a:t>
            </a:r>
          </a:p>
          <a:p>
            <a:pPr algn="just">
              <a:buFont typeface="Wingdings" pitchFamily="2" charset="2"/>
              <a:buChar char="ð"/>
            </a:pPr>
            <a:r>
              <a:rPr lang="en-US" sz="2700" dirty="0" smtClean="0">
                <a:sym typeface="Wingdings" pitchFamily="2" charset="2"/>
              </a:rPr>
              <a:t>It should be given in such a way that it suits the need of the recipient.</a:t>
            </a:r>
          </a:p>
          <a:p>
            <a:pPr algn="just">
              <a:buFont typeface="Wingdings" pitchFamily="2" charset="2"/>
              <a:buChar char="ð"/>
            </a:pPr>
            <a:r>
              <a:rPr lang="en-US" sz="2700" dirty="0" smtClean="0">
                <a:sym typeface="Wingdings" pitchFamily="2" charset="2"/>
              </a:rPr>
              <a:t>The advisor should be courteous and polite.</a:t>
            </a:r>
          </a:p>
          <a:p>
            <a:pPr algn="just">
              <a:buFont typeface="Wingdings" pitchFamily="2" charset="2"/>
              <a:buChar char="ð"/>
            </a:pPr>
            <a:r>
              <a:rPr lang="en-US" sz="2700" dirty="0" smtClean="0">
                <a:sym typeface="Wingdings" pitchFamily="2" charset="2"/>
              </a:rPr>
              <a:t>The advise should be given for the betterment of the staff concerned.</a:t>
            </a:r>
          </a:p>
          <a:p>
            <a:pPr algn="just">
              <a:buFont typeface="Wingdings" pitchFamily="2" charset="2"/>
              <a:buChar char="ð"/>
            </a:pPr>
            <a:r>
              <a:rPr lang="en-US" sz="2700" dirty="0" smtClean="0">
                <a:sym typeface="Wingdings" pitchFamily="2" charset="2"/>
              </a:rPr>
              <a:t>The recipient of advice should be given freedom to react.</a:t>
            </a:r>
          </a:p>
          <a:p>
            <a:pPr algn="just">
              <a:buFont typeface="Wingdings" pitchFamily="2" charset="2"/>
              <a:buChar char="ð"/>
            </a:pPr>
            <a:endParaRPr lang="en-US" sz="2700" dirty="0" smtClean="0">
              <a:sym typeface="Wingdings" pitchFamily="2" charset="2"/>
            </a:endParaRPr>
          </a:p>
          <a:p>
            <a:pPr algn="just">
              <a:buFont typeface="Wingdings" pitchFamily="2" charset="2"/>
              <a:buChar char="ð"/>
            </a:pPr>
            <a:endParaRPr lang="en-US" sz="2700" dirty="0" smtClean="0">
              <a:sym typeface="Wingdings" pitchFamily="2" charset="2"/>
            </a:endParaRPr>
          </a:p>
          <a:p>
            <a:pPr algn="just">
              <a:buFont typeface="Wingdings" pitchFamily="2" charset="2"/>
              <a:buChar char="ð"/>
            </a:pPr>
            <a:endParaRPr lang="en-US" sz="2700" dirty="0" smtClean="0"/>
          </a:p>
          <a:p>
            <a:pPr algn="just">
              <a:buFont typeface="Arial" charset="0"/>
              <a:buNone/>
            </a:pPr>
            <a:endParaRPr lang="en-US" sz="2700" dirty="0" smtClean="0"/>
          </a:p>
        </p:txBody>
      </p:sp>
      <p:sp>
        <p:nvSpPr>
          <p:cNvPr id="4" name="Title 1"/>
          <p:cNvSpPr>
            <a:spLocks noGrp="1"/>
          </p:cNvSpPr>
          <p:nvPr>
            <p:ph type="title"/>
          </p:nvPr>
        </p:nvSpPr>
        <p:spPr>
          <a:xfrm>
            <a:off x="457200" y="122238"/>
            <a:ext cx="5486400" cy="563562"/>
          </a:xfrm>
          <a:solidFill>
            <a:schemeClr val="accent1">
              <a:lumMod val="20000"/>
              <a:lumOff val="80000"/>
            </a:schemeClr>
          </a:solidFill>
          <a:ln>
            <a:solidFill>
              <a:schemeClr val="accent1"/>
            </a:solidFill>
          </a:ln>
        </p:spPr>
        <p:txBody>
          <a:bodyPr>
            <a:noAutofit/>
          </a:bodyPr>
          <a:lstStyle/>
          <a:p>
            <a:pPr eaLnBrk="1" hangingPunct="1">
              <a:defRPr/>
            </a:pPr>
            <a:r>
              <a:rPr lang="en-US" sz="3000" dirty="0" smtClean="0"/>
              <a:t>Objectives of Communication</a:t>
            </a:r>
            <a:endParaRPr lang="en-US" sz="3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p:cNvSpPr>
          <p:nvPr>
            <p:ph idx="1"/>
          </p:nvPr>
        </p:nvSpPr>
        <p:spPr>
          <a:xfrm>
            <a:off x="457200" y="1295400"/>
            <a:ext cx="8229600" cy="51054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b="1" dirty="0" smtClean="0"/>
              <a:t>3. Counseling the problem Employees:</a:t>
            </a:r>
          </a:p>
          <a:p>
            <a:pPr algn="just">
              <a:buFont typeface="Arial" charset="0"/>
              <a:buNone/>
            </a:pPr>
            <a:r>
              <a:rPr lang="en-US" sz="2800" dirty="0" smtClean="0"/>
              <a:t>     Counseling is almost similar to giving advice.</a:t>
            </a:r>
          </a:p>
          <a:p>
            <a:pPr algn="just">
              <a:buFont typeface="Arial" charset="0"/>
              <a:buNone/>
            </a:pPr>
            <a:endParaRPr lang="en-US" sz="2800" dirty="0" smtClean="0"/>
          </a:p>
          <a:p>
            <a:pPr algn="just">
              <a:buFont typeface="Arial" charset="0"/>
              <a:buNone/>
            </a:pPr>
            <a:endParaRPr lang="en-US" sz="2800" dirty="0" smtClean="0"/>
          </a:p>
          <a:p>
            <a:pPr algn="just">
              <a:buFont typeface="Arial" charset="0"/>
              <a:buNone/>
            </a:pPr>
            <a:endParaRPr lang="en-US" sz="2800" dirty="0" smtClean="0"/>
          </a:p>
          <a:p>
            <a:pPr algn="just">
              <a:buFont typeface="Arial" charset="0"/>
              <a:buNone/>
            </a:pPr>
            <a:endParaRPr lang="en-US" sz="2800" dirty="0" smtClean="0"/>
          </a:p>
          <a:p>
            <a:pPr algn="just">
              <a:buFont typeface="Arial" charset="0"/>
              <a:buNone/>
            </a:pPr>
            <a:endParaRPr lang="en-US" sz="2800" dirty="0" smtClean="0"/>
          </a:p>
          <a:p>
            <a:pPr algn="just">
              <a:buFont typeface="Arial" charset="0"/>
              <a:buNone/>
            </a:pPr>
            <a:endParaRPr lang="en-US" sz="2800" dirty="0" smtClean="0"/>
          </a:p>
          <a:p>
            <a:pPr algn="just">
              <a:buFont typeface="Arial" charset="0"/>
              <a:buNone/>
            </a:pPr>
            <a:r>
              <a:rPr lang="en-US" sz="2800" dirty="0" smtClean="0"/>
              <a:t>    In most modern industrial enterprises, therefore, industrial counselor are appointed. </a:t>
            </a:r>
          </a:p>
        </p:txBody>
      </p:sp>
      <p:sp>
        <p:nvSpPr>
          <p:cNvPr id="4" name="Title 1"/>
          <p:cNvSpPr>
            <a:spLocks noGrp="1"/>
          </p:cNvSpPr>
          <p:nvPr>
            <p:ph type="title"/>
          </p:nvPr>
        </p:nvSpPr>
        <p:spPr>
          <a:xfrm>
            <a:off x="457200" y="274638"/>
            <a:ext cx="4876800" cy="715962"/>
          </a:xfrm>
          <a:solidFill>
            <a:schemeClr val="accent1">
              <a:lumMod val="20000"/>
              <a:lumOff val="80000"/>
            </a:schemeClr>
          </a:solidFill>
          <a:ln>
            <a:solidFill>
              <a:schemeClr val="accent1"/>
            </a:solidFill>
          </a:ln>
        </p:spPr>
        <p:txBody>
          <a:bodyPr>
            <a:normAutofit/>
          </a:bodyPr>
          <a:lstStyle/>
          <a:p>
            <a:pPr eaLnBrk="1" hangingPunct="1">
              <a:defRPr/>
            </a:pPr>
            <a:r>
              <a:rPr lang="en-US" sz="3000" dirty="0" smtClean="0"/>
              <a:t>Objectives of Communication</a:t>
            </a:r>
            <a:endParaRPr lang="en-US" sz="3000" dirty="0"/>
          </a:p>
        </p:txBody>
      </p:sp>
      <p:graphicFrame>
        <p:nvGraphicFramePr>
          <p:cNvPr id="5" name="Table 4"/>
          <p:cNvGraphicFramePr>
            <a:graphicFrameLocks noGrp="1"/>
          </p:cNvGraphicFramePr>
          <p:nvPr/>
        </p:nvGraphicFramePr>
        <p:xfrm>
          <a:off x="914400" y="2407920"/>
          <a:ext cx="7162800" cy="2926080"/>
        </p:xfrm>
        <a:graphic>
          <a:graphicData uri="http://schemas.openxmlformats.org/drawingml/2006/table">
            <a:tbl>
              <a:tblPr firstRow="1" bandRow="1">
                <a:tableStyleId>{0505E3EF-67EA-436B-97B2-0124C06EBD24}</a:tableStyleId>
              </a:tblPr>
              <a:tblGrid>
                <a:gridCol w="3581400"/>
                <a:gridCol w="3581400"/>
              </a:tblGrid>
              <a:tr h="400050">
                <a:tc>
                  <a:txBody>
                    <a:bodyPr/>
                    <a:lstStyle/>
                    <a:p>
                      <a:pPr algn="ctr"/>
                      <a:r>
                        <a:rPr lang="en-US" sz="2800" dirty="0" smtClean="0">
                          <a:solidFill>
                            <a:schemeClr val="tx1"/>
                          </a:solidFill>
                        </a:rPr>
                        <a:t>Advice</a:t>
                      </a:r>
                      <a:endParaRPr lang="en-US" sz="2800" dirty="0">
                        <a:solidFill>
                          <a:schemeClr val="tx1"/>
                        </a:solidFill>
                      </a:endParaRPr>
                    </a:p>
                  </a:txBody>
                  <a:tcPr/>
                </a:tc>
                <a:tc>
                  <a:txBody>
                    <a:bodyPr/>
                    <a:lstStyle/>
                    <a:p>
                      <a:pPr algn="ctr"/>
                      <a:r>
                        <a:rPr lang="en-US" sz="2800" dirty="0" smtClean="0">
                          <a:solidFill>
                            <a:schemeClr val="tx1"/>
                          </a:solidFill>
                        </a:rPr>
                        <a:t>Counsel</a:t>
                      </a:r>
                      <a:endParaRPr lang="en-US" sz="2800" dirty="0">
                        <a:solidFill>
                          <a:schemeClr val="tx1"/>
                        </a:solidFill>
                      </a:endParaRPr>
                    </a:p>
                  </a:txBody>
                  <a:tcPr/>
                </a:tc>
              </a:tr>
              <a:tr h="400050">
                <a:tc>
                  <a:txBody>
                    <a:bodyPr/>
                    <a:lstStyle/>
                    <a:p>
                      <a:pPr algn="ctr"/>
                      <a:r>
                        <a:rPr lang="en-US" sz="2800" dirty="0" smtClean="0"/>
                        <a:t>Subjective</a:t>
                      </a:r>
                      <a:r>
                        <a:rPr lang="en-US" sz="2800" baseline="0" dirty="0" smtClean="0"/>
                        <a:t> by nature</a:t>
                      </a:r>
                      <a:endParaRPr lang="en-US" sz="2800" dirty="0"/>
                    </a:p>
                  </a:txBody>
                  <a:tcPr/>
                </a:tc>
                <a:tc>
                  <a:txBody>
                    <a:bodyPr/>
                    <a:lstStyle/>
                    <a:p>
                      <a:pPr algn="ctr"/>
                      <a:r>
                        <a:rPr lang="en-US" sz="2800" dirty="0" smtClean="0"/>
                        <a:t>Objective by nature</a:t>
                      </a:r>
                      <a:endParaRPr lang="en-US" sz="2800" dirty="0"/>
                    </a:p>
                  </a:txBody>
                  <a:tcPr/>
                </a:tc>
              </a:tr>
              <a:tr h="400050">
                <a:tc>
                  <a:txBody>
                    <a:bodyPr/>
                    <a:lstStyle/>
                    <a:p>
                      <a:pPr algn="ctr"/>
                      <a:r>
                        <a:rPr lang="en-US" sz="2800" dirty="0" smtClean="0"/>
                        <a:t>Advice has a personal touch</a:t>
                      </a:r>
                      <a:endParaRPr lang="en-US" sz="2800" dirty="0"/>
                    </a:p>
                  </a:txBody>
                  <a:tcPr/>
                </a:tc>
                <a:tc>
                  <a:txBody>
                    <a:bodyPr/>
                    <a:lstStyle/>
                    <a:p>
                      <a:pPr algn="ctr"/>
                      <a:r>
                        <a:rPr lang="en-US" sz="2800" dirty="0" smtClean="0"/>
                        <a:t>Counsel is almost professional</a:t>
                      </a:r>
                      <a:endParaRPr lang="en-US" sz="2800" dirty="0"/>
                    </a:p>
                  </a:txBody>
                  <a:tcPr/>
                </a:tc>
              </a:tr>
              <a:tr h="400050">
                <a:tc>
                  <a:txBody>
                    <a:bodyPr/>
                    <a:lstStyle/>
                    <a:p>
                      <a:pPr algn="ctr"/>
                      <a:r>
                        <a:rPr lang="en-US" sz="2800" dirty="0" smtClean="0"/>
                        <a:t>Advice may be unwelcome</a:t>
                      </a:r>
                      <a:endParaRPr lang="en-US" sz="2800" dirty="0"/>
                    </a:p>
                  </a:txBody>
                  <a:tcPr/>
                </a:tc>
                <a:tc>
                  <a:txBody>
                    <a:bodyPr/>
                    <a:lstStyle/>
                    <a:p>
                      <a:pPr algn="ctr"/>
                      <a:r>
                        <a:rPr lang="en-US" sz="2800" dirty="0" smtClean="0"/>
                        <a:t>Counsel</a:t>
                      </a:r>
                      <a:r>
                        <a:rPr lang="en-US" sz="2800" baseline="0" dirty="0" smtClean="0"/>
                        <a:t> is eagerly sought</a:t>
                      </a:r>
                      <a:endParaRPr lang="en-US" sz="2800" dirty="0"/>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457200" y="990600"/>
            <a:ext cx="8229600" cy="52578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b="1" dirty="0" smtClean="0"/>
              <a:t>4. Issuing Orders:</a:t>
            </a:r>
          </a:p>
          <a:p>
            <a:pPr algn="just">
              <a:buFont typeface="Arial" charset="0"/>
              <a:buNone/>
            </a:pPr>
            <a:r>
              <a:rPr lang="en-US" sz="2800" dirty="0" smtClean="0"/>
              <a:t>    It is a top-down approach. It is authoritative and is issued as a directive to subordinates. Orders may be of the following types:  </a:t>
            </a:r>
          </a:p>
          <a:p>
            <a:pPr algn="just">
              <a:buFont typeface="Arial" charset="0"/>
              <a:buNone/>
            </a:pPr>
            <a:r>
              <a:rPr lang="en-US" sz="2800" b="1" dirty="0" smtClean="0"/>
              <a:t>a). Written or Oral: </a:t>
            </a:r>
          </a:p>
          <a:p>
            <a:pPr algn="just">
              <a:buFont typeface="Arial" charset="0"/>
              <a:buNone/>
            </a:pPr>
            <a:r>
              <a:rPr lang="en-US" sz="2800" dirty="0" smtClean="0"/>
              <a:t>      </a:t>
            </a:r>
            <a:r>
              <a:rPr lang="en-US" sz="2800" dirty="0" smtClean="0">
                <a:sym typeface="Wingdings" pitchFamily="2" charset="2"/>
              </a:rPr>
              <a:t></a:t>
            </a:r>
            <a:r>
              <a:rPr lang="en-US" sz="2800" dirty="0" smtClean="0"/>
              <a:t>Written order is preferred when the task is repetitive and it is essential to keep a record of the order given. </a:t>
            </a:r>
          </a:p>
          <a:p>
            <a:pPr algn="just">
              <a:buFont typeface="Arial" charset="0"/>
              <a:buNone/>
            </a:pPr>
            <a:r>
              <a:rPr lang="en-US" sz="2800" dirty="0" smtClean="0"/>
              <a:t>      </a:t>
            </a:r>
            <a:r>
              <a:rPr lang="en-US" sz="2800" dirty="0" smtClean="0">
                <a:sym typeface="Wingdings" pitchFamily="2" charset="2"/>
              </a:rPr>
              <a:t></a:t>
            </a:r>
            <a:r>
              <a:rPr lang="en-US" sz="2800" dirty="0" smtClean="0"/>
              <a:t>Oral order is preferred where the job is required to be done immediately and also there is no need for maintaining any record of the order given.</a:t>
            </a:r>
          </a:p>
          <a:p>
            <a:pPr algn="just">
              <a:buFont typeface="Arial" charset="0"/>
              <a:buNone/>
            </a:pPr>
            <a:r>
              <a:rPr lang="en-US" sz="2800" dirty="0" smtClean="0"/>
              <a:t>  </a:t>
            </a:r>
          </a:p>
        </p:txBody>
      </p:sp>
      <p:sp>
        <p:nvSpPr>
          <p:cNvPr id="4" name="Title 1"/>
          <p:cNvSpPr>
            <a:spLocks noGrp="1"/>
          </p:cNvSpPr>
          <p:nvPr>
            <p:ph type="title"/>
          </p:nvPr>
        </p:nvSpPr>
        <p:spPr>
          <a:xfrm>
            <a:off x="457200" y="274638"/>
            <a:ext cx="5257800" cy="563562"/>
          </a:xfrm>
          <a:solidFill>
            <a:schemeClr val="accent1">
              <a:lumMod val="20000"/>
              <a:lumOff val="80000"/>
            </a:schemeClr>
          </a:solidFill>
          <a:ln>
            <a:solidFill>
              <a:schemeClr val="accent1"/>
            </a:solidFill>
          </a:ln>
        </p:spPr>
        <p:txBody>
          <a:bodyPr>
            <a:noAutofit/>
          </a:bodyPr>
          <a:lstStyle/>
          <a:p>
            <a:pPr eaLnBrk="1" hangingPunct="1">
              <a:defRPr/>
            </a:pPr>
            <a:r>
              <a:rPr lang="en-US" sz="3000" dirty="0" smtClean="0"/>
              <a:t>Objectives of Communication</a:t>
            </a:r>
            <a:endParaRPr lang="en-US" sz="3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a:xfrm>
            <a:off x="762000" y="304800"/>
            <a:ext cx="8229600" cy="63246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700" b="1" dirty="0" smtClean="0"/>
              <a:t>b). General and Specific: </a:t>
            </a:r>
          </a:p>
          <a:p>
            <a:pPr algn="just">
              <a:buFont typeface="Arial" charset="0"/>
              <a:buNone/>
            </a:pPr>
            <a:r>
              <a:rPr lang="en-US" sz="2700" dirty="0" smtClean="0"/>
              <a:t>      General order becomes binding for everyone of a group whereas specific order is meant for an specific individual.</a:t>
            </a:r>
          </a:p>
          <a:p>
            <a:pPr algn="just">
              <a:buFont typeface="Arial" charset="0"/>
              <a:buNone/>
            </a:pPr>
            <a:r>
              <a:rPr lang="en-US" sz="2700" b="1" dirty="0" smtClean="0"/>
              <a:t>c). Mandatory and discretionary:</a:t>
            </a:r>
          </a:p>
          <a:p>
            <a:pPr algn="just">
              <a:buFont typeface="Arial" charset="0"/>
              <a:buNone/>
            </a:pPr>
            <a:r>
              <a:rPr lang="en-US" sz="2700" dirty="0" smtClean="0"/>
              <a:t>      Mandatory orders are to be obeyed, they can’t be avoided.</a:t>
            </a:r>
          </a:p>
          <a:p>
            <a:pPr algn="just">
              <a:buFont typeface="Arial" charset="0"/>
              <a:buNone/>
            </a:pPr>
            <a:r>
              <a:rPr lang="en-US" sz="2700" dirty="0" smtClean="0"/>
              <a:t>      Discretionary orders are not compulsory on the part of the   receiver.</a:t>
            </a:r>
          </a:p>
          <a:p>
            <a:pPr algn="just">
              <a:buFont typeface="Arial" charset="0"/>
              <a:buNone/>
            </a:pPr>
            <a:r>
              <a:rPr lang="en-US" sz="2700" b="1" dirty="0" smtClean="0"/>
              <a:t>d). Procedural and Operational :</a:t>
            </a:r>
          </a:p>
          <a:p>
            <a:pPr algn="just">
              <a:buFont typeface="Arial" charset="0"/>
              <a:buNone/>
            </a:pPr>
            <a:r>
              <a:rPr lang="en-US" sz="2700" dirty="0" smtClean="0"/>
              <a:t>     Procedural orders specify procedures to be adopted in doing a job.</a:t>
            </a:r>
          </a:p>
          <a:p>
            <a:pPr algn="just">
              <a:buFont typeface="Arial" charset="0"/>
              <a:buNone/>
            </a:pPr>
            <a:r>
              <a:rPr lang="en-US" sz="2700" dirty="0" smtClean="0"/>
              <a:t>     Operational orders indicate the operation to be carried out.</a:t>
            </a:r>
          </a:p>
          <a:p>
            <a:pPr algn="just">
              <a:buFont typeface="Arial" charset="0"/>
              <a:buNone/>
            </a:pPr>
            <a:r>
              <a:rPr lang="en-US" sz="2700" dirty="0" smtClean="0"/>
              <a:t>      </a:t>
            </a:r>
          </a:p>
        </p:txBody>
      </p:sp>
      <p:sp>
        <p:nvSpPr>
          <p:cNvPr id="4" name="Title 1"/>
          <p:cNvSpPr txBox="1">
            <a:spLocks/>
          </p:cNvSpPr>
          <p:nvPr/>
        </p:nvSpPr>
        <p:spPr bwMode="auto">
          <a:xfrm rot="16200000">
            <a:off x="-2814342" y="3179303"/>
            <a:ext cx="6312568" cy="563562"/>
          </a:xfrm>
          <a:prstGeom prst="rect">
            <a:avLst/>
          </a:prstGeom>
          <a:solidFill>
            <a:schemeClr val="accent1">
              <a:lumMod val="20000"/>
              <a:lumOff val="80000"/>
            </a:schemeClr>
          </a:solidFill>
          <a:ln w="9525">
            <a:noFill/>
            <a:miter lim="800000"/>
            <a:headEnd/>
            <a:tailEnd/>
          </a:ln>
        </p:spPr>
        <p:txBody>
          <a:bodyPr anchor="ctr"/>
          <a:lstStyle/>
          <a:p>
            <a:pPr algn="ctr">
              <a:defRPr/>
            </a:pPr>
            <a:r>
              <a:rPr lang="en-US" sz="3000" dirty="0">
                <a:latin typeface="+mj-lt"/>
                <a:ea typeface="+mj-ea"/>
                <a:cs typeface="+mj-cs"/>
              </a:rPr>
              <a:t>Objectives of Communication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1"/>
          </p:nvPr>
        </p:nvSpPr>
        <p:spPr>
          <a:xfrm>
            <a:off x="457200" y="1371600"/>
            <a:ext cx="8229600" cy="49530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Wingdings" pitchFamily="2" charset="2"/>
              <a:buChar char="r"/>
            </a:pPr>
            <a:r>
              <a:rPr lang="en-US" sz="2800" i="1" dirty="0" smtClean="0">
                <a:sym typeface="Wingdings" pitchFamily="2" charset="2"/>
              </a:rPr>
              <a:t>Features of an effective order:</a:t>
            </a:r>
          </a:p>
          <a:p>
            <a:pPr algn="just">
              <a:buFont typeface="Wingdings" pitchFamily="2" charset="2"/>
              <a:buChar char="ð"/>
            </a:pPr>
            <a:r>
              <a:rPr lang="en-US" sz="2800" dirty="0" smtClean="0">
                <a:sym typeface="Wingdings" pitchFamily="2" charset="2"/>
              </a:rPr>
              <a:t>Order must be precise, complete and clear.</a:t>
            </a:r>
          </a:p>
          <a:p>
            <a:pPr algn="just">
              <a:buFont typeface="Wingdings" pitchFamily="2" charset="2"/>
              <a:buChar char="ð"/>
            </a:pPr>
            <a:r>
              <a:rPr lang="en-US" sz="2800" dirty="0" smtClean="0">
                <a:sym typeface="Wingdings" pitchFamily="2" charset="2"/>
              </a:rPr>
              <a:t>Execution of order must not be impossible.</a:t>
            </a:r>
          </a:p>
          <a:p>
            <a:pPr algn="just">
              <a:buFont typeface="Wingdings" pitchFamily="2" charset="2"/>
              <a:buChar char="ð"/>
            </a:pPr>
            <a:r>
              <a:rPr lang="en-US" sz="2800" dirty="0" smtClean="0">
                <a:sym typeface="Wingdings" pitchFamily="2" charset="2"/>
              </a:rPr>
              <a:t>Order should be given in such a way that it is accepted cordially.</a:t>
            </a:r>
          </a:p>
          <a:p>
            <a:pPr algn="just">
              <a:buFont typeface="Arial" charset="0"/>
              <a:buNone/>
            </a:pPr>
            <a:r>
              <a:rPr lang="en-US" sz="2800" b="1" dirty="0" smtClean="0">
                <a:sym typeface="Wingdings" pitchFamily="2" charset="2"/>
              </a:rPr>
              <a:t>5. To persuade:</a:t>
            </a:r>
          </a:p>
          <a:p>
            <a:pPr algn="just">
              <a:buFont typeface="Arial" charset="0"/>
              <a:buNone/>
            </a:pPr>
            <a:r>
              <a:rPr lang="en-US" sz="2800" dirty="0" smtClean="0">
                <a:sym typeface="Wingdings" pitchFamily="2" charset="2"/>
              </a:rPr>
              <a:t>     Persuasion may be thought of as an effort to influence someone for getting desired result.</a:t>
            </a:r>
          </a:p>
          <a:p>
            <a:pPr algn="just">
              <a:buFont typeface="Arial" charset="0"/>
              <a:buNone/>
            </a:pPr>
            <a:r>
              <a:rPr lang="en-US" sz="2800" dirty="0" smtClean="0">
                <a:sym typeface="Wingdings" pitchFamily="2" charset="2"/>
              </a:rPr>
              <a:t>     Persuasion is suggestive, not authoritative.</a:t>
            </a:r>
          </a:p>
          <a:p>
            <a:pPr algn="just">
              <a:buFont typeface="Arial" charset="0"/>
              <a:buNone/>
            </a:pPr>
            <a:r>
              <a:rPr lang="en-US" sz="2800" dirty="0" smtClean="0">
                <a:sym typeface="Wingdings" pitchFamily="2" charset="2"/>
              </a:rPr>
              <a:t>     </a:t>
            </a:r>
          </a:p>
        </p:txBody>
      </p:sp>
      <p:sp>
        <p:nvSpPr>
          <p:cNvPr id="4" name="Title 1"/>
          <p:cNvSpPr txBox="1">
            <a:spLocks noGrp="1"/>
          </p:cNvSpPr>
          <p:nvPr>
            <p:ph type="title"/>
          </p:nvPr>
        </p:nvSpPr>
        <p:spPr>
          <a:xfrm>
            <a:off x="457200" y="350837"/>
            <a:ext cx="5257800" cy="487363"/>
          </a:xfrm>
          <a:solidFill>
            <a:schemeClr val="accent1">
              <a:lumMod val="20000"/>
              <a:lumOff val="80000"/>
            </a:schemeClr>
          </a:solidFill>
          <a:ln>
            <a:solidFill>
              <a:schemeClr val="accent1"/>
            </a:solidFill>
          </a:ln>
        </p:spPr>
        <p:txBody>
          <a:bodyPr>
            <a:noAutofit/>
          </a:bodyPr>
          <a:lstStyle/>
          <a:p>
            <a:pPr>
              <a:defRPr/>
            </a:pPr>
            <a:r>
              <a:rPr lang="en-US" sz="3000" dirty="0"/>
              <a:t>Objectives of Communication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lgn="just">
              <a:buFont typeface="Arial" charset="0"/>
              <a:buNone/>
            </a:pPr>
            <a:r>
              <a:rPr lang="en-US" sz="2800" dirty="0" smtClean="0">
                <a:sym typeface="Wingdings" pitchFamily="2" charset="2"/>
              </a:rPr>
              <a:t>    </a:t>
            </a:r>
            <a:r>
              <a:rPr lang="en-US" sz="2800" dirty="0" smtClean="0">
                <a:sym typeface="Wingdings"/>
              </a:rPr>
              <a:t>  </a:t>
            </a:r>
            <a:r>
              <a:rPr lang="en-US" sz="2800" dirty="0" smtClean="0">
                <a:sym typeface="Wingdings" pitchFamily="2" charset="2"/>
              </a:rPr>
              <a:t>It is an art and is composed of four important steps such as-</a:t>
            </a:r>
          </a:p>
          <a:p>
            <a:pPr algn="just">
              <a:buFont typeface="Arial" charset="0"/>
              <a:buNone/>
            </a:pPr>
            <a:r>
              <a:rPr lang="en-US" sz="2800" dirty="0" smtClean="0">
                <a:sym typeface="Wingdings" pitchFamily="2" charset="2"/>
              </a:rPr>
              <a:t>        Analyzing the situation,</a:t>
            </a:r>
          </a:p>
          <a:p>
            <a:pPr algn="just">
              <a:buFont typeface="Arial" charset="0"/>
              <a:buNone/>
            </a:pPr>
            <a:r>
              <a:rPr lang="en-US" sz="2800" dirty="0" smtClean="0">
                <a:sym typeface="Wingdings" pitchFamily="2" charset="2"/>
              </a:rPr>
              <a:t>        Preparing the receiver,</a:t>
            </a:r>
          </a:p>
          <a:p>
            <a:pPr algn="just">
              <a:buFont typeface="Arial" charset="0"/>
              <a:buNone/>
            </a:pPr>
            <a:r>
              <a:rPr lang="en-US" sz="2800" dirty="0" smtClean="0">
                <a:sym typeface="Wingdings" pitchFamily="2" charset="2"/>
              </a:rPr>
              <a:t>        Delivering the message,</a:t>
            </a:r>
          </a:p>
          <a:p>
            <a:pPr algn="just">
              <a:buFont typeface="Arial" charset="0"/>
              <a:buNone/>
            </a:pPr>
            <a:r>
              <a:rPr lang="en-US" sz="2800" dirty="0" smtClean="0">
                <a:sym typeface="Wingdings" pitchFamily="2" charset="2"/>
              </a:rPr>
              <a:t>        prompting action. </a:t>
            </a:r>
          </a:p>
          <a:p>
            <a:pPr algn="just">
              <a:buFont typeface="Arial" charset="0"/>
              <a:buNone/>
            </a:pPr>
            <a:endParaRPr lang="en-US" sz="2800" dirty="0" smtClean="0">
              <a:sym typeface="Wingdings" pitchFamily="2" charset="2"/>
            </a:endParaRPr>
          </a:p>
          <a:p>
            <a:endParaRPr lang="en-US" sz="2800" dirty="0"/>
          </a:p>
        </p:txBody>
      </p:sp>
      <p:sp>
        <p:nvSpPr>
          <p:cNvPr id="4" name="Title 1"/>
          <p:cNvSpPr txBox="1">
            <a:spLocks/>
          </p:cNvSpPr>
          <p:nvPr/>
        </p:nvSpPr>
        <p:spPr>
          <a:xfrm>
            <a:off x="457200" y="350837"/>
            <a:ext cx="5257800" cy="487363"/>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Objectives of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idx="1"/>
          </p:nvPr>
        </p:nvSpPr>
        <p:spPr>
          <a:xfrm>
            <a:off x="228600" y="1295400"/>
            <a:ext cx="8686800" cy="5257800"/>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b="1" dirty="0" smtClean="0"/>
              <a:t>6. Raising Morale and Motivation:</a:t>
            </a:r>
          </a:p>
          <a:p>
            <a:pPr algn="just">
              <a:buFont typeface="Arial" charset="0"/>
              <a:buNone/>
            </a:pPr>
            <a:r>
              <a:rPr lang="en-US" sz="2800" dirty="0" smtClean="0">
                <a:sym typeface="Wingdings" pitchFamily="2" charset="2"/>
              </a:rPr>
              <a:t></a:t>
            </a:r>
            <a:r>
              <a:rPr lang="en-US" sz="2800" dirty="0" smtClean="0"/>
              <a:t>Moral indicates mental health.</a:t>
            </a:r>
          </a:p>
          <a:p>
            <a:pPr algn="just">
              <a:buFont typeface="Arial" charset="0"/>
              <a:buNone/>
            </a:pPr>
            <a:r>
              <a:rPr lang="en-US" sz="2800" dirty="0" smtClean="0">
                <a:sym typeface="Wingdings" pitchFamily="2" charset="2"/>
              </a:rPr>
              <a:t> </a:t>
            </a:r>
            <a:r>
              <a:rPr lang="en-US" sz="2800" dirty="0" smtClean="0"/>
              <a:t>Motivation stands for an inner urge of individual to put to the  maximum efforts to attain the goal.</a:t>
            </a:r>
          </a:p>
          <a:p>
            <a:pPr algn="just">
              <a:buFont typeface="Arial" charset="0"/>
              <a:buNone/>
            </a:pPr>
            <a:r>
              <a:rPr lang="en-US" sz="2800" b="1" dirty="0" smtClean="0"/>
              <a:t>7. Giving Warning:</a:t>
            </a:r>
          </a:p>
          <a:p>
            <a:pPr algn="just">
              <a:buFont typeface="Arial" charset="0"/>
              <a:buNone/>
            </a:pPr>
            <a:r>
              <a:rPr lang="en-US" sz="2800" dirty="0" smtClean="0"/>
              <a:t>     Employees may require warning if they violate or try to  violate the discipline </a:t>
            </a:r>
          </a:p>
          <a:p>
            <a:pPr algn="just">
              <a:buFont typeface="Arial" charset="0"/>
              <a:buNone/>
            </a:pPr>
            <a:r>
              <a:rPr lang="en-US" sz="2800" dirty="0" smtClean="0">
                <a:sym typeface="Wingdings" pitchFamily="2" charset="2"/>
              </a:rPr>
              <a:t>Warning should be given for the betterment of the organization or of the employees concerned. </a:t>
            </a:r>
            <a:r>
              <a:rPr lang="en-US" sz="2800" dirty="0" smtClean="0"/>
              <a:t>of the organization. </a:t>
            </a:r>
          </a:p>
        </p:txBody>
      </p:sp>
      <p:sp>
        <p:nvSpPr>
          <p:cNvPr id="4" name="Title 1"/>
          <p:cNvSpPr txBox="1">
            <a:spLocks noGrp="1"/>
          </p:cNvSpPr>
          <p:nvPr>
            <p:ph type="title"/>
          </p:nvPr>
        </p:nvSpPr>
        <p:spPr>
          <a:xfrm>
            <a:off x="304800" y="196850"/>
            <a:ext cx="5029200" cy="565150"/>
          </a:xfrm>
          <a:solidFill>
            <a:schemeClr val="accent1">
              <a:lumMod val="20000"/>
              <a:lumOff val="80000"/>
            </a:schemeClr>
          </a:solidFill>
          <a:ln>
            <a:solidFill>
              <a:schemeClr val="accent1"/>
            </a:solidFill>
          </a:ln>
        </p:spPr>
        <p:txBody>
          <a:bodyPr anchor="ctr">
            <a:normAutofit/>
          </a:bodyPr>
          <a:lstStyle/>
          <a:p>
            <a:pPr algn="ctr">
              <a:defRPr/>
            </a:pPr>
            <a:r>
              <a:rPr lang="en-US" sz="3000" b="0" dirty="0"/>
              <a:t>Objectives of Communication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pitchFamily="2" charset="2"/>
              <a:buChar char="F"/>
            </a:pPr>
            <a:r>
              <a:rPr lang="en-US" sz="2800" dirty="0" smtClean="0">
                <a:sym typeface="Wingdings" pitchFamily="2" charset="2"/>
              </a:rPr>
              <a:t>If the warning is related to a particular person, it will be called </a:t>
            </a:r>
            <a:r>
              <a:rPr lang="en-US" sz="2800" i="1" dirty="0" smtClean="0">
                <a:sym typeface="Wingdings" pitchFamily="2" charset="2"/>
              </a:rPr>
              <a:t>particular warning</a:t>
            </a:r>
            <a:r>
              <a:rPr lang="en-US" sz="2800" dirty="0" smtClean="0"/>
              <a:t> .</a:t>
            </a:r>
          </a:p>
          <a:p>
            <a:pPr algn="just">
              <a:buFont typeface="Arial" charset="0"/>
              <a:buNone/>
            </a:pPr>
            <a:r>
              <a:rPr lang="en-US" sz="2800" dirty="0" smtClean="0">
                <a:sym typeface="Wingdings" pitchFamily="2" charset="2"/>
              </a:rPr>
              <a:t> If the warning is given to all the members of a group it will be known as </a:t>
            </a:r>
            <a:r>
              <a:rPr lang="en-US" sz="2800" i="1" dirty="0" smtClean="0">
                <a:sym typeface="Wingdings" pitchFamily="2" charset="2"/>
              </a:rPr>
              <a:t>general warning.</a:t>
            </a:r>
            <a:endParaRPr lang="en-US" sz="2800" i="1" dirty="0" smtClean="0"/>
          </a:p>
          <a:p>
            <a:pPr algn="just">
              <a:buFont typeface="Arial" charset="0"/>
              <a:buNone/>
            </a:pPr>
            <a:r>
              <a:rPr lang="en-US" sz="2800" dirty="0" smtClean="0"/>
              <a:t>     </a:t>
            </a:r>
          </a:p>
          <a:p>
            <a:endParaRPr lang="en-US" sz="2800" dirty="0"/>
          </a:p>
        </p:txBody>
      </p:sp>
      <p:pic>
        <p:nvPicPr>
          <p:cNvPr id="7" name="Picture 2" descr="F:\PICTURES\Canon 500 D\OTHERS\IMG_3720.JPG"/>
          <p:cNvPicPr>
            <a:picLocks noChangeAspect="1" noChangeArrowheads="1"/>
          </p:cNvPicPr>
          <p:nvPr/>
        </p:nvPicPr>
        <p:blipFill>
          <a:blip r:embed="rId2" cstate="print">
            <a:clrChange>
              <a:clrFrom>
                <a:srgbClr val="EDA8BD"/>
              </a:clrFrom>
              <a:clrTo>
                <a:srgbClr val="EDA8BD">
                  <a:alpha val="0"/>
                </a:srgbClr>
              </a:clrTo>
            </a:clrChange>
            <a:lum bright="40000"/>
          </a:blip>
          <a:srcRect/>
          <a:stretch>
            <a:fillRect/>
          </a:stretch>
        </p:blipFill>
        <p:spPr bwMode="auto">
          <a:xfrm>
            <a:off x="4343400" y="3429000"/>
            <a:ext cx="3543300" cy="2362200"/>
          </a:xfrm>
          <a:prstGeom prst="ellipse">
            <a:avLst/>
          </a:prstGeom>
          <a:ln>
            <a:noFill/>
          </a:ln>
          <a:effectLst>
            <a:softEdge rad="112500"/>
          </a:effectLst>
        </p:spPr>
      </p:pic>
      <p:sp>
        <p:nvSpPr>
          <p:cNvPr id="8" name="Title 1"/>
          <p:cNvSpPr txBox="1">
            <a:spLocks/>
          </p:cNvSpPr>
          <p:nvPr/>
        </p:nvSpPr>
        <p:spPr>
          <a:xfrm>
            <a:off x="457200" y="349250"/>
            <a:ext cx="5029200" cy="56515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Objectives of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p:cNvSpPr>
            <a:spLocks noGrp="1"/>
          </p:cNvSpPr>
          <p:nvPr>
            <p:ph idx="1"/>
          </p:nvPr>
        </p:nvSpPr>
        <p:spPr>
          <a:xfrm>
            <a:off x="457200" y="1112838"/>
            <a:ext cx="8229600" cy="5059362"/>
          </a:xfrm>
        </p:spPr>
        <p:style>
          <a:lnRef idx="2">
            <a:schemeClr val="accent1"/>
          </a:lnRef>
          <a:fillRef idx="1">
            <a:schemeClr val="lt1"/>
          </a:fillRef>
          <a:effectRef idx="0">
            <a:schemeClr val="accent1"/>
          </a:effectRef>
          <a:fontRef idx="minor">
            <a:schemeClr val="dk1"/>
          </a:fontRef>
        </p:style>
        <p:txBody>
          <a:bodyPr>
            <a:noAutofit/>
          </a:bodyPr>
          <a:lstStyle/>
          <a:p>
            <a:pPr algn="just">
              <a:buFont typeface="Arial" charset="0"/>
              <a:buNone/>
            </a:pPr>
            <a:r>
              <a:rPr lang="en-US" sz="2800" b="1" dirty="0" smtClean="0"/>
              <a:t>8. Educating Employees and Prospective Consumers:</a:t>
            </a:r>
          </a:p>
          <a:p>
            <a:pPr algn="just">
              <a:buFont typeface="Wingdings" pitchFamily="2" charset="2"/>
              <a:buChar char="F"/>
            </a:pPr>
            <a:r>
              <a:rPr lang="en-US" sz="2800" dirty="0" smtClean="0">
                <a:sym typeface="Wingdings" pitchFamily="2" charset="2"/>
              </a:rPr>
              <a:t>Employee can educated through training. Internal communication may help educate managers and other employees in different ways.</a:t>
            </a:r>
          </a:p>
          <a:p>
            <a:pPr algn="just">
              <a:buFont typeface="Wingdings" pitchFamily="2" charset="2"/>
              <a:buChar char="ð"/>
            </a:pPr>
            <a:r>
              <a:rPr lang="en-US" sz="2800" dirty="0" smtClean="0">
                <a:sym typeface="Wingdings" pitchFamily="2" charset="2"/>
              </a:rPr>
              <a:t>seminars,</a:t>
            </a:r>
          </a:p>
          <a:p>
            <a:pPr algn="just">
              <a:buFont typeface="Wingdings" pitchFamily="2" charset="2"/>
              <a:buChar char="ð"/>
            </a:pPr>
            <a:r>
              <a:rPr lang="en-US" sz="2800" dirty="0" smtClean="0"/>
              <a:t>Workshops,</a:t>
            </a:r>
          </a:p>
          <a:p>
            <a:pPr algn="just">
              <a:buFont typeface="Wingdings" pitchFamily="2" charset="2"/>
              <a:buChar char="ð"/>
            </a:pPr>
            <a:r>
              <a:rPr lang="en-US" sz="2800" dirty="0" smtClean="0"/>
              <a:t>Conference may educate managers about latest principles and practices of management.</a:t>
            </a:r>
          </a:p>
          <a:p>
            <a:pPr algn="just">
              <a:buFont typeface="Wingdings" pitchFamily="2" charset="2"/>
              <a:buChar char="F"/>
            </a:pPr>
            <a:r>
              <a:rPr lang="en-US" sz="2800" dirty="0" smtClean="0">
                <a:sym typeface="Wingdings" pitchFamily="2" charset="2"/>
              </a:rPr>
              <a:t>Workers can also be educated in</a:t>
            </a:r>
          </a:p>
          <a:p>
            <a:pPr algn="just">
              <a:buFont typeface="Wingdings" pitchFamily="2" charset="2"/>
              <a:buChar char="ð"/>
            </a:pPr>
            <a:r>
              <a:rPr lang="en-US" sz="2800" dirty="0" smtClean="0">
                <a:sym typeface="Wingdings" pitchFamily="2" charset="2"/>
              </a:rPr>
              <a:t>Fire drills,</a:t>
            </a:r>
            <a:endParaRPr lang="en-US" sz="2800" dirty="0" smtClean="0"/>
          </a:p>
        </p:txBody>
      </p:sp>
      <p:sp>
        <p:nvSpPr>
          <p:cNvPr id="4" name="Title 1"/>
          <p:cNvSpPr txBox="1">
            <a:spLocks noGrp="1"/>
          </p:cNvSpPr>
          <p:nvPr>
            <p:ph type="title"/>
          </p:nvPr>
        </p:nvSpPr>
        <p:spPr>
          <a:xfrm>
            <a:off x="609600" y="274638"/>
            <a:ext cx="4800600" cy="487362"/>
          </a:xfrm>
          <a:solidFill>
            <a:schemeClr val="accent1">
              <a:lumMod val="20000"/>
              <a:lumOff val="80000"/>
            </a:schemeClr>
          </a:solidFill>
          <a:ln>
            <a:solidFill>
              <a:schemeClr val="accent1"/>
            </a:solidFill>
          </a:ln>
        </p:spPr>
        <p:txBody>
          <a:bodyPr>
            <a:noAutofit/>
          </a:bodyPr>
          <a:lstStyle/>
          <a:p>
            <a:pPr>
              <a:defRPr/>
            </a:pPr>
            <a:r>
              <a:rPr lang="en-US" sz="3000" dirty="0"/>
              <a:t>Objectives of Communication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457200" y="990600"/>
            <a:ext cx="8229600" cy="5410200"/>
          </a:xfrm>
        </p:spPr>
        <p:style>
          <a:lnRef idx="2">
            <a:schemeClr val="accent1"/>
          </a:lnRef>
          <a:fillRef idx="1">
            <a:schemeClr val="lt1"/>
          </a:fillRef>
          <a:effectRef idx="0">
            <a:schemeClr val="accent1"/>
          </a:effectRef>
          <a:fontRef idx="minor">
            <a:schemeClr val="dk1"/>
          </a:fontRef>
        </p:style>
        <p:txBody>
          <a:bodyPr>
            <a:noAutofit/>
          </a:bodyPr>
          <a:lstStyle/>
          <a:p>
            <a:pPr algn="just">
              <a:buNone/>
            </a:pPr>
            <a:r>
              <a:rPr lang="en-US" sz="2800" dirty="0" smtClean="0">
                <a:sym typeface="Wingdings"/>
              </a:rPr>
              <a:t> </a:t>
            </a:r>
            <a:r>
              <a:rPr lang="en-US" sz="2800" dirty="0" smtClean="0">
                <a:sym typeface="Wingdings" pitchFamily="2" charset="2"/>
              </a:rPr>
              <a:t>Security measures, productivity improvements etc. through oral, verbal and audio-visual means of communication.</a:t>
            </a:r>
          </a:p>
          <a:p>
            <a:pPr algn="just">
              <a:buNone/>
            </a:pPr>
            <a:r>
              <a:rPr lang="en-US" sz="2800" dirty="0" smtClean="0">
                <a:sym typeface="Wingdings"/>
              </a:rPr>
              <a:t> </a:t>
            </a:r>
            <a:r>
              <a:rPr lang="en-US" sz="2800" dirty="0" smtClean="0">
                <a:sym typeface="Wingdings" pitchFamily="2" charset="2"/>
              </a:rPr>
              <a:t>External communication, may be used to educate prospective customers about the uses and benefits of products and services offered. They may also prohibited to use certain harmful products or services through communication.</a:t>
            </a:r>
          </a:p>
          <a:p>
            <a:pPr algn="just">
              <a:buFont typeface="Wingdings" pitchFamily="2" charset="2"/>
              <a:buChar char="F"/>
            </a:pPr>
            <a:endParaRPr lang="en-US" sz="2800" dirty="0" smtClean="0">
              <a:sym typeface="Wingdings" pitchFamily="2" charset="2"/>
            </a:endParaRPr>
          </a:p>
          <a:p>
            <a:pPr algn="just">
              <a:buFont typeface="Wingdings" pitchFamily="2" charset="2"/>
              <a:buChar char="F"/>
            </a:pPr>
            <a:r>
              <a:rPr lang="en-US" sz="2800" dirty="0" smtClean="0">
                <a:sym typeface="Wingdings" pitchFamily="2" charset="2"/>
              </a:rPr>
              <a:t>Whatever the objective of communication is the main objective is to transfer an information , for various purpose.</a:t>
            </a:r>
          </a:p>
          <a:p>
            <a:pPr algn="just">
              <a:buFont typeface="Arial" charset="0"/>
              <a:buNone/>
            </a:pPr>
            <a:endParaRPr lang="en-US" sz="2800" dirty="0" smtClean="0"/>
          </a:p>
        </p:txBody>
      </p:sp>
      <p:sp>
        <p:nvSpPr>
          <p:cNvPr id="4" name="Title 1"/>
          <p:cNvSpPr txBox="1">
            <a:spLocks noGrp="1"/>
          </p:cNvSpPr>
          <p:nvPr>
            <p:ph type="title"/>
          </p:nvPr>
        </p:nvSpPr>
        <p:spPr>
          <a:xfrm>
            <a:off x="457200" y="274638"/>
            <a:ext cx="5105400" cy="563562"/>
          </a:xfrm>
          <a:solidFill>
            <a:schemeClr val="accent1">
              <a:lumMod val="20000"/>
              <a:lumOff val="80000"/>
            </a:schemeClr>
          </a:solidFill>
          <a:ln>
            <a:solidFill>
              <a:schemeClr val="accent1"/>
            </a:solidFill>
          </a:ln>
        </p:spPr>
        <p:txBody>
          <a:bodyPr>
            <a:normAutofit/>
          </a:bodyPr>
          <a:lstStyle/>
          <a:p>
            <a:pPr>
              <a:defRPr/>
            </a:pPr>
            <a:r>
              <a:rPr lang="en-US" sz="3000" dirty="0"/>
              <a:t>Objectives of Communication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400800" cy="639762"/>
          </a:xfrm>
          <a:solidFill>
            <a:schemeClr val="accent1">
              <a:lumMod val="20000"/>
              <a:lumOff val="80000"/>
            </a:schemeClr>
          </a:solidFill>
          <a:ln>
            <a:solidFill>
              <a:schemeClr val="accent1"/>
            </a:solidFill>
          </a:ln>
        </p:spPr>
        <p:txBody>
          <a:bodyPr>
            <a:normAutofit/>
          </a:bodyPr>
          <a:lstStyle/>
          <a:p>
            <a:pPr algn="l"/>
            <a:r>
              <a:rPr lang="en-US" sz="3000" dirty="0" smtClean="0"/>
              <a:t>Main Forms of Business Communication</a:t>
            </a:r>
            <a:endParaRPr lang="en-US" sz="3000" dirty="0"/>
          </a:p>
        </p:txBody>
      </p:sp>
      <p:sp>
        <p:nvSpPr>
          <p:cNvPr id="3" name="Content Placeholder 2"/>
          <p:cNvSpPr>
            <a:spLocks noGrp="1"/>
          </p:cNvSpPr>
          <p:nvPr>
            <p:ph idx="1"/>
          </p:nvPr>
        </p:nvSpPr>
        <p:spPr>
          <a:xfrm>
            <a:off x="533400" y="1447800"/>
            <a:ext cx="6019800" cy="4602163"/>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2"/>
              </a:rPr>
              <a:t> </a:t>
            </a:r>
            <a:r>
              <a:rPr lang="en-US" sz="2800" dirty="0" smtClean="0"/>
              <a:t>There are three categories of Business Communication.</a:t>
            </a:r>
          </a:p>
          <a:p>
            <a:pPr>
              <a:buNone/>
            </a:pPr>
            <a:r>
              <a:rPr lang="en-US" sz="2800" b="1" dirty="0" smtClean="0">
                <a:sym typeface="Wingdings 3"/>
              </a:rPr>
              <a:t> </a:t>
            </a:r>
            <a:r>
              <a:rPr lang="en-US" sz="2800" b="1" dirty="0" smtClean="0"/>
              <a:t>Internal Operational Communication</a:t>
            </a:r>
          </a:p>
          <a:p>
            <a:pPr>
              <a:buNone/>
            </a:pPr>
            <a:r>
              <a:rPr lang="en-US" sz="2800" b="1" dirty="0" smtClean="0">
                <a:sym typeface="Wingdings 3"/>
              </a:rPr>
              <a:t></a:t>
            </a:r>
            <a:r>
              <a:rPr lang="en-US" sz="2800" b="1" dirty="0" smtClean="0"/>
              <a:t>External Operational Communication</a:t>
            </a:r>
          </a:p>
          <a:p>
            <a:pPr>
              <a:buNone/>
            </a:pPr>
            <a:r>
              <a:rPr lang="en-US" sz="2800" b="1" dirty="0" smtClean="0"/>
              <a:t>                                &amp;</a:t>
            </a:r>
          </a:p>
          <a:p>
            <a:pPr>
              <a:buNone/>
            </a:pPr>
            <a:r>
              <a:rPr lang="en-US" sz="2800" b="1" dirty="0" smtClean="0">
                <a:sym typeface="Wingdings 3"/>
              </a:rPr>
              <a:t> </a:t>
            </a:r>
            <a:r>
              <a:rPr lang="en-US" sz="2800" b="1" dirty="0" smtClean="0"/>
              <a:t>Personal</a:t>
            </a:r>
          </a:p>
          <a:p>
            <a:pPr>
              <a:buNone/>
            </a:pP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lgn="just">
              <a:buNone/>
            </a:pPr>
            <a:r>
              <a:rPr lang="en-US" sz="2800" b="1" dirty="0" smtClean="0">
                <a:sym typeface="Wingdings 3"/>
              </a:rPr>
              <a:t> </a:t>
            </a:r>
            <a:r>
              <a:rPr lang="en-US" sz="2800" b="1" dirty="0" smtClean="0"/>
              <a:t>Internal Operational Communication:</a:t>
            </a:r>
          </a:p>
          <a:p>
            <a:pPr>
              <a:buFont typeface="Wingdings 3"/>
              <a:buChar char="}"/>
            </a:pPr>
            <a:r>
              <a:rPr lang="en-US" sz="2800" dirty="0" smtClean="0"/>
              <a:t>The communication done in conducting work within a business.</a:t>
            </a:r>
          </a:p>
          <a:p>
            <a:pPr>
              <a:buFont typeface="Wingdings 3"/>
              <a:buChar char="}"/>
            </a:pPr>
            <a:r>
              <a:rPr lang="en-US" sz="2800" dirty="0" smtClean="0"/>
              <a:t>This is the communication </a:t>
            </a:r>
          </a:p>
          <a:p>
            <a:pPr>
              <a:buNone/>
            </a:pPr>
            <a:r>
              <a:rPr lang="en-US" sz="2800" dirty="0" smtClean="0"/>
              <a:t>     among the business’s workers</a:t>
            </a:r>
          </a:p>
          <a:p>
            <a:pPr>
              <a:buNone/>
            </a:pPr>
            <a:r>
              <a:rPr lang="en-US" sz="2800" dirty="0" smtClean="0"/>
              <a:t>     that is done to create, </a:t>
            </a:r>
          </a:p>
          <a:p>
            <a:pPr>
              <a:buNone/>
            </a:pPr>
            <a:r>
              <a:rPr lang="en-US" sz="2800" dirty="0" smtClean="0"/>
              <a:t>     implement and track the </a:t>
            </a:r>
          </a:p>
          <a:p>
            <a:pPr>
              <a:buNone/>
            </a:pPr>
            <a:r>
              <a:rPr lang="en-US" sz="2800" dirty="0" smtClean="0"/>
              <a:t>     success of the business’s </a:t>
            </a:r>
          </a:p>
          <a:p>
            <a:pPr>
              <a:buNone/>
            </a:pPr>
            <a:r>
              <a:rPr lang="en-US" sz="2800" dirty="0" smtClean="0"/>
              <a:t>     operating plan.</a:t>
            </a:r>
          </a:p>
        </p:txBody>
      </p:sp>
      <p:sp>
        <p:nvSpPr>
          <p:cNvPr id="4" name="Title 1"/>
          <p:cNvSpPr txBox="1">
            <a:spLocks/>
          </p:cNvSpPr>
          <p:nvPr/>
        </p:nvSpPr>
        <p:spPr>
          <a:xfrm>
            <a:off x="457200" y="274638"/>
            <a:ext cx="64008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Main Forms of Business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2050" name="Picture 2" descr="F:\Mahbuba\Moni\Characters\986.jpg"/>
          <p:cNvPicPr>
            <a:picLocks noChangeAspect="1" noChangeArrowheads="1"/>
          </p:cNvPicPr>
          <p:nvPr/>
        </p:nvPicPr>
        <p:blipFill>
          <a:blip r:embed="rId2"/>
          <a:srcRect/>
          <a:stretch>
            <a:fillRect/>
          </a:stretch>
        </p:blipFill>
        <p:spPr bwMode="auto">
          <a:xfrm>
            <a:off x="5370096" y="3352800"/>
            <a:ext cx="3291840" cy="27432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6248400" cy="54864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b="1" dirty="0" smtClean="0">
                <a:sym typeface="Wingdings 3"/>
              </a:rPr>
              <a:t> </a:t>
            </a:r>
            <a:r>
              <a:rPr lang="en-US" sz="2800" b="1" dirty="0" smtClean="0"/>
              <a:t>External Operational  Communication</a:t>
            </a:r>
          </a:p>
          <a:p>
            <a:pPr>
              <a:buFont typeface="Wingdings 3"/>
              <a:buChar char="}"/>
            </a:pPr>
            <a:r>
              <a:rPr lang="en-US" sz="2800" dirty="0" smtClean="0"/>
              <a:t>Work related communication with people outside the business.</a:t>
            </a:r>
          </a:p>
          <a:p>
            <a:pPr>
              <a:buFont typeface="Wingdings 3"/>
              <a:buChar char="}"/>
            </a:pPr>
            <a:r>
              <a:rPr lang="en-US" sz="2800" dirty="0" smtClean="0"/>
              <a:t>External Communication includes all of the business efforts at direct selling like: </a:t>
            </a:r>
            <a:r>
              <a:rPr lang="en-US" sz="2800" i="1" dirty="0" smtClean="0"/>
              <a:t>personal selling, telephoning, advertising and writing message. </a:t>
            </a:r>
          </a:p>
          <a:p>
            <a:pPr>
              <a:buFont typeface="Wingdings 3"/>
              <a:buChar char="}"/>
            </a:pPr>
            <a:r>
              <a:rPr lang="en-US" sz="2800" dirty="0" smtClean="0"/>
              <a:t>Every external message conveys an image of the company. </a:t>
            </a:r>
          </a:p>
          <a:p>
            <a:pPr>
              <a:buFont typeface="Wingdings 3"/>
              <a:buChar char="}"/>
            </a:pPr>
            <a:r>
              <a:rPr lang="en-US" sz="2800" dirty="0" smtClean="0"/>
              <a:t>External and Internal communication both are important for the business success.</a:t>
            </a:r>
            <a:endParaRPr lang="en-US" sz="2800" dirty="0"/>
          </a:p>
        </p:txBody>
      </p:sp>
      <p:sp>
        <p:nvSpPr>
          <p:cNvPr id="4" name="Title 1"/>
          <p:cNvSpPr txBox="1">
            <a:spLocks/>
          </p:cNvSpPr>
          <p:nvPr/>
        </p:nvSpPr>
        <p:spPr>
          <a:xfrm>
            <a:off x="457200" y="274638"/>
            <a:ext cx="6324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2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Main Forms of Business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descr="F:\Mahbuba\Moni\Characters\939.jpg"/>
          <p:cNvPicPr>
            <a:picLocks noChangeAspect="1" noChangeArrowheads="1"/>
          </p:cNvPicPr>
          <p:nvPr/>
        </p:nvPicPr>
        <p:blipFill>
          <a:blip r:embed="rId2"/>
          <a:srcRect/>
          <a:stretch>
            <a:fillRect/>
          </a:stretch>
        </p:blipFill>
        <p:spPr bwMode="auto">
          <a:xfrm>
            <a:off x="6705600" y="1981200"/>
            <a:ext cx="2209800" cy="2819400"/>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6400800" cy="53340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2800" dirty="0" smtClean="0">
                <a:sym typeface="Wingdings 3"/>
              </a:rPr>
              <a:t> </a:t>
            </a:r>
            <a:r>
              <a:rPr lang="en-US" sz="2800" b="1" dirty="0" smtClean="0"/>
              <a:t>Personal Communication</a:t>
            </a:r>
          </a:p>
          <a:p>
            <a:pPr>
              <a:buFont typeface="Wingdings 3"/>
              <a:buChar char="}"/>
            </a:pPr>
            <a:r>
              <a:rPr lang="en-US" sz="2800" dirty="0" smtClean="0"/>
              <a:t>Non-business related exchanges of information and feelings among people.</a:t>
            </a:r>
          </a:p>
          <a:p>
            <a:pPr>
              <a:buFont typeface="Wingdings 3"/>
              <a:buChar char="}"/>
            </a:pPr>
            <a:r>
              <a:rPr lang="en-US" sz="2800" dirty="0" smtClean="0"/>
              <a:t>Personal communication affects employee attitudes and attitudes affects employee performance.</a:t>
            </a:r>
          </a:p>
          <a:p>
            <a:pPr>
              <a:buFont typeface="Wingdings 3"/>
              <a:buChar char="}"/>
            </a:pPr>
            <a:r>
              <a:rPr lang="en-US" sz="2800" dirty="0" smtClean="0"/>
              <a:t>The kinds of personal communication allowed and encouraged in the company affect employee attitudes.</a:t>
            </a:r>
          </a:p>
          <a:p>
            <a:pPr>
              <a:buFont typeface="Wingdings 3"/>
              <a:buChar char="}"/>
            </a:pPr>
            <a:r>
              <a:rPr lang="en-US" sz="2800" dirty="0" smtClean="0"/>
              <a:t>Personal communication elements can enhance internal and external business communication.</a:t>
            </a:r>
          </a:p>
          <a:p>
            <a:pPr>
              <a:buFont typeface="Wingdings 3"/>
              <a:buChar char="}"/>
            </a:pPr>
            <a:endParaRPr lang="en-US" sz="2800" dirty="0" smtClean="0"/>
          </a:p>
        </p:txBody>
      </p:sp>
      <p:sp>
        <p:nvSpPr>
          <p:cNvPr id="4" name="Title 1"/>
          <p:cNvSpPr txBox="1">
            <a:spLocks/>
          </p:cNvSpPr>
          <p:nvPr/>
        </p:nvSpPr>
        <p:spPr>
          <a:xfrm>
            <a:off x="457200" y="274638"/>
            <a:ext cx="6324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2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Main Forms of Business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5" name="Picture 2" descr="F:\Mahbuba\Moni\Characters\23.jpeg"/>
          <p:cNvPicPr>
            <a:picLocks noChangeAspect="1" noChangeArrowheads="1"/>
          </p:cNvPicPr>
          <p:nvPr/>
        </p:nvPicPr>
        <p:blipFill>
          <a:blip r:embed="rId2"/>
          <a:srcRect/>
          <a:stretch>
            <a:fillRect/>
          </a:stretch>
        </p:blipFill>
        <p:spPr bwMode="auto">
          <a:xfrm>
            <a:off x="7153275" y="2286000"/>
            <a:ext cx="1838325" cy="25908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1">
              <a:lumMod val="20000"/>
              <a:lumOff val="80000"/>
            </a:schemeClr>
          </a:solidFill>
          <a:ln>
            <a:solidFill>
              <a:schemeClr val="accent1"/>
            </a:solidFill>
          </a:ln>
        </p:spPr>
        <p:txBody>
          <a:bodyPr>
            <a:normAutofit/>
          </a:bodyPr>
          <a:lstStyle/>
          <a:p>
            <a:pPr algn="l"/>
            <a:r>
              <a:rPr lang="en-US" sz="3000" dirty="0" smtClean="0"/>
              <a:t>Some Basic truths about Communication</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r>
              <a:rPr lang="en-US" sz="2800" dirty="0" smtClean="0"/>
              <a:t>The communication process reveals some basic truth.</a:t>
            </a:r>
          </a:p>
          <a:p>
            <a:r>
              <a:rPr lang="en-US" sz="2800" b="1" dirty="0" smtClean="0"/>
              <a:t>Meaning Is In The Mind, and No Two Minds Are Alike.</a:t>
            </a:r>
          </a:p>
          <a:p>
            <a:r>
              <a:rPr lang="en-US" sz="2800" b="1" dirty="0" smtClean="0"/>
              <a:t>The Symbols for Communicating Are Imperfect, and So Are Our Best Communication Efforts.</a:t>
            </a:r>
          </a:p>
          <a:p>
            <a:r>
              <a:rPr lang="en-US" sz="2800" b="1" dirty="0" smtClean="0"/>
              <a:t>Communication is about Information </a:t>
            </a:r>
            <a:r>
              <a:rPr lang="en-US" sz="2800" b="1" smtClean="0"/>
              <a:t>and Relationship.</a:t>
            </a:r>
            <a:endParaRPr lang="en-US" sz="2800" b="1" dirty="0" smtClean="0"/>
          </a:p>
          <a:p>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2590800"/>
            <a:ext cx="3660169" cy="923330"/>
          </a:xfrm>
          <a:prstGeom prst="rect">
            <a:avLst/>
          </a:prstGeom>
          <a:no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defRPr/>
            </a:pPr>
            <a:r>
              <a:rPr lang="en-US" sz="5400" b="1" dirty="0">
                <a:ln/>
                <a:solidFill>
                  <a:schemeClr val="accent3"/>
                </a:solidFill>
              </a:rPr>
              <a:t>Thank You</a:t>
            </a:r>
          </a:p>
        </p:txBody>
      </p:sp>
      <p:pic>
        <p:nvPicPr>
          <p:cNvPr id="1026" name="Picture 2" descr="F:\Mahbuba\Moni\Characters\196.jpeg"/>
          <p:cNvPicPr>
            <a:picLocks noChangeAspect="1" noChangeArrowheads="1"/>
          </p:cNvPicPr>
          <p:nvPr/>
        </p:nvPicPr>
        <p:blipFill>
          <a:blip r:embed="rId2"/>
          <a:srcRect/>
          <a:stretch>
            <a:fillRect/>
          </a:stretch>
        </p:blipFill>
        <p:spPr bwMode="auto">
          <a:xfrm>
            <a:off x="5562600" y="2590800"/>
            <a:ext cx="995362" cy="99536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1362</Words>
  <Application>Microsoft Office PowerPoint</Application>
  <PresentationFormat>On-screen Show (4:3)</PresentationFormat>
  <Paragraphs>151</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Objectives of Communication</vt:lpstr>
      <vt:lpstr>Objectives of Communication</vt:lpstr>
      <vt:lpstr>Objectives of Communication</vt:lpstr>
      <vt:lpstr>Objectives of Communication</vt:lpstr>
      <vt:lpstr>Slide 6</vt:lpstr>
      <vt:lpstr>Objectives of Communication</vt:lpstr>
      <vt:lpstr>Objectives of Communication</vt:lpstr>
      <vt:lpstr>Objectives of Communication</vt:lpstr>
      <vt:lpstr>Slide 10</vt:lpstr>
      <vt:lpstr>Objectives of Communication</vt:lpstr>
      <vt:lpstr>Slide 12</vt:lpstr>
      <vt:lpstr>Objectives of Communication</vt:lpstr>
      <vt:lpstr>Slide 14</vt:lpstr>
      <vt:lpstr>Objectives of Communication</vt:lpstr>
      <vt:lpstr>Objectives of Communication</vt:lpstr>
      <vt:lpstr>Main Forms of Business Communication</vt:lpstr>
      <vt:lpstr>Slide 18</vt:lpstr>
      <vt:lpstr>Slide 19</vt:lpstr>
      <vt:lpstr>Slide 20</vt:lpstr>
      <vt:lpstr>Some Basic truths about Communication</vt:lpstr>
      <vt:lpstr>Slide 22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Teacher</cp:lastModifiedBy>
  <cp:revision>37</cp:revision>
  <dcterms:created xsi:type="dcterms:W3CDTF">2006-08-16T00:00:00Z</dcterms:created>
  <dcterms:modified xsi:type="dcterms:W3CDTF">2019-04-17T12:35:42Z</dcterms:modified>
</cp:coreProperties>
</file>