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9"/>
  </p:handoutMasterIdLst>
  <p:sldIdLst>
    <p:sldId id="256" r:id="rId2"/>
    <p:sldId id="259" r:id="rId3"/>
    <p:sldId id="260" r:id="rId4"/>
    <p:sldId id="261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57" r:id="rId2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5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0C387D5-D5AC-4F13-9D6F-86F66643AFF2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BC5A09D-6842-4B76-A983-820F6816A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94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152400"/>
            <a:ext cx="8455969" cy="1938992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BUSINESS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8501" y="5096470"/>
            <a:ext cx="2935099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BBA </a:t>
            </a:r>
            <a:r>
              <a:rPr lang="en-US" sz="5400" b="1" cap="all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2106</a:t>
            </a:r>
            <a:endParaRPr lang="en-US" sz="5400" b="1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+mn-lt"/>
              <a:cs typeface="+mn-cs"/>
            </a:endParaRPr>
          </a:p>
        </p:txBody>
      </p:sp>
      <p:sp>
        <p:nvSpPr>
          <p:cNvPr id="2052" name="TextBox 6"/>
          <p:cNvSpPr txBox="1">
            <a:spLocks noChangeArrowheads="1"/>
          </p:cNvSpPr>
          <p:nvPr/>
        </p:nvSpPr>
        <p:spPr bwMode="auto">
          <a:xfrm>
            <a:off x="2209800" y="2858631"/>
            <a:ext cx="4724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500" b="1" dirty="0" smtClean="0">
                <a:solidFill>
                  <a:srgbClr val="7030A0"/>
                </a:solidFill>
                <a:latin typeface="Algerian" pitchFamily="82" charset="0"/>
              </a:rPr>
              <a:t>Media</a:t>
            </a:r>
          </a:p>
          <a:p>
            <a:pPr algn="ctr"/>
            <a:r>
              <a:rPr lang="en-US" sz="3500" b="1" dirty="0" smtClean="0">
                <a:solidFill>
                  <a:srgbClr val="7030A0"/>
                </a:solidFill>
                <a:latin typeface="Algerian" pitchFamily="82" charset="0"/>
              </a:rPr>
              <a:t> of</a:t>
            </a:r>
          </a:p>
          <a:p>
            <a:pPr algn="ctr"/>
            <a:r>
              <a:rPr lang="en-US" sz="3500" b="1" dirty="0" smtClean="0">
                <a:solidFill>
                  <a:srgbClr val="7030A0"/>
                </a:solidFill>
                <a:latin typeface="Algerian" pitchFamily="82" charset="0"/>
              </a:rPr>
              <a:t>communication </a:t>
            </a:r>
          </a:p>
          <a:p>
            <a:pPr algn="ctr"/>
            <a:endParaRPr lang="en-US" sz="3500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4572000" cy="5334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sz="3000" dirty="0" smtClean="0"/>
              <a:t>Media of Communication 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172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buNone/>
            </a:pPr>
            <a:r>
              <a:rPr lang="en-US" sz="2800" dirty="0" smtClean="0">
                <a:sym typeface="Wingdings 2"/>
              </a:rPr>
              <a:t> </a:t>
            </a:r>
            <a:r>
              <a:rPr lang="en-US" sz="2800" dirty="0" smtClean="0"/>
              <a:t>No communication can take place without the use of any media.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 </a:t>
            </a:r>
            <a:r>
              <a:rPr lang="en-US" sz="2800" b="1" dirty="0" smtClean="0"/>
              <a:t>Media:</a:t>
            </a:r>
          </a:p>
          <a:p>
            <a:pPr algn="just">
              <a:buNone/>
            </a:pPr>
            <a:r>
              <a:rPr lang="en-US" sz="2800" dirty="0" smtClean="0"/>
              <a:t>     </a:t>
            </a:r>
            <a:r>
              <a:rPr lang="en-US" sz="2800" i="1" dirty="0" smtClean="0"/>
              <a:t>“Media is the carriers through which information flows.”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Baker believes that medias are the means by which message are communicated. 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He describes media in two ways.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i="1" dirty="0" smtClean="0"/>
              <a:t>First one, </a:t>
            </a:r>
            <a:r>
              <a:rPr lang="en-US" sz="2800" dirty="0" smtClean="0"/>
              <a:t>the form in which messages are transmitted.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Forms can be both verbal and non-verbal.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i="1" dirty="0" smtClean="0"/>
              <a:t>Secondly, </a:t>
            </a:r>
            <a:r>
              <a:rPr lang="en-US" sz="2800" dirty="0" smtClean="0"/>
              <a:t>the manner by which the messages presented.</a:t>
            </a:r>
          </a:p>
          <a:p>
            <a:pPr algn="just"/>
            <a:endParaRPr lang="en-US" sz="2800" dirty="0" smtClean="0"/>
          </a:p>
          <a:p>
            <a:pPr algn="just"/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76800" cy="45259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sym typeface="Wingdings 2"/>
              </a:rPr>
              <a:t> </a:t>
            </a:r>
            <a:r>
              <a:rPr lang="en-US" sz="2800" dirty="0" smtClean="0"/>
              <a:t>The media of communication</a:t>
            </a:r>
          </a:p>
          <a:p>
            <a:pPr>
              <a:buNone/>
            </a:pPr>
            <a:r>
              <a:rPr lang="en-US" sz="2800" dirty="0" smtClean="0"/>
              <a:t>     usually used are:</a:t>
            </a:r>
          </a:p>
          <a:p>
            <a:pPr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Written Communication</a:t>
            </a:r>
          </a:p>
          <a:p>
            <a:pPr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Oral Communication</a:t>
            </a:r>
          </a:p>
          <a:p>
            <a:pPr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Face-to-Face communication</a:t>
            </a:r>
          </a:p>
          <a:p>
            <a:pPr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Electronic/Computer based Communication</a:t>
            </a:r>
          </a:p>
          <a:p>
            <a:pPr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Visual &amp; Audio-Visual Communication.</a:t>
            </a:r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4191000" cy="5635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Media of Communication 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F:\Mahbuba\Moni\Characters\11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41013" y="1676400"/>
            <a:ext cx="3474387" cy="4419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4343400" cy="6858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000" dirty="0" smtClean="0"/>
              <a:t>Written Communication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5562600" cy="5943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buNone/>
            </a:pPr>
            <a:r>
              <a:rPr lang="en-US" sz="2800" dirty="0" smtClean="0">
                <a:sym typeface="Wingdings"/>
              </a:rPr>
              <a:t> </a:t>
            </a:r>
            <a:r>
              <a:rPr lang="en-US" sz="2800" b="1" dirty="0" smtClean="0"/>
              <a:t>Written Communication:</a:t>
            </a:r>
          </a:p>
          <a:p>
            <a:pPr algn="just">
              <a:buNone/>
            </a:pPr>
            <a:r>
              <a:rPr lang="en-US" sz="2800" dirty="0" smtClean="0"/>
              <a:t>    </a:t>
            </a:r>
            <a:r>
              <a:rPr lang="en-US" sz="2800" i="1" dirty="0" smtClean="0"/>
              <a:t>“A message communicated in a written form is known as written communication.”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It is word based communication and is always put into writing.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Generally used when the receiver is at a distance.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Important or complex messages are communicated in written form.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And written information acts as an evidence.</a:t>
            </a:r>
          </a:p>
        </p:txBody>
      </p:sp>
      <p:pic>
        <p:nvPicPr>
          <p:cNvPr id="2050" name="Picture 2" descr="F:\Mahbuba\Moni\Characters\250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9800" y="1371600"/>
            <a:ext cx="3048000" cy="3886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953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>
                <a:sym typeface="Wingdings 2"/>
              </a:rPr>
              <a:t> </a:t>
            </a:r>
            <a:r>
              <a:rPr lang="en-US" sz="2800" dirty="0" smtClean="0"/>
              <a:t>In every business organization, it has take a very important place in the field of written communication.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Legal Documents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Accurate &amp; Precise. 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Clear Understanding of the message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Effective Presentation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Permanent Record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Prevention from passing the buck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Helps delegation of authority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22238"/>
            <a:ext cx="5791200" cy="7921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Benefits of Written Communication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4419600" cy="49069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600" dirty="0" smtClean="0">
                <a:latin typeface="Wide Latin"/>
              </a:rPr>
              <a:t>– </a:t>
            </a:r>
            <a:r>
              <a:rPr lang="en-US" sz="2600" dirty="0" smtClean="0"/>
              <a:t>Facilities of duplication</a:t>
            </a:r>
          </a:p>
          <a:p>
            <a:pPr>
              <a:buNone/>
            </a:pPr>
            <a:r>
              <a:rPr lang="en-US" sz="2600" dirty="0" smtClean="0">
                <a:latin typeface="Wide Latin"/>
              </a:rPr>
              <a:t>– </a:t>
            </a:r>
            <a:r>
              <a:rPr lang="en-US" sz="2600" dirty="0" smtClean="0"/>
              <a:t>Wide and quick access</a:t>
            </a:r>
          </a:p>
          <a:p>
            <a:pPr>
              <a:buNone/>
            </a:pPr>
            <a:r>
              <a:rPr lang="en-US" sz="2600" dirty="0" smtClean="0">
                <a:latin typeface="Wide Latin"/>
              </a:rPr>
              <a:t>– </a:t>
            </a:r>
            <a:r>
              <a:rPr lang="en-US" sz="2600" dirty="0" smtClean="0"/>
              <a:t>Reduction of risk</a:t>
            </a:r>
          </a:p>
          <a:p>
            <a:pPr>
              <a:buNone/>
            </a:pPr>
            <a:r>
              <a:rPr lang="en-US" sz="2600" dirty="0" smtClean="0">
                <a:latin typeface="Wide Latin"/>
              </a:rPr>
              <a:t>– </a:t>
            </a:r>
            <a:r>
              <a:rPr lang="en-US" sz="2600" dirty="0" smtClean="0"/>
              <a:t>Minimization of distortion</a:t>
            </a:r>
          </a:p>
          <a:p>
            <a:pPr>
              <a:buNone/>
            </a:pPr>
            <a:r>
              <a:rPr lang="en-US" sz="2600" dirty="0" smtClean="0">
                <a:latin typeface="Wide Latin"/>
              </a:rPr>
              <a:t>– </a:t>
            </a:r>
            <a:r>
              <a:rPr lang="en-US" sz="2600" dirty="0" smtClean="0"/>
              <a:t>Facilitates Control</a:t>
            </a:r>
          </a:p>
          <a:p>
            <a:pPr>
              <a:buNone/>
            </a:pPr>
            <a:r>
              <a:rPr lang="en-US" sz="2600" dirty="0" smtClean="0">
                <a:latin typeface="Wide Latin"/>
              </a:rPr>
              <a:t>– </a:t>
            </a:r>
            <a:r>
              <a:rPr lang="en-US" sz="2600" dirty="0" smtClean="0"/>
              <a:t>Creating Confidence</a:t>
            </a:r>
            <a:endParaRPr lang="en-US" sz="26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22238"/>
            <a:ext cx="6705600" cy="7921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Benefits of Written Communication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7" name="Picture 3" descr="F:\Mahbuba\Moni\Characters\25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5970" y="1447800"/>
            <a:ext cx="3416030" cy="3733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Expensive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Time Consuming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Useless to Illiterate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Delayed Feedback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Red-</a:t>
            </a:r>
            <a:r>
              <a:rPr lang="en-US" sz="2800" dirty="0" err="1" smtClean="0"/>
              <a:t>Tapism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Delayed Clarification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Lack of Flexibility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Cost of Preservation &amp; Indexing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Complexity &amp; Sluggishness</a:t>
            </a:r>
          </a:p>
          <a:p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22238"/>
            <a:ext cx="6705600" cy="7921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Demerits of Written Communication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 descr="F:\Mahbuba\Moni\Characters\255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0371" y="1676400"/>
            <a:ext cx="3107829" cy="4038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114800" cy="71596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000" dirty="0" smtClean="0"/>
              <a:t>Oral Communication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48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buNone/>
            </a:pPr>
            <a:r>
              <a:rPr lang="en-US" sz="2800" dirty="0" smtClean="0">
                <a:sym typeface="Wingdings"/>
              </a:rPr>
              <a:t> </a:t>
            </a:r>
            <a:r>
              <a:rPr lang="en-US" sz="2800" b="1" dirty="0" smtClean="0"/>
              <a:t>Oral Communication</a:t>
            </a:r>
          </a:p>
          <a:p>
            <a:pPr algn="just">
              <a:buNone/>
            </a:pPr>
            <a:r>
              <a:rPr lang="en-US" sz="2800" dirty="0" smtClean="0"/>
              <a:t>    </a:t>
            </a:r>
            <a:r>
              <a:rPr lang="en-US" sz="2800" i="1" dirty="0" smtClean="0"/>
              <a:t>“In oral communication spoken words are used to express the meaning.”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In this system communication exchanged between a communicator and a communicatee through face-to-face conversation or group discussion. It may occur through telephone call, radio, television.</a:t>
            </a:r>
          </a:p>
          <a:p>
            <a:pPr algn="just"/>
            <a:endParaRPr lang="en-US" sz="2800" dirty="0" smtClean="0"/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It is an effective way to express the feelings of the communicator.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715000" cy="79216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000" dirty="0" smtClean="0"/>
              <a:t>Channels of Oral Communication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53000" cy="45259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600" dirty="0" smtClean="0">
                <a:sym typeface="Wingdings 2"/>
              </a:rPr>
              <a:t> </a:t>
            </a:r>
            <a:r>
              <a:rPr lang="en-US" sz="2600" dirty="0" smtClean="0"/>
              <a:t>Channels of oral communication can be classified in two groups</a:t>
            </a:r>
          </a:p>
          <a:p>
            <a:endParaRPr lang="en-US" sz="2600" dirty="0" smtClean="0"/>
          </a:p>
          <a:p>
            <a:pPr>
              <a:buNone/>
            </a:pPr>
            <a:r>
              <a:rPr lang="en-US" sz="2600" dirty="0" smtClean="0">
                <a:latin typeface="Wide Latin"/>
              </a:rPr>
              <a:t>– </a:t>
            </a:r>
            <a:r>
              <a:rPr lang="en-US" sz="2600" dirty="0" smtClean="0"/>
              <a:t>Non-Mechanical channels</a:t>
            </a:r>
          </a:p>
          <a:p>
            <a:pPr algn="ctr">
              <a:buNone/>
            </a:pPr>
            <a:r>
              <a:rPr lang="en-US" sz="2600" dirty="0" smtClean="0"/>
              <a:t>&amp;</a:t>
            </a:r>
          </a:p>
          <a:p>
            <a:pPr>
              <a:buNone/>
            </a:pPr>
            <a:r>
              <a:rPr lang="en-US" sz="2600" dirty="0" smtClean="0">
                <a:latin typeface="Wide Latin"/>
              </a:rPr>
              <a:t>– </a:t>
            </a:r>
            <a:r>
              <a:rPr lang="en-US" sz="2600" dirty="0" smtClean="0"/>
              <a:t>Mechanical Channels</a:t>
            </a:r>
            <a:endParaRPr lang="en-US" sz="2600" dirty="0"/>
          </a:p>
        </p:txBody>
      </p:sp>
      <p:pic>
        <p:nvPicPr>
          <p:cNvPr id="3075" name="Picture 3" descr="F:\Mahbuba\Moni\Characters\258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9408" y="3124200"/>
            <a:ext cx="4283592" cy="2514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latin typeface="Wide Latin"/>
                <a:sym typeface="Wingdings"/>
              </a:rPr>
              <a:t> </a:t>
            </a:r>
            <a:r>
              <a:rPr lang="en-US" sz="2800" b="1" dirty="0" smtClean="0"/>
              <a:t>Non-Mechanical Channels of Oral Communication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Interview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Conversation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Counseling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Group Discussion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Conference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Formal Training Course.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5715000" cy="7921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Channels of Oral Communication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098" name="Picture 2" descr="F:\Mahbuba\Moni\Characters\26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7337" y="2438400"/>
            <a:ext cx="3583663" cy="2895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67200" cy="45259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sym typeface="Wingdings"/>
              </a:rPr>
              <a:t> </a:t>
            </a:r>
            <a:r>
              <a:rPr lang="en-US" sz="2800" b="1" dirty="0" smtClean="0"/>
              <a:t>Mechanical Channels of Oral Communication</a:t>
            </a:r>
          </a:p>
          <a:p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Telephone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Radio &amp; Television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Microphone</a:t>
            </a:r>
          </a:p>
          <a:p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5715000" cy="7921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Channels of Oral Communication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122" name="Picture 2" descr="F:\Mahbuba\Moni\Characters\128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87010" y="2133600"/>
            <a:ext cx="4156990" cy="2590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4953000" cy="6858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3000" dirty="0" smtClean="0"/>
              <a:t>Merits of Oral Communication</a:t>
            </a:r>
            <a:br>
              <a:rPr lang="en-US" sz="3000" dirty="0" smtClean="0"/>
            </a:b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458200" cy="5562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Easiness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Effective for illiterate receivers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Economy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Time Saving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Quick Feedback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Complete Understanding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Flexibility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Absence of strict Formality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Motivation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Reliability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Creating Harmonious Relations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</p:txBody>
      </p:sp>
      <p:pic>
        <p:nvPicPr>
          <p:cNvPr id="6146" name="Picture 2" descr="F:\Mahbuba\Moni\Characters\263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6156" y="2667000"/>
            <a:ext cx="3180644" cy="3733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6096000" cy="71596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000" dirty="0" smtClean="0"/>
              <a:t>Demerits of Oral Communication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638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No Record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Inaccuracy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Not easy to fix Responsibility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Distorted Meaning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Possibilities of Conflict &amp; Misunderstanding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Emphasize on presenting the Speech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Leakage of secret Information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Delayed Decision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Time consuming to have considered feedback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Influence of vested interest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/>
          </a:p>
        </p:txBody>
      </p:sp>
      <p:pic>
        <p:nvPicPr>
          <p:cNvPr id="5" name="Picture 2" descr="F:\Mahbuba\Moni\Characters\253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15200" y="1600200"/>
            <a:ext cx="1600200" cy="3429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553200" cy="63976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000" dirty="0" smtClean="0"/>
              <a:t>When Oral Communication is Effective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Need for oral explanation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Maintaining secrecy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Immediate response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Quick exchange of views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Illiterate receivers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Direct relations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  <p:pic>
        <p:nvPicPr>
          <p:cNvPr id="8194" name="Picture 2" descr="F:\Mahbuba\Moni\Characters\265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1981200"/>
            <a:ext cx="3524782" cy="350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4525963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>
              <a:buNone/>
            </a:pPr>
            <a:r>
              <a:rPr lang="en-US" b="1" dirty="0" smtClean="0">
                <a:latin typeface="Bernard MT Condensed" pitchFamily="18" charset="0"/>
              </a:rPr>
              <a:t>“Difference between </a:t>
            </a:r>
          </a:p>
          <a:p>
            <a:pPr algn="ctr">
              <a:buNone/>
            </a:pPr>
            <a:r>
              <a:rPr lang="en-US" b="1" dirty="0" smtClean="0">
                <a:latin typeface="Bernard MT Condensed" pitchFamily="18" charset="0"/>
              </a:rPr>
              <a:t>Written &amp; Oral communication”</a:t>
            </a:r>
          </a:p>
          <a:p>
            <a:pPr algn="ctr">
              <a:buNone/>
            </a:pPr>
            <a:endParaRPr lang="en-US" b="1" dirty="0" smtClean="0">
              <a:latin typeface="+mj-lt"/>
            </a:endParaRPr>
          </a:p>
          <a:p>
            <a:pPr algn="ctr">
              <a:buNone/>
            </a:pPr>
            <a:r>
              <a:rPr lang="en-US" b="1" dirty="0" smtClean="0">
                <a:latin typeface="+mj-lt"/>
              </a:rPr>
              <a:t>Business Communication</a:t>
            </a:r>
          </a:p>
          <a:p>
            <a:pPr algn="ctr">
              <a:buNone/>
            </a:pPr>
            <a:r>
              <a:rPr lang="en-US" b="1" dirty="0" smtClean="0">
                <a:latin typeface="+mj-lt"/>
              </a:rPr>
              <a:t>Dr. Abdul </a:t>
            </a:r>
            <a:r>
              <a:rPr lang="en-US" b="1" dirty="0" err="1" smtClean="0">
                <a:latin typeface="+mj-lt"/>
              </a:rPr>
              <a:t>Awal</a:t>
            </a:r>
            <a:r>
              <a:rPr lang="en-US" b="1" dirty="0" smtClean="0">
                <a:latin typeface="+mj-lt"/>
              </a:rPr>
              <a:t> Khan</a:t>
            </a:r>
          </a:p>
          <a:p>
            <a:pPr algn="ctr">
              <a:buNone/>
            </a:pPr>
            <a:r>
              <a:rPr lang="en-US" b="1" dirty="0" smtClean="0">
                <a:latin typeface="+mj-lt"/>
              </a:rPr>
              <a:t>Page:86 </a:t>
            </a:r>
            <a:r>
              <a:rPr lang="en-US" sz="5400" b="1" dirty="0" smtClean="0">
                <a:solidFill>
                  <a:srgbClr val="00B050"/>
                </a:solidFill>
                <a:latin typeface="+mj-lt"/>
                <a:sym typeface="Wingdings" pitchFamily="2" charset="2"/>
              </a:rPr>
              <a:t></a:t>
            </a:r>
            <a:endParaRPr lang="en-US" sz="5400" b="1" dirty="0">
              <a:solidFill>
                <a:srgbClr val="00B050"/>
              </a:solidFill>
              <a:latin typeface="+mj-lt"/>
            </a:endParaRPr>
          </a:p>
        </p:txBody>
      </p:sp>
      <p:pic>
        <p:nvPicPr>
          <p:cNvPr id="1026" name="Picture 2" descr="F:\Mahbuba\Moni\Characters\207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3962400"/>
            <a:ext cx="2286000" cy="15891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en-US" sz="3000" dirty="0" smtClean="0"/>
              <a:t>Oral or Written-which communication is More Acceptable?</a:t>
            </a:r>
            <a:br>
              <a:rPr lang="en-US" sz="3000" dirty="0" smtClean="0"/>
            </a:b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4191000" cy="3505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Number of receivers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Immediate response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Settlement of dispute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Availability of time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Language barrier</a:t>
            </a:r>
            <a:endParaRPr lang="en-US" sz="2800" dirty="0"/>
          </a:p>
        </p:txBody>
      </p:sp>
      <p:pic>
        <p:nvPicPr>
          <p:cNvPr id="1026" name="Picture 2" descr="F:\Mahbuba\Moni\Characters\264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1905000"/>
            <a:ext cx="2743200" cy="2743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181600" cy="63976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3000" dirty="0" smtClean="0"/>
              <a:t>Face-to Face Communication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buNone/>
            </a:pPr>
            <a:r>
              <a:rPr lang="en-US" sz="2800" dirty="0" smtClean="0">
                <a:sym typeface="Wingdings"/>
              </a:rPr>
              <a:t> </a:t>
            </a:r>
            <a:r>
              <a:rPr lang="en-US" sz="2800" b="1" dirty="0" smtClean="0"/>
              <a:t>Face-to-Face Communication:</a:t>
            </a:r>
          </a:p>
          <a:p>
            <a:pPr algn="just">
              <a:buNone/>
            </a:pPr>
            <a:r>
              <a:rPr lang="en-US" sz="2800" dirty="0" smtClean="0"/>
              <a:t>    </a:t>
            </a:r>
            <a:r>
              <a:rPr lang="en-US" sz="2800" i="1" dirty="0" smtClean="0"/>
              <a:t>“When the information transfer with the presence of two or more persons.”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 </a:t>
            </a:r>
            <a:r>
              <a:rPr lang="en-US" sz="2800" b="1" dirty="0" smtClean="0"/>
              <a:t>Example:</a:t>
            </a:r>
          </a:p>
          <a:p>
            <a:pPr algn="just">
              <a:buNone/>
            </a:pPr>
            <a:r>
              <a:rPr lang="en-US" sz="2800" dirty="0" smtClean="0"/>
              <a:t>     The Prime Minister of Japan and Spain greeting each other with a smile and warmly shaking hands are engaged  in face-to-face communication, although, for want of a common language, their communication cannot  be called as oral. In most other cases, of course, face-to-face communications are oral.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001000" cy="6324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endParaRPr lang="en-US" sz="2800" dirty="0" smtClean="0"/>
          </a:p>
          <a:p>
            <a:r>
              <a:rPr lang="en-US" sz="2800" dirty="0" smtClean="0"/>
              <a:t>Gesture and facial expressions help to communicate better.</a:t>
            </a:r>
          </a:p>
          <a:p>
            <a:r>
              <a:rPr lang="en-US" sz="2800" dirty="0" smtClean="0"/>
              <a:t>Face-to-Face communication provides a much better opportunity for advancement with the listeners.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If the listener is not attentive the n this </a:t>
            </a:r>
          </a:p>
          <a:p>
            <a:pPr>
              <a:buNone/>
            </a:pPr>
            <a:r>
              <a:rPr lang="en-US" sz="2800" dirty="0" smtClean="0"/>
              <a:t>    type of communication is ineffective.</a:t>
            </a:r>
          </a:p>
          <a:p>
            <a:r>
              <a:rPr lang="en-US" sz="2800" dirty="0" smtClean="0"/>
              <a:t>Difficult to practice in large-sized organization.</a:t>
            </a:r>
          </a:p>
          <a:p>
            <a:r>
              <a:rPr lang="en-US" sz="2800" dirty="0" smtClean="0"/>
              <a:t>Not effective in large gatherings.</a:t>
            </a:r>
          </a:p>
          <a:p>
            <a:endParaRPr lang="en-US" sz="2800" dirty="0" smtClean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3124200"/>
            <a:ext cx="75438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3000" dirty="0" smtClean="0"/>
              <a:t>Limitations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of Face-to-Face Communication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 descr="F:\Mahbuba\Moni\Characters\198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4200" y="838200"/>
            <a:ext cx="838200" cy="838200"/>
          </a:xfrm>
          <a:prstGeom prst="rect">
            <a:avLst/>
          </a:prstGeom>
          <a:noFill/>
        </p:spPr>
      </p:pic>
      <p:pic>
        <p:nvPicPr>
          <p:cNvPr id="2051" name="Picture 3" descr="F:\Mahbuba\Moni\Characters\267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0400" y="3810000"/>
            <a:ext cx="871704" cy="1143000"/>
          </a:xfrm>
          <a:prstGeom prst="rect">
            <a:avLst/>
          </a:prstGeom>
          <a:noFill/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57200" y="228600"/>
            <a:ext cx="7543800" cy="5635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Advantages of Face-to-Face Communication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:\Mahbuba\Moni\Characters\111.jpeg"/>
          <p:cNvPicPr>
            <a:picLocks noChangeAspect="1" noChangeArrowheads="1"/>
          </p:cNvPicPr>
          <p:nvPr/>
        </p:nvPicPr>
        <p:blipFill>
          <a:blip r:embed="rId2">
            <a:lum bright="30000"/>
          </a:blip>
          <a:srcRect/>
          <a:stretch>
            <a:fillRect/>
          </a:stretch>
        </p:blipFill>
        <p:spPr bwMode="auto">
          <a:xfrm>
            <a:off x="2057400" y="1295400"/>
            <a:ext cx="4876800" cy="4876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4267200" cy="63976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l"/>
            <a:r>
              <a:rPr lang="en-US" sz="3000" dirty="0" smtClean="0"/>
              <a:t>Electronic Communication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2700" dirty="0" smtClean="0">
                <a:sym typeface="Wingdings"/>
              </a:rPr>
              <a:t> </a:t>
            </a:r>
            <a:r>
              <a:rPr lang="en-US" sz="2700" b="1" dirty="0" smtClean="0"/>
              <a:t>Electronic Communication:</a:t>
            </a:r>
          </a:p>
          <a:p>
            <a:pPr>
              <a:buNone/>
            </a:pPr>
            <a:r>
              <a:rPr lang="en-US" sz="2700" dirty="0" smtClean="0"/>
              <a:t>    </a:t>
            </a:r>
            <a:r>
              <a:rPr lang="en-US" sz="2700" i="1" dirty="0" smtClean="0"/>
              <a:t>“Electronic Communication (E- communication) involves collection, processing, storage and distribution of information through electronic devices.”</a:t>
            </a:r>
          </a:p>
          <a:p>
            <a:pPr>
              <a:buFont typeface="Wingdings"/>
              <a:buChar char="§"/>
            </a:pPr>
            <a:r>
              <a:rPr lang="en-US" sz="2700" dirty="0" smtClean="0">
                <a:latin typeface="+mj-lt"/>
                <a:sym typeface="Wingdings"/>
              </a:rPr>
              <a:t>It is a collective reference to computer, information through electronic device, data communication and computer networking.</a:t>
            </a:r>
          </a:p>
          <a:p>
            <a:pPr>
              <a:buFont typeface="Wingdings"/>
              <a:buChar char="§"/>
            </a:pPr>
            <a:r>
              <a:rPr lang="en-US" sz="2700" dirty="0" smtClean="0">
                <a:latin typeface="+mj-lt"/>
                <a:sym typeface="Wingdings"/>
              </a:rPr>
              <a:t>E-communication is the result of integration of computer hardware, software, data processing, networked multimedia, video conferencing, e-mail etc.</a:t>
            </a:r>
          </a:p>
          <a:p>
            <a:pPr>
              <a:buFont typeface="Wingdings"/>
              <a:buChar char="§"/>
            </a:pPr>
            <a:r>
              <a:rPr lang="en-US" sz="2700" dirty="0" smtClean="0"/>
              <a:t>Application of e-communication is expanding fast. Some important area are: banking, health care, transportation, marketing, entertainment etc.</a:t>
            </a:r>
          </a:p>
          <a:p>
            <a:pPr>
              <a:buFont typeface="Wingdings"/>
              <a:buChar char="§"/>
            </a:pPr>
            <a:endParaRPr lang="en-US" sz="27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7244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>
                <a:sym typeface="Wingdings"/>
              </a:rPr>
              <a:t> </a:t>
            </a:r>
            <a:r>
              <a:rPr lang="en-US" sz="2800" b="1" dirty="0" smtClean="0"/>
              <a:t>Electronic Commerce (E-commerce):</a:t>
            </a:r>
          </a:p>
          <a:p>
            <a:pPr>
              <a:buNone/>
            </a:pPr>
            <a:r>
              <a:rPr lang="en-US" sz="2800" dirty="0" smtClean="0"/>
              <a:t>    </a:t>
            </a:r>
            <a:r>
              <a:rPr lang="en-US" sz="2800" i="1" dirty="0" smtClean="0"/>
              <a:t>“Commercial activities take place through the use of advanced information technology.”</a:t>
            </a:r>
          </a:p>
          <a:p>
            <a:pPr>
              <a:buNone/>
            </a:pPr>
            <a:r>
              <a:rPr lang="en-US" sz="2800" b="1" dirty="0" smtClean="0"/>
              <a:t>     Steps of e-commerce are: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b="1" dirty="0" smtClean="0"/>
              <a:t>Step 1: </a:t>
            </a:r>
            <a:r>
              <a:rPr lang="en-US" sz="2800" dirty="0" smtClean="0"/>
              <a:t>establish a web site to disseminate information electronically.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b="1" dirty="0" smtClean="0"/>
              <a:t>Step 2: </a:t>
            </a:r>
            <a:r>
              <a:rPr lang="en-US" sz="2800" dirty="0" smtClean="0"/>
              <a:t>advancing the website to “self-service” status.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b="1" dirty="0" smtClean="0"/>
              <a:t>Step 3: </a:t>
            </a:r>
            <a:r>
              <a:rPr lang="en-US" sz="2800" dirty="0" smtClean="0"/>
              <a:t>further advancing the website to allow “transactions”.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5105400" cy="7921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Electronic Communication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248400" cy="71596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000" dirty="0" smtClean="0"/>
              <a:t>Electronic Commerce and Internet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ym typeface="Wingdings"/>
              </a:rPr>
              <a:t></a:t>
            </a:r>
            <a:r>
              <a:rPr lang="en-US" sz="2800" dirty="0" smtClean="0">
                <a:sym typeface="Wingdings"/>
              </a:rPr>
              <a:t> </a:t>
            </a:r>
            <a:r>
              <a:rPr lang="en-US" sz="2800" dirty="0" smtClean="0"/>
              <a:t>E-commerce and communication over the internet offers tremendous market potential foe today’s business.</a:t>
            </a:r>
          </a:p>
          <a:p>
            <a:pPr>
              <a:buNone/>
            </a:pPr>
            <a:r>
              <a:rPr lang="en-US" sz="2800" dirty="0" smtClean="0"/>
              <a:t>    Business over internet secure the following fields: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Authentication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Privacy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Access Control</a:t>
            </a:r>
          </a:p>
          <a:p>
            <a:pPr>
              <a:buNone/>
            </a:pPr>
            <a:r>
              <a:rPr lang="en-US" sz="2800" dirty="0" smtClean="0">
                <a:latin typeface="Wide Latin"/>
              </a:rPr>
              <a:t>– </a:t>
            </a:r>
            <a:r>
              <a:rPr lang="en-US" sz="2800" dirty="0" smtClean="0"/>
              <a:t>Non--repudiation</a:t>
            </a:r>
            <a:endParaRPr lang="en-US" sz="2800" dirty="0"/>
          </a:p>
        </p:txBody>
      </p:sp>
      <p:pic>
        <p:nvPicPr>
          <p:cNvPr id="1026" name="Picture 2" descr="F:\Mahbuba\Moni\Characters\268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9800" y="3538950"/>
            <a:ext cx="2362200" cy="2480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800600" cy="71596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000" dirty="0" smtClean="0"/>
              <a:t>Electronic Data Interchange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buNone/>
            </a:pPr>
            <a:r>
              <a:rPr lang="en-US" sz="2800" dirty="0" smtClean="0">
                <a:sym typeface="Wingdings"/>
              </a:rPr>
              <a:t> </a:t>
            </a:r>
            <a:r>
              <a:rPr lang="en-US" sz="2800" b="1" dirty="0" smtClean="0"/>
              <a:t>Electronic Data Interchange:</a:t>
            </a:r>
          </a:p>
          <a:p>
            <a:pPr algn="just">
              <a:buFont typeface="Wingdings"/>
              <a:buChar char="§"/>
            </a:pPr>
            <a:r>
              <a:rPr lang="en-US" sz="2800" dirty="0" smtClean="0"/>
              <a:t>EDI is the interchange of business documents in a standard format between trading parties.</a:t>
            </a:r>
          </a:p>
          <a:p>
            <a:pPr algn="just">
              <a:buFont typeface="Wingdings"/>
              <a:buChar char="§"/>
            </a:pPr>
            <a:r>
              <a:rPr lang="en-US" sz="2800" dirty="0" smtClean="0"/>
              <a:t>The exchange of information can take place between organizations having different hardware, operating systems and applications.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 </a:t>
            </a:r>
            <a:r>
              <a:rPr lang="en-US" sz="2800" b="1" dirty="0" smtClean="0"/>
              <a:t>EDI is based on </a:t>
            </a:r>
          </a:p>
          <a:p>
            <a:pPr algn="just">
              <a:buFont typeface="Wingdings"/>
              <a:buChar char="§"/>
            </a:pPr>
            <a:r>
              <a:rPr lang="en-US" sz="2800" dirty="0" smtClean="0"/>
              <a:t>EDI Translation Software</a:t>
            </a:r>
          </a:p>
          <a:p>
            <a:pPr algn="just">
              <a:buFont typeface="Wingdings"/>
              <a:buChar char="§"/>
            </a:pPr>
            <a:r>
              <a:rPr lang="en-US" sz="2800" dirty="0" smtClean="0"/>
              <a:t>EDI message standard</a:t>
            </a:r>
          </a:p>
          <a:p>
            <a:pPr algn="just">
              <a:buFont typeface="Wingdings"/>
              <a:buChar char="§"/>
            </a:pPr>
            <a:r>
              <a:rPr lang="en-US" sz="2800" dirty="0" smtClean="0"/>
              <a:t>Computerized Processing System</a:t>
            </a:r>
          </a:p>
          <a:p>
            <a:pPr algn="just">
              <a:buFont typeface="Wingdings"/>
              <a:buChar char="§"/>
            </a:pPr>
            <a:r>
              <a:rPr lang="en-US" sz="2800" dirty="0" smtClean="0"/>
              <a:t>Data Communication System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91400" cy="63976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l"/>
            <a:r>
              <a:rPr lang="en-US" sz="3000" dirty="0" smtClean="0"/>
              <a:t>Media of Computer based Communication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buNone/>
            </a:pPr>
            <a:r>
              <a:rPr lang="en-US" sz="2800" dirty="0" smtClean="0">
                <a:sym typeface="Wingdings 2"/>
              </a:rPr>
              <a:t> </a:t>
            </a:r>
            <a:r>
              <a:rPr lang="en-US" sz="2800" b="1" dirty="0" smtClean="0"/>
              <a:t>Teleconferencing: </a:t>
            </a:r>
            <a:r>
              <a:rPr lang="en-US" sz="2800" dirty="0" smtClean="0"/>
              <a:t>In general, most people think of a teleconference as a group of people interacting with each other by  means of audio an video media with moving or still pictures.</a:t>
            </a:r>
          </a:p>
          <a:p>
            <a:pPr>
              <a:buFont typeface="Wingdings 2"/>
              <a:buChar char="©"/>
            </a:pPr>
            <a:r>
              <a:rPr lang="en-US" sz="2800" b="1" dirty="0" smtClean="0"/>
              <a:t>E-mail: </a:t>
            </a:r>
            <a:r>
              <a:rPr lang="en-US" sz="2800" dirty="0" smtClean="0"/>
              <a:t>For the operation of e-mail, both the communicator and communicatee must have the facility of two-computer terminals connected on networks. </a:t>
            </a:r>
          </a:p>
          <a:p>
            <a:pPr algn="just">
              <a:buFont typeface="Wingdings 2"/>
              <a:buChar char="©"/>
            </a:pPr>
            <a:r>
              <a:rPr lang="en-US" sz="2800" dirty="0" smtClean="0"/>
              <a:t> </a:t>
            </a:r>
            <a:r>
              <a:rPr lang="en-US" sz="2800" b="1" dirty="0" smtClean="0"/>
              <a:t>Voice Mail (V.mail):  </a:t>
            </a:r>
            <a:r>
              <a:rPr lang="en-US" sz="2800" dirty="0" smtClean="0"/>
              <a:t>With V.mail message, instead of being communicated in writing, is transmitted in the voice of the caller.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>
              <a:buFont typeface="Wingdings 2"/>
              <a:buChar char="©"/>
            </a:pPr>
            <a:r>
              <a:rPr lang="en-US" sz="2800" b="1" dirty="0" smtClean="0"/>
              <a:t>Cellular (Mobile) phone: </a:t>
            </a:r>
            <a:r>
              <a:rPr lang="en-US" sz="2800" dirty="0" smtClean="0"/>
              <a:t>A person can carry a telephone set with him wherever he goes and can receive and make  telephone calls from anywhere he is within the specific communication network. </a:t>
            </a:r>
          </a:p>
          <a:p>
            <a:pPr algn="just">
              <a:buFont typeface="Wingdings 2"/>
              <a:buChar char="©"/>
            </a:pPr>
            <a:r>
              <a:rPr lang="en-US" sz="2800" b="1" dirty="0" smtClean="0"/>
              <a:t>Facsimile (Fax): </a:t>
            </a:r>
            <a:r>
              <a:rPr lang="en-US" sz="2800" dirty="0" smtClean="0"/>
              <a:t>Facsimile means </a:t>
            </a:r>
            <a:r>
              <a:rPr lang="en-US" sz="2800" b="1" dirty="0" smtClean="0"/>
              <a:t>“a copy”</a:t>
            </a:r>
            <a:r>
              <a:rPr lang="en-US" sz="2800" dirty="0" smtClean="0"/>
              <a:t>. It is transmitted by telephone lines to special receiver/transmitter equipment. Facsimile machines make it easy for people to use written communication and get quick feedback.</a:t>
            </a:r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6934200" cy="6397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Media of Computer based Communication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114800" cy="79216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000" dirty="0" smtClean="0"/>
              <a:t>Visual Communication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4953000" cy="5410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>
                <a:sym typeface="Wingdings"/>
              </a:rPr>
              <a:t> </a:t>
            </a:r>
            <a:r>
              <a:rPr lang="en-US" sz="2800" b="1" dirty="0" smtClean="0"/>
              <a:t>Visual Communication:</a:t>
            </a:r>
          </a:p>
          <a:p>
            <a:pPr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Printed pictures, posters, slides, even facial expression and gestures etc. fall under visual category.</a:t>
            </a:r>
          </a:p>
          <a:p>
            <a:pPr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In such type of communication, no words are uttered but yet the message gets across.</a:t>
            </a:r>
          </a:p>
          <a:p>
            <a:pPr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Visual Communication is attractive and easily Understandable.</a:t>
            </a:r>
            <a:endParaRPr lang="en-US" sz="2800" dirty="0"/>
          </a:p>
        </p:txBody>
      </p:sp>
      <p:pic>
        <p:nvPicPr>
          <p:cNvPr id="2051" name="Picture 3" descr="F:\Mahbuba\Moni\Characters\15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1905000"/>
            <a:ext cx="3124200" cy="3124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2832391" y="3032919"/>
            <a:ext cx="6400800" cy="63976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l"/>
            <a:r>
              <a:rPr lang="en-US" sz="3000" dirty="0" smtClean="0"/>
              <a:t>Audio-Visual communication 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"/>
            <a:ext cx="5257800" cy="6400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buNone/>
            </a:pPr>
            <a:r>
              <a:rPr lang="en-US" sz="2800" dirty="0" smtClean="0">
                <a:sym typeface="Wingdings"/>
              </a:rPr>
              <a:t> </a:t>
            </a:r>
            <a:r>
              <a:rPr lang="en-US" sz="2800" b="1" dirty="0" smtClean="0"/>
              <a:t>Audio-Visual Communication: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It is combination of both sight and sound.  Short films on the cinema screen, and video tapes are powerful tools of such communication.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People can easily recall some interesting scenes of a movie years after they have seen it.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This communication is effective for mass publicity.</a:t>
            </a:r>
          </a:p>
          <a:p>
            <a:pPr algn="just">
              <a:buNone/>
            </a:pPr>
            <a:r>
              <a:rPr lang="en-US" sz="2800" dirty="0" smtClean="0">
                <a:sym typeface="Wingdings"/>
              </a:rPr>
              <a:t> </a:t>
            </a:r>
            <a:r>
              <a:rPr lang="en-US" sz="2800" dirty="0" smtClean="0"/>
              <a:t>To make this effective it is need to make the slides and films interesting and attractive.</a:t>
            </a:r>
            <a:endParaRPr lang="en-US" sz="2800" dirty="0"/>
          </a:p>
        </p:txBody>
      </p:sp>
      <p:pic>
        <p:nvPicPr>
          <p:cNvPr id="3074" name="Picture 2" descr="F:\Mahbuba\Moni\Characters\231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00800" y="1143000"/>
            <a:ext cx="2743200" cy="4800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7400" y="2590800"/>
            <a:ext cx="3660169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5400" b="1" dirty="0">
                <a:ln/>
                <a:solidFill>
                  <a:schemeClr val="accent3"/>
                </a:solidFill>
              </a:rPr>
              <a:t>Thank You</a:t>
            </a:r>
          </a:p>
        </p:txBody>
      </p:sp>
      <p:pic>
        <p:nvPicPr>
          <p:cNvPr id="1026" name="Picture 2" descr="F:\Mahbuba\Moni\Characters\196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2590800"/>
            <a:ext cx="995362" cy="9953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1280</Words>
  <Application>Microsoft Office PowerPoint</Application>
  <PresentationFormat>On-screen Show (4:3)</PresentationFormat>
  <Paragraphs>189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Algerian</vt:lpstr>
      <vt:lpstr>Arial</vt:lpstr>
      <vt:lpstr>Bernard MT Condensed</vt:lpstr>
      <vt:lpstr>Calibri</vt:lpstr>
      <vt:lpstr>Wide Latin</vt:lpstr>
      <vt:lpstr>Wingdings</vt:lpstr>
      <vt:lpstr>Wingdings 2</vt:lpstr>
      <vt:lpstr>Office Theme</vt:lpstr>
      <vt:lpstr>PowerPoint Presentation</vt:lpstr>
      <vt:lpstr>Media of Communication </vt:lpstr>
      <vt:lpstr>PowerPoint Presentation</vt:lpstr>
      <vt:lpstr>Written Communication</vt:lpstr>
      <vt:lpstr>PowerPoint Presentation</vt:lpstr>
      <vt:lpstr>PowerPoint Presentation</vt:lpstr>
      <vt:lpstr>PowerPoint Presentation</vt:lpstr>
      <vt:lpstr>Oral Communication</vt:lpstr>
      <vt:lpstr>Channels of Oral Communication</vt:lpstr>
      <vt:lpstr>PowerPoint Presentation</vt:lpstr>
      <vt:lpstr>PowerPoint Presentation</vt:lpstr>
      <vt:lpstr>Merits of Oral Communication </vt:lpstr>
      <vt:lpstr>Demerits of Oral Communication</vt:lpstr>
      <vt:lpstr>When Oral Communication is Effective</vt:lpstr>
      <vt:lpstr>PowerPoint Presentation</vt:lpstr>
      <vt:lpstr> Oral or Written-which communication is More Acceptable? </vt:lpstr>
      <vt:lpstr>Face-to Face Communication</vt:lpstr>
      <vt:lpstr>PowerPoint Presentation</vt:lpstr>
      <vt:lpstr>Electronic Communication</vt:lpstr>
      <vt:lpstr>PowerPoint Presentation</vt:lpstr>
      <vt:lpstr>Electronic Commerce and Internet</vt:lpstr>
      <vt:lpstr>Electronic Data Interchange</vt:lpstr>
      <vt:lpstr>Media of Computer based Communication</vt:lpstr>
      <vt:lpstr>PowerPoint Presentation</vt:lpstr>
      <vt:lpstr>Visual Communication</vt:lpstr>
      <vt:lpstr>Audio-Visual communication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User</cp:lastModifiedBy>
  <cp:revision>19</cp:revision>
  <cp:lastPrinted>2022-06-01T20:26:05Z</cp:lastPrinted>
  <dcterms:created xsi:type="dcterms:W3CDTF">2006-08-16T00:00:00Z</dcterms:created>
  <dcterms:modified xsi:type="dcterms:W3CDTF">2022-06-01T20:33:01Z</dcterms:modified>
</cp:coreProperties>
</file>