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handoutMasterIdLst>
    <p:handoutMasterId r:id="rId75"/>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327" r:id="rId24"/>
    <p:sldId id="318" r:id="rId25"/>
    <p:sldId id="319" r:id="rId26"/>
    <p:sldId id="320" r:id="rId27"/>
    <p:sldId id="321" r:id="rId28"/>
    <p:sldId id="322" r:id="rId29"/>
    <p:sldId id="323" r:id="rId30"/>
    <p:sldId id="324" r:id="rId31"/>
    <p:sldId id="325" r:id="rId32"/>
    <p:sldId id="326" r:id="rId33"/>
    <p:sldId id="279" r:id="rId34"/>
    <p:sldId id="328" r:id="rId35"/>
    <p:sldId id="281" r:id="rId36"/>
    <p:sldId id="282" r:id="rId37"/>
    <p:sldId id="283" r:id="rId38"/>
    <p:sldId id="284" r:id="rId39"/>
    <p:sldId id="286" r:id="rId40"/>
    <p:sldId id="285" r:id="rId41"/>
    <p:sldId id="287" r:id="rId42"/>
    <p:sldId id="289" r:id="rId43"/>
    <p:sldId id="288"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257" r:id="rId7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72" autoAdjust="0"/>
  </p:normalViewPr>
  <p:slideViewPr>
    <p:cSldViewPr>
      <p:cViewPr varScale="1">
        <p:scale>
          <a:sx n="102" d="100"/>
          <a:sy n="102" d="100"/>
        </p:scale>
        <p:origin x="26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77A97473-5E81-4D4C-9D37-090E5402057F}" type="datetimeFigureOut">
              <a:rPr lang="en-US" smtClean="0"/>
              <a:pPr/>
              <a:t>7/3/2019</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C804248-780E-4B2E-8CBB-FB6B9D32168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BBF95A7A-8765-41E1-8F94-D3BE18E1F80D}" type="datetimeFigureOut">
              <a:rPr lang="en-US" smtClean="0"/>
              <a:pPr/>
              <a:t>7/3/2019</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7A8546A9-A636-4639-BE16-95A6AB8D34A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1FA8C381-C969-4E95-9072-ECA052EBDC22}" type="slidenum">
              <a:rPr lang="en-US">
                <a:latin typeface="Times New Roman" pitchFamily="18" charset="0"/>
              </a:rPr>
              <a:pPr/>
              <a:t>26</a:t>
            </a:fld>
            <a:endParaRPr lang="en-US">
              <a:latin typeface="Times New Roman"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1119F48B-6FA0-4A43-8FFB-1D2671EFD860}" type="slidenum">
              <a:rPr lang="en-US">
                <a:latin typeface="Times New Roman" pitchFamily="18" charset="0"/>
              </a:rPr>
              <a:pPr/>
              <a:t>27</a:t>
            </a:fld>
            <a:endParaRPr lang="en-US">
              <a:latin typeface="Times New Roman"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854E3892-EA67-4A92-8D59-990F6EFFD43E}" type="slidenum">
              <a:rPr lang="en-US">
                <a:latin typeface="Times New Roman" pitchFamily="18" charset="0"/>
              </a:rPr>
              <a:pPr/>
              <a:t>28</a:t>
            </a:fld>
            <a:endParaRPr lang="en-US">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6D463A00-521A-4676-BC12-A7B04856BAAD}" type="slidenum">
              <a:rPr lang="en-US">
                <a:latin typeface="Times New Roman" pitchFamily="18" charset="0"/>
              </a:rPr>
              <a:pPr/>
              <a:t>29</a:t>
            </a:fld>
            <a:endParaRPr lang="en-US">
              <a:latin typeface="Times New Roman" pitchFamily="18"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58AE3374-4A01-4AF3-AC5D-D77E8B1B391F}" type="slidenum">
              <a:rPr lang="en-US">
                <a:latin typeface="Times New Roman" pitchFamily="18" charset="0"/>
              </a:rPr>
              <a:pPr/>
              <a:t>30</a:t>
            </a:fld>
            <a:endParaRPr lang="en-US">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F5C3772D-B724-4410-8A30-311163111E7E}" type="slidenum">
              <a:rPr lang="en-US">
                <a:latin typeface="Times New Roman" pitchFamily="18" charset="0"/>
              </a:rPr>
              <a:pPr/>
              <a:t>31</a:t>
            </a:fld>
            <a:endParaRPr lang="en-US">
              <a:latin typeface="Times New Roman" pitchFamily="18" charset="0"/>
            </a:endParaRPr>
          </a:p>
        </p:txBody>
      </p:sp>
      <p:sp>
        <p:nvSpPr>
          <p:cNvPr id="45059" name="Rectangle 1026"/>
          <p:cNvSpPr>
            <a:spLocks noGrp="1" noRot="1" noChangeAspect="1" noChangeArrowheads="1" noTextEdit="1"/>
          </p:cNvSpPr>
          <p:nvPr>
            <p:ph type="sldImg"/>
          </p:nvPr>
        </p:nvSpPr>
        <p:spPr>
          <a:ln/>
        </p:spPr>
      </p:sp>
      <p:sp>
        <p:nvSpPr>
          <p:cNvPr id="45060" name="Rectangle 1027"/>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EE24E8BC-2B38-4BA3-8B39-AD6D1A1B56D7}" type="slidenum">
              <a:rPr lang="en-US">
                <a:latin typeface="Times New Roman" pitchFamily="18" charset="0"/>
              </a:rPr>
              <a:pPr/>
              <a:t>32</a:t>
            </a:fld>
            <a:endParaRPr lang="en-US">
              <a:latin typeface="Times New Roman"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8455969" cy="1938992"/>
          </a:xfrm>
          <a:prstGeom prst="rect">
            <a:avLst/>
          </a:prstGeom>
          <a:noFill/>
        </p:spPr>
        <p:txBody>
          <a:bodyPr>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60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COMMUNICATION</a:t>
            </a:r>
          </a:p>
        </p:txBody>
      </p:sp>
      <p:sp>
        <p:nvSpPr>
          <p:cNvPr id="5" name="Rectangle 4"/>
          <p:cNvSpPr/>
          <p:nvPr/>
        </p:nvSpPr>
        <p:spPr>
          <a:xfrm>
            <a:off x="3008501" y="5096470"/>
            <a:ext cx="2935099" cy="923330"/>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BBA 2106</a:t>
            </a:r>
          </a:p>
        </p:txBody>
      </p:sp>
      <p:sp>
        <p:nvSpPr>
          <p:cNvPr id="2052" name="TextBox 6"/>
          <p:cNvSpPr txBox="1">
            <a:spLocks noChangeArrowheads="1"/>
          </p:cNvSpPr>
          <p:nvPr/>
        </p:nvSpPr>
        <p:spPr bwMode="auto">
          <a:xfrm>
            <a:off x="2209800" y="2858631"/>
            <a:ext cx="4724400" cy="2246769"/>
          </a:xfrm>
          <a:prstGeom prst="rect">
            <a:avLst/>
          </a:prstGeom>
          <a:noFill/>
          <a:ln w="9525">
            <a:noFill/>
            <a:miter lim="800000"/>
            <a:headEnd/>
            <a:tailEnd/>
          </a:ln>
        </p:spPr>
        <p:txBody>
          <a:bodyPr wrap="square">
            <a:spAutoFit/>
          </a:bodyPr>
          <a:lstStyle/>
          <a:p>
            <a:pPr algn="ctr"/>
            <a:r>
              <a:rPr lang="en-US" sz="3500" b="1" dirty="0" smtClean="0">
                <a:solidFill>
                  <a:srgbClr val="7030A0"/>
                </a:solidFill>
                <a:latin typeface="Algerian" pitchFamily="82" charset="0"/>
              </a:rPr>
              <a:t>Writing process</a:t>
            </a:r>
          </a:p>
          <a:p>
            <a:pPr algn="ctr"/>
            <a:r>
              <a:rPr lang="en-US" sz="3500" b="1" dirty="0" smtClean="0">
                <a:solidFill>
                  <a:srgbClr val="7030A0"/>
                </a:solidFill>
                <a:latin typeface="Algerian" pitchFamily="82" charset="0"/>
              </a:rPr>
              <a:t>&amp;</a:t>
            </a:r>
          </a:p>
          <a:p>
            <a:pPr algn="ctr"/>
            <a:r>
              <a:rPr lang="en-US" sz="3500" b="1" dirty="0" smtClean="0">
                <a:solidFill>
                  <a:srgbClr val="7030A0"/>
                </a:solidFill>
                <a:latin typeface="Algerian" pitchFamily="82" charset="0"/>
              </a:rPr>
              <a:t>Business message</a:t>
            </a:r>
          </a:p>
          <a:p>
            <a:pPr algn="ctr"/>
            <a:endParaRPr lang="en-US" sz="3500" b="1" dirty="0">
              <a:solidFill>
                <a:srgbClr val="7030A0"/>
              </a:solidFill>
              <a:latin typeface="Algerian" pitchFamily="82"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solidFill>
            <a:schemeClr val="accent1">
              <a:lumMod val="20000"/>
              <a:lumOff val="80000"/>
            </a:schemeClr>
          </a:solidFill>
          <a:ln>
            <a:solidFill>
              <a:schemeClr val="accent1"/>
            </a:solidFill>
          </a:ln>
        </p:spPr>
        <p:txBody>
          <a:bodyPr>
            <a:normAutofit/>
          </a:bodyPr>
          <a:lstStyle/>
          <a:p>
            <a:pPr algn="l"/>
            <a:r>
              <a:rPr lang="en-US" sz="3000" dirty="0" smtClean="0"/>
              <a:t>The Process of Writing</a:t>
            </a:r>
            <a:endParaRPr lang="en-US" sz="3000" dirty="0"/>
          </a:p>
        </p:txBody>
      </p:sp>
      <p:sp>
        <p:nvSpPr>
          <p:cNvPr id="3" name="Content Placeholder 2"/>
          <p:cNvSpPr>
            <a:spLocks noGrp="1"/>
          </p:cNvSpPr>
          <p:nvPr>
            <p:ph idx="1"/>
          </p:nvPr>
        </p:nvSpPr>
        <p:spPr>
          <a:xfrm>
            <a:off x="457200" y="1676401"/>
            <a:ext cx="8229600" cy="3657600"/>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800" dirty="0" smtClean="0"/>
              <a:t>Writing researches have been studying the composing process since the 1970’s.</a:t>
            </a:r>
          </a:p>
          <a:p>
            <a:pPr>
              <a:buFont typeface="Wingdings 2"/>
              <a:buChar char="©"/>
            </a:pPr>
            <a:r>
              <a:rPr lang="en-US" sz="2800" dirty="0" smtClean="0"/>
              <a:t>They found that that each person’s way of developing a piece of writing for a given situation is unique.</a:t>
            </a:r>
          </a:p>
          <a:p>
            <a:pPr>
              <a:buFont typeface="Wingdings 2"/>
              <a:buChar char="©"/>
            </a:pPr>
            <a:r>
              <a:rPr lang="en-US" sz="2800" dirty="0" smtClean="0"/>
              <a:t>Familiarizing with the findings will help to make one’s more deliberate, effective writer.</a:t>
            </a: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6388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2"/>
              </a:rPr>
              <a:t> </a:t>
            </a:r>
            <a:r>
              <a:rPr lang="en-US" sz="2800" dirty="0" smtClean="0"/>
              <a:t>The writing process consists of three main stages.</a:t>
            </a:r>
          </a:p>
          <a:p>
            <a:pPr>
              <a:buNone/>
            </a:pPr>
            <a:r>
              <a:rPr lang="en-US" sz="2800" dirty="0" smtClean="0">
                <a:sym typeface="Wingdings 3"/>
              </a:rPr>
              <a:t></a:t>
            </a:r>
            <a:r>
              <a:rPr lang="en-US" sz="2800" dirty="0" smtClean="0"/>
              <a:t>Planning, </a:t>
            </a:r>
            <a:r>
              <a:rPr lang="en-US" sz="2800" dirty="0" smtClean="0">
                <a:sym typeface="Wingdings 3"/>
              </a:rPr>
              <a:t> </a:t>
            </a:r>
            <a:r>
              <a:rPr lang="en-US" sz="2800" dirty="0" smtClean="0"/>
              <a:t>Drafting, </a:t>
            </a:r>
            <a:r>
              <a:rPr lang="en-US" sz="2800" dirty="0" smtClean="0">
                <a:sym typeface="Wingdings 3"/>
              </a:rPr>
              <a:t> </a:t>
            </a:r>
            <a:r>
              <a:rPr lang="en-US" sz="2800" dirty="0" smtClean="0"/>
              <a:t>Revising.</a:t>
            </a:r>
          </a:p>
          <a:p>
            <a:pPr>
              <a:buFont typeface="Wingdings 2"/>
              <a:buChar char="¡"/>
            </a:pPr>
            <a:r>
              <a:rPr lang="en-US" sz="2800" dirty="0" smtClean="0"/>
              <a:t>There are interrelations  among these stages.</a:t>
            </a:r>
          </a:p>
          <a:p>
            <a:pPr>
              <a:buFont typeface="Wingdings 2"/>
              <a:buChar char="¡"/>
            </a:pPr>
            <a:r>
              <a:rPr lang="en-US" sz="2800" dirty="0" smtClean="0"/>
              <a:t>These are recursive.</a:t>
            </a:r>
          </a:p>
          <a:p>
            <a:endParaRPr lang="en-US" sz="2800" dirty="0" smtClean="0"/>
          </a:p>
          <a:p>
            <a:endParaRPr lang="en-US" sz="2800" dirty="0"/>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The Process of Writing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1427760" y="4219080"/>
            <a:ext cx="1828800" cy="2438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Planning</a:t>
            </a:r>
          </a:p>
          <a:p>
            <a:endParaRPr lang="en-US" sz="1600" b="1" dirty="0" smtClean="0">
              <a:latin typeface="Times New Roman" pitchFamily="18" charset="0"/>
              <a:cs typeface="Times New Roman" pitchFamily="18" charset="0"/>
            </a:endParaRPr>
          </a:p>
          <a:p>
            <a:pPr>
              <a:buFont typeface="Wingdings 2"/>
              <a:buChar char="¡"/>
            </a:pPr>
            <a:r>
              <a:rPr lang="en-US" dirty="0" smtClean="0">
                <a:latin typeface="Times New Roman" pitchFamily="18" charset="0"/>
                <a:cs typeface="Times New Roman" pitchFamily="18" charset="0"/>
              </a:rPr>
              <a:t> Gathering and collecting</a:t>
            </a:r>
          </a:p>
          <a:p>
            <a:pPr>
              <a:buFont typeface="Wingdings 2"/>
              <a:buChar char="¡"/>
            </a:pPr>
            <a:r>
              <a:rPr lang="en-US" dirty="0" smtClean="0">
                <a:latin typeface="Times New Roman" pitchFamily="18" charset="0"/>
                <a:cs typeface="Times New Roman" pitchFamily="18" charset="0"/>
              </a:rPr>
              <a:t> Analyzing and organizing</a:t>
            </a:r>
          </a:p>
          <a:p>
            <a:pPr>
              <a:buFont typeface="Wingdings 2"/>
              <a:buChar char="¡"/>
            </a:pPr>
            <a:r>
              <a:rPr lang="en-US" dirty="0" smtClean="0">
                <a:latin typeface="Times New Roman" pitchFamily="18" charset="0"/>
                <a:cs typeface="Times New Roman" pitchFamily="18" charset="0"/>
              </a:rPr>
              <a:t> Choosing a form</a:t>
            </a:r>
            <a:endParaRPr lang="en-US" dirty="0">
              <a:latin typeface="Times New Roman" pitchFamily="18" charset="0"/>
              <a:cs typeface="Times New Roman" pitchFamily="18" charset="0"/>
            </a:endParaRPr>
          </a:p>
        </p:txBody>
      </p:sp>
      <p:sp>
        <p:nvSpPr>
          <p:cNvPr id="6" name="Rectangle 5"/>
          <p:cNvSpPr/>
          <p:nvPr/>
        </p:nvSpPr>
        <p:spPr>
          <a:xfrm>
            <a:off x="3789960" y="4219080"/>
            <a:ext cx="1828800" cy="2438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Drafting</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Font typeface="Wingdings 2"/>
              <a:buChar char="¡"/>
            </a:pPr>
            <a:r>
              <a:rPr lang="en-US" dirty="0" smtClean="0">
                <a:latin typeface="Times New Roman" pitchFamily="18" charset="0"/>
                <a:cs typeface="Times New Roman" pitchFamily="18" charset="0"/>
              </a:rPr>
              <a:t>Being Flexible</a:t>
            </a:r>
          </a:p>
          <a:p>
            <a:pPr>
              <a:buFont typeface="Wingdings 2"/>
              <a:buChar char="¡"/>
            </a:pPr>
            <a:r>
              <a:rPr lang="en-US" dirty="0" smtClean="0">
                <a:latin typeface="Times New Roman" pitchFamily="18" charset="0"/>
                <a:cs typeface="Times New Roman" pitchFamily="18" charset="0"/>
              </a:rPr>
              <a:t> Keeping going</a:t>
            </a:r>
          </a:p>
          <a:p>
            <a:pPr>
              <a:buFont typeface="Wingdings 2"/>
              <a:buChar char="¡"/>
            </a:pPr>
            <a:r>
              <a:rPr lang="en-US" dirty="0" smtClean="0">
                <a:latin typeface="Times New Roman" pitchFamily="18" charset="0"/>
                <a:cs typeface="Times New Roman" pitchFamily="18" charset="0"/>
              </a:rPr>
              <a:t> Using your own favorite  strategies</a:t>
            </a:r>
            <a:endParaRPr lang="en-US" dirty="0">
              <a:latin typeface="Times New Roman" pitchFamily="18" charset="0"/>
              <a:cs typeface="Times New Roman" pitchFamily="18" charset="0"/>
            </a:endParaRPr>
          </a:p>
        </p:txBody>
      </p:sp>
      <p:sp>
        <p:nvSpPr>
          <p:cNvPr id="7" name="Rectangle 6"/>
          <p:cNvSpPr/>
          <p:nvPr/>
        </p:nvSpPr>
        <p:spPr>
          <a:xfrm>
            <a:off x="6152160" y="4219080"/>
            <a:ext cx="2133600" cy="2438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20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Revising</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Font typeface="Wingdings 2"/>
              <a:buChar char="¡"/>
            </a:pPr>
            <a:r>
              <a:rPr lang="en-US" dirty="0" smtClean="0">
                <a:latin typeface="Times New Roman" pitchFamily="18" charset="0"/>
                <a:cs typeface="Times New Roman" pitchFamily="18" charset="0"/>
              </a:rPr>
              <a:t>Revising contents, structure, and format</a:t>
            </a:r>
          </a:p>
          <a:p>
            <a:pPr>
              <a:buFont typeface="Wingdings 2"/>
              <a:buChar char="¡"/>
            </a:pPr>
            <a:r>
              <a:rPr lang="en-US" dirty="0" smtClean="0">
                <a:latin typeface="Times New Roman" pitchFamily="18" charset="0"/>
                <a:cs typeface="Times New Roman" pitchFamily="18" charset="0"/>
              </a:rPr>
              <a:t> Editing sentences and words</a:t>
            </a:r>
          </a:p>
          <a:p>
            <a:pPr>
              <a:buFont typeface="Wingdings 2"/>
              <a:buChar char="¡"/>
            </a:pPr>
            <a:r>
              <a:rPr lang="en-US" dirty="0" smtClean="0">
                <a:latin typeface="Times New Roman" pitchFamily="18" charset="0"/>
                <a:cs typeface="Times New Roman" pitchFamily="18" charset="0"/>
              </a:rPr>
              <a:t> Proofreadi</a:t>
            </a:r>
            <a:r>
              <a:rPr lang="en-US" dirty="0" smtClean="0"/>
              <a:t>ng </a:t>
            </a:r>
            <a:endParaRPr lang="en-US" dirty="0"/>
          </a:p>
        </p:txBody>
      </p:sp>
      <p:sp>
        <p:nvSpPr>
          <p:cNvPr id="10" name="Curved Up Arrow 9"/>
          <p:cNvSpPr/>
          <p:nvPr/>
        </p:nvSpPr>
        <p:spPr>
          <a:xfrm rot="10800000">
            <a:off x="2265960" y="3581399"/>
            <a:ext cx="2057400" cy="609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Curved Up Arrow 11"/>
          <p:cNvSpPr/>
          <p:nvPr/>
        </p:nvSpPr>
        <p:spPr>
          <a:xfrm rot="10800000">
            <a:off x="1612248" y="2923679"/>
            <a:ext cx="6553200" cy="12954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 </a:t>
            </a:r>
            <a:endParaRPr lang="en-US" dirty="0">
              <a:solidFill>
                <a:schemeClr val="tx1"/>
              </a:solidFill>
            </a:endParaRPr>
          </a:p>
        </p:txBody>
      </p:sp>
      <p:sp>
        <p:nvSpPr>
          <p:cNvPr id="13" name="Curved Up Arrow 12"/>
          <p:cNvSpPr/>
          <p:nvPr/>
        </p:nvSpPr>
        <p:spPr>
          <a:xfrm rot="10800000">
            <a:off x="5105400" y="3581400"/>
            <a:ext cx="2057400" cy="6096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ight Arrow 13"/>
          <p:cNvSpPr/>
          <p:nvPr/>
        </p:nvSpPr>
        <p:spPr>
          <a:xfrm>
            <a:off x="3316720" y="5285880"/>
            <a:ext cx="381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a:off x="5694960" y="5285880"/>
            <a:ext cx="381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3505200" y="3152272"/>
            <a:ext cx="2981009" cy="400110"/>
          </a:xfrm>
          <a:prstGeom prst="rect">
            <a:avLst/>
          </a:prstGeom>
          <a:solidFill>
            <a:schemeClr val="accent1">
              <a:lumMod val="20000"/>
              <a:lumOff val="80000"/>
            </a:schemeClr>
          </a:solidFill>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smtClean="0"/>
              <a:t>A Model of writing process</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8674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000" b="1" dirty="0" smtClean="0"/>
              <a:t>      </a:t>
            </a:r>
            <a:r>
              <a:rPr lang="en-US" sz="2000" b="1" dirty="0" smtClean="0">
                <a:solidFill>
                  <a:srgbClr val="7030A0"/>
                </a:solidFill>
              </a:rPr>
              <a:t>For example:</a:t>
            </a:r>
          </a:p>
          <a:p>
            <a:pPr>
              <a:buFont typeface="Wingdings 2"/>
              <a:buChar char="¡"/>
            </a:pPr>
            <a:r>
              <a:rPr lang="en-US" sz="2600" dirty="0" smtClean="0"/>
              <a:t>A writer in the planning stage may start writing pieces of the draft. </a:t>
            </a:r>
          </a:p>
          <a:p>
            <a:pPr>
              <a:buFont typeface="Wingdings 2"/>
              <a:buChar char="¡"/>
            </a:pPr>
            <a:r>
              <a:rPr lang="en-US" sz="2600" dirty="0" smtClean="0"/>
              <a:t>Or s/he may find when drafting, that more gathering of information is necessary.  </a:t>
            </a:r>
          </a:p>
          <a:p>
            <a:pPr>
              <a:buFont typeface="Wingdings 2"/>
              <a:buChar char="¡"/>
            </a:pPr>
            <a:r>
              <a:rPr lang="en-US" sz="2600" dirty="0" smtClean="0"/>
              <a:t>Or s/he may decide that it’s necessary to revise a piece of the document carefully before continuing on with the drafting.</a:t>
            </a:r>
          </a:p>
          <a:p>
            <a:pPr>
              <a:buFont typeface="Wingdings 2"/>
              <a:buChar char="¡"/>
            </a:pPr>
            <a:r>
              <a:rPr lang="en-US" sz="2600" dirty="0" smtClean="0"/>
              <a:t>A common mistake that writers make is to spend too much time on drafting and too little on the other two stages, planning and revising.</a:t>
            </a:r>
          </a:p>
          <a:p>
            <a:pPr>
              <a:buFont typeface="Wingdings 2"/>
              <a:buChar char="¡"/>
            </a:pPr>
            <a:r>
              <a:rPr lang="en-US" sz="2600" dirty="0" smtClean="0"/>
              <a:t>Once one becomes an expertise in business writing, s/he may be able to write many routine messages without as much planning and revising.</a:t>
            </a:r>
          </a:p>
          <a:p>
            <a:endParaRPr lang="en-US" sz="2600" dirty="0"/>
          </a:p>
        </p:txBody>
      </p:sp>
      <p:sp>
        <p:nvSpPr>
          <p:cNvPr id="4" name="Title 1"/>
          <p:cNvSpPr txBox="1">
            <a:spLocks/>
          </p:cNvSpPr>
          <p:nvPr/>
        </p:nvSpPr>
        <p:spPr>
          <a:xfrm>
            <a:off x="457200" y="152400"/>
            <a:ext cx="8229600" cy="5334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lnSpcReduction="1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The Process of Writing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chemeClr val="accent1">
              <a:lumMod val="20000"/>
              <a:lumOff val="80000"/>
            </a:schemeClr>
          </a:solidFill>
          <a:ln>
            <a:solidFill>
              <a:schemeClr val="accent1"/>
            </a:solidFill>
          </a:ln>
        </p:spPr>
        <p:txBody>
          <a:bodyPr>
            <a:normAutofit/>
          </a:bodyPr>
          <a:lstStyle/>
          <a:p>
            <a:pPr algn="l"/>
            <a:r>
              <a:rPr lang="en-US" sz="3000" dirty="0" smtClean="0"/>
              <a:t>Planning the Message</a:t>
            </a:r>
            <a:endParaRPr lang="en-US" sz="3000" dirty="0"/>
          </a:p>
        </p:txBody>
      </p:sp>
      <p:sp>
        <p:nvSpPr>
          <p:cNvPr id="3" name="Content Placeholder 2"/>
          <p:cNvSpPr>
            <a:spLocks noGrp="1"/>
          </p:cNvSpPr>
          <p:nvPr>
            <p:ph idx="1"/>
          </p:nvPr>
        </p:nvSpPr>
        <p:spPr>
          <a:xfrm>
            <a:off x="457200" y="1219200"/>
            <a:ext cx="8229600" cy="49069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b="1" dirty="0" smtClean="0">
                <a:sym typeface="Wingdings"/>
              </a:rPr>
              <a:t></a:t>
            </a:r>
            <a:r>
              <a:rPr lang="en-US" sz="2800" dirty="0" smtClean="0"/>
              <a:t>In the planning segment, it needs to think about your own organizational, professional , and personal contexts and their possible impact on communication goal.</a:t>
            </a:r>
          </a:p>
          <a:p>
            <a:pPr>
              <a:buNone/>
            </a:pPr>
            <a:r>
              <a:rPr lang="en-US" sz="2800" b="1" dirty="0" smtClean="0">
                <a:sym typeface="Wingdings"/>
              </a:rPr>
              <a:t></a:t>
            </a:r>
            <a:r>
              <a:rPr lang="en-US" sz="2800" dirty="0" smtClean="0"/>
              <a:t>Once it’s chosen the message’s purpose, it needs to figure out the best way to achieve it.</a:t>
            </a:r>
          </a:p>
          <a:p>
            <a:pPr>
              <a:buNone/>
            </a:pPr>
            <a:r>
              <a:rPr lang="en-US" sz="2800" b="1" dirty="0" smtClean="0">
                <a:sym typeface="Wingdings"/>
              </a:rPr>
              <a:t></a:t>
            </a:r>
            <a:r>
              <a:rPr lang="en-US" sz="2800" dirty="0" smtClean="0">
                <a:sym typeface="Wingdings"/>
              </a:rPr>
              <a:t> </a:t>
            </a:r>
            <a:r>
              <a:rPr lang="en-US" sz="2800" dirty="0" smtClean="0"/>
              <a:t>Most people, before drafting, have at least some sense of how they want to handle these elements.</a:t>
            </a:r>
          </a:p>
          <a:p>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5200" y="1600200"/>
            <a:ext cx="5181600" cy="45259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b="1" dirty="0" smtClean="0">
                <a:sym typeface="Wingdings"/>
              </a:rPr>
              <a:t> </a:t>
            </a:r>
            <a:r>
              <a:rPr lang="en-US" sz="2800" dirty="0" smtClean="0"/>
              <a:t>We might group all these planning activities into three categories:</a:t>
            </a:r>
          </a:p>
          <a:p>
            <a:pPr>
              <a:buFont typeface="Wingdings"/>
              <a:buChar char="F"/>
            </a:pPr>
            <a:r>
              <a:rPr lang="en-US" sz="2800" dirty="0" smtClean="0"/>
              <a:t>Gathering and collecting information;</a:t>
            </a:r>
          </a:p>
          <a:p>
            <a:pPr>
              <a:buFont typeface="Wingdings"/>
              <a:buChar char="F"/>
            </a:pPr>
            <a:r>
              <a:rPr lang="en-US" sz="2800" dirty="0" smtClean="0"/>
              <a:t>Analyzing and organizing the information; and</a:t>
            </a:r>
          </a:p>
          <a:p>
            <a:pPr>
              <a:buFont typeface="Wingdings"/>
              <a:buChar char="F"/>
            </a:pPr>
            <a:r>
              <a:rPr lang="en-US" sz="2800" dirty="0" smtClean="0"/>
              <a:t>Choosing the for, channel, and format it will take.</a:t>
            </a:r>
          </a:p>
          <a:p>
            <a:endParaRPr lang="en-US" sz="2800" dirty="0" smtClean="0"/>
          </a:p>
          <a:p>
            <a:endParaRPr lang="en-US" sz="2800" dirty="0"/>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835.jpeg"/>
          <p:cNvPicPr>
            <a:picLocks noChangeAspect="1" noChangeArrowheads="1"/>
          </p:cNvPicPr>
          <p:nvPr/>
        </p:nvPicPr>
        <p:blipFill>
          <a:blip r:embed="rId2"/>
          <a:srcRect/>
          <a:stretch>
            <a:fillRect/>
          </a:stretch>
        </p:blipFill>
        <p:spPr bwMode="auto">
          <a:xfrm>
            <a:off x="609600" y="2486025"/>
            <a:ext cx="2466164" cy="269557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7800"/>
            <a:ext cx="8229600" cy="45720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Gathering and collecting information:</a:t>
            </a:r>
          </a:p>
          <a:p>
            <a:pPr>
              <a:buFont typeface="Wingdings 3"/>
              <a:buChar char=""/>
            </a:pPr>
            <a:r>
              <a:rPr lang="en-US" sz="2800" dirty="0" smtClean="0"/>
              <a:t>Gathering information means doing some research.</a:t>
            </a:r>
          </a:p>
          <a:p>
            <a:pPr>
              <a:buFont typeface="Wingdings 3"/>
              <a:buChar char=""/>
            </a:pPr>
            <a:r>
              <a:rPr lang="en-US" sz="2800" dirty="0" smtClean="0"/>
              <a:t>In some cases the research can be informal- Findings past correspondence</a:t>
            </a:r>
          </a:p>
          <a:p>
            <a:pPr>
              <a:buFont typeface="Wingdings 3"/>
              <a:buChar char=""/>
            </a:pPr>
            <a:r>
              <a:rPr lang="en-US" sz="2800" dirty="0" smtClean="0"/>
              <a:t>Consulting with other employees or with outside advisors</a:t>
            </a:r>
          </a:p>
          <a:p>
            <a:pPr>
              <a:buFont typeface="Wingdings 3"/>
              <a:buChar char=""/>
            </a:pPr>
            <a:r>
              <a:rPr lang="en-US" sz="2800" dirty="0" smtClean="0"/>
              <a:t>Getting records</a:t>
            </a:r>
          </a:p>
          <a:p>
            <a:pPr>
              <a:buFont typeface="Wingdings 3"/>
              <a:buChar char=""/>
            </a:pPr>
            <a:r>
              <a:rPr lang="en-US" sz="2800" dirty="0" smtClean="0"/>
              <a:t>Product or service descriptions</a:t>
            </a:r>
            <a:endParaRPr lang="en-US" sz="2800" dirty="0"/>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3"/>
              </a:rPr>
              <a:t> </a:t>
            </a:r>
            <a:r>
              <a:rPr lang="en-US" sz="2800" dirty="0" smtClean="0"/>
              <a:t>Collecting information by using </a:t>
            </a:r>
          </a:p>
          <a:p>
            <a:pPr>
              <a:buNone/>
            </a:pPr>
            <a:r>
              <a:rPr lang="en-US" sz="2800" dirty="0" smtClean="0"/>
              <a:t>      </a:t>
            </a:r>
            <a:r>
              <a:rPr lang="en-US" sz="2800" dirty="0" smtClean="0">
                <a:sym typeface="Wingdings 3"/>
              </a:rPr>
              <a:t> </a:t>
            </a:r>
            <a:r>
              <a:rPr lang="en-US" sz="2800" dirty="0" smtClean="0"/>
              <a:t>Memory</a:t>
            </a:r>
          </a:p>
          <a:p>
            <a:pPr>
              <a:buNone/>
            </a:pPr>
            <a:r>
              <a:rPr lang="en-US" sz="2800" dirty="0" smtClean="0"/>
              <a:t>      </a:t>
            </a:r>
            <a:r>
              <a:rPr lang="en-US" sz="2800" dirty="0" smtClean="0">
                <a:sym typeface="Wingdings 3"/>
              </a:rPr>
              <a:t> </a:t>
            </a:r>
            <a:r>
              <a:rPr lang="en-US" sz="2800" dirty="0" smtClean="0"/>
              <a:t>Imagination, and </a:t>
            </a:r>
          </a:p>
          <a:p>
            <a:pPr>
              <a:buNone/>
            </a:pPr>
            <a:r>
              <a:rPr lang="en-US" sz="2800" dirty="0" smtClean="0"/>
              <a:t>      </a:t>
            </a:r>
            <a:r>
              <a:rPr lang="en-US" sz="2800" dirty="0" smtClean="0">
                <a:sym typeface="Wingdings 3"/>
              </a:rPr>
              <a:t> </a:t>
            </a:r>
            <a:r>
              <a:rPr lang="en-US" sz="2800" dirty="0" smtClean="0"/>
              <a:t>Creativity is also important.</a:t>
            </a:r>
          </a:p>
          <a:p>
            <a:pPr>
              <a:buFont typeface="Wingdings 3"/>
              <a:buChar char=""/>
            </a:pPr>
            <a:r>
              <a:rPr lang="en-US" sz="2800" dirty="0" smtClean="0"/>
              <a:t>Visualizing the readers and bearing their interests in mind in an excellent planning technique.</a:t>
            </a:r>
          </a:p>
          <a:p>
            <a:pPr>
              <a:buFont typeface="Wingdings 3"/>
              <a:buChar char=""/>
            </a:pPr>
            <a:r>
              <a:rPr lang="en-US" sz="2800" dirty="0" smtClean="0"/>
              <a:t>Making a list of pertinent facts is helpful.</a:t>
            </a:r>
          </a:p>
          <a:p>
            <a:pPr>
              <a:buFont typeface="Wingdings 3"/>
              <a:buChar char=""/>
            </a:pPr>
            <a:r>
              <a:rPr lang="en-US" sz="2800" dirty="0" smtClean="0"/>
              <a:t>Brainstorming, or generating possible solutions without censoring them, it will allow to come up with creative solutions.</a:t>
            </a:r>
          </a:p>
          <a:p>
            <a:endParaRPr lang="en-US" sz="2800" dirty="0" smtClean="0"/>
          </a:p>
          <a:p>
            <a:endParaRPr lang="en-US" sz="2800" dirty="0"/>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Analyzing and Organizing Information:</a:t>
            </a:r>
          </a:p>
          <a:p>
            <a:pPr>
              <a:buFont typeface="Wingdings 3"/>
              <a:buChar char=""/>
            </a:pPr>
            <a:r>
              <a:rPr lang="en-US" sz="2800" dirty="0" smtClean="0"/>
              <a:t>Once one has a good number of ideas, it will start to assess them. </a:t>
            </a:r>
          </a:p>
          <a:p>
            <a:pPr>
              <a:buFont typeface="Wingdings 3"/>
              <a:buChar char=""/>
            </a:pPr>
            <a:r>
              <a:rPr lang="en-US" sz="2800" dirty="0" smtClean="0"/>
              <a:t>If the data are numerical, it will do the calculations that will enable to see patterns and meaning in the numbers.</a:t>
            </a:r>
          </a:p>
          <a:p>
            <a:pPr>
              <a:buFont typeface="Wingdings 3"/>
              <a:buChar char=""/>
            </a:pPr>
            <a:r>
              <a:rPr lang="en-US" sz="2800" dirty="0" smtClean="0"/>
              <a:t>There are also a guide a number for organizing the information.</a:t>
            </a:r>
          </a:p>
          <a:p>
            <a:pPr>
              <a:buFont typeface="Wingdings 3"/>
              <a:buChar char=""/>
            </a:pPr>
            <a:r>
              <a:rPr lang="en-US" sz="2800" dirty="0" smtClean="0"/>
              <a:t>Regardless  of the situation, all readers appreciate a logical pattern for the information.</a:t>
            </a:r>
            <a:endParaRPr lang="en-US" sz="2800" dirty="0"/>
          </a:p>
        </p:txBody>
      </p:sp>
      <p:sp>
        <p:nvSpPr>
          <p:cNvPr id="4" name="Title 1"/>
          <p:cNvSpPr txBox="1">
            <a:spLocks/>
          </p:cNvSpPr>
          <p:nvPr/>
        </p:nvSpPr>
        <p:spPr>
          <a:xfrm>
            <a:off x="429128" y="4270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6632"/>
            <a:ext cx="8229600" cy="5698968"/>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Choosing a Form, Channel, and Format:</a:t>
            </a:r>
          </a:p>
          <a:p>
            <a:pPr>
              <a:buNone/>
            </a:pPr>
            <a:r>
              <a:rPr lang="en-US" sz="2800" dirty="0" smtClean="0">
                <a:sym typeface="Wingdings 3"/>
              </a:rPr>
              <a:t> </a:t>
            </a:r>
            <a:r>
              <a:rPr lang="en-US" sz="2800" dirty="0" smtClean="0"/>
              <a:t>Writers in school typically produce writing in two types:</a:t>
            </a:r>
          </a:p>
          <a:p>
            <a:pPr>
              <a:buNone/>
            </a:pPr>
            <a:r>
              <a:rPr lang="en-US" sz="2800" dirty="0" smtClean="0"/>
              <a:t>    </a:t>
            </a:r>
            <a:r>
              <a:rPr lang="en-US" sz="2800" dirty="0" smtClean="0">
                <a:sym typeface="Wingdings 3"/>
              </a:rPr>
              <a:t> </a:t>
            </a:r>
            <a:r>
              <a:rPr lang="en-US" sz="2800" dirty="0" smtClean="0"/>
              <a:t>Essay</a:t>
            </a:r>
          </a:p>
          <a:p>
            <a:pPr>
              <a:buNone/>
            </a:pPr>
            <a:r>
              <a:rPr lang="en-US" sz="2800" dirty="0" smtClean="0"/>
              <a:t>    </a:t>
            </a:r>
            <a:r>
              <a:rPr lang="en-US" sz="2800" dirty="0" smtClean="0">
                <a:sym typeface="Wingdings 3"/>
              </a:rPr>
              <a:t> </a:t>
            </a:r>
            <a:r>
              <a:rPr lang="en-US" sz="2800" dirty="0" smtClean="0"/>
              <a:t>Research Papers</a:t>
            </a:r>
          </a:p>
          <a:p>
            <a:pPr>
              <a:buFont typeface="Wingdings 3"/>
              <a:buChar char=""/>
            </a:pPr>
            <a:r>
              <a:rPr lang="en-US" sz="2800" dirty="0" smtClean="0"/>
              <a:t>Each form has its own formatting and stylistic conventions, and even conventions about content.</a:t>
            </a:r>
          </a:p>
          <a:p>
            <a:pPr>
              <a:buFont typeface="Wingdings 3"/>
              <a:buChar char=""/>
            </a:pPr>
            <a:r>
              <a:rPr lang="en-US" sz="2800" dirty="0" smtClean="0"/>
              <a:t>Business writers do not launch into writing in a document without some sense of what kind of document it will be.</a:t>
            </a:r>
          </a:p>
          <a:p>
            <a:pPr>
              <a:buFont typeface="Wingdings 3"/>
              <a:buChar char=""/>
            </a:pPr>
            <a:r>
              <a:rPr lang="en-US" sz="2800" dirty="0" smtClean="0"/>
              <a:t> On the job, choosing the type of document to be written is an important part of planning. </a:t>
            </a:r>
            <a:endParaRPr lang="en-US" sz="2800" dirty="0"/>
          </a:p>
        </p:txBody>
      </p:sp>
      <p:sp>
        <p:nvSpPr>
          <p:cNvPr id="4" name="Title 1"/>
          <p:cNvSpPr txBox="1">
            <a:spLocks/>
          </p:cNvSpPr>
          <p:nvPr/>
        </p:nvSpPr>
        <p:spPr>
          <a:xfrm>
            <a:off x="429128" y="18639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3"/>
              <a:buChar char=""/>
            </a:pPr>
            <a:r>
              <a:rPr lang="en-US" sz="2800" dirty="0" smtClean="0"/>
              <a:t>Specific decision about a document’s format, or visual design, can be made at any point in the writing process, but usually the planning stage involves preliminary decisions.</a:t>
            </a:r>
          </a:p>
          <a:p>
            <a:pPr>
              <a:buFont typeface="Wingdings 3"/>
              <a:buChar char=""/>
            </a:pPr>
            <a:r>
              <a:rPr lang="en-US" sz="2800" dirty="0" smtClean="0"/>
              <a:t>Formatting devices have such a large impact on reader’s reactions.</a:t>
            </a:r>
          </a:p>
          <a:p>
            <a:pPr>
              <a:buFont typeface="Wingdings 3"/>
              <a:buChar char=""/>
            </a:pPr>
            <a:r>
              <a:rPr lang="en-US" sz="2800" dirty="0" smtClean="0"/>
              <a:t>Decisions about formatting are an integral part of the business writer's writing process, even in the planning stage. </a:t>
            </a:r>
            <a:endParaRPr lang="en-US" sz="2800" dirty="0"/>
          </a:p>
        </p:txBody>
      </p:sp>
      <p:sp>
        <p:nvSpPr>
          <p:cNvPr id="4" name="Title 1"/>
          <p:cNvSpPr txBox="1">
            <a:spLocks/>
          </p:cNvSpPr>
          <p:nvPr/>
        </p:nvSpPr>
        <p:spPr>
          <a:xfrm>
            <a:off x="429128" y="4270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Planning the Message</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Drafting</a:t>
            </a:r>
            <a:endParaRPr lang="en-US" sz="3000" dirty="0"/>
          </a:p>
        </p:txBody>
      </p:sp>
      <p:sp>
        <p:nvSpPr>
          <p:cNvPr id="3" name="Content Placeholder 2"/>
          <p:cNvSpPr>
            <a:spLocks noGrp="1"/>
          </p:cNvSpPr>
          <p:nvPr>
            <p:ph idx="1"/>
          </p:nvPr>
        </p:nvSpPr>
        <p:spPr>
          <a:xfrm>
            <a:off x="457200" y="1143000"/>
            <a:ext cx="6477000" cy="5486400"/>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800" dirty="0" smtClean="0"/>
              <a:t>The best advice about drafting is to </a:t>
            </a:r>
            <a:r>
              <a:rPr lang="en-US" sz="2800" b="1" i="1" dirty="0" smtClean="0">
                <a:effectLst>
                  <a:outerShdw blurRad="38100" dist="38100" dir="2700000" algn="tl">
                    <a:srgbClr val="000000">
                      <a:alpha val="43137"/>
                    </a:srgbClr>
                  </a:outerShdw>
                </a:effectLst>
              </a:rPr>
              <a:t>“be flexible”</a:t>
            </a:r>
            <a:r>
              <a:rPr lang="en-US" sz="2800" dirty="0" smtClean="0"/>
              <a:t>.</a:t>
            </a:r>
          </a:p>
          <a:p>
            <a:pPr>
              <a:buFont typeface="Wingdings 2"/>
              <a:buChar char="¡"/>
            </a:pPr>
            <a:r>
              <a:rPr lang="en-US" sz="2800" dirty="0" smtClean="0"/>
              <a:t>Writing is such a cognitively difficult task that it is better to concentrate only on certain things at a time.</a:t>
            </a:r>
          </a:p>
          <a:p>
            <a:pPr>
              <a:buFont typeface="Wingdings 2"/>
              <a:buChar char="¡"/>
            </a:pPr>
            <a:r>
              <a:rPr lang="en-US" sz="2800" dirty="0" smtClean="0"/>
              <a:t>The following suggestions can help draft of messages as effectively as possible:</a:t>
            </a:r>
          </a:p>
          <a:p>
            <a:pPr>
              <a:buFont typeface="Wingdings"/>
              <a:buChar char="F"/>
            </a:pPr>
            <a:r>
              <a:rPr lang="en-US" sz="2800" dirty="0" smtClean="0"/>
              <a:t>Avoid perfectionism When Drafting</a:t>
            </a:r>
          </a:p>
          <a:p>
            <a:pPr>
              <a:buFont typeface="Wingdings"/>
              <a:buChar char="F"/>
            </a:pPr>
            <a:r>
              <a:rPr lang="en-US" sz="2800" dirty="0" smtClean="0"/>
              <a:t>Keep Going</a:t>
            </a:r>
          </a:p>
          <a:p>
            <a:pPr>
              <a:buFont typeface="Wingdings"/>
              <a:buChar char="F"/>
            </a:pPr>
            <a:r>
              <a:rPr lang="en-US" sz="2800" dirty="0" smtClean="0"/>
              <a:t>Use any other strategies that will keep working productively</a:t>
            </a:r>
          </a:p>
          <a:p>
            <a:endParaRPr lang="en-US" sz="2800" dirty="0"/>
          </a:p>
        </p:txBody>
      </p:sp>
      <p:pic>
        <p:nvPicPr>
          <p:cNvPr id="5" name="Picture 2"/>
          <p:cNvPicPr>
            <a:picLocks noChangeAspect="1" noChangeArrowheads="1"/>
          </p:cNvPicPr>
          <p:nvPr/>
        </p:nvPicPr>
        <p:blipFill>
          <a:blip r:embed="rId2">
            <a:lum contrast="-10000"/>
          </a:blip>
          <a:srcRect/>
          <a:stretch>
            <a:fillRect/>
          </a:stretch>
        </p:blipFill>
        <p:spPr bwMode="auto">
          <a:xfrm>
            <a:off x="6980720" y="2438400"/>
            <a:ext cx="2103120" cy="3048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054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Avoid perfectionism when drafting:</a:t>
            </a:r>
          </a:p>
          <a:p>
            <a:pPr>
              <a:buFont typeface="Wingdings 2"/>
              <a:buChar char="¡"/>
            </a:pPr>
            <a:r>
              <a:rPr lang="en-US" sz="2800" dirty="0" smtClean="0"/>
              <a:t>Avoiding perfectionism helps to include all important information and makes to more willing to revise.</a:t>
            </a:r>
          </a:p>
          <a:p>
            <a:pPr>
              <a:buFont typeface="Wingdings 2"/>
              <a:buChar char="¡"/>
            </a:pPr>
            <a:r>
              <a:rPr lang="en-US" sz="2800" dirty="0" smtClean="0"/>
              <a:t>Trying to male first draft a perfect draft cause two problems.</a:t>
            </a:r>
          </a:p>
          <a:p>
            <a:pPr>
              <a:buFont typeface="Wingdings 2"/>
              <a:buChar char="¡"/>
            </a:pPr>
            <a:r>
              <a:rPr lang="en-US" sz="2800" dirty="0" smtClean="0">
                <a:effectLst>
                  <a:outerShdw blurRad="38100" dist="38100" dir="2700000" algn="tl">
                    <a:srgbClr val="000000">
                      <a:alpha val="43137"/>
                    </a:srgbClr>
                  </a:outerShdw>
                </a:effectLst>
              </a:rPr>
              <a:t>First, </a:t>
            </a:r>
            <a:r>
              <a:rPr lang="en-US" sz="2800" dirty="0" smtClean="0"/>
              <a:t>spending too much energy perfecting the early parts can make to forget important pieces and purposes of the later parts.</a:t>
            </a:r>
          </a:p>
          <a:p>
            <a:pPr>
              <a:buFont typeface="Wingdings 2"/>
              <a:buChar char="¡"/>
            </a:pPr>
            <a:r>
              <a:rPr lang="en-US" sz="2800" dirty="0" smtClean="0">
                <a:effectLst>
                  <a:outerShdw blurRad="38100" dist="38100" dir="2700000" algn="tl">
                    <a:srgbClr val="000000">
                      <a:alpha val="43137"/>
                    </a:srgbClr>
                  </a:outerShdw>
                </a:effectLst>
              </a:rPr>
              <a:t>Second, </a:t>
            </a:r>
            <a:r>
              <a:rPr lang="en-US" sz="2800" dirty="0" smtClean="0"/>
              <a:t>premature perfectionism can make drafting frustrating and slow, thus keeping one from wanting to revise the message when one has done.</a:t>
            </a:r>
          </a:p>
          <a:p>
            <a:endParaRPr lang="en-US" sz="2800" dirty="0" smtClean="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Drafting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Keep Going</a:t>
            </a:r>
            <a:r>
              <a:rPr lang="en-US" sz="2800" dirty="0" smtClean="0"/>
              <a:t>:</a:t>
            </a:r>
          </a:p>
          <a:p>
            <a:pPr>
              <a:buFont typeface="Wingdings 2"/>
              <a:buChar char="¡"/>
            </a:pPr>
            <a:r>
              <a:rPr lang="en-US" sz="2800" dirty="0" smtClean="0"/>
              <a:t>Keep going, making each statement just good enough to let one move on.</a:t>
            </a:r>
          </a:p>
          <a:p>
            <a:pPr>
              <a:buFont typeface="Wingdings 2"/>
              <a:buChar char="¡"/>
            </a:pPr>
            <a:r>
              <a:rPr lang="en-US" sz="2800" dirty="0" smtClean="0"/>
              <a:t>When turning a planning into a draft, generate the first version of the document.</a:t>
            </a:r>
          </a:p>
          <a:p>
            <a:pPr>
              <a:buFont typeface="Wingdings 2"/>
              <a:buChar char="¡"/>
            </a:pPr>
            <a:r>
              <a:rPr lang="en-US" sz="2800" dirty="0" smtClean="0"/>
              <a:t>Have an understanding that one will draft relatively quickly, to get the ideas down on paper or onto the screen, and then go back and carefully revise.</a:t>
            </a:r>
          </a:p>
          <a:p>
            <a:pPr>
              <a:buFont typeface="Wingdings 2"/>
              <a:buChar char="¡"/>
            </a:pPr>
            <a:r>
              <a:rPr lang="en-US" sz="2800" dirty="0" smtClean="0"/>
              <a:t>Expressing the points in a somewhat coherent, complete, and orderly fashion is hard enough.</a:t>
            </a:r>
          </a:p>
          <a:p>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Drafting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Use any other strategies that will keep you working productively:</a:t>
            </a:r>
          </a:p>
          <a:p>
            <a:pPr>
              <a:buFont typeface="Wingdings 2"/>
              <a:buChar char="¡"/>
            </a:pPr>
            <a:r>
              <a:rPr lang="en-US" sz="2800" dirty="0" smtClean="0"/>
              <a:t>The idea with drafting is to keep moving forward at a reasonably steady pace with as little agonizing as possible.</a:t>
            </a:r>
          </a:p>
          <a:p>
            <a:pPr>
              <a:buFont typeface="Wingdings 2"/>
              <a:buChar char="¡"/>
            </a:pPr>
            <a:r>
              <a:rPr lang="en-US" sz="2800" dirty="0" smtClean="0"/>
              <a:t>The goal is to get the first orderly expression of the planned contents written out just well enough so that one can go back and work with.</a:t>
            </a:r>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Drafting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Revising</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
            </a:pPr>
            <a:r>
              <a:rPr lang="en-US" sz="2800" dirty="0" smtClean="0"/>
              <a:t>Revision requires going back over to message carefully- several times.</a:t>
            </a:r>
          </a:p>
          <a:p>
            <a:pPr>
              <a:buFont typeface="Wingdings 2"/>
              <a:buChar char="¡"/>
            </a:pPr>
            <a:r>
              <a:rPr lang="en-US" sz="2800" dirty="0" smtClean="0"/>
              <a:t>There are so many facets to any given message that it can help to use what professional writers call “levels of edit.”</a:t>
            </a:r>
          </a:p>
          <a:p>
            <a:pPr>
              <a:buFont typeface="Wingdings 2"/>
              <a:buChar char="¡"/>
            </a:pPr>
            <a:r>
              <a:rPr lang="en-US" sz="2800" dirty="0" smtClean="0"/>
              <a:t>There are three main levels of edit, commonly referred to as</a:t>
            </a:r>
          </a:p>
          <a:p>
            <a:pPr>
              <a:buFont typeface="Wingdings 3"/>
              <a:buChar char=""/>
            </a:pPr>
            <a:r>
              <a:rPr lang="en-US" sz="2800" dirty="0" smtClean="0"/>
              <a:t>Revision</a:t>
            </a:r>
          </a:p>
          <a:p>
            <a:pPr>
              <a:buFont typeface="Wingdings 3"/>
              <a:buChar char=""/>
            </a:pPr>
            <a:r>
              <a:rPr lang="en-US" sz="2800" dirty="0" smtClean="0"/>
              <a:t>Editing</a:t>
            </a:r>
          </a:p>
          <a:p>
            <a:pPr>
              <a:buFont typeface="Wingdings 3"/>
              <a:buChar char=""/>
            </a:pPr>
            <a:r>
              <a:rPr lang="en-US" sz="2800" dirty="0" smtClean="0"/>
              <a:t>Proofreading</a:t>
            </a:r>
          </a:p>
          <a:p>
            <a:endParaRPr lang="en-US" sz="2800" dirty="0" smtClean="0"/>
          </a:p>
          <a:p>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6477000" cy="55626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Revision</a:t>
            </a:r>
            <a:r>
              <a:rPr lang="en-US" sz="2800" dirty="0" smtClean="0"/>
              <a:t>:</a:t>
            </a:r>
          </a:p>
          <a:p>
            <a:pPr>
              <a:buFont typeface="Wingdings 2"/>
              <a:buChar char="¡"/>
            </a:pPr>
            <a:r>
              <a:rPr lang="en-US" sz="2800" dirty="0" smtClean="0"/>
              <a:t>With revision one should look at top-level concerns: whether or not one included all information, If the pattern of organization is logical and as possible, if the overall meaning of the message comes through, if the formatting is appropriate and helpful. </a:t>
            </a:r>
          </a:p>
          <a:p>
            <a:pPr>
              <a:buFont typeface="Wingdings 2"/>
              <a:buChar char="¡"/>
            </a:pPr>
            <a:r>
              <a:rPr lang="en-US" sz="2800" dirty="0" smtClean="0"/>
              <a:t>The </a:t>
            </a:r>
            <a:r>
              <a:rPr lang="en-US" sz="2800" b="1" i="1" dirty="0" smtClean="0">
                <a:effectLst>
                  <a:outerShdw blurRad="38100" dist="38100" dir="2700000" algn="tl">
                    <a:srgbClr val="000000">
                      <a:alpha val="43137"/>
                    </a:srgbClr>
                  </a:outerShdw>
                </a:effectLst>
              </a:rPr>
              <a:t>three</a:t>
            </a:r>
            <a:r>
              <a:rPr lang="en-US" sz="2800" dirty="0" smtClean="0"/>
              <a:t> main levels are </a:t>
            </a:r>
          </a:p>
          <a:p>
            <a:pPr>
              <a:buFont typeface="Wingdings 3"/>
              <a:buChar char=""/>
            </a:pPr>
            <a:r>
              <a:rPr lang="en-US" sz="2800" dirty="0" smtClean="0"/>
              <a:t>revision of contents, </a:t>
            </a:r>
          </a:p>
          <a:p>
            <a:pPr>
              <a:buFont typeface="Wingdings 3"/>
              <a:buChar char=""/>
            </a:pPr>
            <a:r>
              <a:rPr lang="en-US" sz="2800" dirty="0" smtClean="0"/>
              <a:t>organization and </a:t>
            </a:r>
          </a:p>
          <a:p>
            <a:pPr>
              <a:buFont typeface="Wingdings 3"/>
              <a:buChar char=""/>
            </a:pPr>
            <a:r>
              <a:rPr lang="en-US" sz="2800" dirty="0" smtClean="0"/>
              <a:t>format.</a:t>
            </a:r>
          </a:p>
          <a:p>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Revising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p:cNvPicPr>
            <a:picLocks noChangeAspect="1" noChangeArrowheads="1"/>
          </p:cNvPicPr>
          <p:nvPr/>
        </p:nvPicPr>
        <p:blipFill>
          <a:blip r:embed="rId2"/>
          <a:srcRect/>
          <a:stretch>
            <a:fillRect/>
          </a:stretch>
        </p:blipFill>
        <p:spPr bwMode="auto">
          <a:xfrm>
            <a:off x="7043486" y="2133600"/>
            <a:ext cx="2000250" cy="28956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 </a:t>
            </a:r>
            <a:r>
              <a:rPr lang="en-US" sz="2800" dirty="0" smtClean="0">
                <a:effectLst>
                  <a:outerShdw blurRad="38100" dist="38100" dir="2700000" algn="tl">
                    <a:srgbClr val="000000">
                      <a:alpha val="43137"/>
                    </a:srgbClr>
                  </a:outerShdw>
                </a:effectLst>
              </a:rPr>
              <a:t>Editing:</a:t>
            </a:r>
          </a:p>
          <a:p>
            <a:pPr>
              <a:buFont typeface="Wingdings 2"/>
              <a:buChar char="¡"/>
            </a:pPr>
            <a:r>
              <a:rPr lang="en-US" sz="2800" dirty="0" smtClean="0"/>
              <a:t>In the editing level, focusing on the style. </a:t>
            </a:r>
          </a:p>
          <a:p>
            <a:pPr>
              <a:buFont typeface="Wingdings 2"/>
              <a:buChar char="¡"/>
            </a:pPr>
            <a:r>
              <a:rPr lang="en-US" sz="2800" dirty="0" smtClean="0"/>
              <a:t>Examine the sentences to see if they pace the information in such a way that the reader can easily follow it, if they emphasize the right things, and if they combine pieces of information coherently.</a:t>
            </a:r>
          </a:p>
          <a:p>
            <a:pPr>
              <a:buFont typeface="Wingdings 2"/>
              <a:buChar char="¡"/>
            </a:pPr>
            <a:r>
              <a:rPr lang="en-US" sz="2800" dirty="0" smtClean="0"/>
              <a:t>In editing the writer should edit the sentences and words.</a:t>
            </a:r>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Revising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a:rPr>
              <a:t></a:t>
            </a:r>
            <a:r>
              <a:rPr lang="en-US" sz="2800" dirty="0" smtClean="0">
                <a:effectLst>
                  <a:outerShdw blurRad="38100" dist="38100" dir="2700000" algn="tl">
                    <a:srgbClr val="000000">
                      <a:alpha val="43137"/>
                    </a:srgbClr>
                  </a:outerShdw>
                </a:effectLst>
              </a:rPr>
              <a:t>Proofreading</a:t>
            </a:r>
            <a:r>
              <a:rPr lang="en-US" sz="2800" dirty="0" smtClean="0"/>
              <a:t>:</a:t>
            </a:r>
          </a:p>
          <a:p>
            <a:pPr>
              <a:buFont typeface="Wingdings 2"/>
              <a:buChar char="¡"/>
            </a:pPr>
            <a:r>
              <a:rPr lang="en-US" sz="2800" dirty="0" smtClean="0"/>
              <a:t>Finally, proofread, looking at particular mechanical and grammatical elements-spelling, typography, punctuation, and any particular grammar problems that tend to give trouble.</a:t>
            </a:r>
          </a:p>
          <a:p>
            <a:pPr>
              <a:buFont typeface="Wingdings 2"/>
              <a:buChar char="¡"/>
            </a:pPr>
            <a:r>
              <a:rPr lang="en-US" sz="2800" dirty="0" smtClean="0"/>
              <a:t>Editing functions of word-processing program can help to do this task.</a:t>
            </a:r>
          </a:p>
          <a:p>
            <a:pPr>
              <a:buFont typeface="Wingdings 2"/>
              <a:buChar char="¡"/>
            </a:pPr>
            <a:r>
              <a:rPr lang="en-US" sz="2800" dirty="0" smtClean="0"/>
              <a:t>Careful attention to each level will result in a polished, effective message.</a:t>
            </a:r>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Revising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724400" cy="45259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A"/>
            </a:pPr>
            <a:r>
              <a:rPr lang="en-US" sz="2800" dirty="0" smtClean="0"/>
              <a:t>One last word about revision: Get feedback from others.</a:t>
            </a:r>
          </a:p>
          <a:p>
            <a:pPr>
              <a:buFont typeface="Wingdings 2"/>
              <a:buChar char="A"/>
            </a:pPr>
            <a:r>
              <a:rPr lang="en-US" sz="2800" dirty="0" smtClean="0"/>
              <a:t>Seek out assistance from willing friends, and if they give </a:t>
            </a:r>
            <a:r>
              <a:rPr lang="en-US" sz="2800" b="1" dirty="0" smtClean="0"/>
              <a:t>criticism</a:t>
            </a:r>
            <a:r>
              <a:rPr lang="en-US" sz="2800" dirty="0" smtClean="0"/>
              <a:t>, </a:t>
            </a:r>
            <a:r>
              <a:rPr lang="en-US" sz="2800" b="1" dirty="0" smtClean="0"/>
              <a:t>receive</a:t>
            </a:r>
            <a:r>
              <a:rPr lang="en-US" sz="2800" dirty="0" smtClean="0"/>
              <a:t> it </a:t>
            </a:r>
            <a:r>
              <a:rPr lang="en-US" sz="2800" b="1" dirty="0" smtClean="0"/>
              <a:t>with an open mind.</a:t>
            </a:r>
          </a:p>
          <a:p>
            <a:pPr>
              <a:buFont typeface="Wingdings 2"/>
              <a:buChar char="A"/>
            </a:pPr>
            <a:r>
              <a:rPr lang="en-US" sz="2800" dirty="0" smtClean="0"/>
              <a:t>Better  to hear it from them, not from intended readers, when costly mistakes may have already been made.</a:t>
            </a:r>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Revising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1011.jpg"/>
          <p:cNvPicPr>
            <a:picLocks noChangeAspect="1" noChangeArrowheads="1"/>
          </p:cNvPicPr>
          <p:nvPr/>
        </p:nvPicPr>
        <p:blipFill>
          <a:blip r:embed="rId2"/>
          <a:srcRect/>
          <a:stretch>
            <a:fillRect/>
          </a:stretch>
        </p:blipFill>
        <p:spPr bwMode="auto">
          <a:xfrm>
            <a:off x="5638800" y="2590800"/>
            <a:ext cx="3072024" cy="25146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The Importance of Readable Formatting</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a:buChar char="@"/>
            </a:pPr>
            <a:r>
              <a:rPr lang="en-US" sz="2800" dirty="0" smtClean="0"/>
              <a:t>If you want your readers actually to read what you wrote and get your ideas and information, you must pay attention to an important element of any message: it’s physical format.</a:t>
            </a:r>
          </a:p>
          <a:p>
            <a:pPr>
              <a:buFont typeface="Wingdings"/>
              <a:buChar char="@"/>
            </a:pPr>
            <a:r>
              <a:rPr lang="en-US" sz="2800" dirty="0" smtClean="0"/>
              <a:t>Do not put off your readers with a daunting physical format.</a:t>
            </a:r>
          </a:p>
          <a:p>
            <a:pPr>
              <a:buFont typeface="Wingdings"/>
              <a:buChar char="@"/>
            </a:pPr>
            <a:r>
              <a:rPr lang="en-US" sz="2800" dirty="0" smtClean="0"/>
              <a:t>The writer is responsible for making the important formatting decisions.</a:t>
            </a:r>
          </a:p>
          <a:p>
            <a:pPr>
              <a:buFont typeface="Wingdings"/>
              <a:buChar char="@"/>
            </a:pPr>
            <a:r>
              <a:rPr lang="en-US" sz="2800" dirty="0" smtClean="0"/>
              <a:t>An attractive, readable, format is critical to any message’s success.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Letters</a:t>
            </a:r>
            <a:endParaRPr lang="en-US" sz="3000" dirty="0"/>
          </a:p>
        </p:txBody>
      </p:sp>
      <p:sp>
        <p:nvSpPr>
          <p:cNvPr id="3" name="Content Placeholder 2"/>
          <p:cNvSpPr>
            <a:spLocks noGrp="1"/>
          </p:cNvSpPr>
          <p:nvPr>
            <p:ph idx="1"/>
          </p:nvPr>
        </p:nvSpPr>
        <p:spPr>
          <a:xfrm>
            <a:off x="457200" y="1431752"/>
            <a:ext cx="8229600" cy="4892848"/>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
            </a:pPr>
            <a:r>
              <a:rPr lang="en-US" sz="2800" dirty="0" smtClean="0"/>
              <a:t>Letters are the traditional form of business messages.</a:t>
            </a:r>
          </a:p>
          <a:p>
            <a:pPr>
              <a:buFont typeface="Wingdings 2"/>
              <a:buChar char="¡"/>
            </a:pPr>
            <a:r>
              <a:rPr lang="en-US" sz="2800" dirty="0" smtClean="0"/>
              <a:t>The early civilizations used them.</a:t>
            </a:r>
          </a:p>
          <a:p>
            <a:pPr>
              <a:buFont typeface="Wingdings 2"/>
              <a:buChar char="¡"/>
            </a:pPr>
            <a:r>
              <a:rPr lang="en-US" sz="2800" dirty="0" smtClean="0"/>
              <a:t>We should know about the letter purpose, format, and composition.</a:t>
            </a:r>
          </a:p>
          <a:p>
            <a:pPr>
              <a:buFont typeface="Wingdings 2"/>
              <a:buChar char="¡"/>
            </a:pPr>
            <a:r>
              <a:rPr lang="en-US" sz="2800" dirty="0" smtClean="0"/>
              <a:t>The general purpose of a letter is to represent the writer and his/her topic rather  formally to the recipient.</a:t>
            </a:r>
          </a:p>
          <a:p>
            <a:pPr>
              <a:buFont typeface="Wingdings 2"/>
              <a:buChar char="¡"/>
            </a:pPr>
            <a:r>
              <a:rPr lang="en-US" sz="2800" dirty="0" smtClean="0"/>
              <a:t>For this reason, letters are used primarily for corresponding with people outside the organization.</a:t>
            </a:r>
          </a:p>
          <a:p>
            <a:pPr>
              <a:buFont typeface="Wingdings 2"/>
              <a:buChar char="¡"/>
            </a:pPr>
            <a:r>
              <a:rPr lang="en-US" sz="2800" dirty="0" smtClean="0"/>
              <a:t>Letters are primarily for external audience.</a:t>
            </a:r>
          </a:p>
          <a:p>
            <a:pPr>
              <a:buFont typeface="Wingdings 2"/>
              <a:buChar char="¡"/>
            </a:pPr>
            <a:endParaRPr lang="en-US" sz="2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fontScale="92500"/>
          </a:bodyPr>
          <a:lstStyle/>
          <a:p>
            <a:pPr>
              <a:buFont typeface="Wingdings 2"/>
              <a:buChar char="¡"/>
            </a:pPr>
            <a:r>
              <a:rPr lang="en-US" sz="2800" dirty="0" smtClean="0"/>
              <a:t>In the early days emphasis was on word choice, especially on use of a stiff and stilted manner of expressing courtesy.</a:t>
            </a:r>
          </a:p>
          <a:p>
            <a:pPr>
              <a:buFont typeface="Wingdings 2"/>
              <a:buChar char="¡"/>
            </a:pPr>
            <a:r>
              <a:rPr lang="en-US" sz="2800" dirty="0" smtClean="0"/>
              <a:t>Current techniques of composing business letters have been developed by various business scholars and leaders.</a:t>
            </a:r>
          </a:p>
          <a:p>
            <a:pPr>
              <a:buFont typeface="Wingdings 2"/>
              <a:buChar char="¡"/>
            </a:pPr>
            <a:r>
              <a:rPr lang="en-US" sz="2800" dirty="0" smtClean="0"/>
              <a:t>In recent times emphasis shifted to structured and strategy of content and humanness of wording.</a:t>
            </a:r>
          </a:p>
          <a:p>
            <a:pPr>
              <a:buFont typeface="Wingdings 2"/>
              <a:buChar char="¡"/>
            </a:pPr>
            <a:r>
              <a:rPr lang="en-US" sz="2800" dirty="0" smtClean="0"/>
              <a:t>Despite its heightened formality, the letter should always be regarded as an exchange between real people as well as a strategic means for accomplishing business goals. </a:t>
            </a:r>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Letters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5638800" cy="792162"/>
          </a:xfrm>
          <a:solidFill>
            <a:schemeClr val="accent1">
              <a:lumMod val="20000"/>
              <a:lumOff val="80000"/>
            </a:schemeClr>
          </a:solidFill>
          <a:ln>
            <a:solidFill>
              <a:schemeClr val="accent1"/>
            </a:solidFill>
          </a:ln>
        </p:spPr>
        <p:txBody>
          <a:bodyPr>
            <a:normAutofit/>
          </a:bodyPr>
          <a:lstStyle/>
          <a:p>
            <a:r>
              <a:rPr lang="en-US" sz="3000" dirty="0"/>
              <a:t>What is a Business Letter?</a:t>
            </a:r>
          </a:p>
        </p:txBody>
      </p:sp>
      <p:sp>
        <p:nvSpPr>
          <p:cNvPr id="8195" name="Rectangle 3"/>
          <p:cNvSpPr>
            <a:spLocks noGrp="1" noChangeArrowheads="1"/>
          </p:cNvSpPr>
          <p:nvPr>
            <p:ph idx="1"/>
          </p:nvPr>
        </p:nvSpPr>
        <p:spPr>
          <a:xfrm>
            <a:off x="457200" y="1600200"/>
            <a:ext cx="8305800" cy="45259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t>A </a:t>
            </a:r>
            <a:r>
              <a:rPr lang="en-US" sz="2600" b="1" dirty="0" smtClean="0">
                <a:solidFill>
                  <a:srgbClr val="0070C0"/>
                </a:solidFill>
                <a:effectLst>
                  <a:outerShdw blurRad="38100" dist="38100" dir="2700000" algn="tl">
                    <a:srgbClr val="000000">
                      <a:alpha val="43137"/>
                    </a:srgbClr>
                  </a:outerShdw>
                </a:effectLst>
              </a:rPr>
              <a:t>Business Letter </a:t>
            </a:r>
            <a:r>
              <a:rPr lang="en-US" sz="2600" dirty="0" smtClean="0"/>
              <a:t>is </a:t>
            </a:r>
            <a:r>
              <a:rPr lang="en-US" sz="2600" dirty="0"/>
              <a:t>a letter written in formal language, usually used when writing from one business organization to another, or for correspondence between such organizations and their customers, clients and other external parties. </a:t>
            </a:r>
          </a:p>
        </p:txBody>
      </p:sp>
      <p:pic>
        <p:nvPicPr>
          <p:cNvPr id="1027" name="Picture 3" descr="F:\Mahbuba\Moni\Characters\916.png"/>
          <p:cNvPicPr>
            <a:picLocks noChangeAspect="1" noChangeArrowheads="1"/>
          </p:cNvPicPr>
          <p:nvPr/>
        </p:nvPicPr>
        <p:blipFill>
          <a:blip r:embed="rId2"/>
          <a:srcRect/>
          <a:stretch>
            <a:fillRect/>
          </a:stretch>
        </p:blipFill>
        <p:spPr bwMode="auto">
          <a:xfrm>
            <a:off x="5029200" y="3314700"/>
            <a:ext cx="3708400" cy="2781300"/>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74638"/>
            <a:ext cx="4724400" cy="792162"/>
          </a:xfrm>
          <a:solidFill>
            <a:schemeClr val="accent1">
              <a:lumMod val="20000"/>
              <a:lumOff val="80000"/>
            </a:schemeClr>
          </a:solidFill>
          <a:ln>
            <a:solidFill>
              <a:schemeClr val="accent1"/>
            </a:solidFill>
          </a:ln>
        </p:spPr>
        <p:txBody>
          <a:bodyPr>
            <a:normAutofit/>
          </a:bodyPr>
          <a:lstStyle/>
          <a:p>
            <a:r>
              <a:rPr lang="en-US" sz="3000" dirty="0"/>
              <a:t>Types of Business Letters</a:t>
            </a:r>
          </a:p>
        </p:txBody>
      </p:sp>
      <p:sp>
        <p:nvSpPr>
          <p:cNvPr id="10243" name="Rectangle 3"/>
          <p:cNvSpPr>
            <a:spLocks noGrp="1" noChangeArrowheads="1"/>
          </p:cNvSpPr>
          <p:nvPr>
            <p:ph idx="1"/>
          </p:nvPr>
        </p:nvSpPr>
        <p:spPr>
          <a:xfrm>
            <a:off x="457200" y="1295400"/>
            <a:ext cx="8229600" cy="5181600"/>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533400" indent="-533400">
              <a:buFont typeface="Wingdings" pitchFamily="2" charset="2"/>
              <a:buAutoNum type="arabicPeriod"/>
            </a:pPr>
            <a:r>
              <a:rPr lang="en-US" sz="2800" dirty="0">
                <a:solidFill>
                  <a:schemeClr val="accent4">
                    <a:lumMod val="75000"/>
                  </a:schemeClr>
                </a:solidFill>
              </a:rPr>
              <a:t>Letter of </a:t>
            </a:r>
            <a:r>
              <a:rPr lang="en-US" sz="2800" dirty="0" smtClean="0">
                <a:solidFill>
                  <a:schemeClr val="accent4">
                    <a:lumMod val="75000"/>
                  </a:schemeClr>
                </a:solidFill>
              </a:rPr>
              <a:t>Transmittal: </a:t>
            </a:r>
            <a:r>
              <a:rPr lang="en-US" dirty="0" smtClean="0"/>
              <a:t>A</a:t>
            </a:r>
            <a:r>
              <a:rPr lang="en-US" dirty="0"/>
              <a:t> </a:t>
            </a:r>
            <a:r>
              <a:rPr lang="en-US" b="1" dirty="0"/>
              <a:t>transmittal letter</a:t>
            </a:r>
            <a:r>
              <a:rPr lang="en-US" dirty="0"/>
              <a:t> is a brief business </a:t>
            </a:r>
            <a:r>
              <a:rPr lang="en-US" b="1" dirty="0"/>
              <a:t>letter</a:t>
            </a:r>
            <a:r>
              <a:rPr lang="en-US" dirty="0"/>
              <a:t> sent along with another type of communication, such as a longer document like a proposal, a response to an inquiry or a payment. It provides a way to let the recipient understands what is being sent, why they received it and who it is </a:t>
            </a:r>
            <a:r>
              <a:rPr lang="en-US" dirty="0" smtClean="0"/>
              <a:t>from.</a:t>
            </a:r>
            <a:endParaRPr lang="en-US" sz="2800" dirty="0">
              <a:solidFill>
                <a:schemeClr val="accent4">
                  <a:lumMod val="75000"/>
                </a:schemeClr>
              </a:solidFill>
            </a:endParaRPr>
          </a:p>
          <a:p>
            <a:pPr marL="533400" indent="-533400">
              <a:buFont typeface="Wingdings" pitchFamily="2" charset="2"/>
              <a:buAutoNum type="arabicPeriod"/>
            </a:pPr>
            <a:r>
              <a:rPr lang="en-US" sz="2800" dirty="0">
                <a:solidFill>
                  <a:schemeClr val="accent4">
                    <a:lumMod val="75000"/>
                  </a:schemeClr>
                </a:solidFill>
              </a:rPr>
              <a:t>Letter of Thanking</a:t>
            </a:r>
          </a:p>
          <a:p>
            <a:pPr marL="533400" indent="-533400">
              <a:buFont typeface="Wingdings" pitchFamily="2" charset="2"/>
              <a:buAutoNum type="arabicPeriod"/>
            </a:pPr>
            <a:r>
              <a:rPr lang="en-US" sz="2800" dirty="0" smtClean="0">
                <a:solidFill>
                  <a:schemeClr val="accent4">
                    <a:lumMod val="75000"/>
                  </a:schemeClr>
                </a:solidFill>
              </a:rPr>
              <a:t>Letter </a:t>
            </a:r>
            <a:r>
              <a:rPr lang="en-US" sz="2800" dirty="0">
                <a:solidFill>
                  <a:schemeClr val="accent4">
                    <a:lumMod val="75000"/>
                  </a:schemeClr>
                </a:solidFill>
              </a:rPr>
              <a:t>of Request</a:t>
            </a:r>
          </a:p>
          <a:p>
            <a:pPr marL="533400" indent="-533400">
              <a:buFont typeface="Wingdings" pitchFamily="2" charset="2"/>
              <a:buAutoNum type="arabicPeriod"/>
            </a:pPr>
            <a:r>
              <a:rPr lang="en-US" sz="2800" dirty="0">
                <a:solidFill>
                  <a:schemeClr val="accent4">
                    <a:lumMod val="75000"/>
                  </a:schemeClr>
                </a:solidFill>
              </a:rPr>
              <a:t>Response to a Letter of </a:t>
            </a:r>
            <a:r>
              <a:rPr lang="en-US" sz="2800" dirty="0" smtClean="0">
                <a:solidFill>
                  <a:schemeClr val="accent4">
                    <a:lumMod val="75000"/>
                  </a:schemeClr>
                </a:solidFill>
              </a:rPr>
              <a:t>Request</a:t>
            </a:r>
          </a:p>
          <a:p>
            <a:pPr marL="533400" indent="-533400">
              <a:buAutoNum type="arabicPeriod" startAt="6"/>
            </a:pPr>
            <a:r>
              <a:rPr lang="en-US" sz="2800" dirty="0" smtClean="0">
                <a:solidFill>
                  <a:schemeClr val="accent4">
                    <a:lumMod val="75000"/>
                  </a:schemeClr>
                </a:solidFill>
              </a:rPr>
              <a:t>Inquiry letters </a:t>
            </a:r>
          </a:p>
          <a:p>
            <a:pPr marL="533400" indent="-533400">
              <a:buAutoNum type="arabicPeriod" startAt="6"/>
            </a:pPr>
            <a:r>
              <a:rPr lang="en-US" sz="2800" dirty="0" smtClean="0">
                <a:solidFill>
                  <a:schemeClr val="accent4">
                    <a:lumMod val="75000"/>
                  </a:schemeClr>
                </a:solidFill>
              </a:rPr>
              <a:t>Sales letters </a:t>
            </a:r>
          </a:p>
          <a:p>
            <a:pPr marL="533400" indent="-533400">
              <a:buAutoNum type="arabicPeriod" startAt="6"/>
            </a:pPr>
            <a:r>
              <a:rPr lang="en-US" sz="2800" dirty="0" smtClean="0">
                <a:solidFill>
                  <a:schemeClr val="accent4">
                    <a:lumMod val="75000"/>
                  </a:schemeClr>
                </a:solidFill>
              </a:rPr>
              <a:t>Customer relations letters: </a:t>
            </a:r>
          </a:p>
          <a:p>
            <a:pPr marL="533400" indent="-533400">
              <a:buNone/>
            </a:pPr>
            <a:r>
              <a:rPr lang="en-US" sz="2800" dirty="0" smtClean="0">
                <a:solidFill>
                  <a:schemeClr val="accent4">
                    <a:lumMod val="75000"/>
                  </a:schemeClr>
                </a:solidFill>
              </a:rPr>
              <a:t>– Follow-up </a:t>
            </a:r>
          </a:p>
          <a:p>
            <a:pPr marL="533400" indent="-533400">
              <a:buNone/>
            </a:pPr>
            <a:r>
              <a:rPr lang="en-US" sz="2800" dirty="0" smtClean="0">
                <a:solidFill>
                  <a:schemeClr val="accent4">
                    <a:lumMod val="75000"/>
                  </a:schemeClr>
                </a:solidFill>
              </a:rPr>
              <a:t>– Complaint </a:t>
            </a:r>
          </a:p>
          <a:p>
            <a:pPr marL="533400" indent="-533400">
              <a:buNone/>
            </a:pPr>
            <a:r>
              <a:rPr lang="en-US" sz="2800" dirty="0" smtClean="0">
                <a:solidFill>
                  <a:schemeClr val="accent4">
                    <a:lumMod val="75000"/>
                  </a:schemeClr>
                </a:solidFill>
              </a:rPr>
              <a:t>– Adjustment </a:t>
            </a:r>
          </a:p>
          <a:p>
            <a:pPr marL="533400" indent="-533400">
              <a:buNone/>
            </a:pPr>
            <a:r>
              <a:rPr lang="en-US" sz="2800" dirty="0" smtClean="0">
                <a:solidFill>
                  <a:schemeClr val="accent4">
                    <a:lumMod val="75000"/>
                  </a:schemeClr>
                </a:solidFill>
              </a:rPr>
              <a:t>– Collection </a:t>
            </a:r>
          </a:p>
          <a:p>
            <a:pPr marL="533400" indent="-533400">
              <a:buNone/>
            </a:pPr>
            <a:endParaRPr lang="en-US" sz="2600" dirty="0" smtClean="0"/>
          </a:p>
          <a:p>
            <a:pPr marL="533400" indent="-533400">
              <a:buFont typeface="Wingdings" pitchFamily="2" charset="2"/>
              <a:buNone/>
            </a:pPr>
            <a:endParaRPr lang="en-US" sz="2600" dirty="0"/>
          </a:p>
          <a:p>
            <a:pPr marL="533400" indent="-533400"/>
            <a:endParaRPr lang="en-US" sz="2600" dirty="0"/>
          </a:p>
          <a:p>
            <a:pPr marL="533400" indent="-533400"/>
            <a:endParaRPr lang="en-US" sz="2600" dirty="0"/>
          </a:p>
        </p:txBody>
      </p:sp>
      <p:pic>
        <p:nvPicPr>
          <p:cNvPr id="4" name="Picture 2" descr="F:\Mahbuba\Moni\Characters\917.jpg"/>
          <p:cNvPicPr>
            <a:picLocks noChangeAspect="1" noChangeArrowheads="1"/>
          </p:cNvPicPr>
          <p:nvPr/>
        </p:nvPicPr>
        <p:blipFill>
          <a:blip r:embed="rId2"/>
          <a:srcRect/>
          <a:stretch>
            <a:fillRect/>
          </a:stretch>
        </p:blipFill>
        <p:spPr bwMode="auto">
          <a:xfrm>
            <a:off x="5638800" y="2895600"/>
            <a:ext cx="2971800" cy="350520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52400" y="381000"/>
            <a:ext cx="3124200" cy="1373188"/>
          </a:xfrm>
          <a:prstGeom prst="rect">
            <a:avLst/>
          </a:prstGeom>
          <a:noFill/>
          <a:ln w="9525">
            <a:noFill/>
            <a:miter lim="800000"/>
            <a:headEnd/>
            <a:tailEnd/>
          </a:ln>
        </p:spPr>
        <p:txBody>
          <a:bodyPr>
            <a:spAutoFit/>
          </a:bodyPr>
          <a:lstStyle/>
          <a:p>
            <a:pPr>
              <a:spcBef>
                <a:spcPct val="50000"/>
              </a:spcBef>
            </a:pPr>
            <a:r>
              <a:rPr lang="en-US" sz="2800" b="1"/>
              <a:t>1.  Margins: the space around your letter.</a:t>
            </a:r>
          </a:p>
        </p:txBody>
      </p:sp>
      <p:sp>
        <p:nvSpPr>
          <p:cNvPr id="30724" name="Text Box 4"/>
          <p:cNvSpPr txBox="1">
            <a:spLocks noChangeArrowheads="1"/>
          </p:cNvSpPr>
          <p:nvPr/>
        </p:nvSpPr>
        <p:spPr bwMode="auto">
          <a:xfrm>
            <a:off x="76200" y="1731963"/>
            <a:ext cx="2971800" cy="4832092"/>
          </a:xfrm>
          <a:prstGeom prst="rect">
            <a:avLst/>
          </a:prstGeom>
          <a:noFill/>
          <a:ln w="9525">
            <a:noFill/>
            <a:miter lim="800000"/>
            <a:headEnd/>
            <a:tailEnd/>
          </a:ln>
        </p:spPr>
        <p:txBody>
          <a:bodyPr wrap="square">
            <a:spAutoFit/>
          </a:bodyPr>
          <a:lstStyle/>
          <a:p>
            <a:pPr marL="457200" indent="-457200">
              <a:spcBef>
                <a:spcPct val="50000"/>
              </a:spcBef>
              <a:buFontTx/>
              <a:buAutoNum type="arabicPeriod"/>
            </a:pPr>
            <a:r>
              <a:rPr lang="en-US" sz="2800" b="1" dirty="0">
                <a:solidFill>
                  <a:srgbClr val="990099"/>
                </a:solidFill>
              </a:rPr>
              <a:t>Go to “File.”</a:t>
            </a:r>
          </a:p>
          <a:p>
            <a:pPr marL="457200" indent="-457200">
              <a:spcBef>
                <a:spcPct val="50000"/>
              </a:spcBef>
              <a:buFontTx/>
              <a:buAutoNum type="arabicPeriod"/>
            </a:pPr>
            <a:r>
              <a:rPr lang="en-US" sz="2800" b="1" dirty="0">
                <a:solidFill>
                  <a:srgbClr val="990099"/>
                </a:solidFill>
              </a:rPr>
              <a:t>Scroll down to “Page Set-Up”</a:t>
            </a:r>
          </a:p>
          <a:p>
            <a:pPr marL="457200" indent="-457200">
              <a:spcBef>
                <a:spcPct val="50000"/>
              </a:spcBef>
              <a:buFontTx/>
              <a:buAutoNum type="arabicPeriod"/>
            </a:pPr>
            <a:r>
              <a:rPr lang="en-US" sz="2800" b="1" dirty="0">
                <a:solidFill>
                  <a:srgbClr val="990099"/>
                </a:solidFill>
              </a:rPr>
              <a:t>On the “Margins” Tab, Put “1-Inch” for the top, bottom, left, and right margins.</a:t>
            </a:r>
          </a:p>
        </p:txBody>
      </p:sp>
      <p:pic>
        <p:nvPicPr>
          <p:cNvPr id="30726" name="Picture 6" descr="C:\Documents and Settings\Becky\Desktop\student teaching stuff\Lesson Plans\letter2.gif"/>
          <p:cNvPicPr>
            <a:picLocks noChangeAspect="1" noChangeArrowheads="1"/>
          </p:cNvPicPr>
          <p:nvPr/>
        </p:nvPicPr>
        <p:blipFill>
          <a:blip r:embed="rId3"/>
          <a:srcRect/>
          <a:stretch>
            <a:fillRect/>
          </a:stretch>
        </p:blipFill>
        <p:spPr bwMode="auto">
          <a:xfrm>
            <a:off x="2971800" y="38100"/>
            <a:ext cx="6172200" cy="6819900"/>
          </a:xfrm>
          <a:prstGeom prst="rect">
            <a:avLst/>
          </a:prstGeom>
          <a:noFill/>
          <a:ln w="9525">
            <a:noFill/>
            <a:miter lim="800000"/>
            <a:headEnd/>
            <a:tailEnd/>
          </a:ln>
        </p:spPr>
      </p:pic>
      <p:sp>
        <p:nvSpPr>
          <p:cNvPr id="30727" name="Line 7"/>
          <p:cNvSpPr>
            <a:spLocks noChangeShapeType="1"/>
          </p:cNvSpPr>
          <p:nvPr/>
        </p:nvSpPr>
        <p:spPr bwMode="auto">
          <a:xfrm>
            <a:off x="3581400" y="3733800"/>
            <a:ext cx="381000" cy="0"/>
          </a:xfrm>
          <a:prstGeom prst="line">
            <a:avLst/>
          </a:prstGeom>
          <a:noFill/>
          <a:ln w="7620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2000"/>
                                  </p:stCondLst>
                                  <p:childTnLst>
                                    <p:set>
                                      <p:cBhvr>
                                        <p:cTn id="6" dur="1" fill="hold">
                                          <p:stCondLst>
                                            <p:cond delay="0"/>
                                          </p:stCondLst>
                                        </p:cTn>
                                        <p:tgtEl>
                                          <p:spTgt spid="30726"/>
                                        </p:tgtEl>
                                        <p:attrNameLst>
                                          <p:attrName>style.visibility</p:attrName>
                                        </p:attrNameLst>
                                      </p:cBhvr>
                                      <p:to>
                                        <p:strVal val="visible"/>
                                      </p:to>
                                    </p:set>
                                    <p:animEffect transition="in" filter="barn(inHorizontal)">
                                      <p:cBhvr>
                                        <p:cTn id="7" dur="500"/>
                                        <p:tgtEl>
                                          <p:spTgt spid="30726"/>
                                        </p:tgtEl>
                                      </p:cBhvr>
                                    </p:animEffect>
                                  </p:childTnLst>
                                </p:cTn>
                              </p:par>
                            </p:childTnLst>
                          </p:cTn>
                        </p:par>
                        <p:par>
                          <p:cTn id="8" fill="hold">
                            <p:stCondLst>
                              <p:cond delay="2500"/>
                            </p:stCondLst>
                            <p:childTnLst>
                              <p:par>
                                <p:cTn id="9" presetID="2" presetClass="entr" presetSubtype="8" fill="hold" grpId="0" nodeType="afterEffect">
                                  <p:stCondLst>
                                    <p:cond delay="1000"/>
                                  </p:stCondLst>
                                  <p:childTnLst>
                                    <p:set>
                                      <p:cBhvr>
                                        <p:cTn id="10" dur="1" fill="hold">
                                          <p:stCondLst>
                                            <p:cond delay="0"/>
                                          </p:stCondLst>
                                        </p:cTn>
                                        <p:tgtEl>
                                          <p:spTgt spid="30727"/>
                                        </p:tgtEl>
                                        <p:attrNameLst>
                                          <p:attrName>style.visibility</p:attrName>
                                        </p:attrNameLst>
                                      </p:cBhvr>
                                      <p:to>
                                        <p:strVal val="visible"/>
                                      </p:to>
                                    </p:set>
                                    <p:anim calcmode="lin" valueType="num">
                                      <p:cBhvr additive="base">
                                        <p:cTn id="11" dur="500" fill="hold"/>
                                        <p:tgtEl>
                                          <p:spTgt spid="30727"/>
                                        </p:tgtEl>
                                        <p:attrNameLst>
                                          <p:attrName>ppt_x</p:attrName>
                                        </p:attrNameLst>
                                      </p:cBhvr>
                                      <p:tavLst>
                                        <p:tav tm="0">
                                          <p:val>
                                            <p:strVal val="0-#ppt_w/2"/>
                                          </p:val>
                                        </p:tav>
                                        <p:tav tm="100000">
                                          <p:val>
                                            <p:strVal val="#ppt_x"/>
                                          </p:val>
                                        </p:tav>
                                      </p:tavLst>
                                    </p:anim>
                                    <p:anim calcmode="lin" valueType="num">
                                      <p:cBhvr additive="base">
                                        <p:cTn id="12" dur="500" fill="hold"/>
                                        <p:tgtEl>
                                          <p:spTgt spid="30727"/>
                                        </p:tgtEl>
                                        <p:attrNameLst>
                                          <p:attrName>ppt_y</p:attrName>
                                        </p:attrNameLst>
                                      </p:cBhvr>
                                      <p:tavLst>
                                        <p:tav tm="0">
                                          <p:val>
                                            <p:strVal val="#ppt_y"/>
                                          </p:val>
                                        </p:tav>
                                        <p:tav tm="100000">
                                          <p:val>
                                            <p:strVal val="#ppt_y"/>
                                          </p:val>
                                        </p:tav>
                                      </p:tavLst>
                                    </p:anim>
                                  </p:childTnLst>
                                </p:cTn>
                              </p:par>
                            </p:childTnLst>
                          </p:cTn>
                        </p:par>
                        <p:par>
                          <p:cTn id="13" fill="hold">
                            <p:stCondLst>
                              <p:cond delay="4000"/>
                            </p:stCondLst>
                            <p:childTnLst>
                              <p:par>
                                <p:cTn id="14" presetID="2" presetClass="entr" presetSubtype="8" fill="hold" grpId="0" nodeType="afterEffect">
                                  <p:stCondLst>
                                    <p:cond delay="2000"/>
                                  </p:stCondLst>
                                  <p:childTnLst>
                                    <p:set>
                                      <p:cBhvr>
                                        <p:cTn id="15" dur="1" fill="hold">
                                          <p:stCondLst>
                                            <p:cond delay="0"/>
                                          </p:stCondLst>
                                        </p:cTn>
                                        <p:tgtEl>
                                          <p:spTgt spid="30724">
                                            <p:txEl>
                                              <p:pRg st="0" end="0"/>
                                            </p:txEl>
                                          </p:spTgt>
                                        </p:tgtEl>
                                        <p:attrNameLst>
                                          <p:attrName>style.visibility</p:attrName>
                                        </p:attrNameLst>
                                      </p:cBhvr>
                                      <p:to>
                                        <p:strVal val="visible"/>
                                      </p:to>
                                    </p:set>
                                    <p:anim calcmode="lin" valueType="num">
                                      <p:cBhvr additive="base">
                                        <p:cTn id="16" dur="500" fill="hold"/>
                                        <p:tgtEl>
                                          <p:spTgt spid="30724">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30724">
                                            <p:txEl>
                                              <p:pRg st="0" end="0"/>
                                            </p:txEl>
                                          </p:spTgt>
                                        </p:tgtEl>
                                        <p:attrNameLst>
                                          <p:attrName>ppt_y</p:attrName>
                                        </p:attrNameLst>
                                      </p:cBhvr>
                                      <p:tavLst>
                                        <p:tav tm="0">
                                          <p:val>
                                            <p:strVal val="#ppt_y"/>
                                          </p:val>
                                        </p:tav>
                                        <p:tav tm="100000">
                                          <p:val>
                                            <p:strVal val="#ppt_y"/>
                                          </p:val>
                                        </p:tav>
                                      </p:tavLst>
                                    </p:anim>
                                  </p:childTnLst>
                                </p:cTn>
                              </p:par>
                            </p:childTnLst>
                          </p:cTn>
                        </p:par>
                        <p:par>
                          <p:cTn id="18" fill="hold">
                            <p:stCondLst>
                              <p:cond delay="6500"/>
                            </p:stCondLst>
                            <p:childTnLst>
                              <p:par>
                                <p:cTn id="19" presetID="2" presetClass="entr" presetSubtype="8" fill="hold" grpId="0" nodeType="afterEffect">
                                  <p:stCondLst>
                                    <p:cond delay="2000"/>
                                  </p:stCondLst>
                                  <p:childTnLst>
                                    <p:set>
                                      <p:cBhvr>
                                        <p:cTn id="20" dur="1" fill="hold">
                                          <p:stCondLst>
                                            <p:cond delay="0"/>
                                          </p:stCondLst>
                                        </p:cTn>
                                        <p:tgtEl>
                                          <p:spTgt spid="30724">
                                            <p:txEl>
                                              <p:pRg st="1" end="1"/>
                                            </p:txEl>
                                          </p:spTgt>
                                        </p:tgtEl>
                                        <p:attrNameLst>
                                          <p:attrName>style.visibility</p:attrName>
                                        </p:attrNameLst>
                                      </p:cBhvr>
                                      <p:to>
                                        <p:strVal val="visible"/>
                                      </p:to>
                                    </p:set>
                                    <p:anim calcmode="lin" valueType="num">
                                      <p:cBhvr additive="base">
                                        <p:cTn id="21" dur="500" fill="hold"/>
                                        <p:tgtEl>
                                          <p:spTgt spid="30724">
                                            <p:txEl>
                                              <p:pRg st="1" end="1"/>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30724">
                                            <p:txEl>
                                              <p:pRg st="1" end="1"/>
                                            </p:txEl>
                                          </p:spTgt>
                                        </p:tgtEl>
                                        <p:attrNameLst>
                                          <p:attrName>ppt_y</p:attrName>
                                        </p:attrNameLst>
                                      </p:cBhvr>
                                      <p:tavLst>
                                        <p:tav tm="0">
                                          <p:val>
                                            <p:strVal val="#ppt_y"/>
                                          </p:val>
                                        </p:tav>
                                        <p:tav tm="100000">
                                          <p:val>
                                            <p:strVal val="#ppt_y"/>
                                          </p:val>
                                        </p:tav>
                                      </p:tavLst>
                                    </p:anim>
                                  </p:childTnLst>
                                </p:cTn>
                              </p:par>
                            </p:childTnLst>
                          </p:cTn>
                        </p:par>
                        <p:par>
                          <p:cTn id="23" fill="hold">
                            <p:stCondLst>
                              <p:cond delay="9000"/>
                            </p:stCondLst>
                            <p:childTnLst>
                              <p:par>
                                <p:cTn id="24" presetID="2" presetClass="entr" presetSubtype="8" fill="hold" grpId="0" nodeType="afterEffect">
                                  <p:stCondLst>
                                    <p:cond delay="2000"/>
                                  </p:stCondLst>
                                  <p:childTnLst>
                                    <p:set>
                                      <p:cBhvr>
                                        <p:cTn id="25" dur="1" fill="hold">
                                          <p:stCondLst>
                                            <p:cond delay="0"/>
                                          </p:stCondLst>
                                        </p:cTn>
                                        <p:tgtEl>
                                          <p:spTgt spid="30724">
                                            <p:txEl>
                                              <p:pRg st="2" end="2"/>
                                            </p:txEl>
                                          </p:spTgt>
                                        </p:tgtEl>
                                        <p:attrNameLst>
                                          <p:attrName>style.visibility</p:attrName>
                                        </p:attrNameLst>
                                      </p:cBhvr>
                                      <p:to>
                                        <p:strVal val="visible"/>
                                      </p:to>
                                    </p:set>
                                    <p:anim calcmode="lin" valueType="num">
                                      <p:cBhvr additive="base">
                                        <p:cTn id="26" dur="500" fill="hold"/>
                                        <p:tgtEl>
                                          <p:spTgt spid="30724">
                                            <p:txEl>
                                              <p:pRg st="2" end="2"/>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3072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autoUpdateAnimBg="0" advAuto="2000"/>
      <p:bldP spid="307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52400" y="152400"/>
            <a:ext cx="2590800" cy="5509200"/>
          </a:xfrm>
          <a:prstGeom prst="rect">
            <a:avLst/>
          </a:prstGeom>
          <a:noFill/>
          <a:ln w="9525">
            <a:noFill/>
            <a:miter lim="800000"/>
            <a:headEnd/>
            <a:tailEnd/>
          </a:ln>
        </p:spPr>
        <p:txBody>
          <a:bodyPr wrap="square">
            <a:spAutoFit/>
          </a:bodyPr>
          <a:lstStyle/>
          <a:p>
            <a:pPr algn="ctr">
              <a:spcBef>
                <a:spcPct val="50000"/>
              </a:spcBef>
            </a:pPr>
            <a:r>
              <a:rPr lang="en-US" sz="3200" b="1" dirty="0">
                <a:solidFill>
                  <a:schemeClr val="accent2"/>
                </a:solidFill>
              </a:rPr>
              <a:t>2.  You need your own address.  </a:t>
            </a:r>
          </a:p>
          <a:p>
            <a:pPr algn="ctr">
              <a:spcBef>
                <a:spcPct val="50000"/>
              </a:spcBef>
            </a:pPr>
            <a:r>
              <a:rPr lang="en-US" sz="3200" b="1" dirty="0">
                <a:solidFill>
                  <a:schemeClr val="accent2"/>
                </a:solidFill>
              </a:rPr>
              <a:t>This part goes in the “heading” section.</a:t>
            </a:r>
          </a:p>
          <a:p>
            <a:pPr algn="ctr">
              <a:spcBef>
                <a:spcPct val="50000"/>
              </a:spcBef>
            </a:pPr>
            <a:r>
              <a:rPr lang="en-US" sz="3200" b="1" dirty="0">
                <a:solidFill>
                  <a:schemeClr val="accent2"/>
                </a:solidFill>
              </a:rPr>
              <a:t>Underneath your address, put the date.</a:t>
            </a:r>
          </a:p>
        </p:txBody>
      </p:sp>
      <p:pic>
        <p:nvPicPr>
          <p:cNvPr id="7174" name="Picture 6" descr="C:\Documents and Settings\Becky\Desktop\student teaching stuff\Lesson Plans\letter2.gif"/>
          <p:cNvPicPr>
            <a:picLocks noChangeAspect="1" noChangeArrowheads="1"/>
          </p:cNvPicPr>
          <p:nvPr/>
        </p:nvPicPr>
        <p:blipFill>
          <a:blip r:embed="rId3"/>
          <a:srcRect/>
          <a:stretch>
            <a:fillRect/>
          </a:stretch>
        </p:blipFill>
        <p:spPr bwMode="auto">
          <a:xfrm>
            <a:off x="2895601" y="0"/>
            <a:ext cx="6248400" cy="6819900"/>
          </a:xfrm>
          <a:prstGeom prst="rect">
            <a:avLst/>
          </a:prstGeom>
          <a:noFill/>
          <a:ln w="9525">
            <a:noFill/>
            <a:miter lim="800000"/>
            <a:headEnd/>
            <a:tailEnd/>
          </a:ln>
        </p:spPr>
      </p:pic>
      <p:sp>
        <p:nvSpPr>
          <p:cNvPr id="7175" name="Line 7"/>
          <p:cNvSpPr>
            <a:spLocks noChangeShapeType="1"/>
          </p:cNvSpPr>
          <p:nvPr/>
        </p:nvSpPr>
        <p:spPr bwMode="auto">
          <a:xfrm flipV="1">
            <a:off x="2971800" y="1295400"/>
            <a:ext cx="990600" cy="1295400"/>
          </a:xfrm>
          <a:prstGeom prst="line">
            <a:avLst/>
          </a:prstGeom>
          <a:noFill/>
          <a:ln w="57150">
            <a:solidFill>
              <a:srgbClr val="FF0000"/>
            </a:solidFill>
            <a:round/>
            <a:headEnd/>
            <a:tailEnd type="triangle" w="med" len="med"/>
          </a:ln>
        </p:spPr>
        <p:txBody>
          <a:bodyPr/>
          <a:lstStyle/>
          <a:p>
            <a:endParaRPr lang="en-US"/>
          </a:p>
        </p:txBody>
      </p:sp>
      <p:sp>
        <p:nvSpPr>
          <p:cNvPr id="7195" name="Line 27"/>
          <p:cNvSpPr>
            <a:spLocks noChangeShapeType="1"/>
          </p:cNvSpPr>
          <p:nvPr/>
        </p:nvSpPr>
        <p:spPr bwMode="auto">
          <a:xfrm flipV="1">
            <a:off x="2819400" y="1600200"/>
            <a:ext cx="1143000" cy="3200400"/>
          </a:xfrm>
          <a:prstGeom prst="line">
            <a:avLst/>
          </a:prstGeom>
          <a:noFill/>
          <a:ln w="57150">
            <a:solidFill>
              <a:srgbClr val="FF00FF"/>
            </a:solidFill>
            <a:round/>
            <a:headEnd/>
            <a:tailEnd type="triangle" w="med" len="med"/>
          </a:ln>
        </p:spPr>
        <p:txBody>
          <a:bodyPr/>
          <a:lstStyle/>
          <a:p>
            <a:endParaRPr lang="en-US"/>
          </a:p>
        </p:txBody>
      </p:sp>
      <p:sp>
        <p:nvSpPr>
          <p:cNvPr id="7196" name="Text Box 28"/>
          <p:cNvSpPr txBox="1">
            <a:spLocks noChangeArrowheads="1"/>
          </p:cNvSpPr>
          <p:nvPr/>
        </p:nvSpPr>
        <p:spPr bwMode="auto">
          <a:xfrm>
            <a:off x="152400" y="5715000"/>
            <a:ext cx="3352800" cy="579438"/>
          </a:xfrm>
          <a:prstGeom prst="rect">
            <a:avLst/>
          </a:prstGeom>
          <a:noFill/>
          <a:ln w="9525">
            <a:noFill/>
            <a:miter lim="800000"/>
            <a:headEnd/>
            <a:tailEnd/>
          </a:ln>
        </p:spPr>
        <p:txBody>
          <a:bodyPr wrap="square">
            <a:spAutoFit/>
          </a:bodyPr>
          <a:lstStyle/>
          <a:p>
            <a:pPr algn="ctr">
              <a:spcBef>
                <a:spcPct val="50000"/>
              </a:spcBef>
            </a:pPr>
            <a:r>
              <a:rPr lang="en-US" sz="3200" dirty="0">
                <a:solidFill>
                  <a:srgbClr val="FF0000"/>
                </a:solidFill>
              </a:rPr>
              <a:t>Skip </a:t>
            </a:r>
            <a:r>
              <a:rPr lang="en-US" sz="3200" b="1" i="1" u="sng" dirty="0">
                <a:solidFill>
                  <a:srgbClr val="FF0000"/>
                </a:solidFill>
                <a:latin typeface="Eras Bold ITC" pitchFamily="34" charset="0"/>
              </a:rPr>
              <a:t>four</a:t>
            </a:r>
            <a:r>
              <a:rPr lang="en-US" sz="3200" dirty="0">
                <a:solidFill>
                  <a:srgbClr val="FF0000"/>
                </a:solidFill>
              </a:rPr>
              <a:t> lines.</a:t>
            </a:r>
          </a:p>
        </p:txBody>
      </p:sp>
      <p:sp>
        <p:nvSpPr>
          <p:cNvPr id="7197" name="Line 29"/>
          <p:cNvSpPr>
            <a:spLocks noChangeShapeType="1"/>
          </p:cNvSpPr>
          <p:nvPr/>
        </p:nvSpPr>
        <p:spPr bwMode="auto">
          <a:xfrm flipV="1">
            <a:off x="3276600" y="1752600"/>
            <a:ext cx="1981200" cy="3962400"/>
          </a:xfrm>
          <a:prstGeom prst="line">
            <a:avLst/>
          </a:prstGeom>
          <a:noFill/>
          <a:ln w="57150">
            <a:solidFill>
              <a:srgbClr val="FF66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2000"/>
                                  </p:stCondLst>
                                  <p:childTnLst>
                                    <p:set>
                                      <p:cBhvr>
                                        <p:cTn id="6" dur="1" fill="hold">
                                          <p:stCondLst>
                                            <p:cond delay="0"/>
                                          </p:stCondLst>
                                        </p:cTn>
                                        <p:tgtEl>
                                          <p:spTgt spid="7174"/>
                                        </p:tgtEl>
                                        <p:attrNameLst>
                                          <p:attrName>style.visibility</p:attrName>
                                        </p:attrNameLst>
                                      </p:cBhvr>
                                      <p:to>
                                        <p:strVal val="visible"/>
                                      </p:to>
                                    </p:set>
                                    <p:animEffect transition="in" filter="barn(inHorizontal)">
                                      <p:cBhvr>
                                        <p:cTn id="7" dur="500"/>
                                        <p:tgtEl>
                                          <p:spTgt spid="7174"/>
                                        </p:tgtEl>
                                      </p:cBhvr>
                                    </p:animEffect>
                                  </p:childTnLst>
                                </p:cTn>
                              </p:par>
                            </p:childTnLst>
                          </p:cTn>
                        </p:par>
                        <p:par>
                          <p:cTn id="8" fill="hold">
                            <p:stCondLst>
                              <p:cond delay="2500"/>
                            </p:stCondLst>
                            <p:childTnLst>
                              <p:par>
                                <p:cTn id="9" presetID="2" presetClass="entr" presetSubtype="8" fill="hold" grpId="0" nodeType="afterEffect">
                                  <p:stCondLst>
                                    <p:cond delay="1000"/>
                                  </p:stCondLst>
                                  <p:childTnLst>
                                    <p:set>
                                      <p:cBhvr>
                                        <p:cTn id="10" dur="1" fill="hold">
                                          <p:stCondLst>
                                            <p:cond delay="0"/>
                                          </p:stCondLst>
                                        </p:cTn>
                                        <p:tgtEl>
                                          <p:spTgt spid="7170">
                                            <p:txEl>
                                              <p:pRg st="0" end="0"/>
                                            </p:txEl>
                                          </p:spTgt>
                                        </p:tgtEl>
                                        <p:attrNameLst>
                                          <p:attrName>style.visibility</p:attrName>
                                        </p:attrNameLst>
                                      </p:cBhvr>
                                      <p:to>
                                        <p:strVal val="visible"/>
                                      </p:to>
                                    </p:set>
                                    <p:anim calcmode="lin" valueType="num">
                                      <p:cBhvr additive="base">
                                        <p:cTn id="11" dur="500" fill="hold"/>
                                        <p:tgtEl>
                                          <p:spTgt spid="7170">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170">
                                            <p:txEl>
                                              <p:pRg st="0" end="0"/>
                                            </p:txEl>
                                          </p:spTgt>
                                        </p:tgtEl>
                                        <p:attrNameLst>
                                          <p:attrName>ppt_y</p:attrName>
                                        </p:attrNameLst>
                                      </p:cBhvr>
                                      <p:tavLst>
                                        <p:tav tm="0">
                                          <p:val>
                                            <p:strVal val="#ppt_y"/>
                                          </p:val>
                                        </p:tav>
                                        <p:tav tm="100000">
                                          <p:val>
                                            <p:strVal val="#ppt_y"/>
                                          </p:val>
                                        </p:tav>
                                      </p:tavLst>
                                    </p:anim>
                                  </p:childTnLst>
                                </p:cTn>
                              </p:par>
                            </p:childTnLst>
                          </p:cTn>
                        </p:par>
                        <p:par>
                          <p:cTn id="13" fill="hold">
                            <p:stCondLst>
                              <p:cond delay="4000"/>
                            </p:stCondLst>
                            <p:childTnLst>
                              <p:par>
                                <p:cTn id="14" presetID="2" presetClass="entr" presetSubtype="8" fill="hold" grpId="0" nodeType="afterEffect">
                                  <p:stCondLst>
                                    <p:cond delay="1000"/>
                                  </p:stCondLst>
                                  <p:childTnLst>
                                    <p:set>
                                      <p:cBhvr>
                                        <p:cTn id="15" dur="1" fill="hold">
                                          <p:stCondLst>
                                            <p:cond delay="0"/>
                                          </p:stCondLst>
                                        </p:cTn>
                                        <p:tgtEl>
                                          <p:spTgt spid="7170">
                                            <p:txEl>
                                              <p:pRg st="1" end="1"/>
                                            </p:txEl>
                                          </p:spTgt>
                                        </p:tgtEl>
                                        <p:attrNameLst>
                                          <p:attrName>style.visibility</p:attrName>
                                        </p:attrNameLst>
                                      </p:cBhvr>
                                      <p:to>
                                        <p:strVal val="visible"/>
                                      </p:to>
                                    </p:set>
                                    <p:anim calcmode="lin" valueType="num">
                                      <p:cBhvr additive="base">
                                        <p:cTn id="16" dur="500" fill="hold"/>
                                        <p:tgtEl>
                                          <p:spTgt spid="7170">
                                            <p:txEl>
                                              <p:pRg st="1" end="1"/>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7170">
                                            <p:txEl>
                                              <p:pRg st="1" end="1"/>
                                            </p:txEl>
                                          </p:spTgt>
                                        </p:tgtEl>
                                        <p:attrNameLst>
                                          <p:attrName>ppt_y</p:attrName>
                                        </p:attrNameLst>
                                      </p:cBhvr>
                                      <p:tavLst>
                                        <p:tav tm="0">
                                          <p:val>
                                            <p:strVal val="#ppt_y"/>
                                          </p:val>
                                        </p:tav>
                                        <p:tav tm="100000">
                                          <p:val>
                                            <p:strVal val="#ppt_y"/>
                                          </p:val>
                                        </p:tav>
                                      </p:tavLst>
                                    </p:anim>
                                  </p:childTnLst>
                                </p:cTn>
                              </p:par>
                            </p:childTnLst>
                          </p:cTn>
                        </p:par>
                        <p:par>
                          <p:cTn id="18" fill="hold">
                            <p:stCondLst>
                              <p:cond delay="5500"/>
                            </p:stCondLst>
                            <p:childTnLst>
                              <p:par>
                                <p:cTn id="19" presetID="2" presetClass="entr" presetSubtype="8" fill="hold" grpId="0" nodeType="afterEffect">
                                  <p:stCondLst>
                                    <p:cond delay="1000"/>
                                  </p:stCondLst>
                                  <p:childTnLst>
                                    <p:set>
                                      <p:cBhvr>
                                        <p:cTn id="20" dur="1" fill="hold">
                                          <p:stCondLst>
                                            <p:cond delay="0"/>
                                          </p:stCondLst>
                                        </p:cTn>
                                        <p:tgtEl>
                                          <p:spTgt spid="7170">
                                            <p:txEl>
                                              <p:pRg st="2" end="2"/>
                                            </p:txEl>
                                          </p:spTgt>
                                        </p:tgtEl>
                                        <p:attrNameLst>
                                          <p:attrName>style.visibility</p:attrName>
                                        </p:attrNameLst>
                                      </p:cBhvr>
                                      <p:to>
                                        <p:strVal val="visible"/>
                                      </p:to>
                                    </p:set>
                                    <p:anim calcmode="lin" valueType="num">
                                      <p:cBhvr additive="base">
                                        <p:cTn id="21" dur="500" fill="hold"/>
                                        <p:tgtEl>
                                          <p:spTgt spid="7170">
                                            <p:txEl>
                                              <p:pRg st="2" end="2"/>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170">
                                            <p:txEl>
                                              <p:pRg st="2" end="2"/>
                                            </p:txEl>
                                          </p:spTgt>
                                        </p:tgtEl>
                                        <p:attrNameLst>
                                          <p:attrName>ppt_y</p:attrName>
                                        </p:attrNameLst>
                                      </p:cBhvr>
                                      <p:tavLst>
                                        <p:tav tm="0">
                                          <p:val>
                                            <p:strVal val="#ppt_y"/>
                                          </p:val>
                                        </p:tav>
                                        <p:tav tm="100000">
                                          <p:val>
                                            <p:strVal val="#ppt_y"/>
                                          </p:val>
                                        </p:tav>
                                      </p:tavLst>
                                    </p:anim>
                                  </p:childTnLst>
                                </p:cTn>
                              </p:par>
                            </p:childTnLst>
                          </p:cTn>
                        </p:par>
                        <p:par>
                          <p:cTn id="23" fill="hold">
                            <p:stCondLst>
                              <p:cond delay="7000"/>
                            </p:stCondLst>
                            <p:childTnLst>
                              <p:par>
                                <p:cTn id="24" presetID="2" presetClass="entr" presetSubtype="4" fill="hold" grpId="0" nodeType="afterEffect">
                                  <p:stCondLst>
                                    <p:cond delay="1000"/>
                                  </p:stCondLst>
                                  <p:childTnLst>
                                    <p:set>
                                      <p:cBhvr>
                                        <p:cTn id="25" dur="1" fill="hold">
                                          <p:stCondLst>
                                            <p:cond delay="0"/>
                                          </p:stCondLst>
                                        </p:cTn>
                                        <p:tgtEl>
                                          <p:spTgt spid="7175"/>
                                        </p:tgtEl>
                                        <p:attrNameLst>
                                          <p:attrName>style.visibility</p:attrName>
                                        </p:attrNameLst>
                                      </p:cBhvr>
                                      <p:to>
                                        <p:strVal val="visible"/>
                                      </p:to>
                                    </p:set>
                                    <p:anim calcmode="lin" valueType="num">
                                      <p:cBhvr additive="base">
                                        <p:cTn id="26" dur="500" fill="hold"/>
                                        <p:tgtEl>
                                          <p:spTgt spid="7175"/>
                                        </p:tgtEl>
                                        <p:attrNameLst>
                                          <p:attrName>ppt_x</p:attrName>
                                        </p:attrNameLst>
                                      </p:cBhvr>
                                      <p:tavLst>
                                        <p:tav tm="0">
                                          <p:val>
                                            <p:strVal val="#ppt_x"/>
                                          </p:val>
                                        </p:tav>
                                        <p:tav tm="100000">
                                          <p:val>
                                            <p:strVal val="#ppt_x"/>
                                          </p:val>
                                        </p:tav>
                                      </p:tavLst>
                                    </p:anim>
                                    <p:anim calcmode="lin" valueType="num">
                                      <p:cBhvr additive="base">
                                        <p:cTn id="27" dur="500" fill="hold"/>
                                        <p:tgtEl>
                                          <p:spTgt spid="7175"/>
                                        </p:tgtEl>
                                        <p:attrNameLst>
                                          <p:attrName>ppt_y</p:attrName>
                                        </p:attrNameLst>
                                      </p:cBhvr>
                                      <p:tavLst>
                                        <p:tav tm="0">
                                          <p:val>
                                            <p:strVal val="1+#ppt_h/2"/>
                                          </p:val>
                                        </p:tav>
                                        <p:tav tm="100000">
                                          <p:val>
                                            <p:strVal val="#ppt_y"/>
                                          </p:val>
                                        </p:tav>
                                      </p:tavLst>
                                    </p:anim>
                                  </p:childTnLst>
                                </p:cTn>
                              </p:par>
                            </p:childTnLst>
                          </p:cTn>
                        </p:par>
                        <p:par>
                          <p:cTn id="28" fill="hold">
                            <p:stCondLst>
                              <p:cond delay="8500"/>
                            </p:stCondLst>
                            <p:childTnLst>
                              <p:par>
                                <p:cTn id="29" presetID="2" presetClass="entr" presetSubtype="4" fill="hold" grpId="0" nodeType="afterEffect">
                                  <p:stCondLst>
                                    <p:cond delay="1000"/>
                                  </p:stCondLst>
                                  <p:childTnLst>
                                    <p:set>
                                      <p:cBhvr>
                                        <p:cTn id="30" dur="1" fill="hold">
                                          <p:stCondLst>
                                            <p:cond delay="0"/>
                                          </p:stCondLst>
                                        </p:cTn>
                                        <p:tgtEl>
                                          <p:spTgt spid="7195"/>
                                        </p:tgtEl>
                                        <p:attrNameLst>
                                          <p:attrName>style.visibility</p:attrName>
                                        </p:attrNameLst>
                                      </p:cBhvr>
                                      <p:to>
                                        <p:strVal val="visible"/>
                                      </p:to>
                                    </p:set>
                                    <p:anim calcmode="lin" valueType="num">
                                      <p:cBhvr additive="base">
                                        <p:cTn id="31" dur="500" fill="hold"/>
                                        <p:tgtEl>
                                          <p:spTgt spid="7195"/>
                                        </p:tgtEl>
                                        <p:attrNameLst>
                                          <p:attrName>ppt_x</p:attrName>
                                        </p:attrNameLst>
                                      </p:cBhvr>
                                      <p:tavLst>
                                        <p:tav tm="0">
                                          <p:val>
                                            <p:strVal val="#ppt_x"/>
                                          </p:val>
                                        </p:tav>
                                        <p:tav tm="100000">
                                          <p:val>
                                            <p:strVal val="#ppt_x"/>
                                          </p:val>
                                        </p:tav>
                                      </p:tavLst>
                                    </p:anim>
                                    <p:anim calcmode="lin" valueType="num">
                                      <p:cBhvr additive="base">
                                        <p:cTn id="32" dur="500" fill="hold"/>
                                        <p:tgtEl>
                                          <p:spTgt spid="719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96"/>
                                        </p:tgtEl>
                                        <p:attrNameLst>
                                          <p:attrName>style.visibility</p:attrName>
                                        </p:attrNameLst>
                                      </p:cBhvr>
                                      <p:to>
                                        <p:strVal val="visible"/>
                                      </p:to>
                                    </p:set>
                                    <p:anim calcmode="lin" valueType="num">
                                      <p:cBhvr additive="base">
                                        <p:cTn id="37" dur="500" fill="hold"/>
                                        <p:tgtEl>
                                          <p:spTgt spid="7196"/>
                                        </p:tgtEl>
                                        <p:attrNameLst>
                                          <p:attrName>ppt_x</p:attrName>
                                        </p:attrNameLst>
                                      </p:cBhvr>
                                      <p:tavLst>
                                        <p:tav tm="0">
                                          <p:val>
                                            <p:strVal val="#ppt_x"/>
                                          </p:val>
                                        </p:tav>
                                        <p:tav tm="100000">
                                          <p:val>
                                            <p:strVal val="#ppt_x"/>
                                          </p:val>
                                        </p:tav>
                                      </p:tavLst>
                                    </p:anim>
                                    <p:anim calcmode="lin" valueType="num">
                                      <p:cBhvr additive="base">
                                        <p:cTn id="38" dur="500" fill="hold"/>
                                        <p:tgtEl>
                                          <p:spTgt spid="7196"/>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 presetClass="entr" presetSubtype="4" fill="hold" grpId="0" nodeType="afterEffect">
                                  <p:stCondLst>
                                    <p:cond delay="1000"/>
                                  </p:stCondLst>
                                  <p:childTnLst>
                                    <p:set>
                                      <p:cBhvr>
                                        <p:cTn id="41" dur="1" fill="hold">
                                          <p:stCondLst>
                                            <p:cond delay="0"/>
                                          </p:stCondLst>
                                        </p:cTn>
                                        <p:tgtEl>
                                          <p:spTgt spid="7197"/>
                                        </p:tgtEl>
                                        <p:attrNameLst>
                                          <p:attrName>style.visibility</p:attrName>
                                        </p:attrNameLst>
                                      </p:cBhvr>
                                      <p:to>
                                        <p:strVal val="visible"/>
                                      </p:to>
                                    </p:set>
                                    <p:anim calcmode="lin" valueType="num">
                                      <p:cBhvr additive="base">
                                        <p:cTn id="42" dur="500" fill="hold"/>
                                        <p:tgtEl>
                                          <p:spTgt spid="7197"/>
                                        </p:tgtEl>
                                        <p:attrNameLst>
                                          <p:attrName>ppt_x</p:attrName>
                                        </p:attrNameLst>
                                      </p:cBhvr>
                                      <p:tavLst>
                                        <p:tav tm="0">
                                          <p:val>
                                            <p:strVal val="#ppt_x"/>
                                          </p:val>
                                        </p:tav>
                                        <p:tav tm="100000">
                                          <p:val>
                                            <p:strVal val="#ppt_x"/>
                                          </p:val>
                                        </p:tav>
                                      </p:tavLst>
                                    </p:anim>
                                    <p:anim calcmode="lin" valueType="num">
                                      <p:cBhvr additive="base">
                                        <p:cTn id="43" dur="500" fill="hold"/>
                                        <p:tgtEl>
                                          <p:spTgt spid="71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autoUpdateAnimBg="0" advAuto="1000"/>
      <p:bldP spid="7175" grpId="0" animBg="1"/>
      <p:bldP spid="7195" grpId="0" animBg="1"/>
      <p:bldP spid="7196" grpId="0" autoUpdateAnimBg="0"/>
      <p:bldP spid="719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304800" y="381000"/>
            <a:ext cx="2667000" cy="3046988"/>
          </a:xfrm>
          <a:prstGeom prst="rect">
            <a:avLst/>
          </a:prstGeom>
          <a:noFill/>
          <a:ln w="9525">
            <a:noFill/>
            <a:miter lim="800000"/>
            <a:headEnd/>
            <a:tailEnd/>
          </a:ln>
        </p:spPr>
        <p:txBody>
          <a:bodyPr>
            <a:spAutoFit/>
          </a:bodyPr>
          <a:lstStyle/>
          <a:p>
            <a:pPr algn="ctr">
              <a:spcBef>
                <a:spcPct val="50000"/>
              </a:spcBef>
            </a:pPr>
            <a:r>
              <a:rPr lang="en-US" sz="3200" b="1" dirty="0">
                <a:solidFill>
                  <a:srgbClr val="990099"/>
                </a:solidFill>
              </a:rPr>
              <a:t>3.  Put </a:t>
            </a:r>
            <a:r>
              <a:rPr lang="en-US" sz="3200" b="1" dirty="0" smtClean="0">
                <a:solidFill>
                  <a:srgbClr val="990099"/>
                </a:solidFill>
              </a:rPr>
              <a:t>the </a:t>
            </a:r>
            <a:r>
              <a:rPr lang="en-US" sz="3200" b="1" dirty="0">
                <a:solidFill>
                  <a:srgbClr val="990099"/>
                </a:solidFill>
              </a:rPr>
              <a:t>organization’s address in the “inside address” section.</a:t>
            </a:r>
          </a:p>
        </p:txBody>
      </p:sp>
      <p:sp>
        <p:nvSpPr>
          <p:cNvPr id="41987" name="Text Box 3"/>
          <p:cNvSpPr txBox="1">
            <a:spLocks noChangeArrowheads="1"/>
          </p:cNvSpPr>
          <p:nvPr/>
        </p:nvSpPr>
        <p:spPr bwMode="auto">
          <a:xfrm>
            <a:off x="-685800" y="4038600"/>
            <a:ext cx="4572000" cy="579438"/>
          </a:xfrm>
          <a:prstGeom prst="rect">
            <a:avLst/>
          </a:prstGeom>
          <a:noFill/>
          <a:ln w="9525">
            <a:noFill/>
            <a:miter lim="800000"/>
            <a:headEnd/>
            <a:tailEnd/>
          </a:ln>
        </p:spPr>
        <p:txBody>
          <a:bodyPr>
            <a:spAutoFit/>
          </a:bodyPr>
          <a:lstStyle/>
          <a:p>
            <a:pPr algn="ctr">
              <a:spcBef>
                <a:spcPct val="50000"/>
              </a:spcBef>
            </a:pPr>
            <a:r>
              <a:rPr lang="en-US" sz="3200" b="1">
                <a:solidFill>
                  <a:srgbClr val="FF0000"/>
                </a:solidFill>
              </a:rPr>
              <a:t>Double space.</a:t>
            </a:r>
          </a:p>
        </p:txBody>
      </p:sp>
      <p:pic>
        <p:nvPicPr>
          <p:cNvPr id="18436" name="Picture 4" descr="C:\Documents and Settings\Becky\Desktop\student teaching stuff\Lesson Plans\letter2.gif"/>
          <p:cNvPicPr>
            <a:picLocks noChangeAspect="1" noChangeArrowheads="1"/>
          </p:cNvPicPr>
          <p:nvPr/>
        </p:nvPicPr>
        <p:blipFill>
          <a:blip r:embed="rId3"/>
          <a:srcRect/>
          <a:stretch>
            <a:fillRect/>
          </a:stretch>
        </p:blipFill>
        <p:spPr bwMode="auto">
          <a:xfrm>
            <a:off x="2819400" y="38100"/>
            <a:ext cx="6264275" cy="6819900"/>
          </a:xfrm>
          <a:prstGeom prst="rect">
            <a:avLst/>
          </a:prstGeom>
          <a:noFill/>
          <a:ln w="9525">
            <a:noFill/>
            <a:miter lim="800000"/>
            <a:headEnd/>
            <a:tailEnd/>
          </a:ln>
        </p:spPr>
      </p:pic>
      <p:sp>
        <p:nvSpPr>
          <p:cNvPr id="41989" name="Line 5"/>
          <p:cNvSpPr>
            <a:spLocks noChangeShapeType="1"/>
          </p:cNvSpPr>
          <p:nvPr/>
        </p:nvSpPr>
        <p:spPr bwMode="auto">
          <a:xfrm flipV="1">
            <a:off x="2438400" y="2057400"/>
            <a:ext cx="1447800" cy="609600"/>
          </a:xfrm>
          <a:prstGeom prst="line">
            <a:avLst/>
          </a:prstGeom>
          <a:noFill/>
          <a:ln w="57150">
            <a:solidFill>
              <a:schemeClr val="tx1"/>
            </a:solidFill>
            <a:round/>
            <a:headEnd/>
            <a:tailEnd type="triangle" w="med" len="med"/>
          </a:ln>
        </p:spPr>
        <p:txBody>
          <a:bodyPr/>
          <a:lstStyle/>
          <a:p>
            <a:endParaRPr lang="en-US"/>
          </a:p>
        </p:txBody>
      </p:sp>
      <p:sp>
        <p:nvSpPr>
          <p:cNvPr id="41990" name="Line 6"/>
          <p:cNvSpPr>
            <a:spLocks noChangeShapeType="1"/>
          </p:cNvSpPr>
          <p:nvPr/>
        </p:nvSpPr>
        <p:spPr bwMode="auto">
          <a:xfrm flipV="1">
            <a:off x="2971800" y="2438400"/>
            <a:ext cx="2362200" cy="1905000"/>
          </a:xfrm>
          <a:prstGeom prst="line">
            <a:avLst/>
          </a:prstGeom>
          <a:noFill/>
          <a:ln w="5715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41989"/>
                                        </p:tgtEl>
                                        <p:attrNameLst>
                                          <p:attrName>style.visibility</p:attrName>
                                        </p:attrNameLst>
                                      </p:cBhvr>
                                      <p:to>
                                        <p:strVal val="visible"/>
                                      </p:to>
                                    </p:set>
                                    <p:anim calcmode="lin" valueType="num">
                                      <p:cBhvr additive="base">
                                        <p:cTn id="7" dur="500" fill="hold"/>
                                        <p:tgtEl>
                                          <p:spTgt spid="41989"/>
                                        </p:tgtEl>
                                        <p:attrNameLst>
                                          <p:attrName>ppt_x</p:attrName>
                                        </p:attrNameLst>
                                      </p:cBhvr>
                                      <p:tavLst>
                                        <p:tav tm="0">
                                          <p:val>
                                            <p:strVal val="0-#ppt_w/2"/>
                                          </p:val>
                                        </p:tav>
                                        <p:tav tm="100000">
                                          <p:val>
                                            <p:strVal val="#ppt_x"/>
                                          </p:val>
                                        </p:tav>
                                      </p:tavLst>
                                    </p:anim>
                                    <p:anim calcmode="lin" valueType="num">
                                      <p:cBhvr additive="base">
                                        <p:cTn id="8" dur="500" fill="hold"/>
                                        <p:tgtEl>
                                          <p:spTgt spid="4198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41987"/>
                                        </p:tgtEl>
                                        <p:attrNameLst>
                                          <p:attrName>style.visibility</p:attrName>
                                        </p:attrNameLst>
                                      </p:cBhvr>
                                      <p:to>
                                        <p:strVal val="visible"/>
                                      </p:to>
                                    </p:set>
                                    <p:anim calcmode="lin" valueType="num">
                                      <p:cBhvr additive="base">
                                        <p:cTn id="13" dur="500" fill="hold"/>
                                        <p:tgtEl>
                                          <p:spTgt spid="41987"/>
                                        </p:tgtEl>
                                        <p:attrNameLst>
                                          <p:attrName>ppt_x</p:attrName>
                                        </p:attrNameLst>
                                      </p:cBhvr>
                                      <p:tavLst>
                                        <p:tav tm="0">
                                          <p:val>
                                            <p:strVal val="0-#ppt_w/2"/>
                                          </p:val>
                                        </p:tav>
                                        <p:tav tm="100000">
                                          <p:val>
                                            <p:strVal val="#ppt_x"/>
                                          </p:val>
                                        </p:tav>
                                      </p:tavLst>
                                    </p:anim>
                                    <p:anim calcmode="lin" valueType="num">
                                      <p:cBhvr additive="base">
                                        <p:cTn id="14" dur="500" fill="hold"/>
                                        <p:tgtEl>
                                          <p:spTgt spid="41987"/>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9" fill="hold" grpId="0" nodeType="afterEffect">
                                  <p:stCondLst>
                                    <p:cond delay="1000"/>
                                  </p:stCondLst>
                                  <p:childTnLst>
                                    <p:set>
                                      <p:cBhvr>
                                        <p:cTn id="17" dur="1" fill="hold">
                                          <p:stCondLst>
                                            <p:cond delay="0"/>
                                          </p:stCondLst>
                                        </p:cTn>
                                        <p:tgtEl>
                                          <p:spTgt spid="41990"/>
                                        </p:tgtEl>
                                        <p:attrNameLst>
                                          <p:attrName>style.visibility</p:attrName>
                                        </p:attrNameLst>
                                      </p:cBhvr>
                                      <p:to>
                                        <p:strVal val="visible"/>
                                      </p:to>
                                    </p:set>
                                    <p:anim calcmode="lin" valueType="num">
                                      <p:cBhvr additive="base">
                                        <p:cTn id="18" dur="500" fill="hold"/>
                                        <p:tgtEl>
                                          <p:spTgt spid="41990"/>
                                        </p:tgtEl>
                                        <p:attrNameLst>
                                          <p:attrName>ppt_x</p:attrName>
                                        </p:attrNameLst>
                                      </p:cBhvr>
                                      <p:tavLst>
                                        <p:tav tm="0">
                                          <p:val>
                                            <p:strVal val="0-#ppt_w/2"/>
                                          </p:val>
                                        </p:tav>
                                        <p:tav tm="100000">
                                          <p:val>
                                            <p:strVal val="#ppt_x"/>
                                          </p:val>
                                        </p:tav>
                                      </p:tavLst>
                                    </p:anim>
                                    <p:anim calcmode="lin" valueType="num">
                                      <p:cBhvr additive="base">
                                        <p:cTn id="19" dur="500" fill="hold"/>
                                        <p:tgtEl>
                                          <p:spTgt spid="4199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autoUpdateAnimBg="0"/>
      <p:bldP spid="41989" grpId="0" animBg="1"/>
      <p:bldP spid="4199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9" descr="C:\Documents and Settings\Becky\Desktop\student teaching stuff\Lesson Plans\letter2.gif"/>
          <p:cNvPicPr>
            <a:picLocks noChangeAspect="1" noChangeArrowheads="1"/>
          </p:cNvPicPr>
          <p:nvPr/>
        </p:nvPicPr>
        <p:blipFill>
          <a:blip r:embed="rId3"/>
          <a:srcRect/>
          <a:stretch>
            <a:fillRect/>
          </a:stretch>
        </p:blipFill>
        <p:spPr bwMode="auto">
          <a:xfrm>
            <a:off x="3413125" y="38100"/>
            <a:ext cx="5807075" cy="6819900"/>
          </a:xfrm>
          <a:prstGeom prst="rect">
            <a:avLst/>
          </a:prstGeom>
          <a:noFill/>
          <a:ln w="9525">
            <a:noFill/>
            <a:miter lim="800000"/>
            <a:headEnd/>
            <a:tailEnd/>
          </a:ln>
        </p:spPr>
      </p:pic>
      <p:sp>
        <p:nvSpPr>
          <p:cNvPr id="19459" name="Text Box 2"/>
          <p:cNvSpPr txBox="1">
            <a:spLocks noChangeArrowheads="1"/>
          </p:cNvSpPr>
          <p:nvPr/>
        </p:nvSpPr>
        <p:spPr bwMode="auto">
          <a:xfrm>
            <a:off x="76200" y="1477963"/>
            <a:ext cx="4724400" cy="579437"/>
          </a:xfrm>
          <a:prstGeom prst="rect">
            <a:avLst/>
          </a:prstGeom>
          <a:noFill/>
          <a:ln w="9525">
            <a:noFill/>
            <a:miter lim="800000"/>
            <a:headEnd/>
            <a:tailEnd/>
          </a:ln>
        </p:spPr>
        <p:txBody>
          <a:bodyPr>
            <a:spAutoFit/>
          </a:bodyPr>
          <a:lstStyle/>
          <a:p>
            <a:pPr>
              <a:spcBef>
                <a:spcPct val="50000"/>
              </a:spcBef>
            </a:pPr>
            <a:r>
              <a:rPr lang="en-US" sz="3200" b="1">
                <a:solidFill>
                  <a:schemeClr val="accent2"/>
                </a:solidFill>
              </a:rPr>
              <a:t>4. Salutation/Greeting</a:t>
            </a:r>
          </a:p>
        </p:txBody>
      </p:sp>
      <p:sp>
        <p:nvSpPr>
          <p:cNvPr id="25603" name="Text Box 3"/>
          <p:cNvSpPr txBox="1">
            <a:spLocks noChangeArrowheads="1"/>
          </p:cNvSpPr>
          <p:nvPr/>
        </p:nvSpPr>
        <p:spPr bwMode="auto">
          <a:xfrm>
            <a:off x="228600" y="2209800"/>
            <a:ext cx="3048000" cy="2041525"/>
          </a:xfrm>
          <a:prstGeom prst="rect">
            <a:avLst/>
          </a:prstGeom>
          <a:noFill/>
          <a:ln w="9525">
            <a:noFill/>
            <a:miter lim="800000"/>
            <a:headEnd/>
            <a:tailEnd/>
          </a:ln>
        </p:spPr>
        <p:txBody>
          <a:bodyPr>
            <a:spAutoFit/>
          </a:bodyPr>
          <a:lstStyle/>
          <a:p>
            <a:pPr algn="ctr">
              <a:spcBef>
                <a:spcPct val="50000"/>
              </a:spcBef>
            </a:pPr>
            <a:r>
              <a:rPr lang="en-US" sz="3200" b="1"/>
              <a:t>Dear Ms. Smith (or whoever is the head of your organization)</a:t>
            </a:r>
          </a:p>
        </p:txBody>
      </p:sp>
      <p:sp>
        <p:nvSpPr>
          <p:cNvPr id="25604" name="Text Box 4"/>
          <p:cNvSpPr txBox="1">
            <a:spLocks noChangeArrowheads="1"/>
          </p:cNvSpPr>
          <p:nvPr/>
        </p:nvSpPr>
        <p:spPr bwMode="auto">
          <a:xfrm>
            <a:off x="152400" y="4495800"/>
            <a:ext cx="3352800" cy="1554163"/>
          </a:xfrm>
          <a:prstGeom prst="rect">
            <a:avLst/>
          </a:prstGeom>
          <a:noFill/>
          <a:ln w="9525">
            <a:noFill/>
            <a:miter lim="800000"/>
            <a:headEnd/>
            <a:tailEnd/>
          </a:ln>
        </p:spPr>
        <p:txBody>
          <a:bodyPr>
            <a:spAutoFit/>
          </a:bodyPr>
          <a:lstStyle/>
          <a:p>
            <a:pPr algn="ctr">
              <a:spcBef>
                <a:spcPct val="50000"/>
              </a:spcBef>
            </a:pPr>
            <a:r>
              <a:rPr lang="en-US" sz="3200" b="1"/>
              <a:t>Use Ladies and Gentlemen when name is unknown</a:t>
            </a:r>
          </a:p>
        </p:txBody>
      </p:sp>
      <p:sp>
        <p:nvSpPr>
          <p:cNvPr id="19462" name="Text Box 6"/>
          <p:cNvSpPr txBox="1">
            <a:spLocks noChangeArrowheads="1"/>
          </p:cNvSpPr>
          <p:nvPr/>
        </p:nvSpPr>
        <p:spPr bwMode="auto">
          <a:xfrm>
            <a:off x="1676400" y="3962400"/>
            <a:ext cx="5181600" cy="457200"/>
          </a:xfrm>
          <a:prstGeom prst="rect">
            <a:avLst/>
          </a:prstGeom>
          <a:noFill/>
          <a:ln w="9525">
            <a:noFill/>
            <a:miter lim="800000"/>
            <a:headEnd/>
            <a:tailEnd/>
          </a:ln>
        </p:spPr>
        <p:txBody>
          <a:bodyPr>
            <a:spAutoFit/>
          </a:bodyPr>
          <a:lstStyle/>
          <a:p>
            <a:pPr>
              <a:spcBef>
                <a:spcPct val="50000"/>
              </a:spcBef>
            </a:pPr>
            <a:endParaRPr lang="en-US"/>
          </a:p>
        </p:txBody>
      </p:sp>
      <p:sp>
        <p:nvSpPr>
          <p:cNvPr id="25607" name="Text Box 7"/>
          <p:cNvSpPr txBox="1">
            <a:spLocks noChangeArrowheads="1"/>
          </p:cNvSpPr>
          <p:nvPr/>
        </p:nvSpPr>
        <p:spPr bwMode="auto">
          <a:xfrm>
            <a:off x="0" y="6049963"/>
            <a:ext cx="3657600" cy="579437"/>
          </a:xfrm>
          <a:prstGeom prst="rect">
            <a:avLst/>
          </a:prstGeom>
          <a:noFill/>
          <a:ln w="9525">
            <a:noFill/>
            <a:miter lim="800000"/>
            <a:headEnd/>
            <a:tailEnd/>
          </a:ln>
        </p:spPr>
        <p:txBody>
          <a:bodyPr>
            <a:spAutoFit/>
          </a:bodyPr>
          <a:lstStyle/>
          <a:p>
            <a:pPr algn="ctr">
              <a:spcBef>
                <a:spcPct val="50000"/>
              </a:spcBef>
            </a:pPr>
            <a:r>
              <a:rPr lang="en-US" sz="3200" b="1">
                <a:solidFill>
                  <a:srgbClr val="FF0000"/>
                </a:solidFill>
              </a:rPr>
              <a:t>Double space.</a:t>
            </a:r>
          </a:p>
        </p:txBody>
      </p:sp>
      <p:sp>
        <p:nvSpPr>
          <p:cNvPr id="19464" name="Line 10"/>
          <p:cNvSpPr>
            <a:spLocks noChangeShapeType="1"/>
          </p:cNvSpPr>
          <p:nvPr/>
        </p:nvSpPr>
        <p:spPr bwMode="auto">
          <a:xfrm>
            <a:off x="3657600" y="1981200"/>
            <a:ext cx="381000" cy="609600"/>
          </a:xfrm>
          <a:prstGeom prst="line">
            <a:avLst/>
          </a:prstGeom>
          <a:noFill/>
          <a:ln w="57150">
            <a:solidFill>
              <a:schemeClr val="accent2"/>
            </a:solidFill>
            <a:round/>
            <a:headEnd/>
            <a:tailEnd type="triangle" w="med" len="med"/>
          </a:ln>
        </p:spPr>
        <p:txBody>
          <a:bodyPr/>
          <a:lstStyle/>
          <a:p>
            <a:endParaRPr lang="en-US"/>
          </a:p>
        </p:txBody>
      </p:sp>
      <p:sp>
        <p:nvSpPr>
          <p:cNvPr id="25611" name="Line 11"/>
          <p:cNvSpPr>
            <a:spLocks noChangeShapeType="1"/>
          </p:cNvSpPr>
          <p:nvPr/>
        </p:nvSpPr>
        <p:spPr bwMode="auto">
          <a:xfrm flipV="1">
            <a:off x="3276600" y="2667000"/>
            <a:ext cx="2209800" cy="3733800"/>
          </a:xfrm>
          <a:prstGeom prst="line">
            <a:avLst/>
          </a:prstGeom>
          <a:noFill/>
          <a:ln w="5715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25603"/>
                                        </p:tgtEl>
                                        <p:attrNameLst>
                                          <p:attrName>style.visibility</p:attrName>
                                        </p:attrNameLst>
                                      </p:cBhvr>
                                      <p:to>
                                        <p:strVal val="visible"/>
                                      </p:to>
                                    </p:set>
                                    <p:animEffect transition="in" filter="wipe(up)">
                                      <p:cBhvr>
                                        <p:cTn id="7" dur="500"/>
                                        <p:tgtEl>
                                          <p:spTgt spid="25603"/>
                                        </p:tgtEl>
                                      </p:cBhvr>
                                    </p:animEffect>
                                  </p:childTnLst>
                                </p:cTn>
                              </p:par>
                            </p:childTnLst>
                          </p:cTn>
                        </p:par>
                        <p:par>
                          <p:cTn id="8" fill="hold">
                            <p:stCondLst>
                              <p:cond delay="1500"/>
                            </p:stCondLst>
                            <p:childTnLst>
                              <p:par>
                                <p:cTn id="9" presetID="16" presetClass="entr" presetSubtype="26" fill="hold" grpId="0" nodeType="afterEffect">
                                  <p:stCondLst>
                                    <p:cond delay="2000"/>
                                  </p:stCondLst>
                                  <p:childTnLst>
                                    <p:set>
                                      <p:cBhvr>
                                        <p:cTn id="10" dur="1" fill="hold">
                                          <p:stCondLst>
                                            <p:cond delay="0"/>
                                          </p:stCondLst>
                                        </p:cTn>
                                        <p:tgtEl>
                                          <p:spTgt spid="25604"/>
                                        </p:tgtEl>
                                        <p:attrNameLst>
                                          <p:attrName>style.visibility</p:attrName>
                                        </p:attrNameLst>
                                      </p:cBhvr>
                                      <p:to>
                                        <p:strVal val="visible"/>
                                      </p:to>
                                    </p:set>
                                    <p:animEffect transition="in" filter="barn(inHorizontal)">
                                      <p:cBhvr>
                                        <p:cTn id="11" dur="500"/>
                                        <p:tgtEl>
                                          <p:spTgt spid="25604"/>
                                        </p:tgtEl>
                                      </p:cBhvr>
                                    </p:animEffect>
                                  </p:childTnLst>
                                </p:cTn>
                              </p:par>
                            </p:childTnLst>
                          </p:cTn>
                        </p:par>
                        <p:par>
                          <p:cTn id="12" fill="hold">
                            <p:stCondLst>
                              <p:cond delay="4000"/>
                            </p:stCondLst>
                            <p:childTnLst>
                              <p:par>
                                <p:cTn id="13" presetID="4" presetClass="entr" presetSubtype="16" fill="hold" grpId="0" nodeType="afterEffect">
                                  <p:stCondLst>
                                    <p:cond delay="1000"/>
                                  </p:stCondLst>
                                  <p:childTnLst>
                                    <p:set>
                                      <p:cBhvr>
                                        <p:cTn id="14" dur="1" fill="hold">
                                          <p:stCondLst>
                                            <p:cond delay="0"/>
                                          </p:stCondLst>
                                        </p:cTn>
                                        <p:tgtEl>
                                          <p:spTgt spid="25607"/>
                                        </p:tgtEl>
                                        <p:attrNameLst>
                                          <p:attrName>style.visibility</p:attrName>
                                        </p:attrNameLst>
                                      </p:cBhvr>
                                      <p:to>
                                        <p:strVal val="visible"/>
                                      </p:to>
                                    </p:set>
                                    <p:animEffect transition="in" filter="box(in)">
                                      <p:cBhvr>
                                        <p:cTn id="15" dur="500"/>
                                        <p:tgtEl>
                                          <p:spTgt spid="25607"/>
                                        </p:tgtEl>
                                      </p:cBhvr>
                                    </p:animEffect>
                                  </p:childTnLst>
                                </p:cTn>
                              </p:par>
                            </p:childTnLst>
                          </p:cTn>
                        </p:par>
                        <p:par>
                          <p:cTn id="16" fill="hold">
                            <p:stCondLst>
                              <p:cond delay="5500"/>
                            </p:stCondLst>
                            <p:childTnLst>
                              <p:par>
                                <p:cTn id="17" presetID="2" presetClass="entr" presetSubtype="8" fill="hold" grpId="0" nodeType="afterEffect">
                                  <p:stCondLst>
                                    <p:cond delay="1000"/>
                                  </p:stCondLst>
                                  <p:childTnLst>
                                    <p:set>
                                      <p:cBhvr>
                                        <p:cTn id="18" dur="1" fill="hold">
                                          <p:stCondLst>
                                            <p:cond delay="0"/>
                                          </p:stCondLst>
                                        </p:cTn>
                                        <p:tgtEl>
                                          <p:spTgt spid="25611"/>
                                        </p:tgtEl>
                                        <p:attrNameLst>
                                          <p:attrName>style.visibility</p:attrName>
                                        </p:attrNameLst>
                                      </p:cBhvr>
                                      <p:to>
                                        <p:strVal val="visible"/>
                                      </p:to>
                                    </p:set>
                                    <p:anim calcmode="lin" valueType="num">
                                      <p:cBhvr additive="base">
                                        <p:cTn id="19" dur="500" fill="hold"/>
                                        <p:tgtEl>
                                          <p:spTgt spid="25611"/>
                                        </p:tgtEl>
                                        <p:attrNameLst>
                                          <p:attrName>ppt_x</p:attrName>
                                        </p:attrNameLst>
                                      </p:cBhvr>
                                      <p:tavLst>
                                        <p:tav tm="0">
                                          <p:val>
                                            <p:strVal val="0-#ppt_w/2"/>
                                          </p:val>
                                        </p:tav>
                                        <p:tav tm="100000">
                                          <p:val>
                                            <p:strVal val="#ppt_x"/>
                                          </p:val>
                                        </p:tav>
                                      </p:tavLst>
                                    </p:anim>
                                    <p:anim calcmode="lin" valueType="num">
                                      <p:cBhvr additive="base">
                                        <p:cTn id="20" dur="500" fill="hold"/>
                                        <p:tgtEl>
                                          <p:spTgt spid="256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p:bldP spid="25604" grpId="0" autoUpdateAnimBg="0"/>
      <p:bldP spid="25607" grpId="0" autoUpdateAnimBg="0"/>
      <p:bldP spid="256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304800" y="304800"/>
            <a:ext cx="2971800" cy="5453063"/>
          </a:xfrm>
          <a:prstGeom prst="rect">
            <a:avLst/>
          </a:prstGeom>
          <a:noFill/>
          <a:ln w="9525">
            <a:noFill/>
            <a:miter lim="800000"/>
            <a:headEnd/>
            <a:tailEnd/>
          </a:ln>
        </p:spPr>
        <p:txBody>
          <a:bodyPr>
            <a:spAutoFit/>
          </a:bodyPr>
          <a:lstStyle/>
          <a:p>
            <a:pPr algn="ctr">
              <a:spcBef>
                <a:spcPct val="50000"/>
              </a:spcBef>
            </a:pPr>
            <a:r>
              <a:rPr lang="en-US" sz="3200" b="1">
                <a:solidFill>
                  <a:srgbClr val="006600"/>
                </a:solidFill>
              </a:rPr>
              <a:t>5. Body</a:t>
            </a:r>
            <a:r>
              <a:rPr lang="en-US" sz="3200" b="1"/>
              <a:t>: State your purpose for writing this letter.  Be formal and polite; the organization is doing YOU a favor by sending you the information.  </a:t>
            </a:r>
          </a:p>
        </p:txBody>
      </p:sp>
      <p:pic>
        <p:nvPicPr>
          <p:cNvPr id="20483" name="Picture 10" descr="C:\Documents and Settings\Becky\Desktop\student teaching stuff\Lesson Plans\letter2.gif"/>
          <p:cNvPicPr>
            <a:picLocks noChangeAspect="1" noChangeArrowheads="1"/>
          </p:cNvPicPr>
          <p:nvPr/>
        </p:nvPicPr>
        <p:blipFill>
          <a:blip r:embed="rId3"/>
          <a:srcRect/>
          <a:stretch>
            <a:fillRect/>
          </a:stretch>
        </p:blipFill>
        <p:spPr bwMode="auto">
          <a:xfrm>
            <a:off x="3336925" y="38100"/>
            <a:ext cx="5807075" cy="6819900"/>
          </a:xfrm>
          <a:prstGeom prst="rect">
            <a:avLst/>
          </a:prstGeom>
          <a:noFill/>
          <a:ln w="9525">
            <a:noFill/>
            <a:miter lim="800000"/>
            <a:headEnd/>
            <a:tailEnd/>
          </a:ln>
        </p:spPr>
      </p:pic>
      <p:sp>
        <p:nvSpPr>
          <p:cNvPr id="20484" name="Line 11"/>
          <p:cNvSpPr>
            <a:spLocks noChangeShapeType="1"/>
          </p:cNvSpPr>
          <p:nvPr/>
        </p:nvSpPr>
        <p:spPr bwMode="auto">
          <a:xfrm flipH="1">
            <a:off x="3352800" y="2743200"/>
            <a:ext cx="533400" cy="0"/>
          </a:xfrm>
          <a:prstGeom prst="line">
            <a:avLst/>
          </a:prstGeom>
          <a:noFill/>
          <a:ln w="57150">
            <a:solidFill>
              <a:srgbClr val="008000"/>
            </a:solidFill>
            <a:round/>
            <a:headEnd/>
            <a:tailEnd/>
          </a:ln>
        </p:spPr>
        <p:txBody>
          <a:bodyPr/>
          <a:lstStyle/>
          <a:p>
            <a:endParaRPr lang="en-US"/>
          </a:p>
        </p:txBody>
      </p:sp>
      <p:sp>
        <p:nvSpPr>
          <p:cNvPr id="20485" name="Line 12"/>
          <p:cNvSpPr>
            <a:spLocks noChangeShapeType="1"/>
          </p:cNvSpPr>
          <p:nvPr/>
        </p:nvSpPr>
        <p:spPr bwMode="auto">
          <a:xfrm>
            <a:off x="3352800" y="2743200"/>
            <a:ext cx="0" cy="2209800"/>
          </a:xfrm>
          <a:prstGeom prst="line">
            <a:avLst/>
          </a:prstGeom>
          <a:noFill/>
          <a:ln w="38100">
            <a:solidFill>
              <a:srgbClr val="008000"/>
            </a:solidFill>
            <a:round/>
            <a:headEnd/>
            <a:tailEnd/>
          </a:ln>
        </p:spPr>
        <p:txBody>
          <a:bodyPr/>
          <a:lstStyle/>
          <a:p>
            <a:endParaRPr lang="en-US"/>
          </a:p>
        </p:txBody>
      </p:sp>
      <p:sp>
        <p:nvSpPr>
          <p:cNvPr id="20486" name="Line 13"/>
          <p:cNvSpPr>
            <a:spLocks noChangeShapeType="1"/>
          </p:cNvSpPr>
          <p:nvPr/>
        </p:nvSpPr>
        <p:spPr bwMode="auto">
          <a:xfrm>
            <a:off x="3352800" y="4953000"/>
            <a:ext cx="533400" cy="0"/>
          </a:xfrm>
          <a:prstGeom prst="line">
            <a:avLst/>
          </a:prstGeom>
          <a:noFill/>
          <a:ln w="57150">
            <a:solidFill>
              <a:srgbClr val="008000"/>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304800" y="381000"/>
            <a:ext cx="3124200" cy="3990975"/>
          </a:xfrm>
          <a:prstGeom prst="rect">
            <a:avLst/>
          </a:prstGeom>
          <a:noFill/>
          <a:ln w="9525">
            <a:noFill/>
            <a:miter lim="800000"/>
            <a:headEnd/>
            <a:tailEnd/>
          </a:ln>
        </p:spPr>
        <p:txBody>
          <a:bodyPr>
            <a:spAutoFit/>
          </a:bodyPr>
          <a:lstStyle/>
          <a:p>
            <a:pPr>
              <a:spcBef>
                <a:spcPct val="50000"/>
              </a:spcBef>
            </a:pPr>
            <a:r>
              <a:rPr lang="en-US" sz="3200"/>
              <a:t>You may or may not have more than one paragraph.  If you do, between each paragraph, be sure to </a:t>
            </a:r>
            <a:r>
              <a:rPr lang="en-US" sz="3200">
                <a:solidFill>
                  <a:srgbClr val="FF0000"/>
                </a:solidFill>
              </a:rPr>
              <a:t>double space</a:t>
            </a:r>
            <a:r>
              <a:rPr lang="en-US" sz="3200"/>
              <a:t>. </a:t>
            </a:r>
          </a:p>
        </p:txBody>
      </p:sp>
      <p:pic>
        <p:nvPicPr>
          <p:cNvPr id="21507" name="Picture 3" descr="C:\Documents and Settings\Becky\Desktop\student teaching stuff\Lesson Plans\letter2.gif"/>
          <p:cNvPicPr>
            <a:picLocks noChangeAspect="1" noChangeArrowheads="1"/>
          </p:cNvPicPr>
          <p:nvPr/>
        </p:nvPicPr>
        <p:blipFill>
          <a:blip r:embed="rId3"/>
          <a:srcRect/>
          <a:stretch>
            <a:fillRect/>
          </a:stretch>
        </p:blipFill>
        <p:spPr bwMode="auto">
          <a:xfrm>
            <a:off x="3336925" y="38100"/>
            <a:ext cx="5807075" cy="6819900"/>
          </a:xfrm>
          <a:prstGeom prst="rect">
            <a:avLst/>
          </a:prstGeom>
          <a:noFill/>
          <a:ln w="9525">
            <a:noFill/>
            <a:miter lim="800000"/>
            <a:headEnd/>
            <a:tailEnd/>
          </a:ln>
        </p:spPr>
      </p:pic>
      <p:sp>
        <p:nvSpPr>
          <p:cNvPr id="45060" name="Line 4"/>
          <p:cNvSpPr>
            <a:spLocks noChangeShapeType="1"/>
          </p:cNvSpPr>
          <p:nvPr/>
        </p:nvSpPr>
        <p:spPr bwMode="auto">
          <a:xfrm flipV="1">
            <a:off x="2590800" y="3429000"/>
            <a:ext cx="2286000" cy="457200"/>
          </a:xfrm>
          <a:prstGeom prst="line">
            <a:avLst/>
          </a:prstGeom>
          <a:noFill/>
          <a:ln w="57150">
            <a:solidFill>
              <a:srgbClr val="FF00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200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0-#ppt_w/2"/>
                                          </p:val>
                                        </p:tav>
                                        <p:tav tm="100000">
                                          <p:val>
                                            <p:strVal val="#ppt_x"/>
                                          </p:val>
                                        </p:tav>
                                      </p:tavLst>
                                    </p:anim>
                                    <p:anim calcmode="lin" valueType="num">
                                      <p:cBhvr additive="base">
                                        <p:cTn id="8" dur="500" fill="hold"/>
                                        <p:tgtEl>
                                          <p:spTgt spid="450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52400" y="1676400"/>
            <a:ext cx="3505200" cy="1066800"/>
          </a:xfrm>
          <a:prstGeom prst="rect">
            <a:avLst/>
          </a:prstGeom>
          <a:noFill/>
          <a:ln w="9525">
            <a:noFill/>
            <a:miter lim="800000"/>
            <a:headEnd/>
            <a:tailEnd/>
          </a:ln>
        </p:spPr>
        <p:txBody>
          <a:bodyPr>
            <a:spAutoFit/>
          </a:bodyPr>
          <a:lstStyle/>
          <a:p>
            <a:pPr>
              <a:spcBef>
                <a:spcPct val="50000"/>
              </a:spcBef>
            </a:pPr>
            <a:r>
              <a:rPr lang="en-US" sz="3200">
                <a:solidFill>
                  <a:srgbClr val="990099"/>
                </a:solidFill>
                <a:latin typeface="Eras Bold ITC" pitchFamily="34" charset="0"/>
              </a:rPr>
              <a:t>6. Closing: Yours Sincerely</a:t>
            </a:r>
          </a:p>
        </p:txBody>
      </p:sp>
      <p:sp>
        <p:nvSpPr>
          <p:cNvPr id="44035" name="Text Box 3"/>
          <p:cNvSpPr txBox="1">
            <a:spLocks noChangeArrowheads="1"/>
          </p:cNvSpPr>
          <p:nvPr/>
        </p:nvSpPr>
        <p:spPr bwMode="auto">
          <a:xfrm>
            <a:off x="152400" y="2971800"/>
            <a:ext cx="3048000" cy="1066800"/>
          </a:xfrm>
          <a:prstGeom prst="rect">
            <a:avLst/>
          </a:prstGeom>
          <a:noFill/>
          <a:ln w="9525">
            <a:noFill/>
            <a:miter lim="800000"/>
            <a:headEnd/>
            <a:tailEnd/>
          </a:ln>
        </p:spPr>
        <p:txBody>
          <a:bodyPr>
            <a:spAutoFit/>
          </a:bodyPr>
          <a:lstStyle/>
          <a:p>
            <a:pPr>
              <a:spcBef>
                <a:spcPct val="50000"/>
              </a:spcBef>
            </a:pPr>
            <a:r>
              <a:rPr lang="en-US" sz="3200" b="1">
                <a:solidFill>
                  <a:srgbClr val="FF0000"/>
                </a:solidFill>
              </a:rPr>
              <a:t>Four spaces after the closing</a:t>
            </a:r>
          </a:p>
        </p:txBody>
      </p:sp>
      <p:sp>
        <p:nvSpPr>
          <p:cNvPr id="44036" name="Text Box 4"/>
          <p:cNvSpPr txBox="1">
            <a:spLocks noChangeArrowheads="1"/>
          </p:cNvSpPr>
          <p:nvPr/>
        </p:nvSpPr>
        <p:spPr bwMode="auto">
          <a:xfrm>
            <a:off x="152400" y="4419600"/>
            <a:ext cx="3276600" cy="2282825"/>
          </a:xfrm>
          <a:prstGeom prst="rect">
            <a:avLst/>
          </a:prstGeom>
          <a:noFill/>
          <a:ln w="9525">
            <a:noFill/>
            <a:miter lim="800000"/>
            <a:headEnd/>
            <a:tailEnd/>
          </a:ln>
        </p:spPr>
        <p:txBody>
          <a:bodyPr>
            <a:spAutoFit/>
          </a:bodyPr>
          <a:lstStyle/>
          <a:p>
            <a:pPr>
              <a:spcBef>
                <a:spcPct val="50000"/>
              </a:spcBef>
            </a:pPr>
            <a:r>
              <a:rPr lang="en-US">
                <a:solidFill>
                  <a:srgbClr val="006600"/>
                </a:solidFill>
                <a:latin typeface="Eras Bold ITC" pitchFamily="34" charset="0"/>
              </a:rPr>
              <a:t>Then your name.  In between the closing and your name, that is where you would sign your name.</a:t>
            </a:r>
          </a:p>
        </p:txBody>
      </p:sp>
      <p:pic>
        <p:nvPicPr>
          <p:cNvPr id="22533" name="Picture 5" descr="C:\Documents and Settings\Becky\Desktop\student teaching stuff\Lesson Plans\letter2.gif"/>
          <p:cNvPicPr>
            <a:picLocks noChangeAspect="1" noChangeArrowheads="1"/>
          </p:cNvPicPr>
          <p:nvPr/>
        </p:nvPicPr>
        <p:blipFill>
          <a:blip r:embed="rId3"/>
          <a:srcRect/>
          <a:stretch>
            <a:fillRect/>
          </a:stretch>
        </p:blipFill>
        <p:spPr bwMode="auto">
          <a:xfrm>
            <a:off x="3336925" y="38100"/>
            <a:ext cx="5807075" cy="6819900"/>
          </a:xfrm>
          <a:prstGeom prst="rect">
            <a:avLst/>
          </a:prstGeom>
          <a:noFill/>
          <a:ln w="9525">
            <a:noFill/>
            <a:miter lim="800000"/>
            <a:headEnd/>
            <a:tailEnd/>
          </a:ln>
        </p:spPr>
      </p:pic>
      <p:sp>
        <p:nvSpPr>
          <p:cNvPr id="44038" name="Line 6"/>
          <p:cNvSpPr>
            <a:spLocks noChangeShapeType="1"/>
          </p:cNvSpPr>
          <p:nvPr/>
        </p:nvSpPr>
        <p:spPr bwMode="auto">
          <a:xfrm>
            <a:off x="2819400" y="2743200"/>
            <a:ext cx="1295400" cy="2438400"/>
          </a:xfrm>
          <a:prstGeom prst="line">
            <a:avLst/>
          </a:prstGeom>
          <a:noFill/>
          <a:ln w="57150">
            <a:solidFill>
              <a:srgbClr val="990099"/>
            </a:solidFill>
            <a:round/>
            <a:headEnd/>
            <a:tailEnd type="triangle" w="med" len="med"/>
          </a:ln>
        </p:spPr>
        <p:txBody>
          <a:bodyPr/>
          <a:lstStyle/>
          <a:p>
            <a:endParaRPr lang="en-US"/>
          </a:p>
        </p:txBody>
      </p:sp>
      <p:sp>
        <p:nvSpPr>
          <p:cNvPr id="44039" name="Line 7"/>
          <p:cNvSpPr>
            <a:spLocks noChangeShapeType="1"/>
          </p:cNvSpPr>
          <p:nvPr/>
        </p:nvSpPr>
        <p:spPr bwMode="auto">
          <a:xfrm>
            <a:off x="3124200" y="3810000"/>
            <a:ext cx="914400" cy="1600200"/>
          </a:xfrm>
          <a:prstGeom prst="line">
            <a:avLst/>
          </a:prstGeom>
          <a:noFill/>
          <a:ln w="57150">
            <a:solidFill>
              <a:srgbClr val="FF0000"/>
            </a:solidFill>
            <a:round/>
            <a:headEnd/>
            <a:tailEnd type="triangle" w="med" len="med"/>
          </a:ln>
        </p:spPr>
        <p:txBody>
          <a:bodyPr/>
          <a:lstStyle/>
          <a:p>
            <a:endParaRPr lang="en-US"/>
          </a:p>
        </p:txBody>
      </p:sp>
      <p:sp>
        <p:nvSpPr>
          <p:cNvPr id="44041" name="Line 9"/>
          <p:cNvSpPr>
            <a:spLocks noChangeShapeType="1"/>
          </p:cNvSpPr>
          <p:nvPr/>
        </p:nvSpPr>
        <p:spPr bwMode="auto">
          <a:xfrm flipV="1">
            <a:off x="2667000" y="5638800"/>
            <a:ext cx="1447800" cy="762000"/>
          </a:xfrm>
          <a:prstGeom prst="line">
            <a:avLst/>
          </a:prstGeom>
          <a:noFill/>
          <a:ln w="57150">
            <a:solidFill>
              <a:srgbClr val="0066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anim calcmode="lin" valueType="num">
                                      <p:cBhvr additive="base">
                                        <p:cTn id="7" dur="500" fill="hold"/>
                                        <p:tgtEl>
                                          <p:spTgt spid="44038"/>
                                        </p:tgtEl>
                                        <p:attrNameLst>
                                          <p:attrName>ppt_x</p:attrName>
                                        </p:attrNameLst>
                                      </p:cBhvr>
                                      <p:tavLst>
                                        <p:tav tm="0">
                                          <p:val>
                                            <p:strVal val="0-#ppt_w/2"/>
                                          </p:val>
                                        </p:tav>
                                        <p:tav tm="100000">
                                          <p:val>
                                            <p:strVal val="#ppt_x"/>
                                          </p:val>
                                        </p:tav>
                                      </p:tavLst>
                                    </p:anim>
                                    <p:anim calcmode="lin" valueType="num">
                                      <p:cBhvr additive="base">
                                        <p:cTn id="8" dur="500" fill="hold"/>
                                        <p:tgtEl>
                                          <p:spTgt spid="4403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44035"/>
                                        </p:tgtEl>
                                        <p:attrNameLst>
                                          <p:attrName>style.visibility</p:attrName>
                                        </p:attrNameLst>
                                      </p:cBhvr>
                                      <p:to>
                                        <p:strVal val="visible"/>
                                      </p:to>
                                    </p:set>
                                    <p:animEffect transition="in" filter="wipe(up)">
                                      <p:cBhvr>
                                        <p:cTn id="13" dur="500"/>
                                        <p:tgtEl>
                                          <p:spTgt spid="4403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4039"/>
                                        </p:tgtEl>
                                        <p:attrNameLst>
                                          <p:attrName>style.visibility</p:attrName>
                                        </p:attrNameLst>
                                      </p:cBhvr>
                                      <p:to>
                                        <p:strVal val="visible"/>
                                      </p:to>
                                    </p:set>
                                    <p:anim calcmode="lin" valueType="num">
                                      <p:cBhvr additive="base">
                                        <p:cTn id="18" dur="500" fill="hold"/>
                                        <p:tgtEl>
                                          <p:spTgt spid="44039"/>
                                        </p:tgtEl>
                                        <p:attrNameLst>
                                          <p:attrName>ppt_x</p:attrName>
                                        </p:attrNameLst>
                                      </p:cBhvr>
                                      <p:tavLst>
                                        <p:tav tm="0">
                                          <p:val>
                                            <p:strVal val="0-#ppt_w/2"/>
                                          </p:val>
                                        </p:tav>
                                        <p:tav tm="100000">
                                          <p:val>
                                            <p:strVal val="#ppt_x"/>
                                          </p:val>
                                        </p:tav>
                                      </p:tavLst>
                                    </p:anim>
                                    <p:anim calcmode="lin" valueType="num">
                                      <p:cBhvr additive="base">
                                        <p:cTn id="19" dur="500" fill="hold"/>
                                        <p:tgtEl>
                                          <p:spTgt spid="44039"/>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44036"/>
                                        </p:tgtEl>
                                        <p:attrNameLst>
                                          <p:attrName>style.visibility</p:attrName>
                                        </p:attrNameLst>
                                      </p:cBhvr>
                                      <p:to>
                                        <p:strVal val="visible"/>
                                      </p:to>
                                    </p:set>
                                    <p:anim calcmode="lin" valueType="num">
                                      <p:cBhvr>
                                        <p:cTn id="24" dur="500" fill="hold"/>
                                        <p:tgtEl>
                                          <p:spTgt spid="44036"/>
                                        </p:tgtEl>
                                        <p:attrNameLst>
                                          <p:attrName>ppt_w</p:attrName>
                                        </p:attrNameLst>
                                      </p:cBhvr>
                                      <p:tavLst>
                                        <p:tav tm="0">
                                          <p:val>
                                            <p:fltVal val="0"/>
                                          </p:val>
                                        </p:tav>
                                        <p:tav tm="100000">
                                          <p:val>
                                            <p:strVal val="#ppt_w"/>
                                          </p:val>
                                        </p:tav>
                                      </p:tavLst>
                                    </p:anim>
                                    <p:anim calcmode="lin" valueType="num">
                                      <p:cBhvr>
                                        <p:cTn id="25" dur="500" fill="hold"/>
                                        <p:tgtEl>
                                          <p:spTgt spid="44036"/>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4041"/>
                                        </p:tgtEl>
                                        <p:attrNameLst>
                                          <p:attrName>style.visibility</p:attrName>
                                        </p:attrNameLst>
                                      </p:cBhvr>
                                      <p:to>
                                        <p:strVal val="visible"/>
                                      </p:to>
                                    </p:set>
                                    <p:anim calcmode="lin" valueType="num">
                                      <p:cBhvr additive="base">
                                        <p:cTn id="30" dur="500" fill="hold"/>
                                        <p:tgtEl>
                                          <p:spTgt spid="44041"/>
                                        </p:tgtEl>
                                        <p:attrNameLst>
                                          <p:attrName>ppt_x</p:attrName>
                                        </p:attrNameLst>
                                      </p:cBhvr>
                                      <p:tavLst>
                                        <p:tav tm="0">
                                          <p:val>
                                            <p:strVal val="0-#ppt_w/2"/>
                                          </p:val>
                                        </p:tav>
                                        <p:tav tm="100000">
                                          <p:val>
                                            <p:strVal val="#ppt_x"/>
                                          </p:val>
                                        </p:tav>
                                      </p:tavLst>
                                    </p:anim>
                                    <p:anim calcmode="lin" valueType="num">
                                      <p:cBhvr additive="base">
                                        <p:cTn id="31" dur="500" fill="hold"/>
                                        <p:tgtEl>
                                          <p:spTgt spid="440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P spid="44036" grpId="0" autoUpdateAnimBg="0"/>
      <p:bldP spid="44038" grpId="0" animBg="1"/>
      <p:bldP spid="44039" grpId="0" animBg="1"/>
      <p:bldP spid="4404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4096" y="288736"/>
            <a:ext cx="8229600" cy="6340664"/>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800" dirty="0" smtClean="0">
                <a:sym typeface="Wingdings 2"/>
              </a:rPr>
              <a:t> </a:t>
            </a:r>
            <a:r>
              <a:rPr lang="en-US" sz="2800" dirty="0" smtClean="0"/>
              <a:t>The format of business letter varies but some variations in format are generally acceptable, typically these information items are included:</a:t>
            </a:r>
          </a:p>
          <a:p>
            <a:pPr>
              <a:buFont typeface="Wingdings"/>
              <a:buChar char="@"/>
            </a:pPr>
            <a:r>
              <a:rPr lang="en-US" sz="2800" dirty="0" smtClean="0"/>
              <a:t>Date,</a:t>
            </a:r>
          </a:p>
          <a:p>
            <a:pPr>
              <a:buFont typeface="Wingdings"/>
              <a:buChar char="@"/>
            </a:pPr>
            <a:r>
              <a:rPr lang="en-US" sz="2800" dirty="0" smtClean="0"/>
              <a:t>Inside address,</a:t>
            </a:r>
          </a:p>
          <a:p>
            <a:pPr>
              <a:buFont typeface="Wingdings"/>
              <a:buChar char="@"/>
            </a:pPr>
            <a:r>
              <a:rPr lang="en-US" sz="2800" dirty="0" smtClean="0"/>
              <a:t>Salutation (Dear Mr. </a:t>
            </a:r>
            <a:r>
              <a:rPr lang="en-US" sz="2800" dirty="0" err="1" smtClean="0"/>
              <a:t>Rahman</a:t>
            </a:r>
            <a:r>
              <a:rPr lang="en-US" sz="2800" dirty="0" smtClean="0"/>
              <a:t>),</a:t>
            </a:r>
          </a:p>
          <a:p>
            <a:pPr>
              <a:buFont typeface="Wingdings"/>
              <a:buChar char="@"/>
            </a:pPr>
            <a:r>
              <a:rPr lang="en-US" sz="2800" dirty="0" smtClean="0"/>
              <a:t>Body and</a:t>
            </a:r>
          </a:p>
          <a:p>
            <a:pPr>
              <a:buFont typeface="Wingdings"/>
              <a:buChar char="@"/>
            </a:pPr>
            <a:r>
              <a:rPr lang="en-US" sz="2800" dirty="0" smtClean="0"/>
              <a:t>Complimentary close (Sincerely yours).</a:t>
            </a:r>
          </a:p>
          <a:p>
            <a:pPr>
              <a:buNone/>
            </a:pPr>
            <a:r>
              <a:rPr lang="en-US" sz="2800" dirty="0" smtClean="0">
                <a:sym typeface="Wingdings 2"/>
              </a:rPr>
              <a:t> </a:t>
            </a:r>
            <a:r>
              <a:rPr lang="en-US" sz="2800" dirty="0" smtClean="0"/>
              <a:t>Other items sometimes needed are </a:t>
            </a:r>
          </a:p>
          <a:p>
            <a:pPr>
              <a:buFont typeface="Wingdings"/>
              <a:buChar char="F"/>
            </a:pPr>
            <a:r>
              <a:rPr lang="en-US" sz="2800" dirty="0" smtClean="0"/>
              <a:t>Attention line,</a:t>
            </a:r>
          </a:p>
          <a:p>
            <a:pPr>
              <a:buFont typeface="Wingdings"/>
              <a:buChar char="F"/>
            </a:pPr>
            <a:r>
              <a:rPr lang="en-US" sz="2800" dirty="0" smtClean="0"/>
              <a:t>Subject line, return address (When letterhead paper is not used), and</a:t>
            </a:r>
          </a:p>
          <a:p>
            <a:pPr>
              <a:buFont typeface="Wingdings"/>
              <a:buChar char="F"/>
            </a:pPr>
            <a:r>
              <a:rPr lang="en-US" sz="2800" dirty="0" smtClean="0"/>
              <a:t>Enclosure information.</a:t>
            </a:r>
          </a:p>
          <a:p>
            <a:endParaRPr lang="en-US" sz="2800" dirty="0" smtClean="0"/>
          </a:p>
        </p:txBody>
      </p:sp>
      <p:sp>
        <p:nvSpPr>
          <p:cNvPr id="4" name="Title 1"/>
          <p:cNvSpPr txBox="1">
            <a:spLocks/>
          </p:cNvSpPr>
          <p:nvPr/>
        </p:nvSpPr>
        <p:spPr>
          <a:xfrm>
            <a:off x="8016" y="0"/>
            <a:ext cx="1295400" cy="381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77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Letters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Inside Address</a:t>
            </a:r>
            <a:r>
              <a:rPr lang="en-US" sz="2600" dirty="0" smtClean="0"/>
              <a:t>:</a:t>
            </a:r>
          </a:p>
          <a:p>
            <a:pPr>
              <a:buNone/>
            </a:pPr>
            <a:r>
              <a:rPr lang="en-US" sz="2600" dirty="0" smtClean="0">
                <a:latin typeface="Wide Latin"/>
              </a:rPr>
              <a:t>– </a:t>
            </a:r>
            <a:r>
              <a:rPr lang="en-US" sz="2600" dirty="0" smtClean="0"/>
              <a:t>The inside address contains the name and address of the firm or the individual to whom the letter is written.</a:t>
            </a:r>
          </a:p>
          <a:p>
            <a:pPr>
              <a:buNone/>
            </a:pPr>
            <a:r>
              <a:rPr lang="en-US" sz="2600" dirty="0" smtClean="0">
                <a:latin typeface="Wide Latin"/>
              </a:rPr>
              <a:t>– </a:t>
            </a:r>
            <a:r>
              <a:rPr lang="en-US" sz="2600" dirty="0" smtClean="0"/>
              <a:t>Inside address should be written below the reference line. Outside address on the envelop is to be written in full while the inside address may be written in behalf.</a:t>
            </a:r>
            <a:endParaRPr lang="en-US" sz="2600" dirty="0"/>
          </a:p>
        </p:txBody>
      </p:sp>
      <p:sp>
        <p:nvSpPr>
          <p:cNvPr id="4" name="Title 1"/>
          <p:cNvSpPr txBox="1">
            <a:spLocks/>
          </p:cNvSpPr>
          <p:nvPr/>
        </p:nvSpPr>
        <p:spPr>
          <a:xfrm>
            <a:off x="457200" y="152400"/>
            <a:ext cx="66294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TextBox 6"/>
          <p:cNvSpPr txBox="1"/>
          <p:nvPr/>
        </p:nvSpPr>
        <p:spPr>
          <a:xfrm>
            <a:off x="3657600" y="3886200"/>
            <a:ext cx="4953000" cy="2585323"/>
          </a:xfrm>
          <a:prstGeom prst="rect">
            <a:avLst/>
          </a:prstGeom>
          <a:solidFill>
            <a:schemeClr val="bg1">
              <a:lumMod val="95000"/>
            </a:schemeClr>
          </a:solidFill>
          <a:ln>
            <a:solidFill>
              <a:schemeClr val="accent2">
                <a:lumMod val="75000"/>
              </a:schemeClr>
            </a:solidFill>
          </a:ln>
        </p:spPr>
        <p:txBody>
          <a:bodyPr wrap="square" rtlCol="0">
            <a:spAutoFit/>
          </a:bodyPr>
          <a:lstStyle/>
          <a:p>
            <a:r>
              <a:rPr lang="en-US" sz="2400" b="1" dirty="0" smtClean="0">
                <a:sym typeface="Wingdings"/>
              </a:rPr>
              <a:t> </a:t>
            </a:r>
            <a:r>
              <a:rPr lang="en-US" sz="2400" b="1" dirty="0" smtClean="0">
                <a:solidFill>
                  <a:srgbClr val="00B050"/>
                </a:solidFill>
                <a:effectLst>
                  <a:outerShdw blurRad="38100" dist="38100" dir="2700000" algn="tl">
                    <a:srgbClr val="000000">
                      <a:alpha val="43137"/>
                    </a:srgbClr>
                  </a:outerShdw>
                </a:effectLst>
              </a:rPr>
              <a:t>Outside Address</a:t>
            </a:r>
          </a:p>
          <a:p>
            <a:r>
              <a:rPr lang="en-US" sz="2400" dirty="0" err="1" smtClean="0"/>
              <a:t>Mahbuba</a:t>
            </a:r>
            <a:r>
              <a:rPr lang="en-US" sz="2400" dirty="0" smtClean="0"/>
              <a:t> Sultana</a:t>
            </a:r>
          </a:p>
          <a:p>
            <a:r>
              <a:rPr lang="en-US" sz="2400" dirty="0" smtClean="0"/>
              <a:t>Northern university Bangladesh</a:t>
            </a:r>
          </a:p>
          <a:p>
            <a:r>
              <a:rPr lang="en-US" sz="2400" dirty="0" smtClean="0"/>
              <a:t>Hs-54; Rd-4/A</a:t>
            </a:r>
          </a:p>
          <a:p>
            <a:r>
              <a:rPr lang="en-US" sz="2400" dirty="0" err="1" smtClean="0"/>
              <a:t>Satmosjid</a:t>
            </a:r>
            <a:r>
              <a:rPr lang="en-US" sz="2400" dirty="0" smtClean="0"/>
              <a:t> Road, Dhanmondi</a:t>
            </a:r>
          </a:p>
          <a:p>
            <a:r>
              <a:rPr lang="en-US" sz="2400" dirty="0" smtClean="0"/>
              <a:t>Dhaka-1209</a:t>
            </a:r>
          </a:p>
          <a:p>
            <a:endParaRPr lang="en-US" dirty="0"/>
          </a:p>
        </p:txBody>
      </p:sp>
      <p:sp>
        <p:nvSpPr>
          <p:cNvPr id="8" name="TextBox 7"/>
          <p:cNvSpPr txBox="1"/>
          <p:nvPr/>
        </p:nvSpPr>
        <p:spPr>
          <a:xfrm>
            <a:off x="533400" y="4267200"/>
            <a:ext cx="2971800" cy="2215991"/>
          </a:xfrm>
          <a:prstGeom prst="rect">
            <a:avLst/>
          </a:prstGeom>
          <a:solidFill>
            <a:schemeClr val="bg1">
              <a:lumMod val="95000"/>
            </a:schemeClr>
          </a:solidFill>
          <a:ln>
            <a:solidFill>
              <a:schemeClr val="accent2">
                <a:lumMod val="75000"/>
              </a:schemeClr>
            </a:solidFill>
          </a:ln>
        </p:spPr>
        <p:txBody>
          <a:bodyPr wrap="square" rtlCol="0">
            <a:spAutoFit/>
          </a:bodyPr>
          <a:lstStyle/>
          <a:p>
            <a:r>
              <a:rPr lang="en-US" sz="2400" b="1" dirty="0" smtClean="0">
                <a:sym typeface="Wingdings"/>
              </a:rPr>
              <a:t> </a:t>
            </a:r>
            <a:r>
              <a:rPr lang="en-US" sz="2400" b="1" dirty="0" smtClean="0">
                <a:solidFill>
                  <a:srgbClr val="00B050"/>
                </a:solidFill>
                <a:effectLst>
                  <a:outerShdw blurRad="38100" dist="38100" dir="2700000" algn="tl">
                    <a:srgbClr val="000000">
                      <a:alpha val="43137"/>
                    </a:srgbClr>
                  </a:outerShdw>
                </a:effectLst>
              </a:rPr>
              <a:t>Inside Address</a:t>
            </a:r>
          </a:p>
          <a:p>
            <a:r>
              <a:rPr lang="en-US" sz="2400" dirty="0" err="1" smtClean="0"/>
              <a:t>Mahbuba</a:t>
            </a:r>
            <a:r>
              <a:rPr lang="en-US" sz="2400" dirty="0" smtClean="0"/>
              <a:t> Sultana</a:t>
            </a:r>
          </a:p>
          <a:p>
            <a:r>
              <a:rPr lang="en-US" sz="2400" dirty="0" smtClean="0"/>
              <a:t>Northern university Bangladesh</a:t>
            </a:r>
          </a:p>
          <a:p>
            <a:r>
              <a:rPr lang="en-US" sz="2400" dirty="0" smtClean="0"/>
              <a:t>Dhanmondi</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solidFill>
            <a:schemeClr val="accent1">
              <a:lumMod val="20000"/>
              <a:lumOff val="80000"/>
            </a:schemeClr>
          </a:solidFill>
          <a:ln>
            <a:solidFill>
              <a:schemeClr val="accent1"/>
            </a:solidFill>
          </a:ln>
        </p:spPr>
        <p:txBody>
          <a:bodyPr>
            <a:normAutofit/>
          </a:bodyPr>
          <a:lstStyle/>
          <a:p>
            <a:pPr algn="l"/>
            <a:r>
              <a:rPr lang="en-US" sz="3000" dirty="0" smtClean="0"/>
              <a:t>Memorandums</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800" dirty="0" smtClean="0"/>
              <a:t>Memorandums (memo) are a form of letter written inside the business. </a:t>
            </a:r>
          </a:p>
          <a:p>
            <a:pPr>
              <a:buFont typeface="Wingdings 2"/>
              <a:buChar char="¡"/>
            </a:pPr>
            <a:r>
              <a:rPr lang="en-US" sz="2800" dirty="0" smtClean="0"/>
              <a:t>In rare cases, they may be used in communicating outside the business.</a:t>
            </a:r>
          </a:p>
          <a:p>
            <a:pPr>
              <a:buFont typeface="Wingdings 2"/>
              <a:buChar char="¡"/>
            </a:pPr>
            <a:r>
              <a:rPr lang="en-US" sz="2800" dirty="0" smtClean="0"/>
              <a:t>Memos are internal letters- Email is taking over their functions.</a:t>
            </a:r>
          </a:p>
          <a:p>
            <a:pPr>
              <a:buNone/>
            </a:pPr>
            <a:r>
              <a:rPr lang="en-US" sz="2800" dirty="0" smtClean="0"/>
              <a:t>    </a:t>
            </a:r>
            <a:r>
              <a:rPr lang="en-US" sz="2800" b="1" dirty="0" smtClean="0">
                <a:solidFill>
                  <a:srgbClr val="00B050"/>
                </a:solidFill>
                <a:effectLst>
                  <a:outerShdw blurRad="38100" dist="38100" dir="2700000" algn="tl">
                    <a:srgbClr val="000000">
                      <a:alpha val="43137"/>
                    </a:srgbClr>
                  </a:outerShdw>
                </a:effectLst>
              </a:rPr>
              <a:t>“A note to remind something is memorandum”</a:t>
            </a:r>
          </a:p>
          <a:p>
            <a:pPr>
              <a:buNone/>
            </a:pPr>
            <a:r>
              <a:rPr lang="en-US" sz="2800" dirty="0" smtClean="0">
                <a:sym typeface="Wingdings 2"/>
              </a:rPr>
              <a:t> </a:t>
            </a:r>
            <a:r>
              <a:rPr lang="en-US" sz="2800" dirty="0" smtClean="0"/>
              <a:t>It is clear that office memorandum is a note that assists the memory of officials. </a:t>
            </a:r>
            <a:endParaRPr 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35052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dirty="0" smtClean="0">
                <a:sym typeface="Wingdings 2"/>
              </a:rPr>
              <a:t> </a:t>
            </a:r>
            <a:r>
              <a:rPr lang="en-US" sz="2800" dirty="0" smtClean="0">
                <a:effectLst>
                  <a:outerShdw blurRad="38100" dist="38100" dir="2700000" algn="tl">
                    <a:srgbClr val="000000">
                      <a:alpha val="43137"/>
                    </a:srgbClr>
                  </a:outerShdw>
                </a:effectLst>
              </a:rPr>
              <a:t>Its Movement:</a:t>
            </a:r>
          </a:p>
          <a:p>
            <a:pPr>
              <a:buFont typeface="Wingdings 3"/>
              <a:buChar char=""/>
            </a:pPr>
            <a:r>
              <a:rPr lang="en-US" sz="2800" dirty="0" smtClean="0"/>
              <a:t>A memo is a means of internal communication.</a:t>
            </a:r>
          </a:p>
          <a:p>
            <a:pPr>
              <a:buFont typeface="Wingdings 3"/>
              <a:buChar char=""/>
            </a:pPr>
            <a:r>
              <a:rPr lang="en-US" sz="2800" dirty="0" smtClean="0"/>
              <a:t> It is used for communication between officers (executives) and subordinates or between officers of the same level within the same organization.</a:t>
            </a:r>
          </a:p>
          <a:p>
            <a:endParaRPr lang="en-US" sz="2800" dirty="0" smtClean="0"/>
          </a:p>
          <a:p>
            <a:endParaRPr lang="en-US" sz="2800" dirty="0"/>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7"/>
            <a:ext cx="8229600" cy="4525963"/>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US" sz="2800" dirty="0" smtClean="0">
                <a:sym typeface="Wingdings 3"/>
              </a:rPr>
              <a:t> </a:t>
            </a:r>
            <a:r>
              <a:rPr lang="en-US" sz="2800" dirty="0" smtClean="0">
                <a:effectLst>
                  <a:outerShdw blurRad="38100" dist="38100" dir="2700000" algn="tl">
                    <a:srgbClr val="000000">
                      <a:alpha val="43137"/>
                    </a:srgbClr>
                  </a:outerShdw>
                </a:effectLst>
              </a:rPr>
              <a:t>Its Use</a:t>
            </a:r>
            <a:r>
              <a:rPr lang="en-US" sz="2800" b="1" dirty="0" smtClean="0"/>
              <a:t>:</a:t>
            </a:r>
          </a:p>
          <a:p>
            <a:pPr>
              <a:buFont typeface="Wingdings"/>
              <a:buChar char="F"/>
            </a:pPr>
            <a:r>
              <a:rPr lang="en-US" sz="2800" dirty="0" smtClean="0"/>
              <a:t>Giving instructions to the staff;</a:t>
            </a:r>
          </a:p>
          <a:p>
            <a:pPr>
              <a:buFont typeface="Wingdings"/>
              <a:buChar char="F"/>
            </a:pPr>
            <a:r>
              <a:rPr lang="en-US" sz="2800" dirty="0" smtClean="0"/>
              <a:t>Communicating policy changes to the staff;</a:t>
            </a:r>
          </a:p>
          <a:p>
            <a:pPr>
              <a:buFont typeface="Wingdings"/>
              <a:buChar char="F"/>
            </a:pPr>
            <a:r>
              <a:rPr lang="en-US" sz="2800" dirty="0" smtClean="0"/>
              <a:t>Giving/seeking advice, suggestions;</a:t>
            </a:r>
          </a:p>
          <a:p>
            <a:pPr>
              <a:buFont typeface="Wingdings"/>
              <a:buChar char="F"/>
            </a:pPr>
            <a:r>
              <a:rPr lang="en-US" sz="2800" dirty="0" smtClean="0"/>
              <a:t>Requesting help or information;</a:t>
            </a:r>
          </a:p>
          <a:p>
            <a:pPr>
              <a:buFont typeface="Wingdings"/>
              <a:buChar char="F"/>
            </a:pPr>
            <a:r>
              <a:rPr lang="en-US" sz="2800" dirty="0" smtClean="0"/>
              <a:t>Confirming a decision;</a:t>
            </a:r>
          </a:p>
          <a:p>
            <a:pPr>
              <a:buFont typeface="Wingdings"/>
              <a:buChar char="F"/>
            </a:pPr>
            <a:r>
              <a:rPr lang="en-US" sz="2800" dirty="0" smtClean="0"/>
              <a:t>Intimating, granting or withholding permission to do something;</a:t>
            </a:r>
          </a:p>
          <a:p>
            <a:pPr>
              <a:buFont typeface="Wingdings"/>
              <a:buChar char="F"/>
            </a:pPr>
            <a:r>
              <a:rPr lang="en-US" sz="2800" dirty="0" smtClean="0"/>
              <a:t>Seeking explanation on some matter of conduct and so on.</a:t>
            </a:r>
          </a:p>
          <a:p>
            <a:endParaRPr lang="en-US" sz="2800" dirty="0"/>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05400"/>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800" dirty="0" smtClean="0"/>
              <a:t>Determining Memorandum Form:</a:t>
            </a:r>
          </a:p>
          <a:p>
            <a:pPr>
              <a:buFont typeface="Wingdings 2"/>
              <a:buChar char="¡"/>
            </a:pPr>
            <a:r>
              <a:rPr lang="en-US" sz="2800" dirty="0" smtClean="0"/>
              <a:t>Most large companies use standard memo templates or printed memorandum stationary with-</a:t>
            </a:r>
          </a:p>
          <a:p>
            <a:pPr>
              <a:buFont typeface="Wingdings"/>
              <a:buChar char="@"/>
            </a:pPr>
            <a:r>
              <a:rPr lang="en-US" sz="2800" dirty="0" smtClean="0"/>
              <a:t>Date</a:t>
            </a:r>
          </a:p>
          <a:p>
            <a:pPr>
              <a:buFont typeface="Wingdings"/>
              <a:buChar char="@"/>
            </a:pPr>
            <a:r>
              <a:rPr lang="en-US" sz="2800" dirty="0" smtClean="0"/>
              <a:t>To</a:t>
            </a:r>
          </a:p>
          <a:p>
            <a:pPr>
              <a:buFont typeface="Wingdings"/>
              <a:buChar char="@"/>
            </a:pPr>
            <a:r>
              <a:rPr lang="en-US" sz="2800" dirty="0" smtClean="0"/>
              <a:t>From and</a:t>
            </a:r>
          </a:p>
          <a:p>
            <a:pPr>
              <a:buFont typeface="Wingdings"/>
              <a:buChar char="@"/>
            </a:pPr>
            <a:r>
              <a:rPr lang="en-US" sz="2800" dirty="0" smtClean="0"/>
              <a:t>Subject Heading. </a:t>
            </a:r>
          </a:p>
          <a:p>
            <a:pPr>
              <a:buNone/>
            </a:pPr>
            <a:r>
              <a:rPr lang="en-US" sz="2800" dirty="0" smtClean="0">
                <a:sym typeface="Wingdings 2"/>
              </a:rPr>
              <a:t> </a:t>
            </a:r>
            <a:r>
              <a:rPr lang="en-US" sz="2800" dirty="0" smtClean="0"/>
              <a:t>Some larger companies have additional headings-</a:t>
            </a:r>
          </a:p>
          <a:p>
            <a:pPr>
              <a:buNone/>
            </a:pPr>
            <a:r>
              <a:rPr lang="en-US" sz="2800" dirty="0" smtClean="0"/>
              <a:t>[Department, Plant, Territory, Store Number, and such]</a:t>
            </a:r>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03437"/>
            <a:ext cx="8229600" cy="4525963"/>
          </a:xfrm>
        </p:spPr>
        <p:style>
          <a:lnRef idx="2">
            <a:schemeClr val="accent3"/>
          </a:lnRef>
          <a:fillRef idx="1">
            <a:schemeClr val="lt1"/>
          </a:fillRef>
          <a:effectRef idx="0">
            <a:schemeClr val="accent3"/>
          </a:effectRef>
          <a:fontRef idx="minor">
            <a:schemeClr val="dk1"/>
          </a:fontRef>
        </p:style>
        <p:txBody>
          <a:bodyPr>
            <a:normAutofit/>
          </a:bodyPr>
          <a:lstStyle/>
          <a:p>
            <a:pPr algn="ctr">
              <a:buNone/>
            </a:pPr>
            <a:r>
              <a:rPr lang="en-US" sz="2000" b="1" dirty="0" smtClean="0">
                <a:latin typeface="Gill Sans MT" pitchFamily="34" charset="0"/>
              </a:rPr>
              <a:t>Northern University Bangladesh</a:t>
            </a:r>
          </a:p>
          <a:p>
            <a:endParaRPr lang="en-US" sz="1800" dirty="0" smtClean="0">
              <a:latin typeface="Gill Sans MT" pitchFamily="34" charset="0"/>
            </a:endParaRPr>
          </a:p>
          <a:p>
            <a:pPr>
              <a:buNone/>
            </a:pPr>
            <a:r>
              <a:rPr lang="en-US" sz="2000" b="1" dirty="0" smtClean="0">
                <a:latin typeface="Gill Sans MT" pitchFamily="34" charset="0"/>
              </a:rPr>
              <a:t>Internal Office Memo</a:t>
            </a:r>
          </a:p>
          <a:p>
            <a:pPr>
              <a:buNone/>
            </a:pPr>
            <a:r>
              <a:rPr lang="en-US" sz="1800" dirty="0" smtClean="0">
                <a:latin typeface="Gill Sans MT" pitchFamily="34" charset="0"/>
              </a:rPr>
              <a:t>To:</a:t>
            </a:r>
          </a:p>
          <a:p>
            <a:pPr>
              <a:buNone/>
            </a:pPr>
            <a:r>
              <a:rPr lang="en-US" sz="1800" dirty="0" smtClean="0">
                <a:latin typeface="Gill Sans MT" pitchFamily="34" charset="0"/>
              </a:rPr>
              <a:t>From:</a:t>
            </a:r>
          </a:p>
          <a:p>
            <a:pPr>
              <a:buNone/>
            </a:pPr>
            <a:r>
              <a:rPr lang="en-US" sz="1800" dirty="0" smtClean="0">
                <a:latin typeface="Gill Sans MT" pitchFamily="34" charset="0"/>
              </a:rPr>
              <a:t>Cc:</a:t>
            </a:r>
          </a:p>
          <a:p>
            <a:pPr>
              <a:buNone/>
            </a:pPr>
            <a:r>
              <a:rPr lang="en-US" sz="1800" dirty="0" smtClean="0">
                <a:latin typeface="Gill Sans MT" pitchFamily="34" charset="0"/>
              </a:rPr>
              <a:t>Date: </a:t>
            </a:r>
          </a:p>
          <a:p>
            <a:pPr>
              <a:buNone/>
            </a:pPr>
            <a:r>
              <a:rPr lang="en-US" sz="1800" dirty="0" smtClean="0">
                <a:latin typeface="Gill Sans MT" pitchFamily="34" charset="0"/>
              </a:rPr>
              <a:t>Subject: ………………………………..</a:t>
            </a:r>
          </a:p>
          <a:p>
            <a:pPr>
              <a:buAutoNum type="arabicPeriod"/>
            </a:pPr>
            <a:r>
              <a:rPr lang="en-US" sz="1800" dirty="0" smtClean="0">
                <a:latin typeface="Gill Sans MT" pitchFamily="34" charset="0"/>
              </a:rPr>
              <a:t>. ………………………………</a:t>
            </a:r>
          </a:p>
          <a:p>
            <a:pPr>
              <a:buNone/>
            </a:pPr>
            <a:r>
              <a:rPr lang="en-US" sz="1800" dirty="0" smtClean="0">
                <a:latin typeface="Gill Sans MT" pitchFamily="34" charset="0"/>
              </a:rPr>
              <a:t>      ……………………………….</a:t>
            </a:r>
          </a:p>
          <a:p>
            <a:pPr>
              <a:buAutoNum type="arabicPeriod" startAt="2"/>
            </a:pPr>
            <a:r>
              <a:rPr lang="en-US" sz="1800" dirty="0" smtClean="0">
                <a:latin typeface="Gill Sans MT" pitchFamily="34" charset="0"/>
              </a:rPr>
              <a:t>……………………………….</a:t>
            </a:r>
          </a:p>
          <a:p>
            <a:pPr>
              <a:buNone/>
            </a:pPr>
            <a:r>
              <a:rPr lang="en-US" sz="1800" dirty="0" smtClean="0">
                <a:latin typeface="Gill Sans MT" pitchFamily="34" charset="0"/>
              </a:rPr>
              <a:t>      ……………………………….</a:t>
            </a:r>
          </a:p>
          <a:p>
            <a:pPr>
              <a:buNone/>
            </a:pPr>
            <a:r>
              <a:rPr lang="en-US" sz="1800" dirty="0" smtClean="0">
                <a:latin typeface="Gill Sans MT" pitchFamily="34" charset="0"/>
              </a:rPr>
              <a:t>3.    ……………………………….</a:t>
            </a:r>
            <a:endParaRPr lang="en-US" sz="1800" dirty="0">
              <a:latin typeface="Gill Sans MT" pitchFamily="34" charset="0"/>
            </a:endParaRPr>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TextBox 4"/>
          <p:cNvSpPr txBox="1"/>
          <p:nvPr/>
        </p:nvSpPr>
        <p:spPr>
          <a:xfrm>
            <a:off x="457201" y="1066800"/>
            <a:ext cx="8229600" cy="86177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500" dirty="0" smtClean="0">
                <a:latin typeface="Californian FB" pitchFamily="18" charset="0"/>
              </a:rPr>
              <a:t>Illustration of good form for the memorandum using the MS word professional templates</a:t>
            </a:r>
            <a:endParaRPr lang="en-US" sz="2500" dirty="0">
              <a:latin typeface="Californian FB"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60160"/>
            <a:ext cx="8229600" cy="47324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25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533400" y="1307440"/>
            <a:ext cx="8229600" cy="54864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smtClean="0"/>
          </a:p>
          <a:p>
            <a:pPr algn="ctr"/>
            <a:endParaRPr lang="en-US" dirty="0" smtClean="0"/>
          </a:p>
          <a:p>
            <a:pPr algn="ctr"/>
            <a:endParaRPr lang="en-US" dirty="0" smtClean="0"/>
          </a:p>
          <a:p>
            <a:pPr algn="ctr"/>
            <a:r>
              <a:rPr lang="en-US" dirty="0" smtClean="0">
                <a:latin typeface="Gill Sans MT" pitchFamily="34" charset="0"/>
              </a:rPr>
              <a:t>Northern University Bangladesh</a:t>
            </a:r>
          </a:p>
          <a:p>
            <a:pPr algn="ctr"/>
            <a:r>
              <a:rPr lang="en-US" dirty="0" smtClean="0">
                <a:latin typeface="Gill Sans MT" pitchFamily="34" charset="0"/>
              </a:rPr>
              <a:t>Memorandum</a:t>
            </a:r>
          </a:p>
          <a:p>
            <a:r>
              <a:rPr lang="en-US" dirty="0" smtClean="0">
                <a:latin typeface="Gill Sans MT" pitchFamily="34" charset="0"/>
              </a:rPr>
              <a:t>To:                                                                                          Date:</a:t>
            </a:r>
          </a:p>
          <a:p>
            <a:r>
              <a:rPr lang="en-US" dirty="0" smtClean="0">
                <a:latin typeface="Gill Sans MT" pitchFamily="34" charset="0"/>
              </a:rPr>
              <a:t>Store:                                                                                      From:</a:t>
            </a:r>
          </a:p>
          <a:p>
            <a:r>
              <a:rPr lang="en-US" dirty="0" smtClean="0">
                <a:latin typeface="Gill Sans MT" pitchFamily="34" charset="0"/>
              </a:rPr>
              <a:t>At:                                                                                          Store:</a:t>
            </a:r>
          </a:p>
          <a:p>
            <a:r>
              <a:rPr lang="en-US" dirty="0" smtClean="0">
                <a:latin typeface="Gill Sans MT" pitchFamily="34" charset="0"/>
              </a:rPr>
              <a:t>Territory:                                                                                At:</a:t>
            </a:r>
          </a:p>
          <a:p>
            <a:r>
              <a:rPr lang="en-US" dirty="0" smtClean="0">
                <a:latin typeface="Gill Sans MT" pitchFamily="34" charset="0"/>
              </a:rPr>
              <a:t>Copies to:                                                                               Territory:</a:t>
            </a:r>
          </a:p>
          <a:p>
            <a:endParaRPr lang="en-US" dirty="0" smtClean="0">
              <a:latin typeface="Gill Sans MT" pitchFamily="34" charset="0"/>
            </a:endParaRPr>
          </a:p>
          <a:p>
            <a:endParaRPr lang="en-US" dirty="0" smtClean="0">
              <a:latin typeface="Gill Sans MT" pitchFamily="34" charset="0"/>
            </a:endParaRPr>
          </a:p>
          <a:p>
            <a:r>
              <a:rPr lang="en-US" dirty="0" smtClean="0">
                <a:latin typeface="Gill Sans MT" pitchFamily="34" charset="0"/>
              </a:rPr>
              <a:t>Subject : New working hours.</a:t>
            </a:r>
          </a:p>
          <a:p>
            <a:endParaRPr lang="en-US" dirty="0" smtClean="0">
              <a:latin typeface="Gill Sans MT" pitchFamily="34" charset="0"/>
            </a:endParaRPr>
          </a:p>
          <a:p>
            <a:endParaRPr lang="en-US" dirty="0" smtClean="0">
              <a:latin typeface="Gill Sans MT" pitchFamily="34" charset="0"/>
            </a:endParaRPr>
          </a:p>
          <a:p>
            <a:r>
              <a:rPr lang="en-US" dirty="0" smtClean="0">
                <a:latin typeface="Gill Sans MT" pitchFamily="34" charset="0"/>
              </a:rPr>
              <a:t>During the winter from January to March working hours will be amended from 08.30 a.m. to 05.00  p.m. for the BBA program and 05.30 p.m. to 08.30 p.m. for the MBA program.</a:t>
            </a:r>
          </a:p>
          <a:p>
            <a:endParaRPr lang="en-US" dirty="0" smtClean="0">
              <a:latin typeface="Gill Sans MT" pitchFamily="34" charset="0"/>
            </a:endParaRPr>
          </a:p>
          <a:p>
            <a:r>
              <a:rPr lang="en-US" dirty="0" smtClean="0">
                <a:latin typeface="Gill Sans MT" pitchFamily="34" charset="0"/>
              </a:rPr>
              <a:t>We hope this new working hours during this winter season will be convenient for you.</a:t>
            </a:r>
          </a:p>
          <a:p>
            <a:endParaRPr lang="en-US" dirty="0" smtClean="0">
              <a:latin typeface="Gill Sans MT" pitchFamily="34" charset="0"/>
            </a:endParaRPr>
          </a:p>
          <a:p>
            <a:r>
              <a:rPr lang="en-US" dirty="0" smtClean="0">
                <a:latin typeface="Gill Sans MT" pitchFamily="34" charset="0"/>
              </a:rPr>
              <a:t>Head of the department                                                           Dean</a:t>
            </a:r>
          </a:p>
          <a:p>
            <a:r>
              <a:rPr lang="en-US" dirty="0" smtClean="0">
                <a:latin typeface="Gill Sans MT" pitchFamily="34" charset="0"/>
              </a:rPr>
              <a:t>   Faculty of Business                                                       Faculty of Business</a:t>
            </a:r>
          </a:p>
          <a:p>
            <a:endParaRPr lang="en-US" dirty="0" smtClean="0">
              <a:latin typeface="Gill Sans MT" pitchFamily="34" charset="0"/>
            </a:endParaRPr>
          </a:p>
          <a:p>
            <a:endParaRPr lang="en-US" dirty="0" smtClean="0"/>
          </a:p>
          <a:p>
            <a:r>
              <a:rPr lang="en-US" dirty="0" smtClean="0"/>
              <a:t>                               </a:t>
            </a:r>
            <a:endParaRPr lang="en-US" dirty="0"/>
          </a:p>
        </p:txBody>
      </p:sp>
      <p:sp>
        <p:nvSpPr>
          <p:cNvPr id="6" name="TextBox 5"/>
          <p:cNvSpPr txBox="1"/>
          <p:nvPr/>
        </p:nvSpPr>
        <p:spPr>
          <a:xfrm>
            <a:off x="497305" y="565480"/>
            <a:ext cx="8229599"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000" dirty="0" smtClean="0"/>
              <a:t>Memorandum stationary with special headings adapted to the needs of an organization with multiple locations. </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800" dirty="0" smtClean="0">
                <a:sym typeface="Wingdings 2"/>
              </a:rPr>
              <a:t> </a:t>
            </a:r>
            <a:r>
              <a:rPr lang="en-US" sz="2800" dirty="0" smtClean="0">
                <a:effectLst>
                  <a:outerShdw blurRad="38100" dist="38100" dir="2700000" algn="tl">
                    <a:srgbClr val="000000">
                      <a:alpha val="43137"/>
                    </a:srgbClr>
                  </a:outerShdw>
                </a:effectLst>
              </a:rPr>
              <a:t>Advantages of Memo Form:</a:t>
            </a:r>
          </a:p>
          <a:p>
            <a:pPr>
              <a:buFont typeface="Wingdings"/>
              <a:buChar char="F"/>
            </a:pPr>
            <a:r>
              <a:rPr lang="en-US" sz="2800" dirty="0" smtClean="0"/>
              <a:t>It is very brief, containing only the messages;</a:t>
            </a:r>
          </a:p>
          <a:p>
            <a:pPr>
              <a:buFont typeface="Wingdings"/>
              <a:buChar char="F"/>
            </a:pPr>
            <a:r>
              <a:rPr lang="en-US" sz="2800" dirty="0" smtClean="0"/>
              <a:t>It is convenient;</a:t>
            </a:r>
          </a:p>
          <a:p>
            <a:pPr>
              <a:buFont typeface="Wingdings"/>
              <a:buChar char="F"/>
            </a:pPr>
            <a:r>
              <a:rPr lang="en-US" sz="2800" dirty="0" smtClean="0"/>
              <a:t>It is cheap;</a:t>
            </a:r>
          </a:p>
          <a:p>
            <a:pPr>
              <a:buFont typeface="Wingdings"/>
              <a:buChar char="F"/>
            </a:pPr>
            <a:r>
              <a:rPr lang="en-US" sz="2800" dirty="0" smtClean="0"/>
              <a:t>It can be use for future reference.</a:t>
            </a:r>
          </a:p>
          <a:p>
            <a:pPr>
              <a:buNone/>
            </a:pPr>
            <a:r>
              <a:rPr lang="en-US" sz="2800" dirty="0" smtClean="0">
                <a:sym typeface="Wingdings 2"/>
              </a:rPr>
              <a:t> </a:t>
            </a:r>
            <a:r>
              <a:rPr lang="en-US" sz="2800" dirty="0" smtClean="0">
                <a:effectLst>
                  <a:outerShdw blurRad="38100" dist="38100" dir="2700000" algn="tl">
                    <a:srgbClr val="000000">
                      <a:alpha val="43137"/>
                    </a:srgbClr>
                  </a:outerShdw>
                </a:effectLst>
              </a:rPr>
              <a:t>Writing Memorandum:</a:t>
            </a:r>
          </a:p>
          <a:p>
            <a:pPr>
              <a:buFont typeface="Wingdings 2"/>
              <a:buChar char=""/>
            </a:pPr>
            <a:r>
              <a:rPr lang="en-US" sz="2800" dirty="0" smtClean="0"/>
              <a:t>Short, simple memos are often written in casual or informal language, much like short, simple email messages.</a:t>
            </a:r>
          </a:p>
          <a:p>
            <a:pPr>
              <a:buFont typeface="Wingdings 2"/>
              <a:buChar char=""/>
            </a:pPr>
            <a:r>
              <a:rPr lang="en-US" sz="2800" dirty="0" smtClean="0"/>
              <a:t>Formal memorandums are appropriately organized in the patterns appropriate for longer.</a:t>
            </a:r>
          </a:p>
          <a:p>
            <a:endParaRPr lang="en-US" sz="2800" dirty="0"/>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Memorandums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4114800" cy="4495800"/>
          </a:xfrm>
        </p:spPr>
        <p:style>
          <a:lnRef idx="2">
            <a:schemeClr val="accent1"/>
          </a:lnRef>
          <a:fillRef idx="1">
            <a:schemeClr val="lt1"/>
          </a:fillRef>
          <a:effectRef idx="0">
            <a:schemeClr val="accent1"/>
          </a:effectRef>
          <a:fontRef idx="minor">
            <a:schemeClr val="dk1"/>
          </a:fontRef>
        </p:style>
        <p:txBody>
          <a:bodyPr>
            <a:normAutofit fontScale="92500"/>
          </a:bodyPr>
          <a:lstStyle/>
          <a:p>
            <a:pPr>
              <a:buNone/>
            </a:pPr>
            <a:r>
              <a:rPr lang="en-US" sz="2800" dirty="0" smtClean="0">
                <a:sym typeface="Wingdings 2"/>
              </a:rPr>
              <a:t>  </a:t>
            </a:r>
            <a:r>
              <a:rPr lang="en-US" sz="2800" b="1" dirty="0" smtClean="0">
                <a:sym typeface="Wingdings 2"/>
              </a:rPr>
              <a:t>E</a:t>
            </a:r>
            <a:r>
              <a:rPr lang="en-US" sz="2800" b="1" dirty="0" smtClean="0"/>
              <a:t>lectronic mail: </a:t>
            </a:r>
            <a:r>
              <a:rPr lang="en-US" sz="2800" dirty="0" smtClean="0"/>
              <a:t>(computer science) a system of world-wide electronic communication in which a computer user can compose a message at one terminal that can be regenerated at the recipient's terminal when the recipient logs in.</a:t>
            </a:r>
            <a:endParaRPr lang="en-US" sz="2800" dirty="0"/>
          </a:p>
        </p:txBody>
      </p:sp>
      <p:sp>
        <p:nvSpPr>
          <p:cNvPr id="4" name="Title 1"/>
          <p:cNvSpPr txBox="1">
            <a:spLocks/>
          </p:cNvSpPr>
          <p:nvPr/>
        </p:nvSpPr>
        <p:spPr>
          <a:xfrm>
            <a:off x="457200" y="274638"/>
            <a:ext cx="8229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EMAIL</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268.jpeg"/>
          <p:cNvPicPr>
            <a:picLocks noChangeAspect="1" noChangeArrowheads="1"/>
          </p:cNvPicPr>
          <p:nvPr/>
        </p:nvPicPr>
        <p:blipFill>
          <a:blip r:embed="rId2"/>
          <a:srcRect/>
          <a:stretch>
            <a:fillRect/>
          </a:stretch>
        </p:blipFill>
        <p:spPr bwMode="auto">
          <a:xfrm>
            <a:off x="5715000" y="2514600"/>
            <a:ext cx="2085975" cy="219075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a:solidFill>
            <a:schemeClr val="accent1">
              <a:lumMod val="20000"/>
              <a:lumOff val="80000"/>
            </a:schemeClr>
          </a:solidFill>
          <a:ln>
            <a:solidFill>
              <a:schemeClr val="accent1"/>
            </a:solidFill>
          </a:ln>
        </p:spPr>
        <p:txBody>
          <a:bodyPr>
            <a:normAutofit/>
          </a:bodyPr>
          <a:lstStyle/>
          <a:p>
            <a:pPr algn="l"/>
            <a:r>
              <a:rPr lang="en-US" sz="3000" dirty="0" smtClean="0"/>
              <a:t>EMAIL</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800" b="1" dirty="0" smtClean="0">
                <a:sym typeface="Wingdings 2"/>
              </a:rPr>
              <a:t> </a:t>
            </a:r>
            <a:r>
              <a:rPr lang="en-US" sz="2800" b="1" dirty="0" smtClean="0"/>
              <a:t>E-mail: </a:t>
            </a:r>
            <a:r>
              <a:rPr lang="en-US" sz="2800" dirty="0" smtClean="0"/>
              <a:t>For the operation of e-mail, both the communicator and communicatee must have the facility of two-computer terminals connected on networks. </a:t>
            </a:r>
          </a:p>
          <a:p>
            <a:pPr>
              <a:buNone/>
            </a:pPr>
            <a:r>
              <a:rPr lang="en-US" sz="2800" b="1" dirty="0" smtClean="0"/>
              <a:t>1. </a:t>
            </a:r>
            <a:r>
              <a:rPr lang="en-US" sz="2800" dirty="0" smtClean="0"/>
              <a:t>A system for sending and receiving messages electronically over a computer network, as between personal computers.</a:t>
            </a:r>
          </a:p>
          <a:p>
            <a:pPr>
              <a:buNone/>
            </a:pPr>
            <a:r>
              <a:rPr lang="en-US" sz="2800" b="1" dirty="0" smtClean="0"/>
              <a:t>2. </a:t>
            </a:r>
            <a:r>
              <a:rPr lang="en-US" sz="2800" dirty="0" smtClean="0"/>
              <a:t>A message or messages sent or received by such a system.</a:t>
            </a:r>
          </a:p>
          <a:p>
            <a:endParaRPr lang="en-US"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a:solidFill>
            <a:schemeClr val="accent1">
              <a:lumMod val="20000"/>
              <a:lumOff val="80000"/>
            </a:schemeClr>
          </a:solidFill>
          <a:ln>
            <a:solidFill>
              <a:schemeClr val="accent1"/>
            </a:solidFill>
          </a:ln>
        </p:spPr>
        <p:txBody>
          <a:bodyPr/>
          <a:lstStyle/>
          <a:p>
            <a:pPr algn="l" eaLnBrk="1" hangingPunct="1">
              <a:defRPr/>
            </a:pPr>
            <a:r>
              <a:rPr lang="en-US" sz="3000" dirty="0" smtClean="0"/>
              <a:t>Email</a:t>
            </a:r>
          </a:p>
        </p:txBody>
      </p:sp>
      <p:sp>
        <p:nvSpPr>
          <p:cNvPr id="5" name="Content Placeholder 4"/>
          <p:cNvSpPr>
            <a:spLocks noGrp="1"/>
          </p:cNvSpPr>
          <p:nvPr>
            <p:ph idx="1"/>
          </p:nvPr>
        </p:nvSpPr>
        <p:spPr>
          <a:ln w="28575">
            <a:solidFill>
              <a:schemeClr val="accent1"/>
            </a:solidFill>
          </a:ln>
        </p:spPr>
        <p:txBody>
          <a:bodyPr rtlCol="0">
            <a:normAutofit lnSpcReduction="10000"/>
          </a:bodyPr>
          <a:lstStyle/>
          <a:p>
            <a:pPr eaLnBrk="1" fontAlgn="auto" hangingPunct="1">
              <a:spcAft>
                <a:spcPts val="0"/>
              </a:spcAft>
              <a:buFont typeface="Wingdings 2"/>
              <a:buChar char="¡"/>
              <a:defRPr/>
            </a:pPr>
            <a:r>
              <a:rPr lang="en-US" sz="2800" dirty="0" smtClean="0"/>
              <a:t>Under email system, a communicator types a message on his/her computer, edits, or rewords it as many times as s/he likes without wasting any time.</a:t>
            </a:r>
          </a:p>
          <a:p>
            <a:pPr eaLnBrk="1" fontAlgn="auto" hangingPunct="1">
              <a:spcAft>
                <a:spcPts val="0"/>
              </a:spcAft>
              <a:buFont typeface="Wingdings 2"/>
              <a:buChar char="¡"/>
              <a:defRPr/>
            </a:pPr>
            <a:r>
              <a:rPr lang="en-US" sz="2800" dirty="0" smtClean="0"/>
              <a:t>Electronic mail is used not only for external communication, but it is also used for internal communication.</a:t>
            </a:r>
          </a:p>
          <a:p>
            <a:pPr eaLnBrk="1" fontAlgn="auto" hangingPunct="1">
              <a:spcAft>
                <a:spcPts val="0"/>
              </a:spcAft>
              <a:buFont typeface="Wingdings 2"/>
              <a:buChar char="¡"/>
              <a:defRPr/>
            </a:pPr>
            <a:endParaRPr lang="en-US" sz="2800" dirty="0" smtClean="0"/>
          </a:p>
          <a:p>
            <a:pPr eaLnBrk="1" fontAlgn="auto" hangingPunct="1">
              <a:spcAft>
                <a:spcPts val="0"/>
              </a:spcAft>
              <a:buFont typeface="Wingdings 2"/>
              <a:buChar char="¡"/>
              <a:defRPr/>
            </a:pPr>
            <a:r>
              <a:rPr lang="en-US" sz="2800" dirty="0" smtClean="0"/>
              <a:t>In its absence the manager would have to resort to hand delivery of the message to the various recipients.</a:t>
            </a:r>
          </a:p>
          <a:p>
            <a:pPr eaLnBrk="1" fontAlgn="auto" hangingPunct="1">
              <a:spcAft>
                <a:spcPts val="0"/>
              </a:spcAft>
              <a:buFont typeface="Arial" pitchFamily="34" charset="0"/>
              <a:buChar char="•"/>
              <a:defRPr/>
            </a:pPr>
            <a:endParaRPr lang="en-US" sz="2800" dirty="0" smtClean="0"/>
          </a:p>
          <a:p>
            <a:pPr eaLnBrk="1" fontAlgn="auto" hangingPunct="1">
              <a:spcAft>
                <a:spcPts val="0"/>
              </a:spcAft>
              <a:buFont typeface="Arial" pitchFamily="34" charset="0"/>
              <a:buChar char="•"/>
              <a:defRPr/>
            </a:pPr>
            <a:endParaRPr lang="en-US" sz="28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334000"/>
          </a:xfrm>
          <a:ln w="28575">
            <a:solidFill>
              <a:schemeClr val="accent1"/>
            </a:solidFill>
          </a:ln>
        </p:spPr>
        <p:txBody>
          <a:bodyPr rtlCol="0">
            <a:normAutofit fontScale="92500" lnSpcReduction="10000"/>
          </a:bodyPr>
          <a:lstStyle/>
          <a:p>
            <a:pPr eaLnBrk="1" fontAlgn="auto" hangingPunct="1">
              <a:spcAft>
                <a:spcPts val="0"/>
              </a:spcAft>
              <a:buFont typeface="Wingdings 2"/>
              <a:buChar char="¡"/>
              <a:defRPr/>
            </a:pPr>
            <a:r>
              <a:rPr lang="en-US" sz="2800" dirty="0" smtClean="0">
                <a:effectLst>
                  <a:outerShdw blurRad="38100" dist="38100" dir="2700000" algn="tl">
                    <a:srgbClr val="000000">
                      <a:alpha val="43137"/>
                    </a:srgbClr>
                  </a:outerShdw>
                </a:effectLst>
              </a:rPr>
              <a:t>Evaluating Email’s Pros and Cons</a:t>
            </a:r>
            <a:r>
              <a:rPr lang="en-US" sz="2800" dirty="0" smtClean="0"/>
              <a:t>:</a:t>
            </a:r>
          </a:p>
          <a:p>
            <a:pPr eaLnBrk="1" fontAlgn="auto" hangingPunct="1">
              <a:spcAft>
                <a:spcPts val="0"/>
              </a:spcAft>
              <a:buFont typeface="Wingdings 2"/>
              <a:buChar char="¡"/>
              <a:defRPr/>
            </a:pPr>
            <a:r>
              <a:rPr lang="en-US" sz="2800" dirty="0" smtClean="0"/>
              <a:t>Among the reasons, the following are most significant:</a:t>
            </a:r>
          </a:p>
          <a:p>
            <a:pPr eaLnBrk="1" fontAlgn="auto" hangingPunct="1">
              <a:spcAft>
                <a:spcPts val="0"/>
              </a:spcAft>
              <a:buFont typeface="Wingdings 2"/>
              <a:buChar char="A"/>
              <a:defRPr/>
            </a:pPr>
            <a:r>
              <a:rPr lang="en-US" sz="2800" dirty="0" smtClean="0"/>
              <a:t>Email eliminates “telephone tag”-the problem of trying to contact busy people who are not always available for telephone calls. </a:t>
            </a:r>
          </a:p>
          <a:p>
            <a:pPr eaLnBrk="1" fontAlgn="auto" hangingPunct="1">
              <a:spcAft>
                <a:spcPts val="0"/>
              </a:spcAft>
              <a:buFont typeface="Wingdings 2"/>
              <a:buChar char="A"/>
              <a:defRPr/>
            </a:pPr>
            <a:r>
              <a:rPr lang="en-US" sz="2800" dirty="0" smtClean="0"/>
              <a:t>Email saves the time of these busy people.</a:t>
            </a:r>
          </a:p>
          <a:p>
            <a:pPr eaLnBrk="1" fontAlgn="auto" hangingPunct="1">
              <a:spcAft>
                <a:spcPts val="0"/>
              </a:spcAft>
              <a:buFont typeface="Wingdings 2"/>
              <a:buChar char="A"/>
              <a:defRPr/>
            </a:pPr>
            <a:r>
              <a:rPr lang="en-US" sz="2800" dirty="0" smtClean="0"/>
              <a:t>Facilitates fast decision because it permits rapid exchanges from all involved in the decisions.</a:t>
            </a:r>
          </a:p>
          <a:p>
            <a:pPr eaLnBrk="1" fontAlgn="auto" hangingPunct="1">
              <a:spcAft>
                <a:spcPts val="0"/>
              </a:spcAft>
              <a:buFont typeface="Wingdings 2"/>
              <a:buChar char="A"/>
              <a:defRPr/>
            </a:pPr>
            <a:r>
              <a:rPr lang="en-US" sz="2800" dirty="0" smtClean="0"/>
              <a:t>Email is cheap. It permits unlimited use at no more than cost of an internet connection.</a:t>
            </a:r>
          </a:p>
          <a:p>
            <a:pPr eaLnBrk="1" fontAlgn="auto" hangingPunct="1">
              <a:spcAft>
                <a:spcPts val="0"/>
              </a:spcAft>
              <a:buFont typeface="Wingdings 2"/>
              <a:buChar char="A"/>
              <a:defRPr/>
            </a:pPr>
            <a:endParaRPr lang="en-US" sz="2800" dirty="0" smtClean="0"/>
          </a:p>
          <a:p>
            <a:pPr eaLnBrk="1" fontAlgn="auto" hangingPunct="1">
              <a:spcAft>
                <a:spcPts val="0"/>
              </a:spcAft>
              <a:buFont typeface="Wingdings 2"/>
              <a:buChar char="A"/>
              <a:defRPr/>
            </a:pPr>
            <a:r>
              <a:rPr lang="en-US" sz="2800" dirty="0" smtClean="0"/>
              <a:t>It provides a written records.</a:t>
            </a:r>
          </a:p>
          <a:p>
            <a:pPr eaLnBrk="1" fontAlgn="auto" hangingPunct="1">
              <a:spcAft>
                <a:spcPts val="0"/>
              </a:spcAft>
              <a:buFont typeface="Arial" pitchFamily="34" charset="0"/>
              <a:buChar char="•"/>
              <a:defRPr/>
            </a:pPr>
            <a:endParaRPr lang="en-US" sz="2800" dirty="0" smtClean="0"/>
          </a:p>
        </p:txBody>
      </p:sp>
      <p:sp>
        <p:nvSpPr>
          <p:cNvPr id="5"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w="28575">
            <a:solidFill>
              <a:schemeClr val="accent1"/>
            </a:solidFill>
          </a:ln>
        </p:spPr>
        <p:txBody>
          <a:bodyPr rtlCol="0">
            <a:normAutofit/>
          </a:bodyPr>
          <a:lstStyle/>
          <a:p>
            <a:pPr eaLnBrk="1" fontAlgn="auto" hangingPunct="1">
              <a:spcAft>
                <a:spcPts val="0"/>
              </a:spcAft>
              <a:buFont typeface="Wingdings 2"/>
              <a:buChar char="¡"/>
              <a:defRPr/>
            </a:pPr>
            <a:r>
              <a:rPr lang="en-US" sz="2800" dirty="0" smtClean="0">
                <a:effectLst>
                  <a:outerShdw blurRad="38100" dist="38100" dir="2700000" algn="tl">
                    <a:srgbClr val="000000">
                      <a:alpha val="43137"/>
                    </a:srgbClr>
                  </a:outerShdw>
                </a:effectLst>
              </a:rPr>
              <a:t>Email also has its disadvantages.</a:t>
            </a:r>
          </a:p>
          <a:p>
            <a:pPr eaLnBrk="1" fontAlgn="auto" hangingPunct="1">
              <a:spcAft>
                <a:spcPts val="0"/>
              </a:spcAft>
              <a:buFont typeface="Wingdings 2"/>
              <a:buChar char="¡"/>
              <a:defRPr/>
            </a:pPr>
            <a:r>
              <a:rPr lang="en-US" sz="2800" dirty="0" smtClean="0"/>
              <a:t>The following stand out:</a:t>
            </a:r>
          </a:p>
          <a:p>
            <a:pPr eaLnBrk="1" fontAlgn="auto" hangingPunct="1">
              <a:spcAft>
                <a:spcPts val="0"/>
              </a:spcAft>
              <a:buFont typeface="Wingdings 2"/>
              <a:buChar char="A"/>
              <a:defRPr/>
            </a:pPr>
            <a:r>
              <a:rPr lang="en-US" sz="2800" dirty="0" smtClean="0"/>
              <a:t>Email is not confidential.</a:t>
            </a:r>
          </a:p>
          <a:p>
            <a:pPr eaLnBrk="1" fontAlgn="auto" hangingPunct="1">
              <a:spcAft>
                <a:spcPts val="0"/>
              </a:spcAft>
              <a:buFont typeface="Wingdings 2"/>
              <a:buChar char="A"/>
              <a:defRPr/>
            </a:pPr>
            <a:r>
              <a:rPr lang="en-US" sz="2800" dirty="0" smtClean="0"/>
              <a:t>Email doesn’t communicate the sender’s emotion well.</a:t>
            </a:r>
          </a:p>
          <a:p>
            <a:pPr eaLnBrk="1" fontAlgn="auto" hangingPunct="1">
              <a:spcAft>
                <a:spcPts val="0"/>
              </a:spcAft>
              <a:buFont typeface="Wingdings 2"/>
              <a:buChar char="A"/>
              <a:defRPr/>
            </a:pPr>
            <a:r>
              <a:rPr lang="en-US" sz="2800" dirty="0" smtClean="0"/>
              <a:t>Email may be ignored or delayed. The volume of email often makes it difficult for some respondents to read and act on all of their messages. </a:t>
            </a:r>
            <a:endParaRPr lang="en-US" sz="2800" dirty="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w="28575">
            <a:solidFill>
              <a:schemeClr val="accent1"/>
            </a:solidFill>
          </a:ln>
        </p:spPr>
        <p:txBody>
          <a:bodyPr rtlCol="0">
            <a:normAutofit/>
          </a:bodyPr>
          <a:lstStyle/>
          <a:p>
            <a:pPr eaLnBrk="1" fontAlgn="auto" hangingPunct="1">
              <a:spcAft>
                <a:spcPts val="0"/>
              </a:spcAft>
              <a:buFont typeface="Wingdings 2"/>
              <a:buChar char="¡"/>
              <a:defRPr/>
            </a:pPr>
            <a:r>
              <a:rPr lang="en-US" sz="2800" dirty="0" smtClean="0">
                <a:effectLst>
                  <a:outerShdw blurRad="38100" dist="38100" dir="2700000" algn="tl">
                    <a:srgbClr val="000000">
                      <a:alpha val="43137"/>
                    </a:srgbClr>
                  </a:outerShdw>
                </a:effectLst>
              </a:rPr>
              <a:t>Including the Prefatory Elements:</a:t>
            </a:r>
          </a:p>
          <a:p>
            <a:pPr eaLnBrk="1" fontAlgn="auto" hangingPunct="1">
              <a:spcAft>
                <a:spcPts val="0"/>
              </a:spcAft>
              <a:buFont typeface="Wingdings 2"/>
              <a:buChar char="¡"/>
              <a:defRPr/>
            </a:pPr>
            <a:r>
              <a:rPr lang="en-US" sz="2800" dirty="0" smtClean="0"/>
              <a:t>The various email systems differ somewhat, the elements are standardized. </a:t>
            </a:r>
          </a:p>
          <a:p>
            <a:pPr eaLnBrk="1" fontAlgn="auto" hangingPunct="1">
              <a:spcAft>
                <a:spcPts val="0"/>
              </a:spcAft>
              <a:buFont typeface="Wingdings 2"/>
              <a:buChar char="¡"/>
              <a:defRPr/>
            </a:pPr>
            <a:r>
              <a:rPr lang="en-US" sz="2800" dirty="0" smtClean="0"/>
              <a:t>They include the following parts:</a:t>
            </a:r>
          </a:p>
          <a:p>
            <a:pPr eaLnBrk="1" fontAlgn="auto" hangingPunct="1">
              <a:spcAft>
                <a:spcPts val="0"/>
              </a:spcAft>
              <a:buFont typeface="Wingdings"/>
              <a:buChar char="@"/>
              <a:defRPr/>
            </a:pPr>
            <a:r>
              <a:rPr lang="en-US" sz="2800" b="1" dirty="0" smtClean="0"/>
              <a:t>To</a:t>
            </a:r>
            <a:r>
              <a:rPr lang="en-US" sz="2800" dirty="0" smtClean="0"/>
              <a:t>: here the sender places the email address of the recipients. It must be perfect, for any error will result in failure to reach the recipient.</a:t>
            </a:r>
          </a:p>
          <a:p>
            <a:pPr eaLnBrk="1" fontAlgn="auto" hangingPunct="1">
              <a:spcAft>
                <a:spcPts val="0"/>
              </a:spcAft>
              <a:buFont typeface="Wingdings"/>
              <a:buChar char="@"/>
              <a:defRPr/>
            </a:pPr>
            <a:r>
              <a:rPr lang="en-US" sz="2800" b="1" dirty="0" smtClean="0"/>
              <a:t>Cc:</a:t>
            </a:r>
            <a:r>
              <a:rPr lang="en-US" sz="2800" dirty="0" smtClean="0"/>
              <a:t> if someone other than the primary recipient is to receive a </a:t>
            </a:r>
            <a:r>
              <a:rPr lang="en-US" sz="2800" i="1" dirty="0" smtClean="0"/>
              <a:t>courtesy copy, </a:t>
            </a:r>
            <a:r>
              <a:rPr lang="en-US" sz="2800" dirty="0" smtClean="0"/>
              <a:t>his or her address goes here.</a:t>
            </a:r>
          </a:p>
          <a:p>
            <a:pPr eaLnBrk="1" fontAlgn="auto" hangingPunct="1">
              <a:spcAft>
                <a:spcPts val="0"/>
              </a:spcAft>
              <a:buFont typeface="Wingdings"/>
              <a:buChar char="@"/>
              <a:defRPr/>
            </a:pPr>
            <a:endParaRPr lang="en-US" sz="2800" dirty="0" smtClean="0"/>
          </a:p>
          <a:p>
            <a:pPr eaLnBrk="1" fontAlgn="auto" hangingPunct="1">
              <a:spcAft>
                <a:spcPts val="0"/>
              </a:spcAft>
              <a:buFont typeface="Arial" pitchFamily="34" charset="0"/>
              <a:buChar char="•"/>
              <a:defRPr/>
            </a:pPr>
            <a:endParaRPr lang="en-US" sz="2800" dirty="0" smtClean="0"/>
          </a:p>
          <a:p>
            <a:pPr eaLnBrk="1" fontAlgn="auto" hangingPunct="1">
              <a:spcAft>
                <a:spcPts val="0"/>
              </a:spcAft>
              <a:buFont typeface="Arial" pitchFamily="34" charset="0"/>
              <a:buChar char="•"/>
              <a:defRPr/>
            </a:pPr>
            <a:endParaRPr lang="en-US" sz="2800" dirty="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p:cNvSpPr>
            <a:spLocks noGrp="1"/>
          </p:cNvSpPr>
          <p:nvPr>
            <p:ph idx="1"/>
          </p:nvPr>
        </p:nvSpPr>
        <p:spPr>
          <a:xfrm>
            <a:off x="457200" y="1600200"/>
            <a:ext cx="8229600" cy="4419600"/>
          </a:xfrm>
          <a:ln w="28575">
            <a:solidFill>
              <a:schemeClr val="accent1"/>
            </a:solidFill>
          </a:ln>
        </p:spPr>
        <p:txBody>
          <a:bodyPr>
            <a:normAutofit fontScale="92500" lnSpcReduction="10000"/>
          </a:bodyPr>
          <a:lstStyle/>
          <a:p>
            <a:pPr eaLnBrk="1" hangingPunct="1">
              <a:buFont typeface="Wingdings" pitchFamily="2" charset="2"/>
              <a:buChar char="@"/>
            </a:pPr>
            <a:r>
              <a:rPr lang="en-US" sz="2800" b="1" smtClean="0"/>
              <a:t>Bcc:</a:t>
            </a:r>
            <a:r>
              <a:rPr lang="en-US" sz="2800" smtClean="0"/>
              <a:t> this line stand for blind courtesy copy. The recipient’s message will not show this information; that is, s/he will not know who else is receiving a copy of the message.</a:t>
            </a:r>
          </a:p>
          <a:p>
            <a:pPr eaLnBrk="1" hangingPunct="1">
              <a:buFont typeface="Wingdings" pitchFamily="2" charset="2"/>
              <a:buChar char="@"/>
            </a:pPr>
            <a:r>
              <a:rPr lang="en-US" sz="2800" b="1" smtClean="0"/>
              <a:t>Subject</a:t>
            </a:r>
            <a:r>
              <a:rPr lang="en-US" sz="2800" smtClean="0"/>
              <a:t>: this line describes the message as precisely as the situation permits. The reader should get from it a clear idea of what the message is about.</a:t>
            </a:r>
          </a:p>
          <a:p>
            <a:pPr eaLnBrk="1" hangingPunct="1">
              <a:buFont typeface="Wingdings" pitchFamily="2" charset="2"/>
              <a:buChar char="@"/>
            </a:pPr>
            <a:r>
              <a:rPr lang="en-US" sz="2800" b="1" smtClean="0"/>
              <a:t>Attachments: </a:t>
            </a:r>
            <a:r>
              <a:rPr lang="en-US" sz="2800" smtClean="0"/>
              <a:t>in this area one can enter a file that one desire to send along with the message.</a:t>
            </a:r>
          </a:p>
          <a:p>
            <a:pPr eaLnBrk="1" hangingPunct="1">
              <a:buFont typeface="Wingdings" pitchFamily="2" charset="2"/>
              <a:buChar char="@"/>
            </a:pPr>
            <a:endParaRPr lang="en-US" sz="2800" smtClean="0"/>
          </a:p>
          <a:p>
            <a:pPr eaLnBrk="1" hangingPunct="1">
              <a:buFont typeface="Arial" charset="0"/>
              <a:buNone/>
            </a:pPr>
            <a:r>
              <a:rPr lang="en-US" sz="2800" smtClean="0"/>
              <a:t> </a:t>
            </a:r>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754563"/>
          </a:xfrm>
          <a:ln w="28575">
            <a:solidFill>
              <a:schemeClr val="accent1"/>
            </a:solidFill>
          </a:ln>
        </p:spPr>
        <p:txBody>
          <a:bodyPr rtlCol="0">
            <a:normAutofit lnSpcReduction="10000"/>
          </a:bodyPr>
          <a:lstStyle/>
          <a:p>
            <a:pPr eaLnBrk="1" fontAlgn="auto" hangingPunct="1">
              <a:spcAft>
                <a:spcPts val="0"/>
              </a:spcAft>
              <a:buFont typeface="Arial" pitchFamily="34" charset="0"/>
              <a:buNone/>
              <a:defRPr/>
            </a:pPr>
            <a:r>
              <a:rPr lang="en-US" sz="2800" dirty="0" smtClean="0">
                <a:sym typeface="Wingdings 3"/>
              </a:rPr>
              <a:t> </a:t>
            </a:r>
            <a:r>
              <a:rPr lang="en-US" sz="2800" dirty="0" smtClean="0"/>
              <a:t>As will be emphasized later, one should make certain that what you attach is really needed.</a:t>
            </a:r>
          </a:p>
          <a:p>
            <a:pPr eaLnBrk="1" fontAlgn="auto" hangingPunct="1">
              <a:spcAft>
                <a:spcPts val="0"/>
              </a:spcAft>
              <a:buFont typeface="Wingdings"/>
              <a:buChar char="@"/>
              <a:defRPr/>
            </a:pPr>
            <a:r>
              <a:rPr lang="en-US" sz="2800" b="1" dirty="0" smtClean="0"/>
              <a:t>The Message:</a:t>
            </a:r>
            <a:r>
              <a:rPr lang="en-US" sz="2800" dirty="0" smtClean="0"/>
              <a:t> the information one is sending goes here.</a:t>
            </a:r>
          </a:p>
          <a:p>
            <a:pPr eaLnBrk="1" fontAlgn="auto" hangingPunct="1">
              <a:spcAft>
                <a:spcPts val="0"/>
              </a:spcAft>
              <a:buFont typeface="Wingdings"/>
              <a:buChar char="q"/>
              <a:defRPr/>
            </a:pPr>
            <a:r>
              <a:rPr lang="en-US" sz="2800" b="1" dirty="0" smtClean="0"/>
              <a:t>Beginning the Message:</a:t>
            </a:r>
          </a:p>
          <a:p>
            <a:pPr eaLnBrk="1" fontAlgn="auto" hangingPunct="1">
              <a:spcAft>
                <a:spcPts val="0"/>
              </a:spcAft>
              <a:buFont typeface="Wingdings"/>
              <a:buChar char="@"/>
              <a:defRPr/>
            </a:pPr>
            <a:r>
              <a:rPr lang="en-US" sz="2800" dirty="0" smtClean="0"/>
              <a:t>Begin with the recipient’s name or a greeting.</a:t>
            </a:r>
          </a:p>
          <a:p>
            <a:pPr eaLnBrk="1" fontAlgn="auto" hangingPunct="1">
              <a:spcAft>
                <a:spcPts val="0"/>
              </a:spcAft>
              <a:buFont typeface="Wingdings"/>
              <a:buChar char="@"/>
              <a:defRPr/>
            </a:pPr>
            <a:r>
              <a:rPr lang="en-US" sz="2800" dirty="0" smtClean="0"/>
              <a:t>If normally address the reader as Ms., Dr., Mr., and such, address him/her this way in an initial email.</a:t>
            </a:r>
          </a:p>
          <a:p>
            <a:pPr eaLnBrk="1" fontAlgn="auto" hangingPunct="1">
              <a:spcAft>
                <a:spcPts val="0"/>
              </a:spcAft>
              <a:buFont typeface="Wingdings"/>
              <a:buChar char="@"/>
              <a:defRPr/>
            </a:pPr>
            <a:r>
              <a:rPr lang="en-US" sz="2800" dirty="0" smtClean="0"/>
              <a:t> A friendly generic greeting such as “Greetings” is appropriate for a group of people with whom its communicate. </a:t>
            </a:r>
          </a:p>
          <a:p>
            <a:pPr eaLnBrk="1" fontAlgn="auto" hangingPunct="1">
              <a:spcAft>
                <a:spcPts val="0"/>
              </a:spcAft>
              <a:buFont typeface="Arial" pitchFamily="34" charset="0"/>
              <a:buNone/>
              <a:defRPr/>
            </a:pPr>
            <a:endParaRPr lang="en-US" sz="2800" dirty="0" smtClean="0"/>
          </a:p>
          <a:p>
            <a:pPr eaLnBrk="1" fontAlgn="auto" hangingPunct="1">
              <a:spcAft>
                <a:spcPts val="0"/>
              </a:spcAft>
              <a:buFont typeface="Arial" pitchFamily="34" charset="0"/>
              <a:buChar char="•"/>
              <a:defRPr/>
            </a:pPr>
            <a:endParaRPr lang="en-US" sz="2800" dirty="0" smtClean="0"/>
          </a:p>
        </p:txBody>
      </p:sp>
      <p:sp>
        <p:nvSpPr>
          <p:cNvPr id="4" name="Title 3"/>
          <p:cNvSpPr txBox="1">
            <a:spLocks/>
          </p:cNvSpPr>
          <p:nvPr/>
        </p:nvSpPr>
        <p:spPr bwMode="auto">
          <a:xfrm>
            <a:off x="457200" y="228600"/>
            <a:ext cx="8229600" cy="944563"/>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457200" y="1371600"/>
            <a:ext cx="5029200" cy="5105400"/>
          </a:xfrm>
          <a:ln w="28575">
            <a:solidFill>
              <a:schemeClr val="accent1"/>
            </a:solidFill>
          </a:ln>
        </p:spPr>
        <p:txBody>
          <a:bodyPr/>
          <a:lstStyle/>
          <a:p>
            <a:pPr eaLnBrk="1" hangingPunct="1">
              <a:buFont typeface="Wingdings 2"/>
              <a:buChar char="¡"/>
            </a:pPr>
            <a:r>
              <a:rPr lang="en-US" sz="2800" dirty="0" smtClean="0"/>
              <a:t>Use of the recipient’s full name also is acceptable.</a:t>
            </a:r>
          </a:p>
          <a:p>
            <a:pPr eaLnBrk="1" hangingPunct="1">
              <a:buFont typeface="Wingdings 2"/>
              <a:buChar char="¡"/>
            </a:pPr>
            <a:r>
              <a:rPr lang="en-US" sz="2800" dirty="0" smtClean="0"/>
              <a:t>When writing to someone or a group you do not know, it is appropriate to identify yourself early in the message.</a:t>
            </a:r>
          </a:p>
          <a:p>
            <a:pPr eaLnBrk="1" hangingPunct="1">
              <a:buFont typeface="Wingdings 2"/>
              <a:buChar char="¡"/>
            </a:pPr>
            <a:r>
              <a:rPr lang="en-US" sz="2800" dirty="0" smtClean="0"/>
              <a:t>This identification may include the purpose and your company.</a:t>
            </a:r>
          </a:p>
          <a:p>
            <a:pPr eaLnBrk="1" hangingPunct="1">
              <a:buFont typeface="Wingdings 2"/>
              <a:buChar char="¡"/>
            </a:pPr>
            <a:r>
              <a:rPr lang="en-US" sz="2800" dirty="0" smtClean="0"/>
              <a:t>Your title and position also may be helpful.</a:t>
            </a:r>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a:p>
            <a:pPr eaLnBrk="1" hangingPunct="1"/>
            <a:endParaRPr lang="en-US" sz="2800" dirty="0" smtClean="0"/>
          </a:p>
        </p:txBody>
      </p:sp>
      <p:pic>
        <p:nvPicPr>
          <p:cNvPr id="8195" name="Picture 3" descr="G:\MONI\NUB\Cartoon\7.jpg"/>
          <p:cNvPicPr>
            <a:picLocks noChangeAspect="1" noChangeArrowheads="1"/>
          </p:cNvPicPr>
          <p:nvPr/>
        </p:nvPicPr>
        <p:blipFill>
          <a:blip r:embed="rId2"/>
          <a:srcRect/>
          <a:stretch>
            <a:fillRect/>
          </a:stretch>
        </p:blipFill>
        <p:spPr bwMode="auto">
          <a:xfrm>
            <a:off x="5661025" y="2357438"/>
            <a:ext cx="3281363" cy="3281362"/>
          </a:xfrm>
          <a:prstGeom prst="rect">
            <a:avLst/>
          </a:prstGeom>
          <a:noFill/>
          <a:ln w="9525">
            <a:noFill/>
            <a:miter lim="800000"/>
            <a:headEnd/>
            <a:tailEnd/>
          </a:ln>
        </p:spPr>
      </p:pic>
      <p:sp>
        <p:nvSpPr>
          <p:cNvPr id="5" name="Title 3"/>
          <p:cNvSpPr txBox="1">
            <a:spLocks/>
          </p:cNvSpPr>
          <p:nvPr/>
        </p:nvSpPr>
        <p:spPr bwMode="auto">
          <a:xfrm>
            <a:off x="457200" y="304800"/>
            <a:ext cx="8229600" cy="944563"/>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p:cNvSpPr>
            <a:spLocks noGrp="1"/>
          </p:cNvSpPr>
          <p:nvPr>
            <p:ph idx="1"/>
          </p:nvPr>
        </p:nvSpPr>
        <p:spPr>
          <a:xfrm>
            <a:off x="457200" y="1219200"/>
            <a:ext cx="8229600" cy="5410200"/>
          </a:xfrm>
          <a:ln w="28575">
            <a:solidFill>
              <a:schemeClr val="accent1"/>
            </a:solidFill>
          </a:ln>
        </p:spPr>
        <p:txBody>
          <a:bodyPr/>
          <a:lstStyle/>
          <a:p>
            <a:pPr eaLnBrk="1" hangingPunct="1">
              <a:buFont typeface="Arial" charset="0"/>
              <a:buNone/>
            </a:pPr>
            <a:r>
              <a:rPr lang="en-US" sz="2800" b="1" smtClean="0">
                <a:sym typeface="Wingdings" pitchFamily="2" charset="2"/>
              </a:rPr>
              <a:t> </a:t>
            </a:r>
            <a:r>
              <a:rPr lang="en-US" sz="2800" b="1" smtClean="0"/>
              <a:t>Organizing the Contents:</a:t>
            </a:r>
          </a:p>
          <a:p>
            <a:pPr eaLnBrk="1" hangingPunct="1">
              <a:buFont typeface="Wingdings" pitchFamily="2" charset="2"/>
              <a:buChar char="@"/>
            </a:pPr>
            <a:r>
              <a:rPr lang="en-US" sz="2800" smtClean="0"/>
              <a:t>Even though email messages often are written under time pressure, it should do well to organize them carefully.</a:t>
            </a:r>
          </a:p>
          <a:p>
            <a:pPr eaLnBrk="1" hangingPunct="1">
              <a:buFont typeface="Wingdings" pitchFamily="2" charset="2"/>
              <a:buChar char="@"/>
            </a:pPr>
            <a:r>
              <a:rPr lang="en-US" sz="2800" smtClean="0"/>
              <a:t>Organize short messages by presenting information in descending order of importance.</a:t>
            </a:r>
          </a:p>
          <a:p>
            <a:pPr eaLnBrk="1" hangingPunct="1">
              <a:buFont typeface="Wingdings" pitchFamily="2" charset="2"/>
              <a:buChar char="@"/>
            </a:pPr>
            <a:r>
              <a:rPr lang="en-US" sz="2800" smtClean="0"/>
              <a:t>For most short, informative messages, a “top-down” order is appropriate.</a:t>
            </a:r>
          </a:p>
          <a:p>
            <a:pPr eaLnBrk="1" hangingPunct="1">
              <a:buFont typeface="Wingdings" pitchFamily="2" charset="2"/>
              <a:buChar char="@"/>
            </a:pPr>
            <a:r>
              <a:rPr lang="en-US" sz="2800" smtClean="0"/>
              <a:t>Longer, more complex, and formal email messages frequently follow more involved and strategic organization patterns.</a:t>
            </a:r>
          </a:p>
          <a:p>
            <a:pPr eaLnBrk="1" hangingPunct="1"/>
            <a:endParaRPr lang="en-US" sz="2800" smtClean="0"/>
          </a:p>
          <a:p>
            <a:pPr eaLnBrk="1" hangingPunct="1"/>
            <a:endParaRPr lang="en-US" sz="2800" smtClean="0"/>
          </a:p>
        </p:txBody>
      </p:sp>
      <p:sp>
        <p:nvSpPr>
          <p:cNvPr id="4" name="Title 3"/>
          <p:cNvSpPr txBox="1">
            <a:spLocks/>
          </p:cNvSpPr>
          <p:nvPr/>
        </p:nvSpPr>
        <p:spPr bwMode="auto">
          <a:xfrm>
            <a:off x="457200" y="274638"/>
            <a:ext cx="8229600" cy="7159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a:xfrm>
            <a:off x="457200" y="1524000"/>
            <a:ext cx="8229600" cy="4419600"/>
          </a:xfrm>
          <a:ln w="28575">
            <a:solidFill>
              <a:schemeClr val="accent1"/>
            </a:solidFill>
          </a:ln>
        </p:spPr>
        <p:txBody>
          <a:bodyPr/>
          <a:lstStyle/>
          <a:p>
            <a:pPr eaLnBrk="1" hangingPunct="1">
              <a:buFont typeface="Wingdings" pitchFamily="2" charset="2"/>
              <a:buChar char="@"/>
            </a:pPr>
            <a:r>
              <a:rPr lang="en-US" sz="2800" smtClean="0"/>
              <a:t>In general, those messages that are likely to be received positively or neutrally are written in a direct pattern.</a:t>
            </a:r>
          </a:p>
          <a:p>
            <a:pPr eaLnBrk="1" hangingPunct="1">
              <a:buFont typeface="Wingdings" pitchFamily="2" charset="2"/>
              <a:buChar char="@"/>
            </a:pPr>
            <a:r>
              <a:rPr lang="en-US" sz="2800" smtClean="0"/>
              <a:t>Those messages that are likely to be received negatively are appropriately written in an indirect pattern.</a:t>
            </a:r>
          </a:p>
          <a:p>
            <a:pPr eaLnBrk="1" hangingPunct="1">
              <a:buFont typeface="Wingdings" pitchFamily="2" charset="2"/>
              <a:buChar char="@"/>
            </a:pPr>
            <a:r>
              <a:rPr lang="en-US" sz="2800" smtClean="0"/>
              <a:t>Some memorandums are communicated by email.</a:t>
            </a:r>
          </a:p>
          <a:p>
            <a:pPr eaLnBrk="1" hangingPunct="1">
              <a:buFont typeface="Wingdings" pitchFamily="2" charset="2"/>
              <a:buChar char="@"/>
            </a:pPr>
            <a:r>
              <a:rPr lang="en-US" sz="2800" smtClean="0"/>
              <a:t>The variety of email messages covers the entire spectrum of written business communication.</a:t>
            </a:r>
          </a:p>
        </p:txBody>
      </p:sp>
      <p:sp>
        <p:nvSpPr>
          <p:cNvPr id="5"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p:cNvSpPr>
            <a:spLocks noGrp="1"/>
          </p:cNvSpPr>
          <p:nvPr>
            <p:ph idx="1"/>
          </p:nvPr>
        </p:nvSpPr>
        <p:spPr>
          <a:xfrm>
            <a:off x="457200" y="1371600"/>
            <a:ext cx="8229600" cy="4953000"/>
          </a:xfrm>
          <a:ln w="28575">
            <a:solidFill>
              <a:schemeClr val="accent1"/>
            </a:solidFill>
          </a:ln>
        </p:spPr>
        <p:txBody>
          <a:bodyPr/>
          <a:lstStyle/>
          <a:p>
            <a:pPr eaLnBrk="1" hangingPunct="1">
              <a:buFont typeface="Arial" charset="0"/>
              <a:buNone/>
            </a:pPr>
            <a:r>
              <a:rPr lang="en-US" sz="2800" b="1" smtClean="0">
                <a:sym typeface="Wingdings" pitchFamily="2" charset="2"/>
              </a:rPr>
              <a:t> </a:t>
            </a:r>
            <a:r>
              <a:rPr lang="en-US" sz="2800" b="1" smtClean="0"/>
              <a:t>Writing the Email Message: Formality Consideration:</a:t>
            </a:r>
          </a:p>
          <a:p>
            <a:pPr eaLnBrk="1" hangingPunct="1">
              <a:buFont typeface="Wingdings" pitchFamily="2" charset="2"/>
              <a:buChar char="@"/>
            </a:pPr>
            <a:r>
              <a:rPr lang="en-US" sz="2800" smtClean="0"/>
              <a:t>A review of email writing is complicated by the fact that email messages are extremely diverse.</a:t>
            </a:r>
          </a:p>
          <a:p>
            <a:pPr eaLnBrk="1" hangingPunct="1">
              <a:buFont typeface="Wingdings" pitchFamily="2" charset="2"/>
              <a:buChar char="@"/>
            </a:pPr>
            <a:r>
              <a:rPr lang="en-US" sz="2800" smtClean="0"/>
              <a:t>Email messages range from highly informal to formal.</a:t>
            </a:r>
          </a:p>
          <a:p>
            <a:pPr eaLnBrk="1" hangingPunct="1">
              <a:buFont typeface="Wingdings" pitchFamily="2" charset="2"/>
              <a:buChar char="@"/>
            </a:pPr>
            <a:r>
              <a:rPr lang="en-US" sz="2800" smtClean="0"/>
              <a:t>Email messages are often written in a fast-paced environment with little time for deliberation.</a:t>
            </a:r>
          </a:p>
          <a:p>
            <a:pPr eaLnBrk="1" hangingPunct="1">
              <a:buFont typeface="Wingdings" pitchFamily="2" charset="2"/>
              <a:buChar char="@"/>
            </a:pPr>
            <a:r>
              <a:rPr lang="en-US" sz="2800" smtClean="0"/>
              <a:t>One approach is to view the language used from three general classifications:</a:t>
            </a:r>
          </a:p>
          <a:p>
            <a:pPr eaLnBrk="1" hangingPunct="1">
              <a:buFont typeface="Arial" charset="0"/>
              <a:buNone/>
            </a:pPr>
            <a:r>
              <a:rPr lang="en-US" sz="2800" smtClean="0"/>
              <a:t>    </a:t>
            </a:r>
            <a:r>
              <a:rPr lang="en-US" sz="2800" b="1" i="1" smtClean="0">
                <a:solidFill>
                  <a:srgbClr val="00B050"/>
                </a:solidFill>
              </a:rPr>
              <a:t>Casual; Informal and Formal</a:t>
            </a:r>
          </a:p>
          <a:p>
            <a:pPr eaLnBrk="1" hangingPunct="1"/>
            <a:endParaRPr lang="en-US" sz="2800" smtClean="0"/>
          </a:p>
          <a:p>
            <a:pPr eaLnBrk="1" hangingPunct="1"/>
            <a:endParaRPr lang="en-US" sz="2800" smtClean="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w="28575">
            <a:solidFill>
              <a:schemeClr val="accent1"/>
            </a:solidFill>
          </a:ln>
        </p:spPr>
        <p:txBody>
          <a:bodyPr rtlCol="0">
            <a:normAutofit lnSpcReduction="10000"/>
          </a:bodyPr>
          <a:lstStyle/>
          <a:p>
            <a:pPr eaLnBrk="1" fontAlgn="auto" hangingPunct="1">
              <a:spcAft>
                <a:spcPts val="0"/>
              </a:spcAft>
              <a:buFont typeface="Arial" pitchFamily="34" charset="0"/>
              <a:buNone/>
              <a:defRPr/>
            </a:pPr>
            <a:r>
              <a:rPr lang="en-US" sz="2800" dirty="0" smtClean="0">
                <a:sym typeface="Wingdings 2"/>
              </a:rPr>
              <a:t> </a:t>
            </a:r>
            <a:r>
              <a:rPr lang="en-US" sz="2800" b="1" i="1" dirty="0" smtClean="0"/>
              <a:t>Casual: </a:t>
            </a:r>
            <a:r>
              <a:rPr lang="en-US" sz="2800" dirty="0" smtClean="0"/>
              <a:t>by casual language we mean the language  we use in talking with close friends in everyday situations.</a:t>
            </a:r>
          </a:p>
          <a:p>
            <a:pPr eaLnBrk="1" fontAlgn="auto" hangingPunct="1">
              <a:spcAft>
                <a:spcPts val="0"/>
              </a:spcAft>
              <a:buFont typeface="Wingdings 2"/>
              <a:buChar char="¡"/>
              <a:defRPr/>
            </a:pPr>
            <a:r>
              <a:rPr lang="en-US" sz="2800" dirty="0" smtClean="0"/>
              <a:t>Casual language uses slang, colloquialisms, contractions.</a:t>
            </a:r>
          </a:p>
          <a:p>
            <a:pPr eaLnBrk="1" fontAlgn="auto" hangingPunct="1">
              <a:spcAft>
                <a:spcPts val="0"/>
              </a:spcAft>
              <a:buFont typeface="Wingdings 2"/>
              <a:buChar char="¡"/>
              <a:defRPr/>
            </a:pPr>
            <a:r>
              <a:rPr lang="en-US" sz="2800" dirty="0" smtClean="0"/>
              <a:t>It uses contractions and personal pronouns freely.</a:t>
            </a:r>
          </a:p>
          <a:p>
            <a:pPr eaLnBrk="1" fontAlgn="auto" hangingPunct="1">
              <a:spcAft>
                <a:spcPts val="0"/>
              </a:spcAft>
              <a:buFont typeface="Wingdings 2"/>
              <a:buChar char="¡"/>
              <a:defRPr/>
            </a:pPr>
            <a:r>
              <a:rPr lang="en-US" sz="2800" dirty="0" smtClean="0"/>
              <a:t>Its sentences are short-sometimes incomplete.</a:t>
            </a:r>
          </a:p>
          <a:p>
            <a:pPr eaLnBrk="1" fontAlgn="auto" hangingPunct="1">
              <a:spcAft>
                <a:spcPts val="0"/>
              </a:spcAft>
              <a:buFont typeface="Wingdings 2"/>
              <a:buChar char="¡"/>
              <a:defRPr/>
            </a:pPr>
            <a:endParaRPr lang="en-US" sz="2800" dirty="0" smtClean="0"/>
          </a:p>
          <a:p>
            <a:pPr eaLnBrk="1" fontAlgn="auto" hangingPunct="1">
              <a:spcAft>
                <a:spcPts val="0"/>
              </a:spcAft>
              <a:buFont typeface="Wingdings 2"/>
              <a:buChar char="¡"/>
              <a:defRPr/>
            </a:pPr>
            <a:r>
              <a:rPr lang="en-US" sz="2800" dirty="0" smtClean="0"/>
              <a:t>Casual language is best limited to communications with close friends.</a:t>
            </a:r>
          </a:p>
          <a:p>
            <a:pPr eaLnBrk="1" fontAlgn="auto" hangingPunct="1">
              <a:spcAft>
                <a:spcPts val="0"/>
              </a:spcAft>
              <a:buFont typeface="Arial" pitchFamily="34" charset="0"/>
              <a:buChar char="•"/>
              <a:defRPr/>
            </a:pPr>
            <a:endParaRPr lang="en-US" sz="2800" dirty="0" smtClean="0"/>
          </a:p>
          <a:p>
            <a:pPr eaLnBrk="1" fontAlgn="auto" hangingPunct="1">
              <a:spcAft>
                <a:spcPts val="0"/>
              </a:spcAft>
              <a:buFont typeface="Arial" pitchFamily="34" charset="0"/>
              <a:buChar char="•"/>
              <a:defRPr/>
            </a:pPr>
            <a:endParaRPr lang="en-US" sz="2800" dirty="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457200" y="1905000"/>
            <a:ext cx="8229600" cy="3810000"/>
          </a:xfrm>
          <a:ln w="28575">
            <a:solidFill>
              <a:srgbClr val="00B050"/>
            </a:solidFill>
          </a:ln>
        </p:spPr>
        <p:txBody>
          <a:bodyPr/>
          <a:lstStyle/>
          <a:p>
            <a:pPr eaLnBrk="1" hangingPunct="1">
              <a:buFont typeface="Arial" charset="0"/>
              <a:buNone/>
            </a:pPr>
            <a:r>
              <a:rPr lang="en-US" sz="2800" smtClean="0"/>
              <a:t>    Hi Lubna,</a:t>
            </a:r>
          </a:p>
          <a:p>
            <a:pPr eaLnBrk="1" hangingPunct="1">
              <a:buFont typeface="Arial" charset="0"/>
              <a:buNone/>
            </a:pPr>
            <a:r>
              <a:rPr lang="en-US" sz="2800" smtClean="0"/>
              <a:t>    What’up? There was a call from Mr. Rahman. He likes our marketing plan and he wanted to meet us for our next dealings. ASAP, they said.</a:t>
            </a:r>
          </a:p>
          <a:p>
            <a:pPr eaLnBrk="1" hangingPunct="1">
              <a:buFont typeface="Arial" charset="0"/>
              <a:buNone/>
            </a:pPr>
            <a:r>
              <a:rPr lang="en-US" sz="2800" smtClean="0"/>
              <a:t>    Lets meet @ my cabin, 10 a.m., Wed?</a:t>
            </a:r>
          </a:p>
          <a:p>
            <a:pPr eaLnBrk="1" hangingPunct="1">
              <a:buFont typeface="Arial" charset="0"/>
              <a:buNone/>
            </a:pPr>
            <a:r>
              <a:rPr lang="en-US" sz="2800" smtClean="0"/>
              <a:t>    Faria</a:t>
            </a:r>
          </a:p>
          <a:p>
            <a:pPr eaLnBrk="1" hangingPunct="1">
              <a:buFont typeface="Arial" charset="0"/>
              <a:buNone/>
            </a:pPr>
            <a:r>
              <a:rPr lang="en-US" sz="2800" smtClean="0"/>
              <a:t>  </a:t>
            </a:r>
          </a:p>
        </p:txBody>
      </p:sp>
      <p:sp>
        <p:nvSpPr>
          <p:cNvPr id="3"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24400"/>
          </a:xfrm>
          <a:ln w="28575">
            <a:solidFill>
              <a:schemeClr val="tx2">
                <a:lumMod val="60000"/>
                <a:lumOff val="40000"/>
              </a:schemeClr>
            </a:solidFill>
          </a:ln>
        </p:spPr>
        <p:txBody>
          <a:bodyPr rtlCol="0">
            <a:noAutofit/>
          </a:bodyPr>
          <a:lstStyle/>
          <a:p>
            <a:pPr eaLnBrk="1" fontAlgn="auto" hangingPunct="1">
              <a:spcAft>
                <a:spcPts val="0"/>
              </a:spcAft>
              <a:buFont typeface="Wingdings 2"/>
              <a:buChar char="¡"/>
              <a:defRPr/>
            </a:pPr>
            <a:r>
              <a:rPr lang="en-US" sz="2800" dirty="0" smtClean="0"/>
              <a:t>Most of the personal email (messages to the friends) are likely to be casually written.</a:t>
            </a:r>
          </a:p>
          <a:p>
            <a:pPr eaLnBrk="1" fontAlgn="auto" hangingPunct="1">
              <a:spcAft>
                <a:spcPts val="0"/>
              </a:spcAft>
              <a:buFont typeface="Wingdings 2"/>
              <a:buChar char="¡"/>
              <a:defRPr/>
            </a:pPr>
            <a:r>
              <a:rPr lang="en-US" sz="2800" dirty="0" smtClean="0"/>
              <a:t>This is the way friends talk, and their email should be no different.</a:t>
            </a:r>
          </a:p>
          <a:p>
            <a:pPr eaLnBrk="1" fontAlgn="auto" hangingPunct="1">
              <a:spcAft>
                <a:spcPts val="0"/>
              </a:spcAft>
              <a:buFont typeface="Wingdings 2"/>
              <a:buChar char="¡"/>
              <a:defRPr/>
            </a:pPr>
            <a:r>
              <a:rPr lang="en-US" sz="2800" dirty="0" smtClean="0"/>
              <a:t>It should be wise to use casual language only when you know your readers well- when you know they expect and prefer casual communication.</a:t>
            </a:r>
          </a:p>
          <a:p>
            <a:pPr eaLnBrk="1" fontAlgn="auto" hangingPunct="1">
              <a:spcAft>
                <a:spcPts val="0"/>
              </a:spcAft>
              <a:buFont typeface="Wingdings 2"/>
              <a:buChar char="¡"/>
              <a:defRPr/>
            </a:pPr>
            <a:r>
              <a:rPr lang="en-US" sz="2800" dirty="0" smtClean="0"/>
              <a:t>Never should use slang, initialisms, emphasis </a:t>
            </a:r>
          </a:p>
          <a:p>
            <a:pPr eaLnBrk="1" fontAlgn="auto" hangingPunct="1">
              <a:spcAft>
                <a:spcPts val="0"/>
              </a:spcAft>
              <a:buFont typeface="Arial" pitchFamily="34" charset="0"/>
              <a:buNone/>
              <a:defRPr/>
            </a:pPr>
            <a:r>
              <a:rPr lang="en-US" sz="2800" dirty="0" smtClean="0"/>
              <a:t>    devices, or such that are not certain to communicate clearly and quickly.</a:t>
            </a:r>
          </a:p>
        </p:txBody>
      </p:sp>
      <p:sp>
        <p:nvSpPr>
          <p:cNvPr id="4" name="Title 3"/>
          <p:cNvSpPr txBox="1">
            <a:spLocks/>
          </p:cNvSpPr>
          <p:nvPr/>
        </p:nvSpPr>
        <p:spPr bwMode="auto">
          <a:xfrm>
            <a:off x="457200" y="304800"/>
            <a:ext cx="8229600" cy="944563"/>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71563"/>
            <a:ext cx="8229600" cy="5638800"/>
          </a:xfrm>
          <a:ln w="28575">
            <a:solidFill>
              <a:schemeClr val="tx2">
                <a:lumMod val="60000"/>
                <a:lumOff val="40000"/>
              </a:schemeClr>
            </a:solidFill>
          </a:ln>
        </p:spPr>
        <p:txBody>
          <a:bodyPr rtlCol="0">
            <a:normAutofit lnSpcReduction="10000"/>
          </a:bodyPr>
          <a:lstStyle/>
          <a:p>
            <a:pPr eaLnBrk="1" fontAlgn="auto" hangingPunct="1">
              <a:spcAft>
                <a:spcPts val="0"/>
              </a:spcAft>
              <a:buFont typeface="Arial" pitchFamily="34" charset="0"/>
              <a:buNone/>
              <a:defRPr/>
            </a:pPr>
            <a:r>
              <a:rPr lang="en-US" sz="2800" dirty="0" smtClean="0">
                <a:sym typeface="Wingdings 2"/>
              </a:rPr>
              <a:t> </a:t>
            </a:r>
            <a:r>
              <a:rPr lang="en-US" sz="2800" b="1" i="1" dirty="0" smtClean="0"/>
              <a:t>Informal:</a:t>
            </a:r>
            <a:r>
              <a:rPr lang="en-US" sz="2800" dirty="0" smtClean="0"/>
              <a:t> </a:t>
            </a:r>
          </a:p>
          <a:p>
            <a:pPr eaLnBrk="1" fontAlgn="auto" hangingPunct="1">
              <a:spcAft>
                <a:spcPts val="0"/>
              </a:spcAft>
              <a:buFont typeface="Wingdings 2"/>
              <a:buChar char="¡"/>
              <a:defRPr/>
            </a:pPr>
            <a:r>
              <a:rPr lang="en-US" sz="2800" dirty="0" smtClean="0"/>
              <a:t>Informal language retain some of the qualities of casual writing.</a:t>
            </a:r>
          </a:p>
          <a:p>
            <a:pPr eaLnBrk="1" fontAlgn="auto" hangingPunct="1">
              <a:spcAft>
                <a:spcPts val="0"/>
              </a:spcAft>
              <a:buFont typeface="Wingdings 2"/>
              <a:buChar char="¡"/>
              <a:defRPr/>
            </a:pPr>
            <a:r>
              <a:rPr lang="en-US" sz="2800" dirty="0" smtClean="0"/>
              <a:t>It makes some use of personal pronouns and contractions. </a:t>
            </a:r>
          </a:p>
          <a:p>
            <a:pPr eaLnBrk="1" fontAlgn="auto" hangingPunct="1">
              <a:spcAft>
                <a:spcPts val="0"/>
              </a:spcAft>
              <a:buFont typeface="Wingdings 2"/>
              <a:buChar char="¡"/>
              <a:defRPr/>
            </a:pPr>
            <a:r>
              <a:rPr lang="en-US" sz="2800" dirty="0" smtClean="0"/>
              <a:t>Its sentences are relatively short.</a:t>
            </a:r>
          </a:p>
          <a:p>
            <a:pPr eaLnBrk="1" fontAlgn="auto" hangingPunct="1">
              <a:spcAft>
                <a:spcPts val="0"/>
              </a:spcAft>
              <a:buFont typeface="Wingdings 2"/>
              <a:buChar char="¡"/>
              <a:defRPr/>
            </a:pPr>
            <a:r>
              <a:rPr lang="en-US" sz="2800" dirty="0" smtClean="0"/>
              <a:t>Informal language resembles proper conversation.</a:t>
            </a:r>
          </a:p>
          <a:p>
            <a:pPr eaLnBrk="1" fontAlgn="auto" hangingPunct="1">
              <a:spcAft>
                <a:spcPts val="0"/>
              </a:spcAft>
              <a:buFont typeface="Wingdings 2"/>
              <a:buChar char="¡"/>
              <a:defRPr/>
            </a:pPr>
            <a:r>
              <a:rPr lang="en-US" sz="2800" dirty="0" smtClean="0"/>
              <a:t>Its sentences are short- but they are well structured and organized. They have varied patterns that produce an interesting literary style.</a:t>
            </a:r>
          </a:p>
          <a:p>
            <a:pPr eaLnBrk="1" fontAlgn="auto" hangingPunct="1">
              <a:spcAft>
                <a:spcPts val="0"/>
              </a:spcAft>
              <a:buFont typeface="Wingdings 2"/>
              <a:buChar char="¡"/>
              <a:defRPr/>
            </a:pPr>
            <a:r>
              <a:rPr lang="en-US" sz="2800" dirty="0" smtClean="0"/>
              <a:t>You should use it in most of your business email messages, especially when writing to people you know only on a business basis.</a:t>
            </a:r>
          </a:p>
          <a:p>
            <a:pPr eaLnBrk="1" fontAlgn="auto" hangingPunct="1">
              <a:spcAft>
                <a:spcPts val="0"/>
              </a:spcAft>
              <a:buFont typeface="Arial" pitchFamily="34" charset="0"/>
              <a:buChar char="•"/>
              <a:defRPr/>
            </a:pPr>
            <a:endParaRPr lang="en-US" sz="2800" dirty="0" smtClean="0"/>
          </a:p>
          <a:p>
            <a:pPr eaLnBrk="1" fontAlgn="auto" hangingPunct="1">
              <a:spcAft>
                <a:spcPts val="0"/>
              </a:spcAft>
              <a:buFont typeface="Arial" pitchFamily="34" charset="0"/>
              <a:buChar char="•"/>
              <a:defRPr/>
            </a:pPr>
            <a:endParaRPr lang="en-US" sz="2800" dirty="0"/>
          </a:p>
        </p:txBody>
      </p:sp>
      <p:sp>
        <p:nvSpPr>
          <p:cNvPr id="4" name="Title 3"/>
          <p:cNvSpPr txBox="1">
            <a:spLocks/>
          </p:cNvSpPr>
          <p:nvPr/>
        </p:nvSpPr>
        <p:spPr bwMode="auto">
          <a:xfrm>
            <a:off x="457200" y="274638"/>
            <a:ext cx="8229600" cy="7159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p:cNvSpPr>
            <a:spLocks noGrp="1"/>
          </p:cNvSpPr>
          <p:nvPr>
            <p:ph idx="1"/>
          </p:nvPr>
        </p:nvSpPr>
        <p:spPr>
          <a:xfrm>
            <a:off x="457200" y="1524000"/>
            <a:ext cx="8229600" cy="4267200"/>
          </a:xfrm>
          <a:ln w="28575">
            <a:solidFill>
              <a:srgbClr val="00B050"/>
            </a:solidFill>
          </a:ln>
        </p:spPr>
        <p:txBody>
          <a:bodyPr/>
          <a:lstStyle/>
          <a:p>
            <a:pPr eaLnBrk="1" hangingPunct="1">
              <a:buFont typeface="Arial" charset="0"/>
              <a:buNone/>
            </a:pPr>
            <a:r>
              <a:rPr lang="en-US" sz="2800" smtClean="0"/>
              <a:t>    Lubna,</a:t>
            </a:r>
          </a:p>
          <a:p>
            <a:pPr eaLnBrk="1" hangingPunct="1">
              <a:buFont typeface="Arial" charset="0"/>
              <a:buNone/>
            </a:pPr>
            <a:r>
              <a:rPr lang="en-US" sz="2800" smtClean="0"/>
              <a:t>    The management team of square has heartily approved our marketing plan. They were most complimentary. But as you predicted, they want a special plan for the large accounts.</a:t>
            </a:r>
          </a:p>
          <a:p>
            <a:pPr eaLnBrk="1" hangingPunct="1">
              <a:buFont typeface="Arial" charset="0"/>
              <a:buNone/>
            </a:pPr>
            <a:r>
              <a:rPr lang="en-US" sz="2800" smtClean="0"/>
              <a:t>    As they want it as soon as possible, lets get together to work on it. Can we meet Wednesday, 10 a.m., my office?</a:t>
            </a:r>
          </a:p>
          <a:p>
            <a:pPr eaLnBrk="1" hangingPunct="1">
              <a:buFont typeface="Arial" charset="0"/>
              <a:buNone/>
            </a:pPr>
            <a:r>
              <a:rPr lang="en-US" sz="2800" smtClean="0"/>
              <a:t>    Faria</a:t>
            </a:r>
          </a:p>
          <a:p>
            <a:pPr eaLnBrk="1" hangingPunct="1"/>
            <a:endParaRPr lang="en-US" sz="2800" smtClean="0"/>
          </a:p>
        </p:txBody>
      </p:sp>
      <p:sp>
        <p:nvSpPr>
          <p:cNvPr id="3"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31900"/>
            <a:ext cx="8229600" cy="5245100"/>
          </a:xfrm>
          <a:ln w="28575">
            <a:solidFill>
              <a:schemeClr val="tx2">
                <a:lumMod val="60000"/>
                <a:lumOff val="40000"/>
              </a:schemeClr>
            </a:solidFill>
          </a:ln>
        </p:spPr>
        <p:txBody>
          <a:bodyPr rtlCol="0">
            <a:noAutofit/>
          </a:bodyPr>
          <a:lstStyle/>
          <a:p>
            <a:pPr eaLnBrk="1" fontAlgn="auto" hangingPunct="1">
              <a:spcAft>
                <a:spcPts val="0"/>
              </a:spcAft>
              <a:buFont typeface="Arial" pitchFamily="34" charset="0"/>
              <a:buNone/>
              <a:defRPr/>
            </a:pPr>
            <a:r>
              <a:rPr lang="en-US" sz="2800" dirty="0" smtClean="0">
                <a:sym typeface="Wingdings 2"/>
              </a:rPr>
              <a:t> </a:t>
            </a:r>
            <a:r>
              <a:rPr lang="en-US" sz="2800" b="1" i="1" dirty="0" smtClean="0"/>
              <a:t>Formal: </a:t>
            </a:r>
            <a:r>
              <a:rPr lang="en-US" sz="2800" dirty="0" smtClean="0"/>
              <a:t>a formal style of writing maintains a greater distance between writer and reader than informal style.</a:t>
            </a:r>
          </a:p>
          <a:p>
            <a:pPr eaLnBrk="1" fontAlgn="auto" hangingPunct="1">
              <a:spcAft>
                <a:spcPts val="0"/>
              </a:spcAft>
              <a:buFont typeface="Wingdings 2"/>
              <a:buChar char="¡"/>
              <a:defRPr/>
            </a:pPr>
            <a:r>
              <a:rPr lang="en-US" sz="2800" dirty="0" smtClean="0"/>
              <a:t>It avoids personal references and contractions.</a:t>
            </a:r>
          </a:p>
          <a:p>
            <a:pPr eaLnBrk="1" fontAlgn="auto" hangingPunct="1">
              <a:spcAft>
                <a:spcPts val="0"/>
              </a:spcAft>
              <a:buFont typeface="Wingdings 2"/>
              <a:buChar char="¡"/>
              <a:defRPr/>
            </a:pPr>
            <a:r>
              <a:rPr lang="en-US" sz="2800" dirty="0" smtClean="0"/>
              <a:t>Its sentences are well structured and organized.</a:t>
            </a:r>
          </a:p>
          <a:p>
            <a:pPr eaLnBrk="1" fontAlgn="auto" hangingPunct="1">
              <a:spcAft>
                <a:spcPts val="0"/>
              </a:spcAft>
              <a:buFont typeface="Wingdings 2"/>
              <a:buChar char="¡"/>
              <a:defRPr/>
            </a:pPr>
            <a:r>
              <a:rPr lang="en-US" sz="2800" dirty="0" smtClean="0"/>
              <a:t>Although there is a tendency to create longer sentences in formal writing, this tendency should be resisted.</a:t>
            </a:r>
          </a:p>
          <a:p>
            <a:pPr eaLnBrk="1" fontAlgn="auto" hangingPunct="1">
              <a:spcAft>
                <a:spcPts val="0"/>
              </a:spcAft>
              <a:buFont typeface="Wingdings 2"/>
              <a:buChar char="¡"/>
              <a:defRPr/>
            </a:pPr>
            <a:r>
              <a:rPr lang="en-US" sz="2800" dirty="0" smtClean="0"/>
              <a:t>It is appropriate to use in email messages resembling formal reports, in messages to people of higher status, and to people not known to the writer. </a:t>
            </a:r>
            <a:endParaRPr lang="en-US" sz="2800" dirty="0"/>
          </a:p>
        </p:txBody>
      </p:sp>
      <p:sp>
        <p:nvSpPr>
          <p:cNvPr id="4" name="Title 3"/>
          <p:cNvSpPr txBox="1">
            <a:spLocks/>
          </p:cNvSpPr>
          <p:nvPr/>
        </p:nvSpPr>
        <p:spPr bwMode="auto">
          <a:xfrm>
            <a:off x="457200" y="274638"/>
            <a:ext cx="8229600" cy="6397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050"/>
            <a:ext cx="8229600" cy="5721350"/>
          </a:xfrm>
          <a:ln w="28575">
            <a:solidFill>
              <a:schemeClr val="tx2">
                <a:lumMod val="60000"/>
                <a:lumOff val="40000"/>
              </a:schemeClr>
            </a:solidFill>
          </a:ln>
        </p:spPr>
        <p:txBody>
          <a:bodyPr rtlCol="0">
            <a:noAutofit/>
          </a:bodyPr>
          <a:lstStyle/>
          <a:p>
            <a:pPr eaLnBrk="1" fontAlgn="auto" hangingPunct="1">
              <a:spcAft>
                <a:spcPts val="0"/>
              </a:spcAft>
              <a:buFont typeface="Wingdings"/>
              <a:buChar char="q"/>
              <a:defRPr/>
            </a:pPr>
            <a:r>
              <a:rPr lang="en-US" sz="2800" b="1" dirty="0" smtClean="0"/>
              <a:t>Writing the Email Message: General Consideration</a:t>
            </a:r>
          </a:p>
          <a:p>
            <a:pPr eaLnBrk="1" fontAlgn="auto" hangingPunct="1">
              <a:spcAft>
                <a:spcPts val="0"/>
              </a:spcAft>
              <a:buFont typeface="Arial" pitchFamily="34" charset="0"/>
              <a:buNone/>
              <a:defRPr/>
            </a:pPr>
            <a:r>
              <a:rPr lang="en-US" sz="2800" b="1" dirty="0" smtClean="0"/>
              <a:t>    </a:t>
            </a:r>
            <a:r>
              <a:rPr lang="en-US" sz="2800" dirty="0" smtClean="0"/>
              <a:t>For the purpose of email writing, we may group the more important of these instructions under four heads:</a:t>
            </a:r>
          </a:p>
          <a:p>
            <a:pPr eaLnBrk="1" fontAlgn="auto" hangingPunct="1">
              <a:spcAft>
                <a:spcPts val="0"/>
              </a:spcAft>
              <a:buFont typeface="Arial" pitchFamily="34" charset="0"/>
              <a:buNone/>
              <a:defRPr/>
            </a:pPr>
            <a:r>
              <a:rPr lang="en-US" sz="2800" dirty="0" smtClean="0">
                <a:sym typeface="Wingdings 2"/>
              </a:rPr>
              <a:t> </a:t>
            </a:r>
            <a:r>
              <a:rPr lang="en-US" sz="2800" b="1" i="1" dirty="0" smtClean="0"/>
              <a:t>Conciseness:</a:t>
            </a:r>
            <a:r>
              <a:rPr lang="en-US" sz="2800" b="1" dirty="0" smtClean="0"/>
              <a:t> </a:t>
            </a:r>
            <a:r>
              <a:rPr lang="en-US" sz="2800" dirty="0" smtClean="0"/>
              <a:t>email often is written by busy people for busy people.</a:t>
            </a:r>
          </a:p>
          <a:p>
            <a:pPr eaLnBrk="1" fontAlgn="auto" hangingPunct="1">
              <a:spcAft>
                <a:spcPts val="0"/>
              </a:spcAft>
              <a:buFont typeface="Wingdings 2"/>
              <a:buChar char="¡"/>
              <a:defRPr/>
            </a:pPr>
            <a:r>
              <a:rPr lang="en-US" sz="2800" dirty="0" smtClean="0"/>
              <a:t>In the best interests of all concerned, email messages should be as short as complete coverage of the subject matter will permit.</a:t>
            </a:r>
          </a:p>
          <a:p>
            <a:pPr eaLnBrk="1" fontAlgn="auto" hangingPunct="1">
              <a:spcAft>
                <a:spcPts val="0"/>
              </a:spcAft>
              <a:buFont typeface="Wingdings 2"/>
              <a:buChar char="¡"/>
              <a:defRPr/>
            </a:pPr>
            <a:r>
              <a:rPr lang="en-US" sz="2800" dirty="0" smtClean="0"/>
              <a:t>This means culling the  out the extra information and using only what which is essential.</a:t>
            </a:r>
          </a:p>
          <a:p>
            <a:pPr eaLnBrk="1" fontAlgn="auto" hangingPunct="1">
              <a:spcAft>
                <a:spcPts val="0"/>
              </a:spcAft>
              <a:buFont typeface="Wingdings 2"/>
              <a:buChar char="¡"/>
              <a:defRPr/>
            </a:pPr>
            <a:r>
              <a:rPr lang="en-US" sz="2800" dirty="0" smtClean="0"/>
              <a:t>Minimize references to previous communications.</a:t>
            </a:r>
          </a:p>
          <a:p>
            <a:pPr eaLnBrk="1" fontAlgn="auto" hangingPunct="1">
              <a:spcAft>
                <a:spcPts val="0"/>
              </a:spcAft>
              <a:buFont typeface="Wingdings 2"/>
              <a:buChar char="¡"/>
              <a:defRPr/>
            </a:pPr>
            <a:endParaRPr lang="en-US" sz="2800" dirty="0" smtClean="0"/>
          </a:p>
          <a:p>
            <a:pPr eaLnBrk="1" fontAlgn="auto" hangingPunct="1">
              <a:spcAft>
                <a:spcPts val="0"/>
              </a:spcAft>
              <a:buFont typeface="Arial" pitchFamily="34" charset="0"/>
              <a:buNone/>
              <a:defRPr/>
            </a:pPr>
            <a:endParaRPr lang="en-US" sz="2800" dirty="0" smtClean="0"/>
          </a:p>
          <a:p>
            <a:pPr eaLnBrk="1" fontAlgn="auto" hangingPunct="1">
              <a:spcAft>
                <a:spcPts val="0"/>
              </a:spcAft>
              <a:buFont typeface="Arial" pitchFamily="34" charset="0"/>
              <a:buNone/>
              <a:defRPr/>
            </a:pPr>
            <a:r>
              <a:rPr lang="en-US" sz="2800" dirty="0" smtClean="0"/>
              <a:t>  </a:t>
            </a:r>
          </a:p>
          <a:p>
            <a:pPr eaLnBrk="1" fontAlgn="auto" hangingPunct="1">
              <a:spcAft>
                <a:spcPts val="0"/>
              </a:spcAft>
              <a:buFont typeface="Arial" pitchFamily="34" charset="0"/>
              <a:buChar char="•"/>
              <a:defRPr/>
            </a:pPr>
            <a:endParaRPr lang="en-US" sz="2800" b="1" dirty="0" smtClean="0"/>
          </a:p>
          <a:p>
            <a:pPr eaLnBrk="1" fontAlgn="auto" hangingPunct="1">
              <a:spcAft>
                <a:spcPts val="0"/>
              </a:spcAft>
              <a:buFont typeface="Arial" pitchFamily="34" charset="0"/>
              <a:buChar char="•"/>
              <a:defRPr/>
            </a:pPr>
            <a:endParaRPr lang="en-US" sz="2800" dirty="0"/>
          </a:p>
        </p:txBody>
      </p:sp>
      <p:sp>
        <p:nvSpPr>
          <p:cNvPr id="4" name="Title 3"/>
          <p:cNvSpPr txBox="1">
            <a:spLocks/>
          </p:cNvSpPr>
          <p:nvPr/>
        </p:nvSpPr>
        <p:spPr bwMode="auto">
          <a:xfrm>
            <a:off x="457200" y="274638"/>
            <a:ext cx="8229600" cy="4873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w="28575">
            <a:solidFill>
              <a:schemeClr val="tx2">
                <a:lumMod val="60000"/>
                <a:lumOff val="40000"/>
              </a:schemeClr>
            </a:solidFill>
          </a:ln>
        </p:spPr>
        <p:txBody>
          <a:bodyPr rtlCol="0">
            <a:normAutofit lnSpcReduction="10000"/>
          </a:bodyPr>
          <a:lstStyle/>
          <a:p>
            <a:pPr eaLnBrk="1" fontAlgn="auto" hangingPunct="1">
              <a:spcAft>
                <a:spcPts val="0"/>
              </a:spcAft>
              <a:buFont typeface="Arial" pitchFamily="34" charset="0"/>
              <a:buNone/>
              <a:defRPr/>
            </a:pPr>
            <a:r>
              <a:rPr lang="en-US" sz="2800" dirty="0" smtClean="0">
                <a:sym typeface="Wingdings 2"/>
              </a:rPr>
              <a:t> </a:t>
            </a:r>
            <a:r>
              <a:rPr lang="en-US" sz="2800" b="1" i="1" dirty="0" smtClean="0"/>
              <a:t>Clarity:</a:t>
            </a:r>
            <a:r>
              <a:rPr lang="en-US" sz="2800" dirty="0" smtClean="0"/>
              <a:t> use the techniques of clear writing.</a:t>
            </a:r>
          </a:p>
          <a:p>
            <a:pPr eaLnBrk="1" fontAlgn="auto" hangingPunct="1">
              <a:spcAft>
                <a:spcPts val="0"/>
              </a:spcAft>
              <a:buFont typeface="Wingdings 2"/>
              <a:buChar char="¡"/>
              <a:defRPr/>
            </a:pPr>
            <a:r>
              <a:rPr lang="en-US" sz="2800" dirty="0" smtClean="0"/>
              <a:t>Especially important in email writing is clarity of wording.</a:t>
            </a:r>
          </a:p>
          <a:p>
            <a:pPr eaLnBrk="1" fontAlgn="auto" hangingPunct="1">
              <a:spcAft>
                <a:spcPts val="0"/>
              </a:spcAft>
              <a:buFont typeface="Wingdings 2"/>
              <a:buChar char="¡"/>
              <a:defRPr/>
            </a:pPr>
            <a:r>
              <a:rPr lang="en-US" sz="2800" dirty="0" smtClean="0"/>
              <a:t>One should select words that quickly create clear meanings.</a:t>
            </a:r>
          </a:p>
          <a:p>
            <a:pPr eaLnBrk="1" fontAlgn="auto" hangingPunct="1">
              <a:spcAft>
                <a:spcPts val="0"/>
              </a:spcAft>
              <a:buFont typeface="Wingdings 2"/>
              <a:buChar char="¡"/>
              <a:defRPr/>
            </a:pPr>
            <a:r>
              <a:rPr lang="en-US" sz="2800" dirty="0" smtClean="0"/>
              <a:t>Typically, these are the short, familiar ones. You should strive for concreteness, vigor and precision.</a:t>
            </a:r>
          </a:p>
          <a:p>
            <a:pPr eaLnBrk="1" fontAlgn="auto" hangingPunct="1">
              <a:spcAft>
                <a:spcPts val="0"/>
              </a:spcAft>
              <a:buFont typeface="Wingdings 2"/>
              <a:buChar char="¡"/>
              <a:defRPr/>
            </a:pPr>
            <a:r>
              <a:rPr lang="en-US" sz="2800" dirty="0" smtClean="0"/>
              <a:t>The sentences should be short and so should the paragraphs.</a:t>
            </a:r>
          </a:p>
          <a:p>
            <a:pPr eaLnBrk="1" fontAlgn="auto" hangingPunct="1">
              <a:spcAft>
                <a:spcPts val="0"/>
              </a:spcAft>
              <a:buFont typeface="Arial" pitchFamily="34" charset="0"/>
              <a:buNone/>
              <a:defRPr/>
            </a:pPr>
            <a:r>
              <a:rPr lang="en-US" sz="2800" dirty="0" smtClean="0"/>
              <a:t> </a:t>
            </a:r>
            <a:endParaRPr lang="en-US" sz="2800" dirty="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ln w="28575">
            <a:solidFill>
              <a:schemeClr val="accent1"/>
            </a:solidFill>
          </a:ln>
        </p:spPr>
        <p:txBody>
          <a:bodyPr/>
          <a:lstStyle/>
          <a:p>
            <a:pPr eaLnBrk="1" hangingPunct="1">
              <a:buFont typeface="Arial" charset="0"/>
              <a:buNone/>
            </a:pPr>
            <a:r>
              <a:rPr lang="en-US" sz="2800" smtClean="0">
                <a:sym typeface="Wingdings 2" pitchFamily="18" charset="2"/>
              </a:rPr>
              <a:t> </a:t>
            </a:r>
            <a:r>
              <a:rPr lang="en-US" sz="2800" b="1" i="1" smtClean="0"/>
              <a:t>Etiquette:</a:t>
            </a:r>
            <a:r>
              <a:rPr lang="en-US" sz="2800" smtClean="0"/>
              <a:t> it goes without saying that courtesy should be practiced in all business relations.</a:t>
            </a:r>
          </a:p>
          <a:p>
            <a:pPr eaLnBrk="1" hangingPunct="1">
              <a:buFont typeface="Wingdings 2" pitchFamily="18" charset="2"/>
              <a:buChar char="¡"/>
            </a:pPr>
            <a:r>
              <a:rPr lang="en-US" sz="2800" smtClean="0"/>
              <a:t>We all want to receive courteous and fair treatment.</a:t>
            </a:r>
          </a:p>
          <a:p>
            <a:pPr eaLnBrk="1" hangingPunct="1">
              <a:buFont typeface="Wingdings 2" pitchFamily="18" charset="2"/>
              <a:buChar char="¡"/>
            </a:pPr>
            <a:r>
              <a:rPr lang="en-US" sz="2800" smtClean="0"/>
              <a:t>Good email etiquette should prevail.</a:t>
            </a:r>
          </a:p>
          <a:p>
            <a:pPr eaLnBrk="1" hangingPunct="1">
              <a:buFont typeface="Wingdings 2" pitchFamily="18" charset="2"/>
              <a:buChar char="¡"/>
            </a:pPr>
            <a:r>
              <a:rPr lang="en-US" sz="2800" smtClean="0"/>
              <a:t>The skillful use of positive language and viewpoint also can be effective in email.</a:t>
            </a:r>
          </a:p>
          <a:p>
            <a:pPr eaLnBrk="1" hangingPunct="1">
              <a:buFont typeface="Wingdings 2" pitchFamily="18" charset="2"/>
              <a:buChar char="¡"/>
            </a:pPr>
            <a:r>
              <a:rPr lang="en-US" sz="2800" smtClean="0"/>
              <a:t>Virtually all the instructions given on principles of business letter writing apply here.</a:t>
            </a:r>
          </a:p>
          <a:p>
            <a:pPr eaLnBrk="1" hangingPunct="1">
              <a:buFont typeface="Arial" charset="0"/>
              <a:buNone/>
            </a:pPr>
            <a:r>
              <a:rPr lang="en-US" sz="2800" smtClean="0"/>
              <a:t>   </a:t>
            </a:r>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p:cNvSpPr>
            <a:spLocks noGrp="1"/>
          </p:cNvSpPr>
          <p:nvPr>
            <p:ph idx="1"/>
          </p:nvPr>
        </p:nvSpPr>
        <p:spPr>
          <a:xfrm>
            <a:off x="457200" y="914400"/>
            <a:ext cx="8229600" cy="5791200"/>
          </a:xfrm>
          <a:ln w="28575">
            <a:solidFill>
              <a:schemeClr val="accent1"/>
            </a:solidFill>
          </a:ln>
        </p:spPr>
        <p:txBody>
          <a:bodyPr>
            <a:normAutofit lnSpcReduction="10000"/>
          </a:bodyPr>
          <a:lstStyle/>
          <a:p>
            <a:pPr eaLnBrk="1" hangingPunct="1">
              <a:buFont typeface="Arial" charset="0"/>
              <a:buNone/>
            </a:pPr>
            <a:r>
              <a:rPr lang="en-US" sz="2800" smtClean="0">
                <a:sym typeface="Wingdings 2" pitchFamily="18" charset="2"/>
              </a:rPr>
              <a:t> </a:t>
            </a:r>
            <a:r>
              <a:rPr lang="en-US" sz="2800" b="1" i="1" smtClean="0"/>
              <a:t>Correctness:</a:t>
            </a:r>
            <a:r>
              <a:rPr lang="en-US" sz="2800" smtClean="0"/>
              <a:t> one would think that the need for correctness in email writing would be universally accepted.</a:t>
            </a:r>
          </a:p>
          <a:p>
            <a:pPr eaLnBrk="1" hangingPunct="1">
              <a:buFont typeface="Wingdings 2" pitchFamily="18" charset="2"/>
              <a:buChar char="¡"/>
            </a:pPr>
            <a:r>
              <a:rPr lang="en-US" sz="2800" smtClean="0"/>
              <a:t>Unfortunately, such is not the case, because of the fast pace of email communication, some practitioners argue that, </a:t>
            </a:r>
            <a:r>
              <a:rPr lang="en-US" sz="2800" i="1" u="sng" smtClean="0"/>
              <a:t>“getting the message out there” </a:t>
            </a:r>
            <a:r>
              <a:rPr lang="en-US" sz="2800" smtClean="0"/>
              <a:t>is the important goal- the style need not be a matter of concern.</a:t>
            </a:r>
          </a:p>
          <a:p>
            <a:pPr eaLnBrk="1" hangingPunct="1">
              <a:buFont typeface="Wingdings 2" pitchFamily="18" charset="2"/>
              <a:buChar char="¡"/>
            </a:pPr>
            <a:r>
              <a:rPr lang="en-US" sz="2800" smtClean="0"/>
              <a:t>Bad spelling, illogical punctuation, awkward wording should be avoided.</a:t>
            </a:r>
          </a:p>
          <a:p>
            <a:pPr eaLnBrk="1" hangingPunct="1">
              <a:buFont typeface="Wingdings 2" pitchFamily="18" charset="2"/>
              <a:buChar char="¡"/>
            </a:pPr>
            <a:r>
              <a:rPr lang="en-US" sz="2800" smtClean="0"/>
              <a:t>To avod any such suggestions of ignorance, one should follow the grammatical and punctuatuin instructions. </a:t>
            </a:r>
          </a:p>
        </p:txBody>
      </p:sp>
      <p:sp>
        <p:nvSpPr>
          <p:cNvPr id="4" name="Title 3"/>
          <p:cNvSpPr txBox="1">
            <a:spLocks/>
          </p:cNvSpPr>
          <p:nvPr/>
        </p:nvSpPr>
        <p:spPr bwMode="auto">
          <a:xfrm>
            <a:off x="457200" y="147638"/>
            <a:ext cx="8229600" cy="6397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w="28575">
            <a:solidFill>
              <a:schemeClr val="accent1"/>
            </a:solidFill>
          </a:ln>
        </p:spPr>
        <p:txBody>
          <a:bodyPr/>
          <a:lstStyle/>
          <a:p>
            <a:pPr eaLnBrk="1" hangingPunct="1">
              <a:buFont typeface="Arial" charset="0"/>
              <a:buNone/>
              <a:defRPr/>
            </a:pPr>
            <a:r>
              <a:rPr lang="en-US" sz="2800" dirty="0" smtClean="0">
                <a:sym typeface="Wingdings 2"/>
              </a:rPr>
              <a:t> </a:t>
            </a:r>
            <a:r>
              <a:rPr lang="en-US" sz="2800" b="1" dirty="0" smtClean="0">
                <a:effectLst>
                  <a:outerShdw blurRad="38100" dist="38100" dir="2700000" algn="tl">
                    <a:srgbClr val="000000">
                      <a:alpha val="43137"/>
                    </a:srgbClr>
                  </a:outerShdw>
                </a:effectLst>
              </a:rPr>
              <a:t>Closing the Email Message:</a:t>
            </a:r>
          </a:p>
          <a:p>
            <a:pPr eaLnBrk="1" hangingPunct="1">
              <a:buFont typeface="Wingdings 2" pitchFamily="18" charset="2"/>
              <a:buChar char="¡"/>
              <a:defRPr/>
            </a:pPr>
            <a:r>
              <a:rPr lang="en-US" sz="2800" dirty="0" smtClean="0"/>
              <a:t>Most email message end with just the writer’s name-the first name alone if the recipient knows the writer well.</a:t>
            </a:r>
          </a:p>
          <a:p>
            <a:pPr eaLnBrk="1" hangingPunct="1">
              <a:buFont typeface="Wingdings 2" pitchFamily="18" charset="2"/>
              <a:buChar char="¡"/>
              <a:defRPr/>
            </a:pPr>
            <a:r>
              <a:rPr lang="en-US" sz="2800" dirty="0" smtClean="0"/>
              <a:t>“Thanks” and “Regards” are popular.</a:t>
            </a:r>
          </a:p>
          <a:p>
            <a:pPr eaLnBrk="1" hangingPunct="1">
              <a:buFont typeface="Wingdings 2" pitchFamily="18" charset="2"/>
              <a:buChar char="¡"/>
              <a:defRPr/>
            </a:pPr>
            <a:r>
              <a:rPr lang="en-US" sz="2800" dirty="0" smtClean="0"/>
              <a:t>It is important that you include your company and position.</a:t>
            </a:r>
          </a:p>
          <a:p>
            <a:pPr eaLnBrk="1" hangingPunct="1">
              <a:buFont typeface="Wingdings 2" pitchFamily="18" charset="2"/>
              <a:buChar char="¡"/>
              <a:defRPr/>
            </a:pPr>
            <a:r>
              <a:rPr lang="en-US" sz="2800" dirty="0" smtClean="0"/>
              <a:t>Today most email software has a signature that will automatically attach signature file to a message.</a:t>
            </a:r>
            <a:endParaRPr lang="en-US" sz="2800" dirty="0"/>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Point Star 3"/>
          <p:cNvSpPr/>
          <p:nvPr/>
        </p:nvSpPr>
        <p:spPr>
          <a:xfrm>
            <a:off x="4191000" y="5715000"/>
            <a:ext cx="762000" cy="762000"/>
          </a:xfrm>
          <a:prstGeom prst="star5">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Content Placeholder 2"/>
          <p:cNvSpPr>
            <a:spLocks noGrp="1"/>
          </p:cNvSpPr>
          <p:nvPr>
            <p:ph idx="1"/>
          </p:nvPr>
        </p:nvSpPr>
        <p:spPr>
          <a:xfrm>
            <a:off x="457200" y="1600200"/>
            <a:ext cx="8229600" cy="5029200"/>
          </a:xfrm>
          <a:ln w="28575">
            <a:solidFill>
              <a:schemeClr val="accent1"/>
            </a:solidFill>
          </a:ln>
        </p:spPr>
        <p:txBody>
          <a:bodyPr/>
          <a:lstStyle/>
          <a:p>
            <a:pPr eaLnBrk="1" hangingPunct="1">
              <a:buFont typeface="Wingdings 2" pitchFamily="18" charset="2"/>
              <a:buChar char="¡"/>
              <a:defRPr/>
            </a:pPr>
            <a:r>
              <a:rPr lang="en-US" sz="2800" b="1" dirty="0" smtClean="0">
                <a:effectLst>
                  <a:outerShdw blurRad="38100" dist="38100" dir="2700000" algn="tl">
                    <a:srgbClr val="000000">
                      <a:alpha val="43137"/>
                    </a:srgbClr>
                  </a:outerShdw>
                </a:effectLst>
              </a:rPr>
              <a:t>Using Emphasis Devices in Email:</a:t>
            </a:r>
          </a:p>
          <a:p>
            <a:pPr eaLnBrk="1" hangingPunct="1">
              <a:buFont typeface="Wingdings 2" pitchFamily="18" charset="2"/>
              <a:buChar char="¡"/>
              <a:defRPr/>
            </a:pPr>
            <a:r>
              <a:rPr lang="en-US" sz="2800" dirty="0" smtClean="0"/>
              <a:t>Email has limited use of emphasis devices.</a:t>
            </a:r>
          </a:p>
          <a:p>
            <a:pPr eaLnBrk="1" hangingPunct="1">
              <a:buFont typeface="Wingdings 2" pitchFamily="18" charset="2"/>
              <a:buChar char="¡"/>
              <a:defRPr/>
            </a:pPr>
            <a:r>
              <a:rPr lang="en-US" sz="2800" dirty="0" smtClean="0"/>
              <a:t>These substitutes have been developed.</a:t>
            </a:r>
          </a:p>
          <a:p>
            <a:pPr eaLnBrk="1" hangingPunct="1">
              <a:buFont typeface="Wingdings 2" pitchFamily="18" charset="2"/>
              <a:buChar char="¡"/>
              <a:defRPr/>
            </a:pPr>
            <a:r>
              <a:rPr lang="en-US" sz="2800" dirty="0" smtClean="0"/>
              <a:t>When you write email message, you my find that certain elements of style are missing either on your system or on your reader’s system.</a:t>
            </a:r>
          </a:p>
          <a:p>
            <a:pPr eaLnBrk="1" hangingPunct="1">
              <a:buFont typeface="Wingdings 2" pitchFamily="18" charset="2"/>
              <a:buChar char="¡"/>
              <a:defRPr/>
            </a:pPr>
            <a:r>
              <a:rPr lang="en-US" sz="2800" dirty="0" smtClean="0"/>
              <a:t>While most of the current versions of Windows and Macintosh email programs support mechanical devices such as </a:t>
            </a:r>
            <a:r>
              <a:rPr lang="en-US" sz="2800" u="sng" dirty="0" smtClean="0"/>
              <a:t>underscoring, </a:t>
            </a:r>
            <a:r>
              <a:rPr lang="en-US" sz="2800" dirty="0" smtClean="0">
                <a:latin typeface="Aharoni" pitchFamily="2" charset="-79"/>
                <a:cs typeface="Aharoni" pitchFamily="2" charset="-79"/>
              </a:rPr>
              <a:t>font variations</a:t>
            </a:r>
            <a:r>
              <a:rPr lang="en-US" sz="2800" dirty="0" smtClean="0"/>
              <a:t>, </a:t>
            </a:r>
            <a:r>
              <a:rPr lang="en-US" sz="2800" i="1" dirty="0" smtClean="0"/>
              <a:t>italic</a:t>
            </a:r>
            <a:r>
              <a:rPr lang="en-US" sz="2800" b="1" dirty="0" smtClean="0"/>
              <a:t>, bold</a:t>
            </a:r>
            <a:r>
              <a:rPr lang="en-US" sz="2800" dirty="0" smtClean="0"/>
              <a:t>, </a:t>
            </a:r>
            <a:r>
              <a:rPr lang="en-US" sz="2800" dirty="0" smtClean="0">
                <a:solidFill>
                  <a:srgbClr val="FF0000"/>
                </a:solidFill>
              </a:rPr>
              <a:t>color</a:t>
            </a:r>
            <a:r>
              <a:rPr lang="en-US" sz="2800" dirty="0" smtClean="0"/>
              <a:t>, and even graphics.</a:t>
            </a:r>
            <a:endParaRPr lang="en-US" sz="2800" dirty="0"/>
          </a:p>
        </p:txBody>
      </p:sp>
      <p:sp>
        <p:nvSpPr>
          <p:cNvPr id="5" name="Title 3"/>
          <p:cNvSpPr txBox="1">
            <a:spLocks/>
          </p:cNvSpPr>
          <p:nvPr/>
        </p:nvSpPr>
        <p:spPr bwMode="auto">
          <a:xfrm>
            <a:off x="457200" y="304800"/>
            <a:ext cx="8229600" cy="944563"/>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a:ln w="28575">
            <a:solidFill>
              <a:schemeClr val="accent1"/>
            </a:solidFill>
          </a:ln>
        </p:spPr>
        <p:txBody>
          <a:bodyPr/>
          <a:lstStyle/>
          <a:p>
            <a:pPr eaLnBrk="1" hangingPunct="1">
              <a:buFont typeface="Wingdings 2" pitchFamily="18" charset="2"/>
              <a:buChar char="¡"/>
              <a:defRPr/>
            </a:pPr>
            <a:r>
              <a:rPr lang="en-US" sz="2800" b="1" dirty="0" smtClean="0">
                <a:effectLst>
                  <a:outerShdw blurRad="38100" dist="38100" dir="2700000" algn="tl">
                    <a:srgbClr val="000000">
                      <a:alpha val="43137"/>
                    </a:srgbClr>
                  </a:outerShdw>
                </a:effectLst>
              </a:rPr>
              <a:t>Using </a:t>
            </a:r>
            <a:r>
              <a:rPr lang="en-US" sz="2800" b="1" dirty="0" err="1" smtClean="0">
                <a:effectLst>
                  <a:outerShdw blurRad="38100" dist="38100" dir="2700000" algn="tl">
                    <a:srgbClr val="000000">
                      <a:alpha val="43137"/>
                    </a:srgbClr>
                  </a:outerShdw>
                </a:effectLst>
              </a:rPr>
              <a:t>Initialisms</a:t>
            </a:r>
            <a:r>
              <a:rPr lang="en-US" sz="2800" b="1" dirty="0" smtClean="0">
                <a:effectLst>
                  <a:outerShdw blurRad="38100" dist="38100" dir="2700000" algn="tl">
                    <a:srgbClr val="000000">
                      <a:alpha val="43137"/>
                    </a:srgbClr>
                  </a:outerShdw>
                </a:effectLst>
              </a:rPr>
              <a:t> Cautiously:</a:t>
            </a:r>
          </a:p>
          <a:p>
            <a:pPr eaLnBrk="1" hangingPunct="1">
              <a:buFont typeface="Wingdings 2" pitchFamily="18" charset="2"/>
              <a:buChar char="¡"/>
              <a:defRPr/>
            </a:pPr>
            <a:r>
              <a:rPr lang="en-US" sz="2800" dirty="0" err="1" smtClean="0"/>
              <a:t>Initialisms</a:t>
            </a:r>
            <a:r>
              <a:rPr lang="en-US" sz="2800" dirty="0" smtClean="0"/>
              <a:t> have been developed to save time.</a:t>
            </a:r>
          </a:p>
          <a:p>
            <a:pPr eaLnBrk="1" hangingPunct="1">
              <a:buFont typeface="Wingdings 2" pitchFamily="18" charset="2"/>
              <a:buChar char="¡"/>
              <a:defRPr/>
            </a:pPr>
            <a:r>
              <a:rPr lang="en-US" sz="2800" dirty="0" smtClean="0"/>
              <a:t>But use them cautiously.</a:t>
            </a:r>
          </a:p>
          <a:p>
            <a:pPr eaLnBrk="1" hangingPunct="1">
              <a:buFont typeface="Wingdings 3" pitchFamily="18" charset="2"/>
              <a:buChar char=""/>
              <a:defRPr/>
            </a:pPr>
            <a:r>
              <a:rPr lang="en-US" sz="2800" dirty="0" smtClean="0"/>
              <a:t>ASAP: as soon as possible.</a:t>
            </a:r>
          </a:p>
          <a:p>
            <a:pPr eaLnBrk="1" hangingPunct="1">
              <a:buFont typeface="Wingdings 3" pitchFamily="18" charset="2"/>
              <a:buChar char=""/>
              <a:defRPr/>
            </a:pPr>
            <a:r>
              <a:rPr lang="en-US" sz="2800" dirty="0" smtClean="0"/>
              <a:t>BTW: by the way.</a:t>
            </a:r>
          </a:p>
          <a:p>
            <a:pPr eaLnBrk="1" hangingPunct="1">
              <a:buFont typeface="Wingdings 3" pitchFamily="18" charset="2"/>
              <a:buChar char=""/>
              <a:defRPr/>
            </a:pPr>
            <a:r>
              <a:rPr lang="en-US" sz="2800" dirty="0" smtClean="0"/>
              <a:t>FWIW: for what it’s worth.</a:t>
            </a:r>
          </a:p>
          <a:p>
            <a:pPr eaLnBrk="1" hangingPunct="1">
              <a:buFont typeface="Wingdings 3" pitchFamily="18" charset="2"/>
              <a:buChar char=""/>
              <a:defRPr/>
            </a:pPr>
            <a:r>
              <a:rPr lang="en-US" sz="2800" dirty="0" smtClean="0"/>
              <a:t>FYI: for your information.</a:t>
            </a:r>
          </a:p>
          <a:p>
            <a:pPr eaLnBrk="1" hangingPunct="1">
              <a:buFont typeface="Wingdings 3" pitchFamily="18" charset="2"/>
              <a:buChar char=""/>
              <a:defRPr/>
            </a:pPr>
            <a:r>
              <a:rPr lang="en-US" sz="2800" dirty="0" smtClean="0"/>
              <a:t>IMHO: in my humble opinion.</a:t>
            </a:r>
          </a:p>
          <a:p>
            <a:pPr eaLnBrk="1" hangingPunct="1">
              <a:buFont typeface="Wingdings 3" pitchFamily="18" charset="2"/>
              <a:buChar char=""/>
              <a:defRPr/>
            </a:pPr>
            <a:r>
              <a:rPr lang="en-US" sz="2800" dirty="0" smtClean="0"/>
              <a:t>LOL: laughing out loud.</a:t>
            </a:r>
          </a:p>
          <a:p>
            <a:pPr eaLnBrk="1" hangingPunct="1">
              <a:buFont typeface="Wingdings 3" pitchFamily="18" charset="2"/>
              <a:buChar char=""/>
              <a:defRPr/>
            </a:pPr>
            <a:r>
              <a:rPr lang="en-US" sz="2800" dirty="0" smtClean="0"/>
              <a:t>TIA: thanks in advance</a:t>
            </a:r>
          </a:p>
          <a:p>
            <a:pPr eaLnBrk="1" hangingPunct="1">
              <a:buFont typeface="Wingdings 3" pitchFamily="18" charset="2"/>
              <a:buChar char=""/>
              <a:defRPr/>
            </a:pPr>
            <a:r>
              <a:rPr lang="en-US" sz="2800" dirty="0" smtClean="0"/>
              <a:t> TTFN: </a:t>
            </a:r>
            <a:r>
              <a:rPr lang="en-US" sz="2800" dirty="0" err="1" smtClean="0"/>
              <a:t>ta</a:t>
            </a:r>
            <a:r>
              <a:rPr lang="en-US" sz="2800" dirty="0" smtClean="0"/>
              <a:t> </a:t>
            </a:r>
            <a:r>
              <a:rPr lang="en-US" sz="2800" dirty="0" err="1" smtClean="0"/>
              <a:t>ta</a:t>
            </a:r>
            <a:r>
              <a:rPr lang="en-US" sz="2800" dirty="0" smtClean="0"/>
              <a:t> for now.</a:t>
            </a:r>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smtClean="0"/>
          </a:p>
          <a:p>
            <a:pPr eaLnBrk="1" hangingPunct="1">
              <a:defRPr/>
            </a:pPr>
            <a:endParaRPr lang="en-US" sz="2800" dirty="0"/>
          </a:p>
        </p:txBody>
      </p:sp>
      <p:sp>
        <p:nvSpPr>
          <p:cNvPr id="4" name="Title 3"/>
          <p:cNvSpPr txBox="1">
            <a:spLocks/>
          </p:cNvSpPr>
          <p:nvPr/>
        </p:nvSpPr>
        <p:spPr bwMode="auto">
          <a:xfrm>
            <a:off x="457200" y="152400"/>
            <a:ext cx="8229600" cy="639763"/>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76800"/>
          </a:xfrm>
          <a:ln w="28575">
            <a:solidFill>
              <a:schemeClr val="accent1"/>
            </a:solidFill>
          </a:ln>
        </p:spPr>
        <p:txBody>
          <a:bodyPr/>
          <a:lstStyle/>
          <a:p>
            <a:pPr>
              <a:buFont typeface="Wingdings 2" pitchFamily="18" charset="2"/>
              <a:buChar char="¡"/>
              <a:defRPr/>
            </a:pPr>
            <a:r>
              <a:rPr lang="en-US" sz="2800" b="1" dirty="0" smtClean="0">
                <a:effectLst>
                  <a:outerShdw blurRad="38100" dist="38100" dir="2700000" algn="tl">
                    <a:srgbClr val="000000">
                      <a:alpha val="43137"/>
                    </a:srgbClr>
                  </a:outerShdw>
                </a:effectLst>
              </a:rPr>
              <a:t>Avoiding Inappropriate use of Email:</a:t>
            </a:r>
          </a:p>
          <a:p>
            <a:pPr>
              <a:buFont typeface="Wingdings 2" pitchFamily="18" charset="2"/>
              <a:buChar char="¡"/>
              <a:defRPr/>
            </a:pPr>
            <a:r>
              <a:rPr lang="en-US" sz="2800" dirty="0" smtClean="0"/>
              <a:t>Don’t use email when the message involves these aspects:</a:t>
            </a:r>
          </a:p>
          <a:p>
            <a:pPr>
              <a:buFont typeface="Wingdings 2" pitchFamily="18" charset="2"/>
              <a:buChar char="¡"/>
              <a:defRPr/>
            </a:pPr>
            <a:r>
              <a:rPr lang="en-US" sz="2800" dirty="0" smtClean="0"/>
              <a:t>The message is long, complicated or requires negotiation.</a:t>
            </a:r>
          </a:p>
          <a:p>
            <a:pPr>
              <a:buFont typeface="Wingdings 2" pitchFamily="18" charset="2"/>
              <a:buChar char="¡"/>
              <a:defRPr/>
            </a:pPr>
            <a:r>
              <a:rPr lang="en-US" sz="2800" dirty="0" smtClean="0"/>
              <a:t>Need clarification and discussion.</a:t>
            </a:r>
          </a:p>
          <a:p>
            <a:pPr>
              <a:buFont typeface="Wingdings 2" pitchFamily="18" charset="2"/>
              <a:buChar char="¡"/>
              <a:defRPr/>
            </a:pPr>
            <a:r>
              <a:rPr lang="en-US" sz="2800" dirty="0" smtClean="0"/>
              <a:t>Information is confidential or sensitive, requires security, or could be misinterpreted.</a:t>
            </a:r>
          </a:p>
          <a:p>
            <a:pPr>
              <a:buFont typeface="Wingdings 2" pitchFamily="18" charset="2"/>
              <a:buChar char="¡"/>
              <a:defRPr/>
            </a:pPr>
            <a:r>
              <a:rPr lang="en-US" sz="2800" dirty="0" smtClean="0"/>
              <a:t>The message is sent to avoid the contact with a direct person.</a:t>
            </a:r>
          </a:p>
        </p:txBody>
      </p:sp>
      <p:sp>
        <p:nvSpPr>
          <p:cNvPr id="4" name="Title 3"/>
          <p:cNvSpPr txBox="1">
            <a:spLocks/>
          </p:cNvSpPr>
          <p:nvPr/>
        </p:nvSpPr>
        <p:spPr bwMode="auto">
          <a:xfrm>
            <a:off x="457200" y="274638"/>
            <a:ext cx="8229600" cy="944562"/>
          </a:xfrm>
          <a:prstGeom prst="rect">
            <a:avLst/>
          </a:prstGeom>
          <a:solidFill>
            <a:schemeClr val="accent1">
              <a:lumMod val="20000"/>
              <a:lumOff val="80000"/>
            </a:schemeClr>
          </a:solidFill>
          <a:ln w="9525">
            <a:solidFill>
              <a:schemeClr val="accent1"/>
            </a:solidFill>
            <a:miter lim="800000"/>
            <a:headEnd/>
            <a:tailEnd/>
          </a:ln>
        </p:spPr>
        <p:txBody>
          <a:bodyPr anchor="ctr"/>
          <a:lstStyle/>
          <a:p>
            <a:pPr>
              <a:defRPr/>
            </a:pPr>
            <a:r>
              <a:rPr lang="en-US" sz="3000">
                <a:latin typeface="+mj-lt"/>
                <a:ea typeface="+mj-ea"/>
                <a:cs typeface="+mj-cs"/>
              </a:rPr>
              <a:t>Email</a:t>
            </a:r>
            <a:endParaRPr lang="en-US" sz="3000" dirty="0">
              <a:latin typeface="+mj-lt"/>
              <a:ea typeface="+mj-ea"/>
              <a:cs typeface="+mj-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a:solidFill>
            <a:schemeClr val="accent1">
              <a:lumMod val="20000"/>
              <a:lumOff val="80000"/>
            </a:schemeClr>
          </a:solidFill>
          <a:ln>
            <a:solidFill>
              <a:schemeClr val="accent1"/>
            </a:solidFill>
          </a:ln>
        </p:spPr>
        <p:txBody>
          <a:bodyPr/>
          <a:lstStyle/>
          <a:p>
            <a:pPr algn="l">
              <a:defRPr/>
            </a:pPr>
            <a:r>
              <a:rPr lang="en-US" sz="3000" dirty="0" smtClean="0"/>
              <a:t>Text Messaging</a:t>
            </a:r>
            <a:endParaRPr lang="en-US" sz="3000" dirty="0"/>
          </a:p>
        </p:txBody>
      </p:sp>
      <p:sp>
        <p:nvSpPr>
          <p:cNvPr id="26627" name="Content Placeholder 2"/>
          <p:cNvSpPr>
            <a:spLocks noGrp="1"/>
          </p:cNvSpPr>
          <p:nvPr>
            <p:ph idx="1"/>
          </p:nvPr>
        </p:nvSpPr>
        <p:spPr>
          <a:ln w="28575">
            <a:solidFill>
              <a:schemeClr val="accent1"/>
            </a:solidFill>
          </a:ln>
        </p:spPr>
        <p:txBody>
          <a:bodyPr>
            <a:normAutofit lnSpcReduction="10000"/>
          </a:bodyPr>
          <a:lstStyle/>
          <a:p>
            <a:pPr>
              <a:buFont typeface="Arial" charset="0"/>
              <a:buNone/>
            </a:pPr>
            <a:r>
              <a:rPr lang="en-US" sz="2800" smtClean="0">
                <a:sym typeface="Wingdings 2" pitchFamily="18" charset="2"/>
              </a:rPr>
              <a:t> </a:t>
            </a:r>
            <a:r>
              <a:rPr lang="en-US" sz="2800" smtClean="0"/>
              <a:t>It is widely used, especially by young people.</a:t>
            </a:r>
          </a:p>
          <a:p>
            <a:pPr>
              <a:buFont typeface="Wingdings 2" pitchFamily="18" charset="2"/>
              <a:buChar char="¡"/>
            </a:pPr>
            <a:r>
              <a:rPr lang="en-US" sz="2800" smtClean="0"/>
              <a:t>Text messaging, also called short message service (sms), allows one to use a mobile phone to send, receive, and view short messages using the phone's keypad and screen.</a:t>
            </a:r>
          </a:p>
          <a:p>
            <a:pPr>
              <a:buFont typeface="Wingdings 2" pitchFamily="18" charset="2"/>
              <a:buChar char="¡"/>
            </a:pPr>
            <a:r>
              <a:rPr lang="en-US" sz="2800" smtClean="0"/>
              <a:t>It enables one to send and receive short messages by wireless phones and personal computers.</a:t>
            </a:r>
          </a:p>
          <a:p>
            <a:pPr>
              <a:buFont typeface="Wingdings 2" pitchFamily="18" charset="2"/>
              <a:buChar char="¡"/>
            </a:pPr>
            <a:r>
              <a:rPr lang="en-US" sz="2800" smtClean="0"/>
              <a:t>Although text messaging currently is used primarily for personal communications, it is beginning to find a place in business communication.</a:t>
            </a:r>
          </a:p>
          <a:p>
            <a:endParaRPr lang="en-US" sz="2800" smtClean="0"/>
          </a:p>
          <a:p>
            <a:endParaRPr lang="en-US" sz="2800"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5513"/>
            <a:ext cx="8229600" cy="5703887"/>
          </a:xfrm>
          <a:ln w="28575">
            <a:solidFill>
              <a:schemeClr val="accent1"/>
            </a:solidFill>
          </a:ln>
        </p:spPr>
        <p:txBody>
          <a:bodyPr/>
          <a:lstStyle/>
          <a:p>
            <a:pPr>
              <a:buFont typeface="Arial" charset="0"/>
              <a:buNone/>
              <a:defRPr/>
            </a:pPr>
            <a:r>
              <a:rPr lang="en-US" sz="2600" dirty="0" smtClean="0">
                <a:sym typeface="Wingdings 2"/>
              </a:rPr>
              <a:t> </a:t>
            </a:r>
            <a:r>
              <a:rPr lang="en-US" sz="2600" dirty="0" smtClean="0"/>
              <a:t>The writing of text messages is quite different from that of other message.</a:t>
            </a:r>
          </a:p>
          <a:p>
            <a:pPr>
              <a:buFont typeface="Arial" charset="0"/>
              <a:buNone/>
              <a:defRPr/>
            </a:pPr>
            <a:r>
              <a:rPr lang="en-US" sz="2600" dirty="0" smtClean="0">
                <a:sym typeface="Wingdings 2"/>
              </a:rPr>
              <a:t> </a:t>
            </a:r>
            <a:r>
              <a:rPr lang="en-US" sz="2600" dirty="0" smtClean="0"/>
              <a:t>Some examples:</a:t>
            </a:r>
          </a:p>
          <a:p>
            <a:pPr>
              <a:buFont typeface="Arial" charset="0"/>
              <a:buNone/>
              <a:defRPr/>
            </a:pPr>
            <a:r>
              <a:rPr lang="en-US" sz="2600" dirty="0" smtClean="0"/>
              <a:t>   </a:t>
            </a:r>
            <a:r>
              <a:rPr lang="en-US" sz="2600" dirty="0" smtClean="0">
                <a:effectLst>
                  <a:outerShdw blurRad="38100" dist="38100" dir="2700000" algn="tl">
                    <a:srgbClr val="000000">
                      <a:alpha val="43137"/>
                    </a:srgbClr>
                  </a:outerShdw>
                </a:effectLst>
              </a:rPr>
              <a:t>b4: before; u: you; gr8: great; </a:t>
            </a:r>
            <a:r>
              <a:rPr lang="en-US" sz="2600" dirty="0" err="1" smtClean="0">
                <a:effectLst>
                  <a:outerShdw blurRad="38100" dist="38100" dir="2700000" algn="tl">
                    <a:srgbClr val="000000">
                      <a:alpha val="43137"/>
                    </a:srgbClr>
                  </a:outerShdw>
                </a:effectLst>
              </a:rPr>
              <a:t>np</a:t>
            </a:r>
            <a:r>
              <a:rPr lang="en-US" sz="2600" dirty="0" smtClean="0">
                <a:effectLst>
                  <a:outerShdw blurRad="38100" dist="38100" dir="2700000" algn="tl">
                    <a:srgbClr val="000000">
                      <a:alpha val="43137"/>
                    </a:srgbClr>
                  </a:outerShdw>
                </a:effectLst>
              </a:rPr>
              <a:t>: no problem; cu: see you.</a:t>
            </a:r>
          </a:p>
          <a:p>
            <a:pPr>
              <a:buFont typeface="Arial" charset="0"/>
              <a:buNone/>
              <a:defRPr/>
            </a:pPr>
            <a:r>
              <a:rPr lang="en-US" sz="2600" dirty="0" smtClean="0">
                <a:sym typeface="Wingdings 2"/>
              </a:rPr>
              <a:t> </a:t>
            </a:r>
            <a:r>
              <a:rPr lang="en-US" sz="2600" dirty="0" smtClean="0"/>
              <a:t>Use of </a:t>
            </a:r>
            <a:r>
              <a:rPr lang="en-US" sz="2600" dirty="0" err="1" smtClean="0"/>
              <a:t>smileys</a:t>
            </a:r>
            <a:r>
              <a:rPr lang="en-US" sz="2600" dirty="0" smtClean="0"/>
              <a:t>:</a:t>
            </a:r>
          </a:p>
          <a:p>
            <a:pPr>
              <a:buFont typeface="Arial" charset="0"/>
              <a:buNone/>
              <a:defRPr/>
            </a:pPr>
            <a:r>
              <a:rPr lang="en-US" sz="2600" dirty="0" smtClean="0">
                <a:effectLst>
                  <a:outerShdw blurRad="38100" dist="38100" dir="2700000" algn="tl">
                    <a:srgbClr val="000000">
                      <a:alpha val="43137"/>
                    </a:srgbClr>
                  </a:outerShdw>
                </a:effectLst>
              </a:rPr>
              <a:t>    :)  (standard smiley);        :-( ( sad or frown)</a:t>
            </a:r>
          </a:p>
          <a:p>
            <a:pPr>
              <a:buFont typeface="Arial" charset="0"/>
              <a:buNone/>
              <a:defRPr/>
            </a:pPr>
            <a:r>
              <a:rPr lang="en-US" sz="2600" dirty="0" smtClean="0">
                <a:effectLst>
                  <a:outerShdw blurRad="38100" dist="38100" dir="2700000" algn="tl">
                    <a:srgbClr val="000000">
                      <a:alpha val="43137"/>
                    </a:srgbClr>
                  </a:outerShdw>
                </a:effectLst>
              </a:rPr>
              <a:t>    :-!  (foot in mouth);          :-0 (yell)</a:t>
            </a:r>
          </a:p>
          <a:p>
            <a:pPr>
              <a:buFont typeface="Arial" charset="0"/>
              <a:buNone/>
              <a:defRPr/>
            </a:pPr>
            <a:r>
              <a:rPr lang="en-US" sz="2600" dirty="0" smtClean="0">
                <a:effectLst>
                  <a:outerShdw blurRad="38100" dist="38100" dir="2700000" algn="tl">
                    <a:srgbClr val="000000">
                      <a:alpha val="43137"/>
                    </a:srgbClr>
                  </a:outerShdw>
                </a:effectLst>
              </a:rPr>
              <a:t>    :*) ( drunk smile);             (((H))) (hugs)</a:t>
            </a:r>
          </a:p>
          <a:p>
            <a:pPr>
              <a:buFont typeface="Arial" charset="0"/>
              <a:buNone/>
              <a:defRPr/>
            </a:pPr>
            <a:r>
              <a:rPr lang="en-US" sz="2600" dirty="0" smtClean="0">
                <a:sym typeface="Wingdings 2"/>
              </a:rPr>
              <a:t> </a:t>
            </a:r>
            <a:r>
              <a:rPr lang="en-US" sz="2600" dirty="0" smtClean="0"/>
              <a:t>While text messaging is relatively new for business use, you will find it a valuable too if your messages are clear, complete and concise with a pleasant and professional tone.</a:t>
            </a:r>
            <a:endParaRPr lang="en-US" sz="2600" dirty="0"/>
          </a:p>
        </p:txBody>
      </p:sp>
      <p:sp>
        <p:nvSpPr>
          <p:cNvPr id="4" name="Title 1"/>
          <p:cNvSpPr txBox="1">
            <a:spLocks/>
          </p:cNvSpPr>
          <p:nvPr/>
        </p:nvSpPr>
        <p:spPr bwMode="auto">
          <a:xfrm>
            <a:off x="457200" y="120650"/>
            <a:ext cx="8229600" cy="715963"/>
          </a:xfrm>
          <a:prstGeom prst="rect">
            <a:avLst/>
          </a:prstGeom>
          <a:solidFill>
            <a:schemeClr val="accent1">
              <a:lumMod val="20000"/>
              <a:lumOff val="80000"/>
            </a:schemeClr>
          </a:solidFill>
          <a:ln w="9525">
            <a:solidFill>
              <a:schemeClr val="accent1"/>
            </a:solidFill>
            <a:miter lim="800000"/>
            <a:headEnd/>
            <a:tailEnd/>
          </a:ln>
        </p:spPr>
        <p:txBody>
          <a:bodyPr anchor="ctr"/>
          <a:lstStyle/>
          <a:p>
            <a:pPr eaLnBrk="0" hangingPunct="0">
              <a:defRPr/>
            </a:pPr>
            <a:r>
              <a:rPr lang="en-US" sz="3000">
                <a:latin typeface="+mj-lt"/>
                <a:ea typeface="+mj-ea"/>
                <a:cs typeface="+mj-cs"/>
              </a:rPr>
              <a:t>Text Messaging</a:t>
            </a:r>
            <a:endParaRPr lang="en-US" sz="3000" dirty="0">
              <a:latin typeface="+mj-lt"/>
              <a:ea typeface="+mj-ea"/>
              <a:cs typeface="+mj-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ln w="28575">
            <a:solidFill>
              <a:schemeClr val="accent1"/>
            </a:solidFill>
          </a:ln>
        </p:spPr>
        <p:txBody>
          <a:bodyPr/>
          <a:lstStyle/>
          <a:p>
            <a:pPr>
              <a:buFont typeface="Wingdings 2" pitchFamily="18" charset="2"/>
              <a:buChar char="¡"/>
            </a:pPr>
            <a:r>
              <a:rPr lang="en-US" sz="2800" smtClean="0"/>
              <a:t>Another popular kind of electronic message is instant messaging.</a:t>
            </a:r>
          </a:p>
          <a:p>
            <a:pPr>
              <a:buFont typeface="Wingdings 2" pitchFamily="18" charset="2"/>
              <a:buChar char="¡"/>
            </a:pPr>
            <a:r>
              <a:rPr lang="en-US" sz="2800" smtClean="0"/>
              <a:t>Commonly referred to as IM-ing, instant messaging, or online chatting, is much like a telephone conversation.</a:t>
            </a:r>
          </a:p>
          <a:p>
            <a:pPr>
              <a:buFont typeface="Wingdings 2" pitchFamily="18" charset="2"/>
              <a:buChar char="¡"/>
            </a:pPr>
            <a:r>
              <a:rPr lang="en-US" sz="2800" smtClean="0"/>
              <a:t>It differs primarily in that it uses text-based (typed) rather than voice-based communication, although recent developments have made voice-based instant messaging possible.</a:t>
            </a:r>
          </a:p>
          <a:p>
            <a:pPr>
              <a:buFont typeface="Arial" charset="0"/>
              <a:buNone/>
            </a:pPr>
            <a:endParaRPr lang="en-US" sz="2800" smtClean="0"/>
          </a:p>
        </p:txBody>
      </p:sp>
      <p:sp>
        <p:nvSpPr>
          <p:cNvPr id="4" name="Title 1"/>
          <p:cNvSpPr txBox="1">
            <a:spLocks/>
          </p:cNvSpPr>
          <p:nvPr/>
        </p:nvSpPr>
        <p:spPr bwMode="auto">
          <a:xfrm>
            <a:off x="457200" y="274638"/>
            <a:ext cx="8229600" cy="1020762"/>
          </a:xfrm>
          <a:prstGeom prst="rect">
            <a:avLst/>
          </a:prstGeom>
          <a:solidFill>
            <a:schemeClr val="accent1">
              <a:lumMod val="20000"/>
              <a:lumOff val="80000"/>
            </a:schemeClr>
          </a:solidFill>
          <a:ln w="9525">
            <a:solidFill>
              <a:schemeClr val="accent1"/>
            </a:solidFill>
            <a:miter lim="800000"/>
            <a:headEnd/>
            <a:tailEnd/>
          </a:ln>
        </p:spPr>
        <p:txBody>
          <a:bodyPr anchor="ctr"/>
          <a:lstStyle/>
          <a:p>
            <a:pPr eaLnBrk="0" hangingPunct="0">
              <a:defRPr/>
            </a:pPr>
            <a:r>
              <a:rPr lang="en-US" sz="3000" dirty="0">
                <a:latin typeface="+mj-lt"/>
                <a:ea typeface="+mj-ea"/>
                <a:cs typeface="+mj-cs"/>
              </a:rPr>
              <a:t>Instant Messaging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457200" y="1177925"/>
            <a:ext cx="8229600" cy="5146675"/>
          </a:xfrm>
          <a:ln w="28575">
            <a:solidFill>
              <a:schemeClr val="accent1"/>
            </a:solidFill>
          </a:ln>
        </p:spPr>
        <p:txBody>
          <a:bodyPr/>
          <a:lstStyle/>
          <a:p>
            <a:pPr>
              <a:buFont typeface="Wingdings 2" pitchFamily="18" charset="2"/>
              <a:buChar char="¡"/>
            </a:pPr>
            <a:r>
              <a:rPr lang="en-US" sz="2800" smtClean="0"/>
              <a:t>With some exceptions, in instant messaging both parties are logged into their instant message server at the same time.</a:t>
            </a:r>
          </a:p>
          <a:p>
            <a:pPr>
              <a:buFont typeface="Wingdings 2" pitchFamily="18" charset="2"/>
              <a:buChar char="¡"/>
            </a:pPr>
            <a:r>
              <a:rPr lang="en-US" sz="2800" smtClean="0"/>
              <a:t>If the person is a personal friend, language should  reflect the friendship.</a:t>
            </a:r>
          </a:p>
          <a:p>
            <a:pPr>
              <a:buFont typeface="Wingdings 2" pitchFamily="18" charset="2"/>
              <a:buChar char="¡"/>
            </a:pPr>
            <a:r>
              <a:rPr lang="en-US" sz="2800" smtClean="0"/>
              <a:t>If the person is the president of your company, a business associate, or  a fellow worker, this relationship should guide the language.</a:t>
            </a:r>
          </a:p>
          <a:p>
            <a:pPr>
              <a:buFont typeface="Wingdings 2" pitchFamily="18" charset="2"/>
              <a:buChar char="¡"/>
            </a:pPr>
            <a:r>
              <a:rPr lang="en-US" sz="2800" smtClean="0"/>
              <a:t>Instant messaging can be monitored, companies often use enterprise instant messaging software to monitor and log employee instant messaging. </a:t>
            </a:r>
          </a:p>
          <a:p>
            <a:endParaRPr lang="en-US" sz="2800" smtClean="0"/>
          </a:p>
        </p:txBody>
      </p:sp>
      <p:sp>
        <p:nvSpPr>
          <p:cNvPr id="4" name="Title 1"/>
          <p:cNvSpPr txBox="1">
            <a:spLocks/>
          </p:cNvSpPr>
          <p:nvPr/>
        </p:nvSpPr>
        <p:spPr bwMode="auto">
          <a:xfrm>
            <a:off x="457200" y="274638"/>
            <a:ext cx="8229600" cy="715962"/>
          </a:xfrm>
          <a:prstGeom prst="rect">
            <a:avLst/>
          </a:prstGeom>
          <a:solidFill>
            <a:schemeClr val="accent1">
              <a:lumMod val="20000"/>
              <a:lumOff val="80000"/>
            </a:schemeClr>
          </a:solidFill>
          <a:ln w="9525">
            <a:solidFill>
              <a:schemeClr val="accent1"/>
            </a:solidFill>
            <a:miter lim="800000"/>
            <a:headEnd/>
            <a:tailEnd/>
          </a:ln>
        </p:spPr>
        <p:txBody>
          <a:bodyPr anchor="ctr"/>
          <a:lstStyle/>
          <a:p>
            <a:pPr eaLnBrk="0" hangingPunct="0">
              <a:defRPr/>
            </a:pPr>
            <a:r>
              <a:rPr lang="en-US" sz="3000" dirty="0">
                <a:latin typeface="+mj-lt"/>
                <a:ea typeface="+mj-ea"/>
                <a:cs typeface="+mj-cs"/>
              </a:rPr>
              <a:t>Instant Messaging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2590800"/>
            <a:ext cx="3660169"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5400" b="1" dirty="0">
                <a:ln/>
                <a:solidFill>
                  <a:schemeClr val="accent3"/>
                </a:solidFill>
              </a:rPr>
              <a:t>Thank You</a:t>
            </a:r>
          </a:p>
        </p:txBody>
      </p:sp>
      <p:pic>
        <p:nvPicPr>
          <p:cNvPr id="1026" name="Picture 2" descr="F:\Mahbuba\Moni\Characters\196.jpeg"/>
          <p:cNvPicPr>
            <a:picLocks noChangeAspect="1" noChangeArrowheads="1"/>
          </p:cNvPicPr>
          <p:nvPr/>
        </p:nvPicPr>
        <p:blipFill>
          <a:blip r:embed="rId2"/>
          <a:srcRect/>
          <a:stretch>
            <a:fillRect/>
          </a:stretch>
        </p:blipFill>
        <p:spPr bwMode="auto">
          <a:xfrm>
            <a:off x="5562600" y="2590800"/>
            <a:ext cx="995362" cy="995362"/>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640</TotalTime>
  <Words>4538</Words>
  <Application>Microsoft Office PowerPoint</Application>
  <PresentationFormat>On-screen Show (4:3)</PresentationFormat>
  <Paragraphs>507</Paragraphs>
  <Slides>72</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72</vt:i4>
      </vt:variant>
    </vt:vector>
  </HeadingPairs>
  <TitlesOfParts>
    <vt:vector size="85" baseType="lpstr">
      <vt:lpstr>Aharoni</vt:lpstr>
      <vt:lpstr>Algerian</vt:lpstr>
      <vt:lpstr>Arial</vt:lpstr>
      <vt:lpstr>Calibri</vt:lpstr>
      <vt:lpstr>Californian FB</vt:lpstr>
      <vt:lpstr>Eras Bold ITC</vt:lpstr>
      <vt:lpstr>Gill Sans MT</vt:lpstr>
      <vt:lpstr>Times New Roman</vt:lpstr>
      <vt:lpstr>Wide Latin</vt:lpstr>
      <vt:lpstr>Wingdings</vt:lpstr>
      <vt:lpstr>Wingdings 2</vt:lpstr>
      <vt:lpstr>Wingdings 3</vt:lpstr>
      <vt:lpstr>Office Theme</vt:lpstr>
      <vt:lpstr>PowerPoint Presentation</vt:lpstr>
      <vt:lpstr>The Process of Writing</vt:lpstr>
      <vt:lpstr>PowerPoint Presentation</vt:lpstr>
      <vt:lpstr>PowerPoint Presentation</vt:lpstr>
      <vt:lpstr>Planning the Message</vt:lpstr>
      <vt:lpstr>PowerPoint Presentation</vt:lpstr>
      <vt:lpstr>PowerPoint Presentation</vt:lpstr>
      <vt:lpstr>PowerPoint Presentation</vt:lpstr>
      <vt:lpstr>PowerPoint Presentation</vt:lpstr>
      <vt:lpstr>PowerPoint Presentation</vt:lpstr>
      <vt:lpstr>PowerPoint Presentation</vt:lpstr>
      <vt:lpstr>Drafting</vt:lpstr>
      <vt:lpstr>PowerPoint Presentation</vt:lpstr>
      <vt:lpstr>PowerPoint Presentation</vt:lpstr>
      <vt:lpstr>PowerPoint Presentation</vt:lpstr>
      <vt:lpstr>Revising</vt:lpstr>
      <vt:lpstr>PowerPoint Presentation</vt:lpstr>
      <vt:lpstr>PowerPoint Presentation</vt:lpstr>
      <vt:lpstr>PowerPoint Presentation</vt:lpstr>
      <vt:lpstr>PowerPoint Presentation</vt:lpstr>
      <vt:lpstr>The Importance of Readable Formatting</vt:lpstr>
      <vt:lpstr>Letters</vt:lpstr>
      <vt:lpstr>PowerPoint Presentation</vt:lpstr>
      <vt:lpstr>What is a Business Letter?</vt:lpstr>
      <vt:lpstr>Types of Business Letters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Memorandums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EMAIL</vt:lpstr>
      <vt:lpstr>Email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Text Messaging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Windows User</cp:lastModifiedBy>
  <cp:revision>225</cp:revision>
  <dcterms:created xsi:type="dcterms:W3CDTF">2006-08-16T00:00:00Z</dcterms:created>
  <dcterms:modified xsi:type="dcterms:W3CDTF">2019-07-04T04:42:23Z</dcterms:modified>
</cp:coreProperties>
</file>