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60"/>
  </p:handoutMasterIdLst>
  <p:sldIdLst>
    <p:sldId id="257" r:id="rId2"/>
    <p:sldId id="264" r:id="rId3"/>
    <p:sldId id="265" r:id="rId4"/>
    <p:sldId id="266" r:id="rId5"/>
    <p:sldId id="267" r:id="rId6"/>
    <p:sldId id="268" r:id="rId7"/>
    <p:sldId id="269" r:id="rId8"/>
    <p:sldId id="272" r:id="rId9"/>
    <p:sldId id="270" r:id="rId10"/>
    <p:sldId id="271" r:id="rId11"/>
    <p:sldId id="274" r:id="rId12"/>
    <p:sldId id="275" r:id="rId13"/>
    <p:sldId id="276" r:id="rId14"/>
    <p:sldId id="278" r:id="rId15"/>
    <p:sldId id="277"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 id="311" r:id="rId49"/>
    <p:sldId id="312" r:id="rId50"/>
    <p:sldId id="313" r:id="rId51"/>
    <p:sldId id="314" r:id="rId52"/>
    <p:sldId id="315" r:id="rId53"/>
    <p:sldId id="316" r:id="rId54"/>
    <p:sldId id="317" r:id="rId55"/>
    <p:sldId id="318" r:id="rId56"/>
    <p:sldId id="319" r:id="rId57"/>
    <p:sldId id="320" r:id="rId58"/>
    <p:sldId id="321" r:id="rId5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370FBE83-B034-4E8F-9805-0A1AECD7026D}" type="datetimeFigureOut">
              <a:rPr lang="en-US" smtClean="0"/>
              <a:pPr/>
              <a:t>4/17/2019</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18040CD8-EE4E-48FD-882C-B0B2F509C398}"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46645" y="194608"/>
            <a:ext cx="5997155" cy="1938992"/>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fontAlgn="auto">
              <a:spcBef>
                <a:spcPts val="0"/>
              </a:spcBef>
              <a:spcAft>
                <a:spcPts val="0"/>
              </a:spcAft>
              <a:defRPr/>
            </a:pPr>
            <a:r>
              <a:rPr lang="en-US" sz="6000" b="1" dirty="0">
                <a:ln/>
                <a:solidFill>
                  <a:schemeClr val="accent3"/>
                </a:solidFill>
                <a:latin typeface="+mn-lt"/>
                <a:cs typeface="+mn-cs"/>
              </a:rPr>
              <a:t>Business </a:t>
            </a:r>
          </a:p>
          <a:p>
            <a:pPr algn="ctr" fontAlgn="auto">
              <a:spcBef>
                <a:spcPts val="0"/>
              </a:spcBef>
              <a:spcAft>
                <a:spcPts val="0"/>
              </a:spcAft>
              <a:defRPr/>
            </a:pPr>
            <a:r>
              <a:rPr lang="en-US" sz="6000" b="1" dirty="0">
                <a:ln/>
                <a:solidFill>
                  <a:schemeClr val="accent3"/>
                </a:solidFill>
                <a:latin typeface="+mn-lt"/>
                <a:cs typeface="+mn-cs"/>
              </a:rPr>
              <a:t>Communication</a:t>
            </a:r>
          </a:p>
        </p:txBody>
      </p:sp>
      <p:sp>
        <p:nvSpPr>
          <p:cNvPr id="5" name="Rectangle 4"/>
          <p:cNvSpPr/>
          <p:nvPr/>
        </p:nvSpPr>
        <p:spPr>
          <a:xfrm>
            <a:off x="2629192" y="5257800"/>
            <a:ext cx="3390608" cy="923330"/>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fontAlgn="auto">
              <a:spcBef>
                <a:spcPts val="0"/>
              </a:spcBef>
              <a:spcAft>
                <a:spcPts val="0"/>
              </a:spcAft>
              <a:defRPr/>
            </a:pPr>
            <a:r>
              <a:rPr lang="en-US" sz="5400" b="1" dirty="0">
                <a:ln/>
                <a:solidFill>
                  <a:schemeClr val="accent3"/>
                </a:solidFill>
                <a:latin typeface="+mn-lt"/>
                <a:cs typeface="+mn-cs"/>
              </a:rPr>
              <a:t>BBA 2106</a:t>
            </a:r>
          </a:p>
        </p:txBody>
      </p:sp>
      <p:sp>
        <p:nvSpPr>
          <p:cNvPr id="6" name="Rectangle 5"/>
          <p:cNvSpPr/>
          <p:nvPr/>
        </p:nvSpPr>
        <p:spPr>
          <a:xfrm>
            <a:off x="1966916" y="3163669"/>
            <a:ext cx="5376345" cy="646331"/>
          </a:xfrm>
          <a:prstGeom prst="rect">
            <a:avLst/>
          </a:prstGeom>
          <a:noFill/>
        </p:spPr>
        <p:txBody>
          <a:bodyPr wrap="none">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fontAlgn="auto">
              <a:spcBef>
                <a:spcPts val="0"/>
              </a:spcBef>
              <a:spcAft>
                <a:spcPts val="0"/>
              </a:spcAft>
              <a:defRPr/>
            </a:pPr>
            <a:r>
              <a:rPr lang="en-US" sz="36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rPr>
              <a:t>Business letter writing</a:t>
            </a:r>
            <a:endParaRPr lang="en-US" sz="36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mn-lt"/>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629400" cy="533400"/>
          </a:xfrm>
          <a:solidFill>
            <a:schemeClr val="accent1">
              <a:lumMod val="20000"/>
              <a:lumOff val="80000"/>
            </a:schemeClr>
          </a:solidFill>
          <a:ln>
            <a:solidFill>
              <a:schemeClr val="accent1"/>
            </a:solidFill>
          </a:ln>
        </p:spPr>
        <p:txBody>
          <a:bodyPr>
            <a:normAutofit fontScale="90000"/>
          </a:bodyPr>
          <a:lstStyle/>
          <a:p>
            <a:r>
              <a:rPr lang="en-US" sz="3000" dirty="0" smtClean="0"/>
              <a:t>Mechanical Structure of a letter</a:t>
            </a:r>
            <a:endParaRPr lang="en-US" sz="3000" dirty="0"/>
          </a:p>
        </p:txBody>
      </p:sp>
      <p:sp>
        <p:nvSpPr>
          <p:cNvPr id="3" name="Content Placeholder 2"/>
          <p:cNvSpPr>
            <a:spLocks noGrp="1"/>
          </p:cNvSpPr>
          <p:nvPr>
            <p:ph idx="1"/>
          </p:nvPr>
        </p:nvSpPr>
        <p:spPr>
          <a:xfrm>
            <a:off x="457200" y="762000"/>
            <a:ext cx="8229600" cy="58674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dirty="0" smtClean="0">
                <a:sym typeface="Wingdings 2"/>
              </a:rPr>
              <a:t> </a:t>
            </a:r>
            <a:r>
              <a:rPr lang="en-US" sz="2600" dirty="0" smtClean="0"/>
              <a:t>Generally a business letter has </a:t>
            </a:r>
            <a:r>
              <a:rPr lang="en-US" sz="2600" b="1" i="1" u="sng" dirty="0" smtClean="0">
                <a:solidFill>
                  <a:srgbClr val="FF0000"/>
                </a:solidFill>
              </a:rPr>
              <a:t>seven</a:t>
            </a:r>
            <a:r>
              <a:rPr lang="en-US" sz="2600" dirty="0" smtClean="0"/>
              <a:t> indispensible parts and several other points that may be used according to the requirement. They are</a:t>
            </a:r>
          </a:p>
          <a:p>
            <a:pPr>
              <a:buNone/>
            </a:pPr>
            <a:r>
              <a:rPr lang="en-US" sz="2600" dirty="0" smtClean="0">
                <a:sym typeface="Wingdings"/>
              </a:rPr>
              <a:t> </a:t>
            </a:r>
            <a:r>
              <a:rPr lang="en-US" sz="2600" b="1" dirty="0" smtClean="0"/>
              <a:t>Indispensible Part</a:t>
            </a:r>
          </a:p>
          <a:p>
            <a:pPr>
              <a:buNone/>
            </a:pPr>
            <a:r>
              <a:rPr lang="en-US" sz="2600" dirty="0" smtClean="0">
                <a:sym typeface="Wingdings 2"/>
              </a:rPr>
              <a:t></a:t>
            </a:r>
            <a:r>
              <a:rPr lang="en-US" sz="2600" dirty="0" smtClean="0">
                <a:effectLst>
                  <a:outerShdw blurRad="38100" dist="38100" dir="2700000" algn="tl">
                    <a:srgbClr val="000000">
                      <a:alpha val="43137"/>
                    </a:srgbClr>
                  </a:outerShdw>
                </a:effectLst>
              </a:rPr>
              <a:t>Heading:</a:t>
            </a:r>
            <a:r>
              <a:rPr lang="en-US" sz="2600" dirty="0" smtClean="0"/>
              <a:t> heading or head address contains information relating to the name of the firm and its address.</a:t>
            </a:r>
          </a:p>
          <a:p>
            <a:pPr>
              <a:buFont typeface="Wingdings 2"/>
              <a:buChar char="A"/>
            </a:pPr>
            <a:r>
              <a:rPr lang="en-US" sz="2600" dirty="0" smtClean="0"/>
              <a:t>Organization’s name</a:t>
            </a:r>
          </a:p>
          <a:p>
            <a:pPr>
              <a:buFont typeface="Wingdings 2"/>
              <a:buChar char="A"/>
            </a:pPr>
            <a:r>
              <a:rPr lang="en-US" sz="2600" dirty="0" smtClean="0"/>
              <a:t>Organization’s address</a:t>
            </a:r>
          </a:p>
          <a:p>
            <a:pPr>
              <a:buFont typeface="Wingdings 2"/>
              <a:buChar char="A"/>
            </a:pPr>
            <a:r>
              <a:rPr lang="en-US" sz="2600" dirty="0" smtClean="0"/>
              <a:t>Nature of the firm’s business</a:t>
            </a:r>
          </a:p>
          <a:p>
            <a:pPr>
              <a:buFont typeface="Wingdings 2"/>
              <a:buChar char="A"/>
            </a:pPr>
            <a:r>
              <a:rPr lang="en-US" sz="2600" dirty="0" smtClean="0"/>
              <a:t>Organization’s logo/ trademark</a:t>
            </a:r>
          </a:p>
          <a:p>
            <a:pPr>
              <a:buFont typeface="Wingdings 2"/>
              <a:buChar char="A"/>
            </a:pPr>
            <a:r>
              <a:rPr lang="en-US" sz="2600" dirty="0" smtClean="0"/>
              <a:t>Telephone/fax/e. mail address</a:t>
            </a:r>
          </a:p>
          <a:p>
            <a:pPr>
              <a:buFont typeface="Wingdings 2"/>
              <a:buChar char="A"/>
            </a:pPr>
            <a:r>
              <a:rPr lang="en-US" sz="2600" dirty="0" smtClean="0"/>
              <a:t>The date</a:t>
            </a:r>
          </a:p>
          <a:p>
            <a:pPr>
              <a:buFont typeface="Wingdings 2"/>
              <a:buChar char="A"/>
            </a:pPr>
            <a:r>
              <a:rPr lang="en-US" sz="2600" dirty="0" smtClean="0"/>
              <a:t>Reference</a:t>
            </a:r>
          </a:p>
          <a:p>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54102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Inside Address</a:t>
            </a:r>
            <a:r>
              <a:rPr lang="en-US" sz="2600" dirty="0" smtClean="0"/>
              <a:t>:</a:t>
            </a:r>
          </a:p>
          <a:p>
            <a:pPr>
              <a:buNone/>
            </a:pPr>
            <a:r>
              <a:rPr lang="en-US" sz="2600" dirty="0" smtClean="0">
                <a:latin typeface="Wide Latin"/>
              </a:rPr>
              <a:t>– </a:t>
            </a:r>
            <a:r>
              <a:rPr lang="en-US" sz="2600" dirty="0" smtClean="0"/>
              <a:t>The inside address contains the name and address of the firm or the individual to whom the letter is written.</a:t>
            </a:r>
          </a:p>
          <a:p>
            <a:pPr>
              <a:buNone/>
            </a:pPr>
            <a:r>
              <a:rPr lang="en-US" sz="2600" dirty="0" smtClean="0">
                <a:latin typeface="Wide Latin"/>
              </a:rPr>
              <a:t>– </a:t>
            </a:r>
            <a:r>
              <a:rPr lang="en-US" sz="2600" dirty="0" smtClean="0"/>
              <a:t>Inside address should be written below the reference line. Outside address on the envelop is to be written in full while the inside address may be written in behalf.</a:t>
            </a:r>
            <a:endParaRPr lang="en-US" sz="2600" dirty="0"/>
          </a:p>
        </p:txBody>
      </p:sp>
      <p:sp>
        <p:nvSpPr>
          <p:cNvPr id="4" name="Title 1"/>
          <p:cNvSpPr txBox="1">
            <a:spLocks/>
          </p:cNvSpPr>
          <p:nvPr/>
        </p:nvSpPr>
        <p:spPr>
          <a:xfrm>
            <a:off x="457200" y="152400"/>
            <a:ext cx="66294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7" name="TextBox 6"/>
          <p:cNvSpPr txBox="1"/>
          <p:nvPr/>
        </p:nvSpPr>
        <p:spPr>
          <a:xfrm>
            <a:off x="3657600" y="3886200"/>
            <a:ext cx="4953000" cy="2585323"/>
          </a:xfrm>
          <a:prstGeom prst="rect">
            <a:avLst/>
          </a:prstGeom>
          <a:solidFill>
            <a:schemeClr val="bg1">
              <a:lumMod val="95000"/>
            </a:schemeClr>
          </a:solidFill>
          <a:ln>
            <a:solidFill>
              <a:schemeClr val="accent2">
                <a:lumMod val="75000"/>
              </a:schemeClr>
            </a:solidFill>
          </a:ln>
        </p:spPr>
        <p:txBody>
          <a:bodyPr wrap="square" rtlCol="0">
            <a:spAutoFit/>
          </a:bodyPr>
          <a:lstStyle/>
          <a:p>
            <a:r>
              <a:rPr lang="en-US" sz="2400" b="1" dirty="0" smtClean="0">
                <a:sym typeface="Wingdings"/>
              </a:rPr>
              <a:t> </a:t>
            </a:r>
            <a:r>
              <a:rPr lang="en-US" sz="2400" b="1" dirty="0" smtClean="0">
                <a:solidFill>
                  <a:srgbClr val="00B050"/>
                </a:solidFill>
                <a:effectLst>
                  <a:outerShdw blurRad="38100" dist="38100" dir="2700000" algn="tl">
                    <a:srgbClr val="000000">
                      <a:alpha val="43137"/>
                    </a:srgbClr>
                  </a:outerShdw>
                </a:effectLst>
              </a:rPr>
              <a:t>Outside Address</a:t>
            </a:r>
          </a:p>
          <a:p>
            <a:r>
              <a:rPr lang="en-US" sz="2400" dirty="0" err="1" smtClean="0"/>
              <a:t>Mahbuba</a:t>
            </a:r>
            <a:r>
              <a:rPr lang="en-US" sz="2400" dirty="0" smtClean="0"/>
              <a:t> Sultana</a:t>
            </a:r>
          </a:p>
          <a:p>
            <a:r>
              <a:rPr lang="en-US" sz="2400" dirty="0" smtClean="0"/>
              <a:t>Northern university Bangladesh</a:t>
            </a:r>
          </a:p>
          <a:p>
            <a:r>
              <a:rPr lang="en-US" sz="2400" dirty="0" smtClean="0"/>
              <a:t>Hs-54; Rd-4/A</a:t>
            </a:r>
          </a:p>
          <a:p>
            <a:r>
              <a:rPr lang="en-US" sz="2400" dirty="0" err="1" smtClean="0"/>
              <a:t>Satmosjod</a:t>
            </a:r>
            <a:r>
              <a:rPr lang="en-US" sz="2400" dirty="0" smtClean="0"/>
              <a:t> Road, Dhanmondi</a:t>
            </a:r>
          </a:p>
          <a:p>
            <a:r>
              <a:rPr lang="en-US" sz="2400" dirty="0" smtClean="0"/>
              <a:t>Dhaka-1209</a:t>
            </a:r>
          </a:p>
          <a:p>
            <a:endParaRPr lang="en-US" dirty="0"/>
          </a:p>
        </p:txBody>
      </p:sp>
      <p:sp>
        <p:nvSpPr>
          <p:cNvPr id="8" name="TextBox 7"/>
          <p:cNvSpPr txBox="1"/>
          <p:nvPr/>
        </p:nvSpPr>
        <p:spPr>
          <a:xfrm>
            <a:off x="533400" y="4267200"/>
            <a:ext cx="2971800" cy="2215991"/>
          </a:xfrm>
          <a:prstGeom prst="rect">
            <a:avLst/>
          </a:prstGeom>
          <a:solidFill>
            <a:schemeClr val="bg1">
              <a:lumMod val="95000"/>
            </a:schemeClr>
          </a:solidFill>
          <a:ln>
            <a:solidFill>
              <a:schemeClr val="accent2">
                <a:lumMod val="75000"/>
              </a:schemeClr>
            </a:solidFill>
          </a:ln>
        </p:spPr>
        <p:txBody>
          <a:bodyPr wrap="square" rtlCol="0">
            <a:spAutoFit/>
          </a:bodyPr>
          <a:lstStyle/>
          <a:p>
            <a:r>
              <a:rPr lang="en-US" sz="2400" b="1" dirty="0" smtClean="0">
                <a:sym typeface="Wingdings"/>
              </a:rPr>
              <a:t> </a:t>
            </a:r>
            <a:r>
              <a:rPr lang="en-US" sz="2400" b="1" dirty="0" smtClean="0">
                <a:solidFill>
                  <a:srgbClr val="00B050"/>
                </a:solidFill>
                <a:effectLst>
                  <a:outerShdw blurRad="38100" dist="38100" dir="2700000" algn="tl">
                    <a:srgbClr val="000000">
                      <a:alpha val="43137"/>
                    </a:srgbClr>
                  </a:outerShdw>
                </a:effectLst>
              </a:rPr>
              <a:t>Inside Address</a:t>
            </a:r>
          </a:p>
          <a:p>
            <a:r>
              <a:rPr lang="en-US" sz="2400" dirty="0" err="1" smtClean="0"/>
              <a:t>Mahbuba</a:t>
            </a:r>
            <a:r>
              <a:rPr lang="en-US" sz="2400" dirty="0" smtClean="0"/>
              <a:t> Sultana</a:t>
            </a:r>
          </a:p>
          <a:p>
            <a:r>
              <a:rPr lang="en-US" sz="2400" dirty="0" smtClean="0"/>
              <a:t>Northern university Bangladesh</a:t>
            </a:r>
          </a:p>
          <a:p>
            <a:r>
              <a:rPr lang="en-US" sz="2400" dirty="0" smtClean="0"/>
              <a:t>Dhanmondi</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Subject and Reference</a:t>
            </a:r>
            <a:r>
              <a:rPr lang="en-US" sz="2600" b="1" dirty="0" smtClean="0"/>
              <a:t>:</a:t>
            </a:r>
          </a:p>
          <a:p>
            <a:pPr>
              <a:buNone/>
            </a:pPr>
            <a:r>
              <a:rPr lang="en-US" sz="2600" dirty="0" smtClean="0">
                <a:latin typeface="Wide Latin"/>
              </a:rPr>
              <a:t>– </a:t>
            </a:r>
            <a:r>
              <a:rPr lang="en-US" sz="2600" dirty="0" smtClean="0"/>
              <a:t>It is a brief one-line mention of the major theme of the letter right at the beginning.</a:t>
            </a:r>
          </a:p>
          <a:p>
            <a:pPr>
              <a:buNone/>
            </a:pPr>
            <a:r>
              <a:rPr lang="en-US" sz="2600" dirty="0" smtClean="0">
                <a:latin typeface="Wide Latin"/>
              </a:rPr>
              <a:t>– </a:t>
            </a:r>
            <a:r>
              <a:rPr lang="en-US" sz="2600" dirty="0" smtClean="0"/>
              <a:t>Reference is the reference number of the letter in reply to which this letter is being written.</a:t>
            </a:r>
          </a:p>
          <a:p>
            <a:pPr>
              <a:buNone/>
            </a:pPr>
            <a:r>
              <a:rPr lang="en-US" sz="2600" dirty="0" smtClean="0">
                <a:sym typeface="Wingdings 2"/>
              </a:rPr>
              <a:t> </a:t>
            </a:r>
            <a:r>
              <a:rPr lang="en-US" sz="2600" dirty="0" smtClean="0">
                <a:effectLst>
                  <a:outerShdw blurRad="38100" dist="38100" dir="2700000" algn="tl">
                    <a:srgbClr val="000000">
                      <a:alpha val="43137"/>
                    </a:srgbClr>
                  </a:outerShdw>
                </a:effectLst>
              </a:rPr>
              <a:t>Salutation:</a:t>
            </a:r>
          </a:p>
          <a:p>
            <a:pPr>
              <a:buNone/>
            </a:pPr>
            <a:r>
              <a:rPr lang="en-US" sz="2600" dirty="0" smtClean="0">
                <a:latin typeface="Wide Latin"/>
              </a:rPr>
              <a:t>– </a:t>
            </a:r>
            <a:r>
              <a:rPr lang="en-US" sz="2600" dirty="0" smtClean="0"/>
              <a:t>It is the complimentary  greeting with which the writer opens the letter. </a:t>
            </a:r>
          </a:p>
          <a:p>
            <a:pPr>
              <a:buNone/>
            </a:pPr>
            <a:r>
              <a:rPr lang="en-US" sz="2600" dirty="0" smtClean="0">
                <a:latin typeface="Wide Latin"/>
              </a:rPr>
              <a:t>– </a:t>
            </a:r>
            <a:r>
              <a:rPr lang="en-US" sz="2600" dirty="0" smtClean="0"/>
              <a:t>It should be written below the inside address and subject. </a:t>
            </a:r>
            <a:endParaRPr lang="en-US" sz="2600" dirty="0"/>
          </a:p>
        </p:txBody>
      </p:sp>
      <p:sp>
        <p:nvSpPr>
          <p:cNvPr id="4" name="Title 1"/>
          <p:cNvSpPr txBox="1">
            <a:spLocks/>
          </p:cNvSpPr>
          <p:nvPr/>
        </p:nvSpPr>
        <p:spPr>
          <a:xfrm>
            <a:off x="457200" y="304800"/>
            <a:ext cx="66294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Body of the Letter:</a:t>
            </a:r>
          </a:p>
          <a:p>
            <a:pPr>
              <a:buNone/>
            </a:pPr>
            <a:r>
              <a:rPr lang="en-US" sz="2600" dirty="0" smtClean="0">
                <a:latin typeface="Wide Latin"/>
              </a:rPr>
              <a:t>– </a:t>
            </a:r>
            <a:r>
              <a:rPr lang="en-US" sz="2600" dirty="0" smtClean="0"/>
              <a:t>It is that essential part of the letter which contains the message or information t be communicated.</a:t>
            </a:r>
          </a:p>
          <a:p>
            <a:pPr>
              <a:buNone/>
            </a:pPr>
            <a:r>
              <a:rPr lang="en-US" sz="2600" dirty="0" smtClean="0">
                <a:latin typeface="Wide Latin"/>
              </a:rPr>
              <a:t>– </a:t>
            </a:r>
            <a:r>
              <a:rPr lang="en-US" sz="2600" dirty="0" smtClean="0"/>
              <a:t>It consists the following:</a:t>
            </a:r>
          </a:p>
          <a:p>
            <a:pPr>
              <a:buFont typeface="Wingdings 2"/>
              <a:buChar char="A"/>
            </a:pPr>
            <a:r>
              <a:rPr lang="en-US" sz="2600" i="1" dirty="0" smtClean="0">
                <a:effectLst>
                  <a:outerShdw blurRad="38100" dist="38100" dir="2700000" algn="tl">
                    <a:srgbClr val="000000">
                      <a:alpha val="43137"/>
                    </a:srgbClr>
                  </a:outerShdw>
                </a:effectLst>
              </a:rPr>
              <a:t>Opening Paragraph</a:t>
            </a:r>
            <a:r>
              <a:rPr lang="en-US" sz="2600" dirty="0" smtClean="0"/>
              <a:t>: Reader’s attention should be drawn.</a:t>
            </a:r>
          </a:p>
          <a:p>
            <a:pPr>
              <a:buFont typeface="Wingdings 2"/>
              <a:buChar char="A"/>
            </a:pPr>
            <a:r>
              <a:rPr lang="en-US" sz="2600" i="1" dirty="0" smtClean="0">
                <a:effectLst>
                  <a:outerShdw blurRad="38100" dist="38100" dir="2700000" algn="tl">
                    <a:srgbClr val="000000">
                      <a:alpha val="43137"/>
                    </a:srgbClr>
                  </a:outerShdw>
                </a:effectLst>
              </a:rPr>
              <a:t>Main Paragraph</a:t>
            </a:r>
            <a:r>
              <a:rPr lang="en-US" sz="2600" dirty="0" smtClean="0">
                <a:effectLst>
                  <a:outerShdw blurRad="38100" dist="38100" dir="2700000" algn="tl">
                    <a:srgbClr val="000000">
                      <a:alpha val="43137"/>
                    </a:srgbClr>
                  </a:outerShdw>
                </a:effectLst>
              </a:rPr>
              <a:t>:</a:t>
            </a:r>
            <a:r>
              <a:rPr lang="en-US" sz="2600" dirty="0" smtClean="0"/>
              <a:t> Contains subject matter.</a:t>
            </a:r>
          </a:p>
          <a:p>
            <a:pPr>
              <a:buFont typeface="Wingdings 2"/>
              <a:buChar char="A"/>
            </a:pPr>
            <a:r>
              <a:rPr lang="en-US" sz="2600" i="1" dirty="0" smtClean="0">
                <a:effectLst>
                  <a:outerShdw blurRad="38100" dist="38100" dir="2700000" algn="tl">
                    <a:srgbClr val="000000">
                      <a:alpha val="43137"/>
                    </a:srgbClr>
                  </a:outerShdw>
                </a:effectLst>
              </a:rPr>
              <a:t>Closing Paragraph</a:t>
            </a:r>
            <a:r>
              <a:rPr lang="en-US" sz="2600" i="1" dirty="0" smtClean="0"/>
              <a:t>: </a:t>
            </a:r>
            <a:r>
              <a:rPr lang="en-US" sz="2600" dirty="0" smtClean="0"/>
              <a:t>Motivates the action that the writer wants from his reader.</a:t>
            </a:r>
          </a:p>
        </p:txBody>
      </p:sp>
      <p:sp>
        <p:nvSpPr>
          <p:cNvPr id="4" name="Title 1"/>
          <p:cNvSpPr txBox="1">
            <a:spLocks/>
          </p:cNvSpPr>
          <p:nvPr/>
        </p:nvSpPr>
        <p:spPr>
          <a:xfrm>
            <a:off x="457200" y="304800"/>
            <a:ext cx="66294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Complimentary Close:</a:t>
            </a:r>
          </a:p>
          <a:p>
            <a:pPr>
              <a:buNone/>
            </a:pPr>
            <a:r>
              <a:rPr lang="en-US" sz="2600" dirty="0" smtClean="0">
                <a:latin typeface="Wide Latin"/>
              </a:rPr>
              <a:t>– </a:t>
            </a:r>
            <a:r>
              <a:rPr lang="en-US" sz="2600" dirty="0" smtClean="0"/>
              <a:t>A Courteous way of ending a letter.</a:t>
            </a:r>
          </a:p>
          <a:p>
            <a:pPr>
              <a:buNone/>
            </a:pPr>
            <a:r>
              <a:rPr lang="en-US" sz="2600" dirty="0" smtClean="0">
                <a:latin typeface="Wide Latin"/>
              </a:rPr>
              <a:t>– </a:t>
            </a:r>
            <a:r>
              <a:rPr lang="en-US" sz="2600" dirty="0" smtClean="0"/>
              <a:t>As the salutation is “Good Morning” or “Hello”; the complimentary close is “Good Bye”.</a:t>
            </a:r>
          </a:p>
          <a:p>
            <a:pPr>
              <a:buNone/>
            </a:pPr>
            <a:r>
              <a:rPr lang="en-US" sz="2600" b="1" dirty="0" smtClean="0">
                <a:sym typeface="Wingdings 2"/>
              </a:rPr>
              <a:t> </a:t>
            </a:r>
            <a:r>
              <a:rPr lang="en-US" sz="2600" dirty="0" smtClean="0">
                <a:effectLst>
                  <a:outerShdw blurRad="38100" dist="38100" dir="2700000" algn="tl">
                    <a:srgbClr val="000000">
                      <a:alpha val="43137"/>
                    </a:srgbClr>
                  </a:outerShdw>
                </a:effectLst>
              </a:rPr>
              <a:t>Signature: </a:t>
            </a:r>
          </a:p>
          <a:p>
            <a:pPr>
              <a:buNone/>
            </a:pPr>
            <a:r>
              <a:rPr lang="en-US" sz="2600" dirty="0" smtClean="0">
                <a:latin typeface="Wide Latin"/>
              </a:rPr>
              <a:t>– </a:t>
            </a:r>
            <a:r>
              <a:rPr lang="en-US" sz="2600" dirty="0" smtClean="0"/>
              <a:t>Writer’s consent to the subject matter of the letter.</a:t>
            </a:r>
          </a:p>
          <a:p>
            <a:pPr>
              <a:buNone/>
            </a:pPr>
            <a:r>
              <a:rPr lang="en-US" sz="2600" dirty="0" smtClean="0">
                <a:latin typeface="Wide Latin"/>
              </a:rPr>
              <a:t>– </a:t>
            </a:r>
            <a:r>
              <a:rPr lang="en-US" sz="2600" dirty="0" smtClean="0"/>
              <a:t>It is put just below the complimentary close.</a:t>
            </a:r>
          </a:p>
          <a:p>
            <a:pPr>
              <a:buNone/>
            </a:pPr>
            <a:r>
              <a:rPr lang="en-US" sz="2600" dirty="0" smtClean="0">
                <a:sym typeface="Wingdings 2"/>
              </a:rPr>
              <a:t> </a:t>
            </a:r>
            <a:r>
              <a:rPr lang="en-US" sz="2600" dirty="0" smtClean="0">
                <a:effectLst>
                  <a:outerShdw blurRad="38100" dist="38100" dir="2700000" algn="tl">
                    <a:srgbClr val="000000">
                      <a:alpha val="43137"/>
                    </a:srgbClr>
                  </a:outerShdw>
                </a:effectLst>
              </a:rPr>
              <a:t>Reference Initials:</a:t>
            </a:r>
          </a:p>
          <a:p>
            <a:pPr>
              <a:buNone/>
            </a:pPr>
            <a:r>
              <a:rPr lang="en-US" sz="2600" dirty="0" smtClean="0">
                <a:latin typeface="Wide Latin"/>
              </a:rPr>
              <a:t>– </a:t>
            </a:r>
            <a:r>
              <a:rPr lang="en-US" sz="2600" dirty="0" smtClean="0"/>
              <a:t>It has become customary to put the initial of the person who types the letter towards the end. </a:t>
            </a:r>
          </a:p>
        </p:txBody>
      </p:sp>
      <p:sp>
        <p:nvSpPr>
          <p:cNvPr id="4" name="Title 1"/>
          <p:cNvSpPr txBox="1">
            <a:spLocks/>
          </p:cNvSpPr>
          <p:nvPr/>
        </p:nvSpPr>
        <p:spPr>
          <a:xfrm>
            <a:off x="457200" y="304800"/>
            <a:ext cx="66294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676400"/>
            <a:ext cx="4724400" cy="4571999"/>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600" dirty="0" smtClean="0">
                <a:sym typeface="Wingdings"/>
              </a:rPr>
              <a:t> </a:t>
            </a:r>
            <a:r>
              <a:rPr lang="en-US" sz="2600" b="1" dirty="0" smtClean="0"/>
              <a:t>Additional Parts    </a:t>
            </a:r>
          </a:p>
          <a:p>
            <a:pPr algn="just">
              <a:buNone/>
            </a:pPr>
            <a:r>
              <a:rPr lang="en-US" sz="2600" dirty="0" smtClean="0">
                <a:sym typeface="Wingdings 2"/>
              </a:rPr>
              <a:t> </a:t>
            </a:r>
            <a:r>
              <a:rPr lang="en-US" sz="2600" dirty="0" smtClean="0">
                <a:effectLst>
                  <a:outerShdw blurRad="38100" dist="38100" dir="2700000" algn="tl">
                    <a:srgbClr val="000000">
                      <a:alpha val="43137"/>
                    </a:srgbClr>
                  </a:outerShdw>
                </a:effectLst>
              </a:rPr>
              <a:t>Enclosures:</a:t>
            </a:r>
          </a:p>
          <a:p>
            <a:pPr algn="just">
              <a:buNone/>
            </a:pPr>
            <a:r>
              <a:rPr lang="en-US" sz="2600" dirty="0" smtClean="0">
                <a:latin typeface="Wide Latin"/>
              </a:rPr>
              <a:t>– </a:t>
            </a:r>
            <a:r>
              <a:rPr lang="en-US" sz="2600" dirty="0" smtClean="0"/>
              <a:t>If the letter carries some other papers/documents such as price list, catalogue, brochure, invoice, receipt cash memo, etc mention should be made of these enclosed things in the letter after the signature as shown below:</a:t>
            </a:r>
          </a:p>
        </p:txBody>
      </p:sp>
      <p:sp>
        <p:nvSpPr>
          <p:cNvPr id="4" name="Title 1"/>
          <p:cNvSpPr txBox="1">
            <a:spLocks/>
          </p:cNvSpPr>
          <p:nvPr/>
        </p:nvSpPr>
        <p:spPr>
          <a:xfrm>
            <a:off x="381000" y="381000"/>
            <a:ext cx="50292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3074" name="Picture 2" descr="F:\Mahbuba\Moni\Characters\207.jpeg"/>
          <p:cNvPicPr>
            <a:picLocks noChangeAspect="1" noChangeArrowheads="1"/>
          </p:cNvPicPr>
          <p:nvPr/>
        </p:nvPicPr>
        <p:blipFill>
          <a:blip r:embed="rId2"/>
          <a:srcRect/>
          <a:stretch>
            <a:fillRect/>
          </a:stretch>
        </p:blipFill>
        <p:spPr bwMode="auto">
          <a:xfrm>
            <a:off x="5181600" y="2057400"/>
            <a:ext cx="3836487" cy="2667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3"/>
              </a:rPr>
              <a:t> </a:t>
            </a:r>
            <a:r>
              <a:rPr lang="en-US" sz="2600" dirty="0" smtClean="0">
                <a:effectLst>
                  <a:outerShdw blurRad="38100" dist="38100" dir="2700000" algn="tl">
                    <a:srgbClr val="000000">
                      <a:alpha val="43137"/>
                    </a:srgbClr>
                  </a:outerShdw>
                </a:effectLst>
              </a:rPr>
              <a:t>Enclosures:</a:t>
            </a:r>
            <a:r>
              <a:rPr lang="en-US" sz="2600" dirty="0" smtClean="0"/>
              <a:t> Three</a:t>
            </a:r>
          </a:p>
          <a:p>
            <a:pPr>
              <a:buNone/>
            </a:pPr>
            <a:r>
              <a:rPr lang="en-US" sz="2600" dirty="0" smtClean="0"/>
              <a:t>     or</a:t>
            </a:r>
          </a:p>
          <a:p>
            <a:pPr>
              <a:buNone/>
            </a:pPr>
            <a:r>
              <a:rPr lang="en-US" sz="2600" dirty="0" smtClean="0"/>
              <a:t>     </a:t>
            </a:r>
            <a:r>
              <a:rPr lang="en-US" sz="2600" dirty="0" smtClean="0">
                <a:effectLst>
                  <a:outerShdw blurRad="38100" dist="38100" dir="2700000" algn="tl">
                    <a:srgbClr val="000000">
                      <a:alpha val="43137"/>
                    </a:srgbClr>
                  </a:outerShdw>
                </a:effectLst>
              </a:rPr>
              <a:t>Enclosures: </a:t>
            </a:r>
          </a:p>
          <a:p>
            <a:pPr>
              <a:buNone/>
            </a:pPr>
            <a:r>
              <a:rPr lang="en-US" sz="2600" dirty="0" smtClean="0"/>
              <a:t>1. a pay order for taka 300.00 from  Prime Bank</a:t>
            </a:r>
          </a:p>
          <a:p>
            <a:pPr>
              <a:buNone/>
            </a:pPr>
            <a:r>
              <a:rPr lang="en-US" sz="2600" dirty="0" smtClean="0"/>
              <a:t>2. Photocopies of certificates S.S.C. to MBA</a:t>
            </a:r>
          </a:p>
          <a:p>
            <a:pPr>
              <a:buNone/>
            </a:pPr>
            <a:r>
              <a:rPr lang="en-US" sz="2600" dirty="0" smtClean="0"/>
              <a:t>3. Passport size Photographs-3 (three).</a:t>
            </a:r>
          </a:p>
          <a:p>
            <a:pPr>
              <a:buNone/>
            </a:pPr>
            <a:r>
              <a:rPr lang="en-US" sz="2600" dirty="0" smtClean="0">
                <a:latin typeface="Wide Latin"/>
              </a:rPr>
              <a:t>– </a:t>
            </a:r>
            <a:r>
              <a:rPr lang="en-US" sz="2600" dirty="0" smtClean="0"/>
              <a:t>It will helps the receiver to ensure whether the enclosures are attached or not. </a:t>
            </a:r>
          </a:p>
          <a:p>
            <a:endParaRPr lang="en-US" sz="2600" dirty="0" smtClean="0"/>
          </a:p>
          <a:p>
            <a:endParaRPr lang="en-US" sz="2600" dirty="0"/>
          </a:p>
        </p:txBody>
      </p:sp>
      <p:sp>
        <p:nvSpPr>
          <p:cNvPr id="4" name="Title 1"/>
          <p:cNvSpPr txBox="1">
            <a:spLocks/>
          </p:cNvSpPr>
          <p:nvPr/>
        </p:nvSpPr>
        <p:spPr>
          <a:xfrm>
            <a:off x="381000" y="381000"/>
            <a:ext cx="50292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effectLst>
                  <a:outerShdw blurRad="38100" dist="38100" dir="2700000" algn="tl">
                    <a:srgbClr val="000000">
                      <a:alpha val="43137"/>
                    </a:srgbClr>
                  </a:outerShdw>
                </a:effectLst>
              </a:rPr>
              <a:t>Copy Distribution:</a:t>
            </a:r>
          </a:p>
          <a:p>
            <a:pPr>
              <a:buFont typeface="Wingdings 2"/>
              <a:buChar char="A"/>
            </a:pPr>
            <a:r>
              <a:rPr lang="en-US" sz="2600" dirty="0" smtClean="0"/>
              <a:t>Sometimes copies of a letter are to be sent to some people other than the addressee.</a:t>
            </a:r>
          </a:p>
          <a:p>
            <a:pPr>
              <a:buFont typeface="Wingdings 2"/>
              <a:buChar char="A"/>
            </a:pPr>
            <a:r>
              <a:rPr lang="en-US" sz="2600" dirty="0" smtClean="0"/>
              <a:t>In this cases the names of other recipients should be typed just below the reference initials.</a:t>
            </a:r>
          </a:p>
          <a:p>
            <a:pPr>
              <a:buNone/>
            </a:pPr>
            <a:r>
              <a:rPr lang="en-US" sz="2600" dirty="0" smtClean="0"/>
              <a:t>     c. Mr. </a:t>
            </a:r>
            <a:r>
              <a:rPr lang="en-US" sz="2600" dirty="0" err="1" smtClean="0"/>
              <a:t>Mahbubur</a:t>
            </a:r>
            <a:r>
              <a:rPr lang="en-US" sz="2600" dirty="0" smtClean="0"/>
              <a:t> </a:t>
            </a:r>
            <a:r>
              <a:rPr lang="en-US" sz="2600" dirty="0" err="1" smtClean="0"/>
              <a:t>Rahman</a:t>
            </a:r>
            <a:endParaRPr lang="en-US" sz="2600" dirty="0" smtClean="0"/>
          </a:p>
          <a:p>
            <a:pPr>
              <a:buNone/>
            </a:pPr>
            <a:r>
              <a:rPr lang="en-US" sz="2600" dirty="0" smtClean="0"/>
              <a:t>     cc/ copies to Mr. </a:t>
            </a:r>
            <a:r>
              <a:rPr lang="en-US" sz="2600" dirty="0" err="1" smtClean="0"/>
              <a:t>Mahbubur</a:t>
            </a:r>
            <a:r>
              <a:rPr lang="en-US" sz="2600" dirty="0" smtClean="0"/>
              <a:t> </a:t>
            </a:r>
            <a:r>
              <a:rPr lang="en-US" sz="2600" dirty="0" err="1" smtClean="0"/>
              <a:t>Rahman</a:t>
            </a:r>
            <a:r>
              <a:rPr lang="en-US" sz="2600" dirty="0" smtClean="0"/>
              <a:t> </a:t>
            </a:r>
          </a:p>
          <a:p>
            <a:pPr>
              <a:buNone/>
            </a:pPr>
            <a:r>
              <a:rPr lang="en-US" sz="2600" dirty="0" smtClean="0"/>
              <a:t>                             Mr. </a:t>
            </a:r>
            <a:r>
              <a:rPr lang="en-US" sz="2600" dirty="0" err="1" smtClean="0"/>
              <a:t>Jakir</a:t>
            </a:r>
            <a:r>
              <a:rPr lang="en-US" sz="2600" dirty="0" smtClean="0"/>
              <a:t> </a:t>
            </a:r>
            <a:r>
              <a:rPr lang="en-US" sz="2600" dirty="0" err="1" smtClean="0"/>
              <a:t>Hossain</a:t>
            </a:r>
            <a:endParaRPr lang="en-US" sz="2600" dirty="0" smtClean="0"/>
          </a:p>
        </p:txBody>
      </p:sp>
      <p:sp>
        <p:nvSpPr>
          <p:cNvPr id="4" name="Title 1"/>
          <p:cNvSpPr txBox="1">
            <a:spLocks/>
          </p:cNvSpPr>
          <p:nvPr/>
        </p:nvSpPr>
        <p:spPr>
          <a:xfrm>
            <a:off x="457200" y="304800"/>
            <a:ext cx="50292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3657600" cy="4525963"/>
          </a:xfrm>
        </p:spPr>
        <p:style>
          <a:lnRef idx="2">
            <a:schemeClr val="accent1"/>
          </a:lnRef>
          <a:fillRef idx="1">
            <a:schemeClr val="lt1"/>
          </a:fillRef>
          <a:effectRef idx="0">
            <a:schemeClr val="accent1"/>
          </a:effectRef>
          <a:fontRef idx="minor">
            <a:schemeClr val="dk1"/>
          </a:fontRef>
        </p:style>
        <p:txBody>
          <a:bodyPr>
            <a:normAutofit/>
          </a:bodyPr>
          <a:lstStyle/>
          <a:p>
            <a:pPr algn="just">
              <a:buNone/>
            </a:pPr>
            <a:r>
              <a:rPr lang="en-US" sz="2600" dirty="0" smtClean="0">
                <a:sym typeface="Wingdings 2"/>
              </a:rPr>
              <a:t> </a:t>
            </a:r>
            <a:r>
              <a:rPr lang="en-US" sz="2600" dirty="0" smtClean="0">
                <a:effectLst>
                  <a:outerShdw blurRad="38100" dist="38100" dir="2700000" algn="tl">
                    <a:srgbClr val="000000">
                      <a:alpha val="43137"/>
                    </a:srgbClr>
                  </a:outerShdw>
                </a:effectLst>
              </a:rPr>
              <a:t>Postscript:</a:t>
            </a:r>
            <a:r>
              <a:rPr lang="en-US" sz="2600" dirty="0" smtClean="0"/>
              <a:t> something is important written after the letter is closed.</a:t>
            </a:r>
          </a:p>
          <a:p>
            <a:pPr algn="just">
              <a:buNone/>
            </a:pPr>
            <a:r>
              <a:rPr lang="en-US" sz="2600" dirty="0" smtClean="0">
                <a:latin typeface="Wide Latin"/>
              </a:rPr>
              <a:t>– </a:t>
            </a:r>
            <a:r>
              <a:rPr lang="en-US" sz="2600" dirty="0" smtClean="0"/>
              <a:t>Postscript should be avoided because it indicates the writer’s negligence or forgetfulness.</a:t>
            </a:r>
            <a:endParaRPr lang="en-US" sz="2600" dirty="0"/>
          </a:p>
        </p:txBody>
      </p:sp>
      <p:sp>
        <p:nvSpPr>
          <p:cNvPr id="4" name="Title 1"/>
          <p:cNvSpPr txBox="1">
            <a:spLocks/>
          </p:cNvSpPr>
          <p:nvPr/>
        </p:nvSpPr>
        <p:spPr>
          <a:xfrm>
            <a:off x="457200" y="304800"/>
            <a:ext cx="5029200" cy="762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Mechanical Structure of a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2050" name="Picture 2" descr="F:\Mahbuba\Moni\Characters\90.jpeg"/>
          <p:cNvPicPr>
            <a:picLocks noChangeAspect="1" noChangeArrowheads="1"/>
          </p:cNvPicPr>
          <p:nvPr/>
        </p:nvPicPr>
        <p:blipFill>
          <a:blip r:embed="rId2"/>
          <a:srcRect/>
          <a:stretch>
            <a:fillRect/>
          </a:stretch>
        </p:blipFill>
        <p:spPr bwMode="auto">
          <a:xfrm>
            <a:off x="5410200" y="2209800"/>
            <a:ext cx="2971800" cy="2971800"/>
          </a:xfrm>
          <a:prstGeom prst="roundRect">
            <a:avLst>
              <a:gd name="adj" fmla="val 8594"/>
            </a:avLst>
          </a:prstGeom>
          <a:solidFill>
            <a:srgbClr val="FFFFFF">
              <a:shade val="85000"/>
            </a:srgbClr>
          </a:solidFill>
          <a:ln>
            <a:solidFill>
              <a:schemeClr val="accent1"/>
            </a:solidFill>
          </a:ln>
          <a:effectLst>
            <a:reflection blurRad="12700" stA="38000" endPos="28000" dist="5000" dir="5400000" sy="-100000" algn="bl" rotWithShape="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364163"/>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dirty="0" smtClean="0">
                <a:sym typeface="Wingdings 2"/>
              </a:rPr>
              <a:t> </a:t>
            </a:r>
            <a:r>
              <a:rPr lang="en-US" sz="2600" b="1" dirty="0" smtClean="0"/>
              <a:t>What are Enquiry letter?</a:t>
            </a:r>
          </a:p>
          <a:p>
            <a:pPr>
              <a:buFont typeface="Wingdings"/>
              <a:buChar char="§"/>
            </a:pPr>
            <a:r>
              <a:rPr lang="en-US" sz="2600" dirty="0" smtClean="0"/>
              <a:t>The most common letters in business are Enquiries.</a:t>
            </a:r>
          </a:p>
          <a:p>
            <a:pPr>
              <a:buFont typeface="Wingdings"/>
              <a:buChar char="§"/>
            </a:pPr>
            <a:r>
              <a:rPr lang="en-US" sz="2600" i="1" dirty="0" smtClean="0">
                <a:solidFill>
                  <a:srgbClr val="00B050"/>
                </a:solidFill>
                <a:effectLst>
                  <a:outerShdw blurRad="38100" dist="38100" dir="2700000" algn="tl">
                    <a:srgbClr val="000000">
                      <a:alpha val="43137"/>
                    </a:srgbClr>
                  </a:outerShdw>
                </a:effectLst>
              </a:rPr>
              <a:t>“A letter of enquiry is a formal letter written to ask for more information concerning a product, job, place of study, service, or competition.”</a:t>
            </a:r>
          </a:p>
          <a:p>
            <a:pPr>
              <a:buFont typeface="Wingdings"/>
              <a:buChar char="§"/>
            </a:pPr>
            <a:r>
              <a:rPr lang="en-US" sz="2600" dirty="0" smtClean="0"/>
              <a:t>It is often written in response to an advertisement and is short and to-the-point.</a:t>
            </a:r>
          </a:p>
          <a:p>
            <a:pPr>
              <a:buFont typeface="Wingdings"/>
              <a:buChar char="§"/>
            </a:pPr>
            <a:r>
              <a:rPr lang="en-US" sz="2600" dirty="0" smtClean="0"/>
              <a:t>Buyers need information from manufacturers &amp; sellers, about products, terms of sales and various services.</a:t>
            </a:r>
          </a:p>
          <a:p>
            <a:pPr>
              <a:buFont typeface="Wingdings"/>
              <a:buChar char="§"/>
            </a:pPr>
            <a:r>
              <a:rPr lang="en-US" sz="2600" dirty="0" smtClean="0"/>
              <a:t>The letter is short; formalities are not required and the writer can get straight to the objective of asking for information</a:t>
            </a:r>
          </a:p>
          <a:p>
            <a:endParaRPr lang="en-US" sz="2000" dirty="0"/>
          </a:p>
        </p:txBody>
      </p:sp>
      <p:sp>
        <p:nvSpPr>
          <p:cNvPr id="4" name="Title 1"/>
          <p:cNvSpPr txBox="1">
            <a:spLocks/>
          </p:cNvSpPr>
          <p:nvPr/>
        </p:nvSpPr>
        <p:spPr>
          <a:xfrm>
            <a:off x="457200" y="152400"/>
            <a:ext cx="55626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Enquiry Letters And Their Replies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6019800" cy="868362"/>
          </a:xfrm>
          <a:solidFill>
            <a:schemeClr val="accent1">
              <a:lumMod val="20000"/>
              <a:lumOff val="80000"/>
            </a:schemeClr>
          </a:solidFill>
          <a:ln>
            <a:solidFill>
              <a:schemeClr val="accent1"/>
            </a:solidFill>
          </a:ln>
        </p:spPr>
        <p:txBody>
          <a:bodyPr>
            <a:normAutofit/>
          </a:bodyPr>
          <a:lstStyle/>
          <a:p>
            <a:r>
              <a:rPr lang="en-US" sz="3000" dirty="0" smtClean="0"/>
              <a:t>Contents of Enquiry Letter</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²"/>
            </a:pPr>
            <a:r>
              <a:rPr lang="en-US" sz="2600" dirty="0" smtClean="0"/>
              <a:t>Generally an enquiry letter asks for two types of information such as</a:t>
            </a:r>
          </a:p>
          <a:p>
            <a:pPr>
              <a:buFont typeface="Wingdings 2"/>
              <a:buChar char="²"/>
            </a:pPr>
            <a:r>
              <a:rPr lang="en-US" sz="2600" dirty="0" smtClean="0"/>
              <a:t>Information related to price, quality and availability of product.</a:t>
            </a:r>
          </a:p>
          <a:p>
            <a:pPr>
              <a:buFont typeface="Wingdings 2"/>
              <a:buChar char="²"/>
            </a:pPr>
            <a:r>
              <a:rPr lang="en-US" sz="2600" dirty="0" smtClean="0"/>
              <a:t>Information related to business policy such as terms of credit mode of delivery.</a:t>
            </a:r>
          </a:p>
          <a:p>
            <a:pPr>
              <a:buFont typeface="Wingdings 2"/>
              <a:buChar char="²"/>
            </a:pPr>
            <a:r>
              <a:rPr lang="en-US" sz="2600" dirty="0" smtClean="0"/>
              <a:t>Keeping the above two things into consideration an enquiry should highlight the following:-</a:t>
            </a:r>
          </a:p>
          <a:p>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724400" cy="4525963"/>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A"/>
            </a:pPr>
            <a:r>
              <a:rPr lang="en-US" sz="2600" dirty="0" smtClean="0"/>
              <a:t>Name of the product</a:t>
            </a:r>
          </a:p>
          <a:p>
            <a:pPr>
              <a:buFont typeface="Wingdings 2"/>
              <a:buChar char="A"/>
            </a:pPr>
            <a:r>
              <a:rPr lang="en-US" sz="2600" dirty="0" smtClean="0"/>
              <a:t>Description of product</a:t>
            </a:r>
          </a:p>
          <a:p>
            <a:pPr>
              <a:buFont typeface="Wingdings 2"/>
              <a:buChar char="A"/>
            </a:pPr>
            <a:r>
              <a:rPr lang="en-US" sz="2600" dirty="0" smtClean="0"/>
              <a:t>Sample</a:t>
            </a:r>
          </a:p>
          <a:p>
            <a:pPr>
              <a:buFont typeface="Wingdings 2"/>
              <a:buChar char="A"/>
            </a:pPr>
            <a:r>
              <a:rPr lang="en-US" sz="2600" dirty="0" smtClean="0"/>
              <a:t>Latest price list</a:t>
            </a:r>
          </a:p>
          <a:p>
            <a:pPr>
              <a:buFont typeface="Wingdings 2"/>
              <a:buChar char="A"/>
            </a:pPr>
            <a:r>
              <a:rPr lang="en-US" sz="2600" dirty="0" smtClean="0"/>
              <a:t>System of supply or delivery</a:t>
            </a:r>
          </a:p>
          <a:p>
            <a:pPr>
              <a:buFont typeface="Wingdings 2"/>
              <a:buChar char="A"/>
            </a:pPr>
            <a:r>
              <a:rPr lang="en-US" sz="2600" dirty="0" smtClean="0"/>
              <a:t>Mode of payment and other terms of sale</a:t>
            </a:r>
            <a:endParaRPr lang="en-US" sz="2600" dirty="0"/>
          </a:p>
        </p:txBody>
      </p:sp>
      <p:sp>
        <p:nvSpPr>
          <p:cNvPr id="4" name="Title 1"/>
          <p:cNvSpPr txBox="1">
            <a:spLocks/>
          </p:cNvSpPr>
          <p:nvPr/>
        </p:nvSpPr>
        <p:spPr>
          <a:xfrm>
            <a:off x="457200" y="381000"/>
            <a:ext cx="51054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Contents of Enquiry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p:cNvPicPr>
            <a:picLocks noChangeAspect="1" noChangeArrowheads="1"/>
          </p:cNvPicPr>
          <p:nvPr/>
        </p:nvPicPr>
        <p:blipFill>
          <a:blip r:embed="rId2"/>
          <a:srcRect/>
          <a:stretch>
            <a:fillRect/>
          </a:stretch>
        </p:blipFill>
        <p:spPr bwMode="auto">
          <a:xfrm>
            <a:off x="5424085" y="2438400"/>
            <a:ext cx="3110315" cy="31242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6" name="TextBox 5"/>
          <p:cNvSpPr txBox="1"/>
          <p:nvPr/>
        </p:nvSpPr>
        <p:spPr>
          <a:xfrm rot="21359179">
            <a:off x="5609622" y="3023800"/>
            <a:ext cx="1123834" cy="1938992"/>
          </a:xfrm>
          <a:prstGeom prst="rect">
            <a:avLst/>
          </a:prstGeom>
          <a:noFill/>
        </p:spPr>
        <p:txBody>
          <a:bodyPr wrap="none" rtlCol="0">
            <a:spAutoFit/>
          </a:bodyPr>
          <a:lstStyle/>
          <a:p>
            <a:r>
              <a:rPr lang="en-US" sz="2000" dirty="0" smtClean="0"/>
              <a:t>Enquiry</a:t>
            </a:r>
          </a:p>
          <a:p>
            <a:r>
              <a:rPr lang="en-US" sz="2000" dirty="0" smtClean="0"/>
              <a:t>Letter</a:t>
            </a:r>
          </a:p>
          <a:p>
            <a:r>
              <a:rPr lang="en-US" sz="2000" dirty="0" smtClean="0"/>
              <a:t>…………..</a:t>
            </a:r>
          </a:p>
          <a:p>
            <a:r>
              <a:rPr lang="en-US" sz="2000" dirty="0" smtClean="0"/>
              <a:t>…………...</a:t>
            </a:r>
          </a:p>
          <a:p>
            <a:r>
              <a:rPr lang="en-US" sz="2000" dirty="0" smtClean="0"/>
              <a:t>Your </a:t>
            </a:r>
          </a:p>
          <a:p>
            <a:r>
              <a:rPr lang="en-US" sz="2000" dirty="0" smtClean="0"/>
              <a:t>Sincerely</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0"/>
            <a:ext cx="9144000" cy="68141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828799" y="2514600"/>
            <a:ext cx="4191000" cy="381000"/>
          </a:xfrm>
          <a:solidFill>
            <a:schemeClr val="accent1">
              <a:lumMod val="20000"/>
              <a:lumOff val="80000"/>
            </a:schemeClr>
          </a:solidFill>
          <a:ln>
            <a:solidFill>
              <a:schemeClr val="accent1"/>
            </a:solidFill>
          </a:ln>
        </p:spPr>
        <p:txBody>
          <a:bodyPr>
            <a:normAutofit fontScale="90000"/>
          </a:bodyPr>
          <a:lstStyle/>
          <a:p>
            <a:r>
              <a:rPr lang="en-US" sz="3000" dirty="0" smtClean="0"/>
              <a:t>Examples of Enquiry Letter</a:t>
            </a:r>
            <a:endParaRPr lang="en-US" sz="3000" dirty="0"/>
          </a:p>
        </p:txBody>
      </p:sp>
      <p:sp>
        <p:nvSpPr>
          <p:cNvPr id="3" name="Content Placeholder 2"/>
          <p:cNvSpPr>
            <a:spLocks noGrp="1"/>
          </p:cNvSpPr>
          <p:nvPr>
            <p:ph idx="1"/>
          </p:nvPr>
        </p:nvSpPr>
        <p:spPr>
          <a:xfrm>
            <a:off x="457200" y="0"/>
            <a:ext cx="8686800" cy="6858000"/>
          </a:xfrm>
        </p:spPr>
        <p:style>
          <a:lnRef idx="2">
            <a:schemeClr val="accent1"/>
          </a:lnRef>
          <a:fillRef idx="1">
            <a:schemeClr val="lt1"/>
          </a:fillRef>
          <a:effectRef idx="0">
            <a:schemeClr val="accent1"/>
          </a:effectRef>
          <a:fontRef idx="minor">
            <a:schemeClr val="dk1"/>
          </a:fontRef>
        </p:style>
        <p:txBody>
          <a:bodyPr>
            <a:noAutofit/>
          </a:bodyPr>
          <a:lstStyle/>
          <a:p>
            <a:pPr algn="ctr">
              <a:buNone/>
            </a:pPr>
            <a:r>
              <a:rPr lang="en-US" sz="1400" dirty="0" smtClean="0"/>
              <a:t>  Northern University Bangladesh</a:t>
            </a:r>
          </a:p>
          <a:p>
            <a:pPr algn="ctr">
              <a:buNone/>
            </a:pPr>
            <a:r>
              <a:rPr lang="en-US" sz="1400" dirty="0" smtClean="0"/>
              <a:t>Hs-54, Rd no-4/A, Dhanmondi</a:t>
            </a:r>
          </a:p>
          <a:p>
            <a:pPr>
              <a:buNone/>
            </a:pPr>
            <a:r>
              <a:rPr lang="en-US" sz="1400" dirty="0" smtClean="0"/>
              <a:t>     </a:t>
            </a:r>
          </a:p>
          <a:p>
            <a:pPr>
              <a:buNone/>
            </a:pPr>
            <a:endParaRPr lang="en-US" sz="1400" dirty="0" smtClean="0"/>
          </a:p>
          <a:p>
            <a:pPr>
              <a:buNone/>
            </a:pPr>
            <a:r>
              <a:rPr lang="en-US" sz="1400" dirty="0" smtClean="0"/>
              <a:t>       9 July 2012</a:t>
            </a:r>
          </a:p>
          <a:p>
            <a:pPr>
              <a:buNone/>
            </a:pPr>
            <a:endParaRPr lang="en-US" sz="1400" dirty="0" smtClean="0"/>
          </a:p>
          <a:p>
            <a:pPr>
              <a:buNone/>
            </a:pPr>
            <a:r>
              <a:rPr lang="en-US" sz="1400" dirty="0" smtClean="0"/>
              <a:t>       Manager                                                                                                                                                Ref: O/F …………………</a:t>
            </a:r>
          </a:p>
          <a:p>
            <a:pPr>
              <a:buNone/>
            </a:pPr>
            <a:r>
              <a:rPr lang="en-US" sz="1400" dirty="0" smtClean="0"/>
              <a:t>       Sales &amp; CRM</a:t>
            </a:r>
          </a:p>
          <a:p>
            <a:pPr>
              <a:buNone/>
            </a:pPr>
            <a:r>
              <a:rPr lang="en-US" sz="1400" dirty="0" smtClean="0"/>
              <a:t>       OTOBI Limited                                                                    </a:t>
            </a:r>
          </a:p>
          <a:p>
            <a:pPr>
              <a:buNone/>
            </a:pPr>
            <a:r>
              <a:rPr lang="en-US" sz="1400" dirty="0" smtClean="0"/>
              <a:t>       </a:t>
            </a:r>
            <a:r>
              <a:rPr lang="en-US" sz="1400" dirty="0" err="1" smtClean="0"/>
              <a:t>Panthapath</a:t>
            </a:r>
            <a:r>
              <a:rPr lang="en-US" sz="1400" dirty="0" smtClean="0"/>
              <a:t> Branch, Dhaka</a:t>
            </a:r>
          </a:p>
          <a:p>
            <a:pPr>
              <a:buNone/>
            </a:pPr>
            <a:endParaRPr lang="en-US" sz="1400" b="1" dirty="0" smtClean="0"/>
          </a:p>
          <a:p>
            <a:pPr>
              <a:buNone/>
            </a:pPr>
            <a:r>
              <a:rPr lang="en-US" sz="1400" b="1" dirty="0" smtClean="0"/>
              <a:t>       Sub: Request for Catalogue</a:t>
            </a:r>
          </a:p>
          <a:p>
            <a:pPr>
              <a:buNone/>
            </a:pPr>
            <a:endParaRPr lang="en-US" sz="1400" b="1" dirty="0" smtClean="0"/>
          </a:p>
          <a:p>
            <a:pPr marL="228600" indent="-228600">
              <a:buNone/>
            </a:pPr>
            <a:r>
              <a:rPr lang="en-US" sz="1400" dirty="0" smtClean="0"/>
              <a:t>       Dear Sir/Madam</a:t>
            </a:r>
          </a:p>
          <a:p>
            <a:pPr>
              <a:buNone/>
            </a:pPr>
            <a:r>
              <a:rPr lang="en-US" sz="1400" dirty="0" smtClean="0"/>
              <a:t>       Please send me your current catalogue.</a:t>
            </a:r>
          </a:p>
          <a:p>
            <a:pPr>
              <a:buNone/>
            </a:pPr>
            <a:r>
              <a:rPr lang="en-US" sz="1400" dirty="0" smtClean="0"/>
              <a:t>       Your company was recommended to me by Ms. </a:t>
            </a:r>
            <a:r>
              <a:rPr lang="en-US" sz="1400" dirty="0" err="1" smtClean="0"/>
              <a:t>Alis</a:t>
            </a:r>
            <a:r>
              <a:rPr lang="en-US" sz="1400" dirty="0" smtClean="0"/>
              <a:t> </a:t>
            </a:r>
            <a:r>
              <a:rPr lang="en-US" sz="1400" dirty="0" err="1" smtClean="0"/>
              <a:t>Rahman</a:t>
            </a:r>
            <a:r>
              <a:rPr lang="en-US" sz="1400" dirty="0" smtClean="0"/>
              <a:t> of University Asia Pacific. Our organization is</a:t>
            </a:r>
          </a:p>
          <a:p>
            <a:pPr>
              <a:buNone/>
            </a:pPr>
            <a:r>
              <a:rPr lang="en-US" sz="1400" dirty="0" smtClean="0"/>
              <a:t>       interested to  have some chairs, desks and filling cabinets from your organization.</a:t>
            </a:r>
          </a:p>
          <a:p>
            <a:pPr>
              <a:buNone/>
            </a:pPr>
            <a:r>
              <a:rPr lang="en-US" sz="1400" dirty="0" smtClean="0"/>
              <a:t>       Please send us your catalogues with your prices, sizes and colors of these items.</a:t>
            </a:r>
          </a:p>
          <a:p>
            <a:pPr>
              <a:buNone/>
            </a:pPr>
            <a:r>
              <a:rPr lang="en-US" sz="1400" dirty="0" smtClean="0"/>
              <a:t>       I look forward to hearing from you.</a:t>
            </a:r>
          </a:p>
          <a:p>
            <a:pPr>
              <a:buNone/>
            </a:pPr>
            <a:r>
              <a:rPr lang="en-US" sz="1400" dirty="0" smtClean="0"/>
              <a:t>       Yours Sincerely</a:t>
            </a:r>
          </a:p>
          <a:p>
            <a:pPr>
              <a:buNone/>
            </a:pPr>
            <a:r>
              <a:rPr lang="en-US" sz="1400" dirty="0" smtClean="0"/>
              <a:t>       Ms. </a:t>
            </a:r>
            <a:r>
              <a:rPr lang="en-US" sz="1400" dirty="0" err="1" smtClean="0"/>
              <a:t>Nusrat</a:t>
            </a:r>
            <a:r>
              <a:rPr lang="en-US" sz="1400" dirty="0" smtClean="0"/>
              <a:t> </a:t>
            </a:r>
            <a:r>
              <a:rPr lang="en-US" sz="1400" dirty="0" err="1" smtClean="0"/>
              <a:t>Yasmin</a:t>
            </a:r>
            <a:endParaRPr lang="en-US" sz="1400" dirty="0" smtClean="0"/>
          </a:p>
          <a:p>
            <a:pPr marL="228600" indent="-228600">
              <a:buNone/>
            </a:pPr>
            <a:r>
              <a:rPr lang="en-US" sz="1400" dirty="0" smtClean="0"/>
              <a:t>       HRM Manager</a:t>
            </a:r>
          </a:p>
          <a:p>
            <a:pPr>
              <a:buNone/>
            </a:pPr>
            <a:r>
              <a:rPr lang="en-US" sz="1400" dirty="0" smtClean="0"/>
              <a:t>       Northern University Bangladesh</a:t>
            </a:r>
          </a:p>
          <a:p>
            <a:pPr>
              <a:buNone/>
            </a:pPr>
            <a:r>
              <a:rPr lang="en-US" sz="1400" dirty="0" smtClean="0"/>
              <a:t>       Hs-54, Rd no-4/A, Dhanmondi.</a:t>
            </a:r>
          </a:p>
          <a:p>
            <a:endParaRPr lang="en-US" sz="1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686800" cy="68580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1700" dirty="0" smtClean="0"/>
              <a:t>   </a:t>
            </a:r>
            <a:r>
              <a:rPr lang="en-US" sz="1500" dirty="0" smtClean="0"/>
              <a:t>Date: 10 July 2012</a:t>
            </a:r>
          </a:p>
          <a:p>
            <a:pPr marL="120650" indent="-120650">
              <a:buNone/>
            </a:pPr>
            <a:endParaRPr lang="en-US" sz="1500" dirty="0" smtClean="0"/>
          </a:p>
          <a:p>
            <a:pPr>
              <a:buNone/>
            </a:pPr>
            <a:r>
              <a:rPr lang="en-US" sz="1500" dirty="0" smtClean="0"/>
              <a:t>   Ms. </a:t>
            </a:r>
            <a:r>
              <a:rPr lang="en-US" sz="1500" dirty="0" err="1" smtClean="0"/>
              <a:t>Nusrat</a:t>
            </a:r>
            <a:r>
              <a:rPr lang="en-US" sz="1500" dirty="0" smtClean="0"/>
              <a:t> </a:t>
            </a:r>
            <a:r>
              <a:rPr lang="en-US" sz="1500" dirty="0" err="1" smtClean="0"/>
              <a:t>Yasmin</a:t>
            </a:r>
            <a:endParaRPr lang="en-US" sz="1500" dirty="0" smtClean="0"/>
          </a:p>
          <a:p>
            <a:pPr>
              <a:buNone/>
            </a:pPr>
            <a:r>
              <a:rPr lang="en-US" sz="1500" dirty="0" smtClean="0"/>
              <a:t>   HRM Manager                                                                                         Your Ref: O/F ……………</a:t>
            </a:r>
          </a:p>
          <a:p>
            <a:pPr>
              <a:buNone/>
            </a:pPr>
            <a:r>
              <a:rPr lang="en-US" sz="1500" dirty="0" smtClean="0"/>
              <a:t>   Northern University Bangladesh                                                           Our Ref: …………………….</a:t>
            </a:r>
          </a:p>
          <a:p>
            <a:pPr marL="120650" indent="-120650">
              <a:buNone/>
            </a:pPr>
            <a:r>
              <a:rPr lang="en-US" sz="1500" dirty="0" smtClean="0"/>
              <a:t>   </a:t>
            </a:r>
            <a:r>
              <a:rPr lang="en-US" sz="1500" dirty="0" err="1" smtClean="0"/>
              <a:t>Dhanmondi</a:t>
            </a:r>
            <a:r>
              <a:rPr lang="en-US" sz="1500" dirty="0" smtClean="0"/>
              <a:t>.</a:t>
            </a:r>
          </a:p>
          <a:p>
            <a:pPr>
              <a:buNone/>
            </a:pPr>
            <a:r>
              <a:rPr lang="en-US" sz="1500" dirty="0" smtClean="0"/>
              <a:t>  </a:t>
            </a:r>
          </a:p>
          <a:p>
            <a:pPr>
              <a:buNone/>
            </a:pPr>
            <a:r>
              <a:rPr lang="en-US" sz="1500" dirty="0" smtClean="0"/>
              <a:t>   </a:t>
            </a:r>
            <a:r>
              <a:rPr lang="en-US" sz="1500" b="1" dirty="0" smtClean="0"/>
              <a:t>Sub: Request for Catalogue</a:t>
            </a:r>
            <a:endParaRPr lang="en-US" sz="1500" dirty="0" smtClean="0"/>
          </a:p>
          <a:p>
            <a:pPr>
              <a:buNone/>
            </a:pPr>
            <a:r>
              <a:rPr lang="en-US" sz="1500" dirty="0" smtClean="0"/>
              <a:t>    </a:t>
            </a:r>
          </a:p>
          <a:p>
            <a:pPr>
              <a:buNone/>
            </a:pPr>
            <a:endParaRPr lang="en-US" sz="1500" dirty="0" smtClean="0"/>
          </a:p>
          <a:p>
            <a:pPr>
              <a:buNone/>
            </a:pPr>
            <a:r>
              <a:rPr lang="en-US" sz="1500" dirty="0" smtClean="0"/>
              <a:t>  Dear Ms. </a:t>
            </a:r>
            <a:r>
              <a:rPr lang="en-US" sz="1500" dirty="0" err="1" smtClean="0"/>
              <a:t>Nusrat</a:t>
            </a:r>
            <a:endParaRPr lang="en-US" sz="1500" dirty="0" smtClean="0"/>
          </a:p>
          <a:p>
            <a:pPr>
              <a:buNone/>
            </a:pPr>
            <a:endParaRPr lang="en-US" sz="1500" dirty="0" smtClean="0"/>
          </a:p>
          <a:p>
            <a:pPr>
              <a:buNone/>
            </a:pPr>
            <a:r>
              <a:rPr lang="en-US" sz="1500" dirty="0" smtClean="0"/>
              <a:t>   Thank you for your request about our classroom furniture. I am glad to attached a copy of our</a:t>
            </a:r>
          </a:p>
          <a:p>
            <a:pPr marL="120650" indent="-120650">
              <a:buNone/>
            </a:pPr>
            <a:r>
              <a:rPr lang="en-US" sz="1500" dirty="0" smtClean="0"/>
              <a:t>   latest illustrated catalogue. You will be able to know particularly about our models, sizes and prices. You will find a details of our terms in the price list printed in the last pages of our catalogue.</a:t>
            </a:r>
          </a:p>
          <a:p>
            <a:pPr marL="120650" indent="-120650">
              <a:buNone/>
            </a:pPr>
            <a:endParaRPr lang="en-US" sz="1500" dirty="0" smtClean="0"/>
          </a:p>
          <a:p>
            <a:pPr marL="120650" indent="-120650">
              <a:buNone/>
            </a:pPr>
            <a:r>
              <a:rPr lang="en-US" sz="1500" dirty="0" smtClean="0"/>
              <a:t>   Hope you consider our price lists and give us an opportunity to prove our product efficiency.</a:t>
            </a:r>
          </a:p>
          <a:p>
            <a:pPr marL="120650" indent="-120650">
              <a:buNone/>
            </a:pPr>
            <a:endParaRPr lang="en-US" sz="1500" dirty="0" smtClean="0"/>
          </a:p>
          <a:p>
            <a:pPr marL="120650" indent="-120650">
              <a:buNone/>
            </a:pPr>
            <a:r>
              <a:rPr lang="en-US" sz="1500" dirty="0" smtClean="0"/>
              <a:t>   Please do not hesitate to contact me for further queries.</a:t>
            </a:r>
          </a:p>
          <a:p>
            <a:pPr marL="120650" indent="-120650">
              <a:buNone/>
            </a:pPr>
            <a:endParaRPr lang="en-US" sz="1500" dirty="0" smtClean="0"/>
          </a:p>
          <a:p>
            <a:pPr marL="120650" indent="-120650">
              <a:buNone/>
            </a:pPr>
            <a:r>
              <a:rPr lang="en-US" sz="1500" dirty="0" smtClean="0"/>
              <a:t>   Truly Yours</a:t>
            </a:r>
          </a:p>
          <a:p>
            <a:pPr marL="120650" indent="-120650">
              <a:buNone/>
            </a:pPr>
            <a:r>
              <a:rPr lang="en-US" sz="1500" dirty="0" smtClean="0"/>
              <a:t>   </a:t>
            </a:r>
            <a:r>
              <a:rPr lang="en-US" sz="1500" dirty="0" err="1" smtClean="0"/>
              <a:t>Leonika</a:t>
            </a:r>
            <a:r>
              <a:rPr lang="en-US" sz="1500" dirty="0" smtClean="0"/>
              <a:t> </a:t>
            </a:r>
            <a:r>
              <a:rPr lang="en-US" sz="1500" dirty="0" err="1" smtClean="0"/>
              <a:t>Rahman</a:t>
            </a:r>
            <a:endParaRPr lang="en-US" sz="1500" dirty="0" smtClean="0"/>
          </a:p>
          <a:p>
            <a:pPr marL="120650" indent="-120650">
              <a:buNone/>
            </a:pPr>
            <a:r>
              <a:rPr lang="en-US" sz="1500" dirty="0" smtClean="0"/>
              <a:t>   OTOBI Limited</a:t>
            </a:r>
          </a:p>
          <a:p>
            <a:pPr marL="120650" indent="-120650">
              <a:buNone/>
            </a:pPr>
            <a:r>
              <a:rPr lang="en-US" sz="1500" dirty="0" smtClean="0"/>
              <a:t>   Manager</a:t>
            </a:r>
          </a:p>
          <a:p>
            <a:pPr marL="120650" indent="-120650">
              <a:buNone/>
            </a:pPr>
            <a:r>
              <a:rPr lang="en-US" sz="1500" dirty="0" smtClean="0"/>
              <a:t>   Sales &amp; CRM</a:t>
            </a:r>
          </a:p>
          <a:p>
            <a:pPr marL="120650" indent="-120650">
              <a:buNone/>
            </a:pPr>
            <a:r>
              <a:rPr lang="en-US" sz="1500" dirty="0" smtClean="0"/>
              <a:t>   </a:t>
            </a:r>
            <a:r>
              <a:rPr lang="en-US" sz="1500" dirty="0" err="1" smtClean="0"/>
              <a:t>Panthapath</a:t>
            </a:r>
            <a:r>
              <a:rPr lang="en-US" sz="1500" dirty="0" smtClean="0"/>
              <a:t> Branch, Dhaka.</a:t>
            </a:r>
          </a:p>
          <a:p>
            <a:pPr marL="120650" indent="-120650">
              <a:buNone/>
            </a:pPr>
            <a:endParaRPr lang="en-US" sz="1700" dirty="0" smtClean="0"/>
          </a:p>
          <a:p>
            <a:pPr marL="120650" indent="-120650">
              <a:buNone/>
            </a:pPr>
            <a:endParaRPr lang="en-US" sz="1700" dirty="0" smtClean="0"/>
          </a:p>
          <a:p>
            <a:pPr marL="120650" indent="-120650">
              <a:buNone/>
            </a:pPr>
            <a:endParaRPr lang="en-US" sz="1700" dirty="0" smtClean="0"/>
          </a:p>
          <a:p>
            <a:pPr marL="120650" indent="-120650">
              <a:buNone/>
            </a:pPr>
            <a:endParaRPr lang="en-US" sz="1700" dirty="0" smtClean="0"/>
          </a:p>
          <a:p>
            <a:pPr>
              <a:buNone/>
            </a:pPr>
            <a:endParaRPr lang="en-US" sz="1700" dirty="0"/>
          </a:p>
        </p:txBody>
      </p:sp>
      <p:sp>
        <p:nvSpPr>
          <p:cNvPr id="4" name="Title 1"/>
          <p:cNvSpPr txBox="1">
            <a:spLocks/>
          </p:cNvSpPr>
          <p:nvPr/>
        </p:nvSpPr>
        <p:spPr>
          <a:xfrm rot="16200000">
            <a:off x="-2514601" y="3124200"/>
            <a:ext cx="5562600" cy="381000"/>
          </a:xfrm>
          <a:prstGeom prst="rect">
            <a:avLst/>
          </a:prstGeom>
          <a:solidFill>
            <a:schemeClr val="accent1">
              <a:lumMod val="20000"/>
              <a:lumOff val="80000"/>
            </a:schemeClr>
          </a:solidFill>
          <a:ln>
            <a:solidFill>
              <a:schemeClr val="accent1"/>
            </a:solidFill>
          </a:ln>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tab pos="1997075" algn="l"/>
              </a:tabLst>
              <a:defRPr/>
            </a:pPr>
            <a:r>
              <a:rPr kumimoji="0" lang="en-US" sz="2700" b="0" i="0" u="none" strike="noStrike" kern="1200" cap="none" spc="0" normalizeH="0" baseline="0" noProof="0" dirty="0" smtClean="0">
                <a:ln>
                  <a:noFill/>
                </a:ln>
                <a:solidFill>
                  <a:schemeClr val="tx1"/>
                </a:solidFill>
                <a:effectLst/>
                <a:uLnTx/>
                <a:uFillTx/>
                <a:latin typeface="+mj-lt"/>
                <a:ea typeface="+mj-ea"/>
                <a:cs typeface="+mj-cs"/>
              </a:rPr>
              <a:t>Examples of Reply of  Enquiry Letter</a:t>
            </a:r>
            <a:endParaRPr kumimoji="0" lang="en-US" sz="27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124200" cy="715962"/>
          </a:xfrm>
          <a:solidFill>
            <a:schemeClr val="accent1">
              <a:lumMod val="20000"/>
              <a:lumOff val="80000"/>
            </a:schemeClr>
          </a:solidFill>
          <a:ln>
            <a:solidFill>
              <a:schemeClr val="accent1"/>
            </a:solidFill>
          </a:ln>
        </p:spPr>
        <p:txBody>
          <a:bodyPr>
            <a:normAutofit/>
          </a:bodyPr>
          <a:lstStyle/>
          <a:p>
            <a:r>
              <a:rPr lang="en-US" sz="3000" dirty="0" smtClean="0"/>
              <a:t>Letter of Order</a:t>
            </a:r>
            <a:endParaRPr lang="en-US" sz="3000" dirty="0"/>
          </a:p>
        </p:txBody>
      </p:sp>
      <p:sp>
        <p:nvSpPr>
          <p:cNvPr id="3" name="Content Placeholder 2"/>
          <p:cNvSpPr>
            <a:spLocks noGrp="1"/>
          </p:cNvSpPr>
          <p:nvPr>
            <p:ph idx="1"/>
          </p:nvPr>
        </p:nvSpPr>
        <p:spPr>
          <a:xfrm>
            <a:off x="457200" y="1219200"/>
            <a:ext cx="8229600" cy="49069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
            </a:pPr>
            <a:r>
              <a:rPr lang="en-US" sz="2600" dirty="0" smtClean="0"/>
              <a:t>When both the buyer and the seller come to a consensus through enquiries and replies for a contract of sale between the parties, the next step is to order for the goods or services concerned. </a:t>
            </a:r>
          </a:p>
          <a:p>
            <a:pPr>
              <a:buFont typeface="Wingdings 2"/>
              <a:buChar char="©"/>
            </a:pPr>
            <a:r>
              <a:rPr lang="en-US" sz="2600" dirty="0" smtClean="0"/>
              <a:t>An order letter is a kind of contract between the seller and buyer.</a:t>
            </a:r>
          </a:p>
          <a:p>
            <a:pPr>
              <a:buFont typeface="Wingdings 2"/>
              <a:buChar char="©"/>
            </a:pPr>
            <a:r>
              <a:rPr lang="en-US" sz="2600" dirty="0" smtClean="0"/>
              <a:t>It is placed when the quotation is favorable to the buyer.</a:t>
            </a:r>
          </a:p>
          <a:p>
            <a:pPr>
              <a:buFont typeface="Wingdings 2"/>
              <a:buChar char="©"/>
            </a:pPr>
            <a:r>
              <a:rPr lang="en-US" sz="2600" b="1" dirty="0" smtClean="0">
                <a:effectLst>
                  <a:outerShdw blurRad="38100" dist="38100" dir="2700000" algn="tl">
                    <a:srgbClr val="000000">
                      <a:alpha val="43137"/>
                    </a:srgbClr>
                  </a:outerShdw>
                </a:effectLst>
              </a:rPr>
              <a:t>Order Letter:</a:t>
            </a:r>
          </a:p>
          <a:p>
            <a:pPr>
              <a:buNone/>
            </a:pPr>
            <a:r>
              <a:rPr lang="en-US" sz="2600" dirty="0" smtClean="0">
                <a:sym typeface="Wingdings 2"/>
              </a:rPr>
              <a:t> “</a:t>
            </a:r>
            <a:r>
              <a:rPr lang="en-US" sz="2600" dirty="0" smtClean="0"/>
              <a:t>The letter which carries the massage to the sellers requesting to send the specified goods at a specified price as per stated terms and conditions is called letter of order.”</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257800" cy="792162"/>
          </a:xfrm>
          <a:solidFill>
            <a:schemeClr val="accent1">
              <a:lumMod val="20000"/>
              <a:lumOff val="80000"/>
            </a:schemeClr>
          </a:solidFill>
          <a:ln>
            <a:solidFill>
              <a:schemeClr val="accent1"/>
            </a:solidFill>
          </a:ln>
        </p:spPr>
        <p:txBody>
          <a:bodyPr>
            <a:normAutofit/>
          </a:bodyPr>
          <a:lstStyle/>
          <a:p>
            <a:r>
              <a:rPr lang="en-US" sz="3000" dirty="0" smtClean="0"/>
              <a:t>Contents of a Letter of Order</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a:rPr>
              <a:t> </a:t>
            </a:r>
            <a:r>
              <a:rPr lang="en-US" sz="2600" dirty="0" smtClean="0"/>
              <a:t>Generally a letter of order carries the following points:</a:t>
            </a:r>
          </a:p>
          <a:p>
            <a:pPr>
              <a:buFont typeface="Wingdings 2"/>
              <a:buChar char="A"/>
            </a:pPr>
            <a:r>
              <a:rPr lang="en-US" sz="2600" dirty="0" smtClean="0"/>
              <a:t>Order number/Catalogue number</a:t>
            </a:r>
          </a:p>
          <a:p>
            <a:pPr>
              <a:buFont typeface="Wingdings 2"/>
              <a:buChar char="A"/>
            </a:pPr>
            <a:r>
              <a:rPr lang="en-US" sz="2600" dirty="0" smtClean="0"/>
              <a:t>An accurate and full description of goods required</a:t>
            </a:r>
          </a:p>
          <a:p>
            <a:pPr>
              <a:buFont typeface="Wingdings 2"/>
              <a:buChar char="A"/>
            </a:pPr>
            <a:r>
              <a:rPr lang="en-US" sz="2600" dirty="0" smtClean="0"/>
              <a:t>Expected delivery date, place and mode of delivery,</a:t>
            </a:r>
          </a:p>
          <a:p>
            <a:pPr>
              <a:buFont typeface="Wingdings 2"/>
              <a:buChar char="A"/>
            </a:pPr>
            <a:r>
              <a:rPr lang="en-US" sz="2600" dirty="0" smtClean="0"/>
              <a:t>Quantity of the goods required</a:t>
            </a:r>
          </a:p>
          <a:p>
            <a:pPr>
              <a:buFont typeface="Wingdings 2"/>
              <a:buChar char="A"/>
            </a:pPr>
            <a:r>
              <a:rPr lang="en-US" sz="2600" dirty="0" smtClean="0"/>
              <a:t>Name of the carrier</a:t>
            </a:r>
          </a:p>
          <a:p>
            <a:pPr>
              <a:buFont typeface="Wingdings 2"/>
              <a:buChar char="A"/>
            </a:pPr>
            <a:r>
              <a:rPr lang="en-US" sz="2600" dirty="0" smtClean="0"/>
              <a:t>Nature of packaging</a:t>
            </a:r>
          </a:p>
          <a:p>
            <a:pPr>
              <a:buFont typeface="Wingdings 2"/>
              <a:buChar char="A"/>
            </a:pPr>
            <a:r>
              <a:rPr lang="en-US" sz="2600" dirty="0" smtClean="0"/>
              <a:t>Terms of payment agreed</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191000" cy="715962"/>
          </a:xfrm>
          <a:solidFill>
            <a:schemeClr val="accent1">
              <a:lumMod val="20000"/>
              <a:lumOff val="80000"/>
            </a:schemeClr>
          </a:solidFill>
          <a:ln>
            <a:solidFill>
              <a:schemeClr val="accent1"/>
            </a:solidFill>
          </a:ln>
        </p:spPr>
        <p:txBody>
          <a:bodyPr>
            <a:normAutofit/>
          </a:bodyPr>
          <a:lstStyle/>
          <a:p>
            <a:r>
              <a:rPr lang="en-US" sz="3000" dirty="0" smtClean="0"/>
              <a:t>Features of Order Letter</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600" dirty="0" smtClean="0">
                <a:sym typeface="Wingdings"/>
              </a:rPr>
              <a:t> </a:t>
            </a:r>
            <a:r>
              <a:rPr lang="en-US" sz="2600" dirty="0" smtClean="0"/>
              <a:t>While drafting a letter of order the following points should be kept in mind the writer-</a:t>
            </a:r>
          </a:p>
          <a:p>
            <a:pPr>
              <a:buFont typeface="Wingdings"/>
              <a:buChar char="ü"/>
            </a:pPr>
            <a:r>
              <a:rPr lang="en-US" sz="2600" dirty="0" smtClean="0"/>
              <a:t>Courtesy </a:t>
            </a:r>
          </a:p>
          <a:p>
            <a:pPr>
              <a:buFont typeface="Wingdings"/>
              <a:buChar char="ü"/>
            </a:pPr>
            <a:r>
              <a:rPr lang="en-US" sz="2600" dirty="0" smtClean="0"/>
              <a:t>Description of goods</a:t>
            </a:r>
          </a:p>
          <a:p>
            <a:pPr>
              <a:buFont typeface="Wingdings"/>
              <a:buChar char="ü"/>
            </a:pPr>
            <a:r>
              <a:rPr lang="en-US" sz="2600" dirty="0" smtClean="0"/>
              <a:t>Price</a:t>
            </a:r>
          </a:p>
          <a:p>
            <a:pPr>
              <a:buFont typeface="Wingdings"/>
              <a:buChar char="ü"/>
            </a:pPr>
            <a:r>
              <a:rPr lang="en-US" sz="2600" dirty="0" smtClean="0"/>
              <a:t>Time of delivery</a:t>
            </a:r>
          </a:p>
          <a:p>
            <a:pPr>
              <a:buFont typeface="Wingdings"/>
              <a:buChar char="ü"/>
            </a:pPr>
            <a:r>
              <a:rPr lang="en-US" sz="2600" dirty="0" smtClean="0"/>
              <a:t>Mode of transport</a:t>
            </a:r>
          </a:p>
          <a:p>
            <a:pPr>
              <a:buFont typeface="Wingdings"/>
              <a:buChar char="ü"/>
            </a:pPr>
            <a:r>
              <a:rPr lang="en-US" sz="2600" dirty="0" smtClean="0"/>
              <a:t>Mode of payment</a:t>
            </a:r>
          </a:p>
          <a:p>
            <a:pPr>
              <a:buFont typeface="Wingdings"/>
              <a:buChar char="ü"/>
            </a:pPr>
            <a:r>
              <a:rPr lang="en-US" sz="2600" dirty="0" smtClean="0"/>
              <a:t>Place of delivery packaging and handling</a:t>
            </a:r>
          </a:p>
          <a:p>
            <a:pPr>
              <a:buFont typeface="Wingdings"/>
              <a:buChar char="ü"/>
            </a:pPr>
            <a:r>
              <a:rPr lang="en-US" sz="2600" dirty="0" smtClean="0"/>
              <a:t>Insurance</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783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t>Acknowledgement of an order is an legal acceptance of all terms and conditions mentioned in the order letter.</a:t>
            </a:r>
          </a:p>
          <a:p>
            <a:pPr>
              <a:buFont typeface="Wingdings"/>
              <a:buChar char="ü"/>
            </a:pPr>
            <a:r>
              <a:rPr lang="en-US" sz="2600" dirty="0" smtClean="0">
                <a:sym typeface="Wingdings"/>
              </a:rPr>
              <a:t>Thanks to the buyer for his order</a:t>
            </a:r>
          </a:p>
          <a:p>
            <a:pPr>
              <a:buFont typeface="Wingdings"/>
              <a:buChar char="ü"/>
            </a:pPr>
            <a:r>
              <a:rPr lang="en-US" sz="2600" dirty="0" smtClean="0">
                <a:sym typeface="Wingdings"/>
              </a:rPr>
              <a:t>Order number</a:t>
            </a:r>
          </a:p>
          <a:p>
            <a:pPr>
              <a:buFont typeface="Wingdings"/>
              <a:buChar char="ü"/>
            </a:pPr>
            <a:r>
              <a:rPr lang="en-US" sz="2600" dirty="0" smtClean="0">
                <a:sym typeface="Wingdings"/>
              </a:rPr>
              <a:t>Full description of goods</a:t>
            </a:r>
          </a:p>
          <a:p>
            <a:pPr>
              <a:buFont typeface="Wingdings"/>
              <a:buChar char="ü"/>
            </a:pPr>
            <a:r>
              <a:rPr lang="en-US" sz="2600" dirty="0" smtClean="0">
                <a:sym typeface="Wingdings"/>
              </a:rPr>
              <a:t>Mode of payment</a:t>
            </a:r>
          </a:p>
          <a:p>
            <a:pPr>
              <a:buFont typeface="Wingdings"/>
              <a:buChar char="ü"/>
            </a:pPr>
            <a:r>
              <a:rPr lang="en-US" sz="2600" dirty="0" smtClean="0">
                <a:sym typeface="Wingdings"/>
              </a:rPr>
              <a:t>Mode of delivery</a:t>
            </a:r>
          </a:p>
          <a:p>
            <a:pPr>
              <a:buFont typeface="Wingdings"/>
              <a:buChar char="ü"/>
            </a:pPr>
            <a:r>
              <a:rPr lang="en-US" sz="2600" dirty="0" smtClean="0">
                <a:sym typeface="Wingdings"/>
              </a:rPr>
              <a:t>Hints to the need for quick payment</a:t>
            </a:r>
          </a:p>
          <a:p>
            <a:pPr>
              <a:buFont typeface="Wingdings"/>
              <a:buChar char="ü"/>
            </a:pPr>
            <a:r>
              <a:rPr lang="en-US" sz="2600" dirty="0" smtClean="0">
                <a:sym typeface="Wingdings"/>
              </a:rPr>
              <a:t>Hope for future order and warn business relation </a:t>
            </a:r>
            <a:endParaRPr lang="en-US" sz="2600" dirty="0"/>
          </a:p>
        </p:txBody>
      </p:sp>
      <p:sp>
        <p:nvSpPr>
          <p:cNvPr id="4" name="Title 1"/>
          <p:cNvSpPr txBox="1">
            <a:spLocks/>
          </p:cNvSpPr>
          <p:nvPr/>
        </p:nvSpPr>
        <p:spPr>
          <a:xfrm>
            <a:off x="457200" y="274638"/>
            <a:ext cx="41910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Features of Order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114800" cy="792162"/>
          </a:xfrm>
          <a:solidFill>
            <a:schemeClr val="accent1">
              <a:lumMod val="20000"/>
              <a:lumOff val="80000"/>
            </a:schemeClr>
          </a:solidFill>
          <a:ln>
            <a:solidFill>
              <a:schemeClr val="accent1"/>
            </a:solidFill>
          </a:ln>
        </p:spPr>
        <p:txBody>
          <a:bodyPr>
            <a:normAutofit/>
          </a:bodyPr>
          <a:lstStyle/>
          <a:p>
            <a:r>
              <a:rPr lang="en-US" sz="3000" dirty="0" smtClean="0"/>
              <a:t>Types of Order Letter</a:t>
            </a:r>
            <a:endParaRPr lang="en-US" sz="3000" dirty="0"/>
          </a:p>
        </p:txBody>
      </p:sp>
      <p:sp>
        <p:nvSpPr>
          <p:cNvPr id="3" name="Content Placeholder 2"/>
          <p:cNvSpPr>
            <a:spLocks noGrp="1"/>
          </p:cNvSpPr>
          <p:nvPr>
            <p:ph idx="1"/>
          </p:nvPr>
        </p:nvSpPr>
        <p:spPr>
          <a:xfrm>
            <a:off x="457200" y="1219200"/>
            <a:ext cx="8229600" cy="4876800"/>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dirty="0" smtClean="0"/>
              <a:t>Order letter is two types</a:t>
            </a:r>
          </a:p>
          <a:p>
            <a:pPr>
              <a:buNone/>
            </a:pPr>
            <a:r>
              <a:rPr lang="en-US" sz="3000" dirty="0" smtClean="0">
                <a:sym typeface="Wingdings"/>
              </a:rPr>
              <a:t></a:t>
            </a:r>
            <a:r>
              <a:rPr lang="en-US" sz="2800" dirty="0" smtClean="0">
                <a:sym typeface="Wingdings"/>
              </a:rPr>
              <a:t>   </a:t>
            </a:r>
            <a:r>
              <a:rPr lang="en-US" sz="2600" b="1" dirty="0" smtClean="0"/>
              <a:t>Formal Letter</a:t>
            </a:r>
          </a:p>
          <a:p>
            <a:pPr>
              <a:buFont typeface="Wingdings 2"/>
              <a:buChar char="A"/>
            </a:pPr>
            <a:r>
              <a:rPr lang="en-US" sz="2600" dirty="0" smtClean="0"/>
              <a:t>The order letter which is written to place an order for goods or services following some formalities are called formal order letter.</a:t>
            </a:r>
          </a:p>
          <a:p>
            <a:pPr>
              <a:buFont typeface="Wingdings 2"/>
              <a:buChar char="A"/>
            </a:pPr>
            <a:r>
              <a:rPr lang="en-US" sz="2600" dirty="0" smtClean="0"/>
              <a:t>It is place formally through a printed from or a separate letter.</a:t>
            </a:r>
          </a:p>
          <a:p>
            <a:pPr>
              <a:buFont typeface="Wingdings 2"/>
              <a:buChar char="A"/>
            </a:pPr>
            <a:r>
              <a:rPr lang="en-US" sz="2600" dirty="0" smtClean="0"/>
              <a:t>Followed by a formal acceptance letter.</a:t>
            </a:r>
          </a:p>
          <a:p>
            <a:pPr>
              <a:buNone/>
            </a:pPr>
            <a:r>
              <a:rPr lang="en-US" sz="2800" dirty="0" smtClean="0">
                <a:sym typeface="Wingdings"/>
              </a:rPr>
              <a:t></a:t>
            </a:r>
            <a:r>
              <a:rPr lang="en-US" sz="2400" dirty="0" smtClean="0">
                <a:sym typeface="Wingdings"/>
              </a:rPr>
              <a:t>  </a:t>
            </a:r>
            <a:r>
              <a:rPr lang="en-US" sz="2600" b="1" dirty="0" smtClean="0"/>
              <a:t>Informal Letter</a:t>
            </a:r>
          </a:p>
          <a:p>
            <a:pPr>
              <a:buNone/>
            </a:pPr>
            <a:r>
              <a:rPr lang="en-US" sz="2600" dirty="0" smtClean="0">
                <a:sym typeface="Wingdings 2"/>
              </a:rPr>
              <a:t></a:t>
            </a:r>
            <a:r>
              <a:rPr lang="en-US" sz="2600" dirty="0" smtClean="0"/>
              <a:t>An informal letter is written without any formalities.</a:t>
            </a:r>
          </a:p>
          <a:p>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343400" cy="792162"/>
          </a:xfrm>
          <a:solidFill>
            <a:schemeClr val="accent1">
              <a:lumMod val="20000"/>
              <a:lumOff val="80000"/>
            </a:schemeClr>
          </a:solidFill>
          <a:ln>
            <a:solidFill>
              <a:schemeClr val="accent1"/>
            </a:solidFill>
          </a:ln>
        </p:spPr>
        <p:txBody>
          <a:bodyPr>
            <a:normAutofit/>
          </a:bodyPr>
          <a:lstStyle/>
          <a:p>
            <a:r>
              <a:rPr lang="en-US" sz="3000" dirty="0" smtClean="0"/>
              <a:t>Execution of an Order</a:t>
            </a:r>
            <a:endParaRPr lang="en-US" sz="3000" dirty="0"/>
          </a:p>
        </p:txBody>
      </p:sp>
      <p:sp>
        <p:nvSpPr>
          <p:cNvPr id="3" name="Content Placeholder 2"/>
          <p:cNvSpPr>
            <a:spLocks noGrp="1"/>
          </p:cNvSpPr>
          <p:nvPr>
            <p:ph idx="1"/>
          </p:nvPr>
        </p:nvSpPr>
        <p:spPr>
          <a:xfrm>
            <a:off x="457200" y="1600200"/>
            <a:ext cx="5867400" cy="4525963"/>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a:buChar char="§"/>
            </a:pPr>
            <a:r>
              <a:rPr lang="en-US" sz="2600" dirty="0" smtClean="0"/>
              <a:t>After receiving an order from the buyer if the seller sends the goods and writes a positive reply, then it will be called a letter of execution of order.</a:t>
            </a:r>
          </a:p>
          <a:p>
            <a:pPr>
              <a:buFont typeface="Wingdings"/>
              <a:buChar char="§"/>
            </a:pPr>
            <a:r>
              <a:rPr lang="en-US" sz="2600" dirty="0" smtClean="0"/>
              <a:t>An order can be refused by following reason:</a:t>
            </a:r>
          </a:p>
          <a:p>
            <a:pPr>
              <a:buFont typeface="Wingdings 3"/>
              <a:buChar char=""/>
            </a:pPr>
            <a:r>
              <a:rPr lang="en-US" sz="2600" dirty="0" smtClean="0"/>
              <a:t>Legal Reason</a:t>
            </a:r>
          </a:p>
          <a:p>
            <a:pPr>
              <a:buFont typeface="Wingdings 3"/>
              <a:buChar char=""/>
            </a:pPr>
            <a:r>
              <a:rPr lang="en-US" sz="2600" dirty="0" smtClean="0"/>
              <a:t>Want of stock</a:t>
            </a:r>
          </a:p>
          <a:p>
            <a:pPr>
              <a:buFont typeface="Wingdings 3"/>
              <a:buChar char=""/>
            </a:pPr>
            <a:r>
              <a:rPr lang="en-US" sz="2600" dirty="0" smtClean="0"/>
              <a:t>Doubt about solvency of the buyer</a:t>
            </a:r>
          </a:p>
          <a:p>
            <a:endParaRPr lang="en-US" sz="2600" dirty="0" smtClean="0"/>
          </a:p>
        </p:txBody>
      </p:sp>
      <p:pic>
        <p:nvPicPr>
          <p:cNvPr id="1026" name="Picture 2" descr="F:\Mahbuba\Moni\Characters\122.jpeg"/>
          <p:cNvPicPr>
            <a:picLocks noChangeAspect="1" noChangeArrowheads="1"/>
          </p:cNvPicPr>
          <p:nvPr/>
        </p:nvPicPr>
        <p:blipFill>
          <a:blip r:embed="rId2"/>
          <a:srcRect/>
          <a:stretch>
            <a:fillRect/>
          </a:stretch>
        </p:blipFill>
        <p:spPr bwMode="auto">
          <a:xfrm>
            <a:off x="6172200" y="2667000"/>
            <a:ext cx="2819400" cy="28194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105400" cy="792162"/>
          </a:xfrm>
          <a:solidFill>
            <a:schemeClr val="accent1">
              <a:lumMod val="20000"/>
              <a:lumOff val="80000"/>
            </a:schemeClr>
          </a:solidFill>
          <a:ln>
            <a:solidFill>
              <a:schemeClr val="accent1"/>
            </a:solidFill>
          </a:ln>
        </p:spPr>
        <p:txBody>
          <a:bodyPr>
            <a:normAutofit/>
          </a:bodyPr>
          <a:lstStyle/>
          <a:p>
            <a:r>
              <a:rPr lang="en-US" sz="3000" dirty="0" smtClean="0"/>
              <a:t>Refusal Of An Order Letter</a:t>
            </a:r>
            <a:endParaRPr lang="en-US" sz="3000" dirty="0"/>
          </a:p>
        </p:txBody>
      </p:sp>
      <p:sp>
        <p:nvSpPr>
          <p:cNvPr id="3" name="Content Placeholder 2"/>
          <p:cNvSpPr>
            <a:spLocks noGrp="1"/>
          </p:cNvSpPr>
          <p:nvPr>
            <p:ph idx="1"/>
          </p:nvPr>
        </p:nvSpPr>
        <p:spPr>
          <a:xfrm>
            <a:off x="457200" y="1371600"/>
            <a:ext cx="8229600" cy="5029200"/>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a:buChar char="§"/>
            </a:pPr>
            <a:r>
              <a:rPr lang="en-US" sz="2600" dirty="0" smtClean="0"/>
              <a:t>Letter of refusal of order conveys a bad news.</a:t>
            </a:r>
          </a:p>
          <a:p>
            <a:pPr>
              <a:buFont typeface="Wingdings"/>
              <a:buChar char="§"/>
            </a:pPr>
            <a:r>
              <a:rPr lang="en-US" sz="2600" dirty="0" smtClean="0"/>
              <a:t>While writing a refusal letter the writer should be polite and be careful about the goodwill of the organization.</a:t>
            </a:r>
          </a:p>
          <a:p>
            <a:pPr>
              <a:buFont typeface="Wingdings"/>
              <a:buChar char="§"/>
            </a:pPr>
            <a:r>
              <a:rPr lang="en-US" sz="2600" dirty="0" smtClean="0"/>
              <a:t>The following points should be given due attention</a:t>
            </a:r>
          </a:p>
          <a:p>
            <a:pPr>
              <a:buFont typeface="Wingdings 2"/>
              <a:buChar char="A"/>
            </a:pPr>
            <a:r>
              <a:rPr lang="en-US" sz="2600" b="1" dirty="0" smtClean="0"/>
              <a:t>Explanation</a:t>
            </a:r>
            <a:r>
              <a:rPr lang="en-US" sz="2600" dirty="0" smtClean="0"/>
              <a:t> of refusal of the order.</a:t>
            </a:r>
          </a:p>
          <a:p>
            <a:pPr>
              <a:buFont typeface="Wingdings 2"/>
              <a:buChar char="A"/>
            </a:pPr>
            <a:r>
              <a:rPr lang="en-US" sz="2600" dirty="0" smtClean="0"/>
              <a:t>Present the explanation </a:t>
            </a:r>
            <a:r>
              <a:rPr lang="en-US" sz="2600" b="1" dirty="0" smtClean="0"/>
              <a:t>clarity</a:t>
            </a:r>
          </a:p>
          <a:p>
            <a:pPr>
              <a:buFont typeface="Wingdings 2"/>
              <a:buChar char="A"/>
            </a:pPr>
            <a:r>
              <a:rPr lang="en-US" sz="2600" dirty="0" smtClean="0"/>
              <a:t>Should be very prompt and </a:t>
            </a:r>
            <a:r>
              <a:rPr lang="en-US" sz="2600" b="1" dirty="0" smtClean="0"/>
              <a:t>quick </a:t>
            </a:r>
            <a:r>
              <a:rPr lang="en-US" sz="2600" dirty="0" smtClean="0"/>
              <a:t>in serving such letter.</a:t>
            </a:r>
          </a:p>
          <a:p>
            <a:pPr>
              <a:buFont typeface="Wingdings 2"/>
              <a:buChar char="A"/>
            </a:pPr>
            <a:r>
              <a:rPr lang="en-US" sz="2600" dirty="0" smtClean="0"/>
              <a:t>Refusal must be draft </a:t>
            </a:r>
            <a:r>
              <a:rPr lang="en-US" sz="2600" b="1" dirty="0" smtClean="0"/>
              <a:t>positively.</a:t>
            </a:r>
          </a:p>
          <a:p>
            <a:pPr>
              <a:buFont typeface="Wingdings 2"/>
              <a:buChar char="A"/>
            </a:pPr>
            <a:r>
              <a:rPr lang="en-US" sz="2600" dirty="0" smtClean="0"/>
              <a:t>Should try to end with a </a:t>
            </a:r>
            <a:r>
              <a:rPr lang="en-US" sz="2600" b="1" dirty="0" smtClean="0"/>
              <a:t>pleasant comment.</a:t>
            </a:r>
          </a:p>
          <a:p>
            <a:pPr>
              <a:buFont typeface="Wingdings 2"/>
              <a:buChar char="A"/>
            </a:pPr>
            <a:r>
              <a:rPr lang="en-US" sz="2600" dirty="0" smtClean="0"/>
              <a:t>Should be </a:t>
            </a:r>
            <a:r>
              <a:rPr lang="en-US" sz="2600" b="1" dirty="0" smtClean="0"/>
              <a:t>straightforward</a:t>
            </a:r>
            <a:r>
              <a:rPr lang="en-US" sz="2600" dirty="0" smtClean="0"/>
              <a:t> and establish sufficient logic in favor of actions.</a:t>
            </a:r>
          </a:p>
          <a:p>
            <a:endParaRPr lang="en-US" sz="26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5105400" cy="868362"/>
          </a:xfrm>
          <a:solidFill>
            <a:schemeClr val="accent1">
              <a:lumMod val="20000"/>
              <a:lumOff val="80000"/>
            </a:schemeClr>
          </a:solidFill>
          <a:ln>
            <a:solidFill>
              <a:schemeClr val="accent1"/>
            </a:solidFill>
          </a:ln>
        </p:spPr>
        <p:txBody>
          <a:bodyPr>
            <a:normAutofit/>
          </a:bodyPr>
          <a:lstStyle/>
          <a:p>
            <a:r>
              <a:rPr lang="en-US" sz="3000" dirty="0" smtClean="0"/>
              <a:t>Cancellation of an Order</a:t>
            </a:r>
            <a:endParaRPr lang="en-US" sz="3000" dirty="0"/>
          </a:p>
        </p:txBody>
      </p:sp>
      <p:sp>
        <p:nvSpPr>
          <p:cNvPr id="3" name="Content Placeholder 2"/>
          <p:cNvSpPr>
            <a:spLocks noGrp="1"/>
          </p:cNvSpPr>
          <p:nvPr>
            <p:ph idx="1"/>
          </p:nvPr>
        </p:nvSpPr>
        <p:spPr>
          <a:xfrm>
            <a:off x="457200" y="1371600"/>
            <a:ext cx="8229600" cy="5029200"/>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buFont typeface="Wingdings 2"/>
              <a:buChar char="©"/>
            </a:pPr>
            <a:r>
              <a:rPr lang="en-US" sz="2800" dirty="0" smtClean="0"/>
              <a:t>When a buyer place an order letter it is expected that he/she will purchase the products. But sometimes it may happen that the buyer is not interested to buy the goods and is trying to cancel the order.</a:t>
            </a:r>
          </a:p>
          <a:p>
            <a:pPr>
              <a:buFont typeface="Wingdings 2"/>
              <a:buChar char="©"/>
            </a:pPr>
            <a:r>
              <a:rPr lang="en-US" sz="2800" dirty="0" smtClean="0"/>
              <a:t>In that case the buyer writes a letter showing appropriate reason of not buying that goods.</a:t>
            </a:r>
          </a:p>
          <a:p>
            <a:pPr>
              <a:buFont typeface="Wingdings 2"/>
              <a:buChar char="©"/>
            </a:pPr>
            <a:r>
              <a:rPr lang="en-US" sz="2800" dirty="0" smtClean="0"/>
              <a:t>This type of letter is called letter of cancellation.</a:t>
            </a:r>
          </a:p>
          <a:p>
            <a:pPr>
              <a:buFont typeface="Wingdings 2"/>
              <a:buChar char="©"/>
            </a:pPr>
            <a:r>
              <a:rPr lang="en-US" sz="2800" dirty="0" smtClean="0"/>
              <a:t>Buyer may cancel an order  due to the following reasons:</a:t>
            </a:r>
          </a:p>
          <a:p>
            <a:pPr>
              <a:buFont typeface="Wingdings 2"/>
              <a:buChar char="A"/>
            </a:pPr>
            <a:r>
              <a:rPr lang="en-US" sz="2800" dirty="0" smtClean="0"/>
              <a:t>Delay in delivery of goods by seller</a:t>
            </a:r>
          </a:p>
          <a:p>
            <a:pPr>
              <a:buFont typeface="Wingdings 2"/>
              <a:buChar char="A"/>
            </a:pPr>
            <a:r>
              <a:rPr lang="en-US" sz="2800" dirty="0" smtClean="0"/>
              <a:t>Sudden fall in price of that goods in market</a:t>
            </a:r>
          </a:p>
          <a:p>
            <a:pPr>
              <a:buFont typeface="Wingdings 2"/>
              <a:buChar char="A"/>
            </a:pPr>
            <a:r>
              <a:rPr lang="en-US" sz="2800" dirty="0" smtClean="0"/>
              <a:t>Fall of demand in the market</a:t>
            </a:r>
          </a:p>
          <a:p>
            <a:pPr>
              <a:buFont typeface="Wingdings 2"/>
              <a:buChar char="A"/>
            </a:pPr>
            <a:r>
              <a:rPr lang="en-US" sz="2800" dirty="0" smtClean="0"/>
              <a:t>Natural disaster</a:t>
            </a:r>
          </a:p>
          <a:p>
            <a:pPr>
              <a:buFont typeface="Wingdings 2"/>
              <a:buChar char="A"/>
            </a:pPr>
            <a:r>
              <a:rPr lang="en-US" sz="2800" dirty="0" smtClean="0"/>
              <a:t>Sudden bankruptcy in the market.</a:t>
            </a:r>
          </a:p>
          <a:p>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114800" cy="868362"/>
          </a:xfrm>
          <a:solidFill>
            <a:schemeClr val="accent1">
              <a:lumMod val="20000"/>
              <a:lumOff val="80000"/>
            </a:schemeClr>
          </a:solidFill>
          <a:ln>
            <a:solidFill>
              <a:schemeClr val="accent1"/>
            </a:solidFill>
          </a:ln>
        </p:spPr>
        <p:txBody>
          <a:bodyPr>
            <a:normAutofit/>
          </a:bodyPr>
          <a:lstStyle/>
          <a:p>
            <a:r>
              <a:rPr lang="en-US" sz="3000" dirty="0" smtClean="0"/>
              <a:t>Letter of Complaints</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
            </a:pPr>
            <a:r>
              <a:rPr lang="en-US" sz="2600" b="1" dirty="0" smtClean="0"/>
              <a:t>Letter of Complaint:</a:t>
            </a:r>
          </a:p>
          <a:p>
            <a:pPr>
              <a:buFont typeface="Wingdings 2"/>
              <a:buChar char="¡"/>
            </a:pPr>
            <a:r>
              <a:rPr lang="en-US" sz="2600" dirty="0" smtClean="0"/>
              <a:t>A letter in which buyers make a claim against the seller or supplier is called letter of complaint.</a:t>
            </a:r>
          </a:p>
          <a:p>
            <a:pPr>
              <a:buFont typeface="Wingdings 2"/>
              <a:buChar char="¡"/>
            </a:pPr>
            <a:r>
              <a:rPr lang="en-US" sz="2600" dirty="0" smtClean="0"/>
              <a:t>Complaints letter are two types:</a:t>
            </a:r>
          </a:p>
          <a:p>
            <a:pPr>
              <a:buFont typeface="Wingdings 3"/>
              <a:buChar char=""/>
            </a:pPr>
            <a:r>
              <a:rPr lang="en-US" sz="2600" dirty="0" smtClean="0"/>
              <a:t>First, complaints about unfair treatment, poor policies etc.</a:t>
            </a:r>
          </a:p>
          <a:p>
            <a:pPr>
              <a:buFont typeface="Wingdings 3"/>
              <a:buChar char=""/>
            </a:pPr>
            <a:r>
              <a:rPr lang="en-US" sz="2600" dirty="0" smtClean="0"/>
              <a:t>Second, request for adjustment of defective goods, or poor services, or not delivering the goods or service as per order.</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a:ln>
            <a:solidFill>
              <a:schemeClr val="accent1"/>
            </a:solidFill>
          </a:ln>
        </p:spPr>
        <p:txBody>
          <a:bodyPr>
            <a:normAutofit/>
          </a:bodyPr>
          <a:lstStyle/>
          <a:p>
            <a:r>
              <a:rPr lang="en-US" sz="3000" dirty="0" smtClean="0"/>
              <a:t>Factors To Be Considered In Drafting A Letter Of Complaints</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²"/>
            </a:pPr>
            <a:r>
              <a:rPr lang="en-US" sz="2600" dirty="0" smtClean="0"/>
              <a:t>Running a business enterprise involves many men, materials, machinery and products. So it s nothing unusual to have errors or faults in business.</a:t>
            </a:r>
          </a:p>
          <a:p>
            <a:pPr>
              <a:buFont typeface="Wingdings 2"/>
              <a:buChar char="²"/>
            </a:pPr>
            <a:r>
              <a:rPr lang="en-US" sz="2600" dirty="0" smtClean="0"/>
              <a:t>The following points should be considered during drafting a complaint letter.</a:t>
            </a:r>
          </a:p>
          <a:p>
            <a:pPr>
              <a:buFont typeface="Wingdings 2"/>
              <a:buChar char="A"/>
            </a:pPr>
            <a:r>
              <a:rPr lang="en-US" sz="2600" dirty="0" smtClean="0"/>
              <a:t>Complaint should be placed </a:t>
            </a:r>
            <a:r>
              <a:rPr lang="en-US" sz="2600" b="1" dirty="0" smtClean="0"/>
              <a:t>indirectly</a:t>
            </a:r>
            <a:r>
              <a:rPr lang="en-US" sz="2600" dirty="0" smtClean="0"/>
              <a:t>, so that the receiver is not hurt.</a:t>
            </a:r>
          </a:p>
          <a:p>
            <a:pPr>
              <a:buFont typeface="Wingdings 2"/>
              <a:buChar char="A"/>
            </a:pPr>
            <a:r>
              <a:rPr lang="en-US" sz="2600" dirty="0" smtClean="0"/>
              <a:t>What is wrong should be </a:t>
            </a:r>
            <a:r>
              <a:rPr lang="en-US" sz="2600" b="1" dirty="0" smtClean="0"/>
              <a:t>presented clearly.</a:t>
            </a:r>
          </a:p>
          <a:p>
            <a:pPr>
              <a:buFont typeface="Wingdings 2"/>
              <a:buChar char="A"/>
            </a:pPr>
            <a:r>
              <a:rPr lang="en-US" sz="2600" b="1" dirty="0" smtClean="0"/>
              <a:t>Option</a:t>
            </a:r>
            <a:r>
              <a:rPr lang="en-US" sz="2600" dirty="0" smtClean="0"/>
              <a:t> should be given for solution.</a:t>
            </a:r>
          </a:p>
          <a:p>
            <a:pPr>
              <a:buFont typeface="Wingdings 2"/>
              <a:buChar char="A"/>
            </a:pPr>
            <a:r>
              <a:rPr lang="en-US" sz="2600" dirty="0" smtClean="0"/>
              <a:t>The tone of letter should be </a:t>
            </a:r>
            <a:r>
              <a:rPr lang="en-US" sz="2600" b="1" dirty="0" smtClean="0"/>
              <a:t>lucid,</a:t>
            </a:r>
            <a:r>
              <a:rPr lang="en-US" sz="2600" dirty="0" smtClean="0"/>
              <a:t> easy and understandable.</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A"/>
            </a:pPr>
            <a:r>
              <a:rPr lang="en-US" sz="2600" dirty="0" smtClean="0"/>
              <a:t>The </a:t>
            </a:r>
            <a:r>
              <a:rPr lang="en-US" sz="2600" b="1" dirty="0" smtClean="0"/>
              <a:t>ending of the letter should be very friendly </a:t>
            </a:r>
            <a:r>
              <a:rPr lang="en-US" sz="2600" dirty="0" smtClean="0"/>
              <a:t>but firm.</a:t>
            </a:r>
          </a:p>
          <a:p>
            <a:pPr>
              <a:buFont typeface="Wingdings 2"/>
              <a:buChar char="A"/>
            </a:pPr>
            <a:r>
              <a:rPr lang="en-US" sz="2600" dirty="0" smtClean="0"/>
              <a:t>All matters of a complaint letter must be clear, </a:t>
            </a:r>
            <a:r>
              <a:rPr lang="en-US" sz="2600" b="1" dirty="0" smtClean="0"/>
              <a:t>complete </a:t>
            </a:r>
            <a:r>
              <a:rPr lang="en-US" sz="2600" dirty="0" smtClean="0"/>
              <a:t>and accurate.</a:t>
            </a:r>
          </a:p>
          <a:p>
            <a:pPr>
              <a:buFont typeface="Wingdings 2"/>
              <a:buChar char="A"/>
            </a:pPr>
            <a:r>
              <a:rPr lang="en-US" sz="2600" b="1" dirty="0" smtClean="0"/>
              <a:t>Necessary facts and documents </a:t>
            </a:r>
            <a:r>
              <a:rPr lang="en-US" sz="2600" dirty="0" smtClean="0"/>
              <a:t>of complaints should be attached with the complaint letter.</a:t>
            </a:r>
          </a:p>
          <a:p>
            <a:pPr>
              <a:buFont typeface="Wingdings 2"/>
              <a:buChar char="A"/>
            </a:pPr>
            <a:r>
              <a:rPr lang="en-US" sz="2600" dirty="0" smtClean="0"/>
              <a:t>There is no scope of showing </a:t>
            </a:r>
            <a:r>
              <a:rPr lang="en-US" sz="2600" b="1" dirty="0" smtClean="0"/>
              <a:t>anger and irrationality </a:t>
            </a:r>
            <a:r>
              <a:rPr lang="en-US" sz="2600" dirty="0" smtClean="0"/>
              <a:t>in a complaint letter.</a:t>
            </a:r>
            <a:endParaRPr lang="en-US" sz="2600" dirty="0"/>
          </a:p>
        </p:txBody>
      </p:sp>
      <p:sp>
        <p:nvSpPr>
          <p:cNvPr id="4" name="Title 1"/>
          <p:cNvSpPr txBox="1">
            <a:spLocks/>
          </p:cNvSpPr>
          <p:nvPr/>
        </p:nvSpPr>
        <p:spPr>
          <a:xfrm>
            <a:off x="457200" y="304800"/>
            <a:ext cx="8229600" cy="1143000"/>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Factors To Be Considered In Drafting A Letter Of Complaints</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4114800" cy="792162"/>
          </a:xfrm>
          <a:solidFill>
            <a:schemeClr val="accent1">
              <a:lumMod val="20000"/>
              <a:lumOff val="80000"/>
            </a:schemeClr>
          </a:solidFill>
          <a:ln>
            <a:solidFill>
              <a:schemeClr val="accent1"/>
            </a:solidFill>
          </a:ln>
        </p:spPr>
        <p:txBody>
          <a:bodyPr>
            <a:normAutofit/>
          </a:bodyPr>
          <a:lstStyle/>
          <a:p>
            <a:r>
              <a:rPr lang="en-US" sz="3000" dirty="0" smtClean="0"/>
              <a:t>Adjustment Letter</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b="1" dirty="0" smtClean="0"/>
              <a:t>Adjustment Letter:</a:t>
            </a:r>
          </a:p>
          <a:p>
            <a:pPr>
              <a:buFont typeface="Wingdings 2"/>
              <a:buChar char="A"/>
            </a:pPr>
            <a:r>
              <a:rPr lang="en-US" sz="2600" dirty="0" smtClean="0"/>
              <a:t>The letter which is written in reply to a complaint letter is called adjustment letter.</a:t>
            </a:r>
          </a:p>
          <a:p>
            <a:pPr>
              <a:buFont typeface="Wingdings 2"/>
              <a:buChar char="A"/>
            </a:pPr>
            <a:r>
              <a:rPr lang="en-US" sz="2600" dirty="0" smtClean="0"/>
              <a:t>Factors to be considered in drafting an adjustment letter:</a:t>
            </a:r>
          </a:p>
          <a:p>
            <a:pPr>
              <a:buFont typeface="Wingdings 2"/>
              <a:buChar char="A"/>
            </a:pPr>
            <a:r>
              <a:rPr lang="en-US" sz="2600" dirty="0" smtClean="0"/>
              <a:t>Adjustment letter should be written </a:t>
            </a:r>
            <a:r>
              <a:rPr lang="en-US" sz="2600" b="1" dirty="0" smtClean="0"/>
              <a:t>promptly </a:t>
            </a:r>
            <a:r>
              <a:rPr lang="en-US" sz="2600" dirty="0" smtClean="0"/>
              <a:t>after receiving any complaints.</a:t>
            </a:r>
          </a:p>
          <a:p>
            <a:pPr>
              <a:buFont typeface="Wingdings 2"/>
              <a:buChar char="A"/>
            </a:pPr>
            <a:r>
              <a:rPr lang="en-US" sz="2600" dirty="0" smtClean="0"/>
              <a:t>Pay special attention in helping the readers </a:t>
            </a:r>
            <a:r>
              <a:rPr lang="en-US" sz="2600" b="1" dirty="0" smtClean="0"/>
              <a:t>understand the reasons</a:t>
            </a:r>
            <a:r>
              <a:rPr lang="en-US" sz="2600" dirty="0" smtClean="0"/>
              <a:t> for your decision by explaining the causes of refusal clearly.</a:t>
            </a:r>
            <a:endParaRPr lang="en-US" sz="2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4038600" cy="4525963"/>
          </a:xfrm>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A"/>
            </a:pPr>
            <a:r>
              <a:rPr lang="en-US" sz="2600" dirty="0" smtClean="0"/>
              <a:t>The should tell the customer </a:t>
            </a:r>
            <a:r>
              <a:rPr lang="en-US" sz="2600" b="1" dirty="0" smtClean="0"/>
              <a:t>exactly</a:t>
            </a:r>
            <a:r>
              <a:rPr lang="en-US" sz="2600" dirty="0" smtClean="0"/>
              <a:t> what he is going to do about his complaints and claims.</a:t>
            </a:r>
          </a:p>
          <a:p>
            <a:pPr>
              <a:buFont typeface="Wingdings 2"/>
              <a:buChar char="A"/>
            </a:pPr>
            <a:r>
              <a:rPr lang="en-US" sz="2600" dirty="0" smtClean="0"/>
              <a:t>The writer should always try to conclude the adjustment letter with a </a:t>
            </a:r>
            <a:r>
              <a:rPr lang="en-US" sz="2600" b="1" dirty="0" smtClean="0"/>
              <a:t>positive statement.</a:t>
            </a:r>
            <a:endParaRPr lang="en-US" sz="2600" b="1" dirty="0"/>
          </a:p>
        </p:txBody>
      </p:sp>
      <p:sp>
        <p:nvSpPr>
          <p:cNvPr id="4" name="Title 1"/>
          <p:cNvSpPr txBox="1">
            <a:spLocks/>
          </p:cNvSpPr>
          <p:nvPr/>
        </p:nvSpPr>
        <p:spPr>
          <a:xfrm>
            <a:off x="457200" y="274638"/>
            <a:ext cx="4114800" cy="7921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Adjustment Letter</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1026" name="Picture 2" descr="F:\Mahbuba\Moni\Characters\927.jpg"/>
          <p:cNvPicPr>
            <a:picLocks noChangeAspect="1" noChangeArrowheads="1"/>
          </p:cNvPicPr>
          <p:nvPr/>
        </p:nvPicPr>
        <p:blipFill>
          <a:blip r:embed="rId2"/>
          <a:srcRect/>
          <a:stretch>
            <a:fillRect/>
          </a:stretch>
        </p:blipFill>
        <p:spPr bwMode="auto">
          <a:xfrm>
            <a:off x="5257800" y="2057400"/>
            <a:ext cx="2993478" cy="3200400"/>
          </a:xfrm>
          <a:prstGeom prst="rect">
            <a:avLst/>
          </a:prstGeom>
          <a:solidFill>
            <a:srgbClr val="FFFFFF">
              <a:shade val="85000"/>
            </a:srgbClr>
          </a:solidFill>
          <a:ln w="38100" cap="rnd">
            <a:solidFill>
              <a:schemeClr val="accent1"/>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a:solidFill>
            <a:schemeClr val="accent1">
              <a:lumMod val="20000"/>
              <a:lumOff val="80000"/>
            </a:schemeClr>
          </a:solidFill>
          <a:ln>
            <a:solidFill>
              <a:schemeClr val="accent1"/>
            </a:solidFill>
          </a:ln>
        </p:spPr>
        <p:txBody>
          <a:bodyPr numCol="2">
            <a:noAutofit/>
          </a:bodyPr>
          <a:lstStyle/>
          <a:p>
            <a:pPr algn="l">
              <a:lnSpc>
                <a:spcPct val="150000"/>
              </a:lnSpc>
            </a:pPr>
            <a:r>
              <a:rPr lang="en-US" sz="3000" dirty="0" smtClean="0"/>
              <a:t>What is a CV</a:t>
            </a:r>
            <a:br>
              <a:rPr lang="en-US" sz="3000" dirty="0" smtClean="0"/>
            </a:b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pitchFamily="18" charset="2"/>
              <a:buChar char="©"/>
            </a:pPr>
            <a:r>
              <a:rPr lang="en-US" sz="2600" b="1" dirty="0" smtClean="0"/>
              <a:t>Curriculum Vitae</a:t>
            </a:r>
          </a:p>
          <a:p>
            <a:pPr>
              <a:buNone/>
            </a:pPr>
            <a:r>
              <a:rPr lang="en-US" sz="2600" b="1" dirty="0" smtClean="0"/>
              <a:t>    </a:t>
            </a:r>
            <a:r>
              <a:rPr lang="en-US" sz="2600" i="1" dirty="0" smtClean="0">
                <a:effectLst>
                  <a:outerShdw blurRad="38100" dist="38100" dir="2700000" algn="tl">
                    <a:srgbClr val="000000">
                      <a:alpha val="43137"/>
                    </a:srgbClr>
                  </a:outerShdw>
                </a:effectLst>
              </a:rPr>
              <a:t>an outline of a person's educational and professional history, usually prepared for job applications (the course of one's life). </a:t>
            </a:r>
          </a:p>
          <a:p>
            <a:pPr>
              <a:buFont typeface="Wingdings" pitchFamily="2" charset="2"/>
              <a:buChar char="§"/>
            </a:pPr>
            <a:r>
              <a:rPr lang="en-US" sz="2600" dirty="0" smtClean="0"/>
              <a:t>Another name for a CV is a </a:t>
            </a:r>
            <a:r>
              <a:rPr lang="en-US" sz="2600" i="1" dirty="0" smtClean="0"/>
              <a:t>résumé</a:t>
            </a:r>
            <a:r>
              <a:rPr lang="en-US" sz="2600" dirty="0" smtClean="0"/>
              <a:t>.</a:t>
            </a:r>
          </a:p>
          <a:p>
            <a:pPr>
              <a:buFont typeface="Wingdings" pitchFamily="2" charset="2"/>
              <a:buChar char="§"/>
            </a:pPr>
            <a:r>
              <a:rPr lang="en-US" sz="2600" dirty="0" smtClean="0"/>
              <a:t>A CV is the most flexible and convenient way to make applications. </a:t>
            </a:r>
          </a:p>
          <a:p>
            <a:pPr>
              <a:buFont typeface="Wingdings" pitchFamily="2" charset="2"/>
              <a:buChar char="§"/>
            </a:pPr>
            <a:r>
              <a:rPr lang="en-US" sz="2600" dirty="0" smtClean="0"/>
              <a:t>It conveys your personal details in the way that presents you in the best possible light.</a:t>
            </a:r>
            <a:r>
              <a:rPr lang="en-US" sz="2600" b="1" dirty="0" smtClean="0"/>
              <a:t> </a:t>
            </a:r>
            <a:endParaRPr lang="en-US" sz="26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pitchFamily="2" charset="2"/>
              <a:buChar char="§"/>
            </a:pPr>
            <a:r>
              <a:rPr lang="en-US" sz="2600" dirty="0" smtClean="0"/>
              <a:t>A CV is a marketing document in which you are marketing something: yourself! </a:t>
            </a:r>
          </a:p>
          <a:p>
            <a:pPr>
              <a:buFont typeface="Wingdings" pitchFamily="2" charset="2"/>
              <a:buChar char="§"/>
            </a:pPr>
            <a:r>
              <a:rPr lang="en-US" sz="2600" dirty="0" smtClean="0"/>
              <a:t>You need to "sell" your skills, abilities, qualifications and experience to employers. </a:t>
            </a:r>
          </a:p>
          <a:p>
            <a:pPr>
              <a:buFont typeface="Wingdings" pitchFamily="2" charset="2"/>
              <a:buChar char="§"/>
            </a:pPr>
            <a:r>
              <a:rPr lang="en-US" sz="2600" dirty="0" smtClean="0"/>
              <a:t>It can be used to make multiple applications to employers in a specific career area. </a:t>
            </a:r>
          </a:p>
          <a:p>
            <a:pPr>
              <a:buFont typeface="Wingdings" pitchFamily="2" charset="2"/>
              <a:buChar char="§"/>
            </a:pPr>
            <a:r>
              <a:rPr lang="en-US" sz="2600" dirty="0" smtClean="0"/>
              <a:t>For this reason, many large graduate recruiters will not accept CVs and instead use their own application form. </a:t>
            </a:r>
          </a:p>
          <a:p>
            <a:endParaRPr lang="en-US" sz="2600" dirty="0"/>
          </a:p>
        </p:txBody>
      </p:sp>
      <p:sp>
        <p:nvSpPr>
          <p:cNvPr id="4" name="Title 1"/>
          <p:cNvSpPr txBox="1">
            <a:spLocks/>
          </p:cNvSpPr>
          <p:nvPr/>
        </p:nvSpPr>
        <p:spPr>
          <a:xfrm>
            <a:off x="457200" y="228600"/>
            <a:ext cx="8229600" cy="685800"/>
          </a:xfrm>
          <a:prstGeom prst="rect">
            <a:avLst/>
          </a:prstGeom>
          <a:solidFill>
            <a:schemeClr val="accent1">
              <a:lumMod val="20000"/>
              <a:lumOff val="80000"/>
            </a:schemeClr>
          </a:solidFill>
          <a:ln>
            <a:solidFill>
              <a:schemeClr val="accent1"/>
            </a:solidFill>
          </a:ln>
        </p:spPr>
        <p:txBody>
          <a:bodyPr vert="horz" lIns="91440" tIns="45720" rIns="91440" bIns="45720" numCol="2" rtlCol="0" anchor="ctr">
            <a:noAutofit/>
          </a:body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What is a CV</a:t>
            </a:r>
            <a:br>
              <a:rPr kumimoji="0" lang="en-US" sz="3000" b="0" i="0" u="none" strike="noStrike" kern="1200" cap="none" spc="0" normalizeH="0" baseline="0" noProof="0" dirty="0" smtClean="0">
                <a:ln>
                  <a:noFill/>
                </a:ln>
                <a:solidFill>
                  <a:schemeClr val="tx1"/>
                </a:solidFill>
                <a:effectLst/>
                <a:uLnTx/>
                <a:uFillTx/>
                <a:latin typeface="+mj-lt"/>
                <a:ea typeface="+mj-ea"/>
                <a:cs typeface="+mj-cs"/>
              </a:rPr>
            </a:b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4572000" cy="6248400"/>
          </a:xfrm>
        </p:spPr>
        <p:style>
          <a:lnRef idx="2">
            <a:schemeClr val="accent1"/>
          </a:lnRef>
          <a:fillRef idx="1">
            <a:schemeClr val="lt1"/>
          </a:fillRef>
          <a:effectRef idx="0">
            <a:schemeClr val="accent1"/>
          </a:effectRef>
          <a:fontRef idx="minor">
            <a:schemeClr val="dk1"/>
          </a:fontRef>
        </p:style>
        <p:txBody>
          <a:bodyPr>
            <a:noAutofit/>
          </a:bodyPr>
          <a:lstStyle/>
          <a:p>
            <a:pPr algn="just">
              <a:buNone/>
            </a:pPr>
            <a:r>
              <a:rPr lang="en-US" sz="2600" dirty="0" smtClean="0">
                <a:sym typeface="Wingdings 2"/>
              </a:rPr>
              <a:t> </a:t>
            </a:r>
            <a:r>
              <a:rPr lang="en-US" sz="2600" b="1" dirty="0" smtClean="0"/>
              <a:t>Application Form</a:t>
            </a:r>
          </a:p>
          <a:p>
            <a:pPr algn="just">
              <a:buFont typeface="Wingdings" pitchFamily="2" charset="2"/>
              <a:buChar char="§"/>
            </a:pPr>
            <a:r>
              <a:rPr lang="en-US" sz="2600" dirty="0" smtClean="0"/>
              <a:t>An application form is designed to bring out the essential information and personal qualities that the employer requires and does not allow you to gloss over your weaker points as a CV does.</a:t>
            </a:r>
          </a:p>
          <a:p>
            <a:pPr algn="just">
              <a:buFont typeface="Wingdings" pitchFamily="2" charset="2"/>
              <a:buChar char="§"/>
            </a:pPr>
            <a:r>
              <a:rPr lang="en-US" sz="2600" dirty="0" smtClean="0"/>
              <a:t>In addition, the time needed to fill out these forms is seen as a reflection of your commitment to the career. </a:t>
            </a:r>
          </a:p>
          <a:p>
            <a:pPr algn="just"/>
            <a:endParaRPr lang="en-US" sz="2600" dirty="0"/>
          </a:p>
        </p:txBody>
      </p:sp>
      <p:pic>
        <p:nvPicPr>
          <p:cNvPr id="4098" name="Picture 2"/>
          <p:cNvPicPr>
            <a:picLocks noChangeAspect="1" noChangeArrowheads="1"/>
          </p:cNvPicPr>
          <p:nvPr/>
        </p:nvPicPr>
        <p:blipFill>
          <a:blip r:embed="rId2"/>
          <a:srcRect/>
          <a:stretch>
            <a:fillRect/>
          </a:stretch>
        </p:blipFill>
        <p:spPr bwMode="auto">
          <a:xfrm>
            <a:off x="5410200" y="914400"/>
            <a:ext cx="3342382" cy="47244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lvl="0">
              <a:buFont typeface="Wingdings" pitchFamily="2" charset="2"/>
              <a:buChar char="X"/>
            </a:pPr>
            <a:r>
              <a:rPr lang="en-US" sz="2600" dirty="0" smtClean="0"/>
              <a:t>When an employer asks for applications to be received in this format</a:t>
            </a:r>
          </a:p>
          <a:p>
            <a:pPr lvl="0">
              <a:buFont typeface="Wingdings" pitchFamily="2" charset="2"/>
              <a:buChar char="X"/>
            </a:pPr>
            <a:r>
              <a:rPr lang="en-US" sz="2600" dirty="0" smtClean="0"/>
              <a:t>When an employer simply states "apply to ..." without specifying the format</a:t>
            </a:r>
          </a:p>
          <a:p>
            <a:pPr lvl="0">
              <a:buFont typeface="Wingdings" pitchFamily="2" charset="2"/>
              <a:buChar char="X"/>
            </a:pPr>
            <a:r>
              <a:rPr lang="en-US" sz="2600" dirty="0" smtClean="0"/>
              <a:t>When making </a:t>
            </a:r>
            <a:r>
              <a:rPr lang="en-US" sz="2600" b="1" dirty="0" smtClean="0"/>
              <a:t>speculative applications</a:t>
            </a:r>
          </a:p>
          <a:p>
            <a:pPr lvl="0">
              <a:buNone/>
            </a:pPr>
            <a:r>
              <a:rPr lang="en-US" sz="2600" b="1" dirty="0" smtClean="0"/>
              <a:t>    </a:t>
            </a:r>
            <a:r>
              <a:rPr lang="en-US" sz="2600" dirty="0" smtClean="0"/>
              <a:t> (when writing to an employer who has not advertised a vacancy but who you hope my have one) </a:t>
            </a:r>
          </a:p>
          <a:p>
            <a:endParaRPr lang="en-US" sz="2600" dirty="0"/>
          </a:p>
        </p:txBody>
      </p:sp>
      <p:sp>
        <p:nvSpPr>
          <p:cNvPr id="4" name="Title 3"/>
          <p:cNvSpPr>
            <a:spLocks noGrp="1"/>
          </p:cNvSpPr>
          <p:nvPr>
            <p:ph type="title"/>
          </p:nvPr>
        </p:nvSpPr>
        <p:spPr>
          <a:xfrm>
            <a:off x="457200" y="274638"/>
            <a:ext cx="8229600" cy="639762"/>
          </a:xfrm>
          <a:solidFill>
            <a:schemeClr val="accent1">
              <a:lumMod val="20000"/>
              <a:lumOff val="80000"/>
            </a:schemeClr>
          </a:solidFill>
          <a:ln>
            <a:solidFill>
              <a:schemeClr val="accent1"/>
            </a:solidFill>
          </a:ln>
        </p:spPr>
        <p:txBody>
          <a:bodyPr>
            <a:normAutofit/>
          </a:bodyPr>
          <a:lstStyle/>
          <a:p>
            <a:pPr algn="l"/>
            <a:r>
              <a:rPr lang="en-US" sz="3000" dirty="0" smtClean="0"/>
              <a:t>When Should a CV be Used</a:t>
            </a:r>
            <a:endParaRPr lang="en-US" sz="30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chemeClr val="accent1">
              <a:lumMod val="20000"/>
              <a:lumOff val="80000"/>
            </a:schemeClr>
          </a:solidFill>
          <a:ln>
            <a:solidFill>
              <a:schemeClr val="accent1"/>
            </a:solidFill>
          </a:ln>
        </p:spPr>
        <p:txBody>
          <a:bodyPr numCol="1" anchor="t">
            <a:normAutofit fontScale="90000"/>
          </a:bodyPr>
          <a:lstStyle/>
          <a:p>
            <a:pPr algn="l"/>
            <a:r>
              <a:rPr lang="en-US" sz="3300" dirty="0" smtClean="0"/>
              <a:t>What information should a CV include?</a:t>
            </a:r>
            <a:r>
              <a:rPr lang="en-US" sz="3000" dirty="0" smtClean="0"/>
              <a:t/>
            </a:r>
            <a:br>
              <a:rPr lang="en-US" sz="3000" dirty="0" smtClean="0"/>
            </a:b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pitchFamily="2" charset="2"/>
              <a:buChar char="ü"/>
            </a:pPr>
            <a:r>
              <a:rPr lang="en-US" sz="2600" b="1" dirty="0" smtClean="0"/>
              <a:t>Personal details </a:t>
            </a:r>
          </a:p>
          <a:p>
            <a:pPr>
              <a:buNone/>
            </a:pPr>
            <a:r>
              <a:rPr lang="en-US" sz="2600" dirty="0" smtClean="0">
                <a:latin typeface="Wide Latin"/>
                <a:sym typeface="Wingdings 2"/>
              </a:rPr>
              <a:t>– </a:t>
            </a:r>
            <a:r>
              <a:rPr lang="en-US" sz="2600" dirty="0" smtClean="0"/>
              <a:t>Normally these would be your </a:t>
            </a:r>
          </a:p>
          <a:p>
            <a:pPr>
              <a:buFont typeface="Wingdings 2" pitchFamily="18" charset="2"/>
              <a:buChar char="A"/>
            </a:pPr>
            <a:r>
              <a:rPr lang="en-US" sz="2600" dirty="0" smtClean="0"/>
              <a:t>name, </a:t>
            </a:r>
          </a:p>
          <a:p>
            <a:pPr>
              <a:buFont typeface="Wingdings 2" pitchFamily="18" charset="2"/>
              <a:buChar char="A"/>
            </a:pPr>
            <a:r>
              <a:rPr lang="en-US" sz="2600" dirty="0" smtClean="0"/>
              <a:t>address, </a:t>
            </a:r>
          </a:p>
          <a:p>
            <a:pPr>
              <a:buFont typeface="Wingdings 2" pitchFamily="18" charset="2"/>
              <a:buChar char="A"/>
            </a:pPr>
            <a:r>
              <a:rPr lang="en-US" sz="2600" dirty="0" smtClean="0"/>
              <a:t>date of birth (although with age discrimination laws now in force this isn't essential), </a:t>
            </a:r>
          </a:p>
          <a:p>
            <a:pPr>
              <a:buFont typeface="Wingdings 2" pitchFamily="18" charset="2"/>
              <a:buChar char="A"/>
            </a:pPr>
            <a:r>
              <a:rPr lang="en-US" sz="2600" dirty="0" smtClean="0"/>
              <a:t>telephone number and </a:t>
            </a:r>
          </a:p>
          <a:p>
            <a:pPr>
              <a:buFont typeface="Wingdings 2" pitchFamily="18" charset="2"/>
              <a:buChar char="A"/>
            </a:pPr>
            <a:r>
              <a:rPr lang="en-US" sz="2600" dirty="0" smtClean="0"/>
              <a:t>email. </a:t>
            </a:r>
          </a:p>
          <a:p>
            <a:endParaRPr lang="en-US" sz="2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257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b="1" dirty="0" smtClean="0">
                <a:sym typeface="Wingdings"/>
              </a:rPr>
              <a:t> </a:t>
            </a:r>
            <a:r>
              <a:rPr lang="en-US" sz="2600" b="1" dirty="0" smtClean="0"/>
              <a:t>Education and qualifications </a:t>
            </a:r>
            <a:endParaRPr lang="en-US" sz="2600" dirty="0" smtClean="0"/>
          </a:p>
          <a:p>
            <a:pPr>
              <a:buFont typeface="Wingdings 2" pitchFamily="18" charset="2"/>
              <a:buChar char="A"/>
            </a:pPr>
            <a:r>
              <a:rPr lang="en-US" sz="2600" dirty="0" smtClean="0"/>
              <a:t>Your degree </a:t>
            </a:r>
          </a:p>
          <a:p>
            <a:pPr>
              <a:buFont typeface="Wingdings 2" pitchFamily="18" charset="2"/>
              <a:buChar char="A"/>
            </a:pPr>
            <a:r>
              <a:rPr lang="en-US" sz="2600" dirty="0" smtClean="0"/>
              <a:t> subject and</a:t>
            </a:r>
          </a:p>
          <a:p>
            <a:pPr>
              <a:buFont typeface="Wingdings 2" pitchFamily="18" charset="2"/>
              <a:buChar char="A"/>
            </a:pPr>
            <a:r>
              <a:rPr lang="en-US" sz="2600" dirty="0" smtClean="0"/>
              <a:t> university, plus S.S.C. H.S.C. or equivalents. </a:t>
            </a:r>
          </a:p>
          <a:p>
            <a:pPr>
              <a:buFont typeface="Wingdings 2" pitchFamily="18" charset="2"/>
              <a:buChar char="A"/>
            </a:pPr>
            <a:r>
              <a:rPr lang="en-US" sz="2600" dirty="0" smtClean="0"/>
              <a:t>Mention grades unless poor!</a:t>
            </a:r>
          </a:p>
          <a:p>
            <a:pPr>
              <a:buNone/>
            </a:pPr>
            <a:r>
              <a:rPr lang="en-US" sz="2600" b="1" dirty="0" smtClean="0">
                <a:sym typeface="Wingdings"/>
              </a:rPr>
              <a:t> </a:t>
            </a:r>
            <a:r>
              <a:rPr lang="en-US" sz="2600" b="1" dirty="0" smtClean="0"/>
              <a:t>Work experience </a:t>
            </a:r>
            <a:endParaRPr lang="en-US" sz="2600" dirty="0" smtClean="0"/>
          </a:p>
          <a:p>
            <a:pPr lvl="0">
              <a:buFont typeface="Wingdings 2" pitchFamily="18" charset="2"/>
              <a:buChar char="A"/>
            </a:pPr>
            <a:r>
              <a:rPr lang="en-US" sz="2600" dirty="0" smtClean="0"/>
              <a:t>Try to relate the </a:t>
            </a:r>
            <a:r>
              <a:rPr lang="en-US" sz="2600" dirty="0" smtClean="0">
                <a:solidFill>
                  <a:schemeClr val="tx1"/>
                </a:solidFill>
              </a:rPr>
              <a:t>skills </a:t>
            </a:r>
            <a:r>
              <a:rPr lang="en-US" sz="2600" dirty="0" smtClean="0"/>
              <a:t>to the job.</a:t>
            </a:r>
          </a:p>
          <a:p>
            <a:pPr lvl="0">
              <a:buFont typeface="Wingdings 2" pitchFamily="18" charset="2"/>
              <a:buChar char="A"/>
            </a:pPr>
            <a:r>
              <a:rPr lang="en-US" sz="2600" dirty="0" smtClean="0"/>
              <a:t>A finance job will involve </a:t>
            </a:r>
            <a:r>
              <a:rPr lang="en-US" sz="2600" dirty="0" smtClean="0">
                <a:solidFill>
                  <a:schemeClr val="tx1"/>
                </a:solidFill>
              </a:rPr>
              <a:t>numeracy</a:t>
            </a:r>
            <a:r>
              <a:rPr lang="en-US" sz="2600" dirty="0" smtClean="0"/>
              <a:t>, analytical and problem solving skills so focus on these whereas for a marketing role you would place a bit more emphasis on persuading and negotiating skills. </a:t>
            </a:r>
          </a:p>
          <a:p>
            <a:endParaRPr lang="en-US" sz="2600" dirty="0" smtClean="0"/>
          </a:p>
          <a:p>
            <a:endParaRPr lang="en-US" sz="2600" dirty="0"/>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numCol="1"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What information should a CV include?</a:t>
            </a:r>
            <a:br>
              <a:rPr kumimoji="0" lang="en-US" sz="3000" b="0" i="0" u="none" strike="noStrike" kern="1200" cap="none" spc="0" normalizeH="0" baseline="0" noProof="0" dirty="0" smtClean="0">
                <a:ln>
                  <a:noFill/>
                </a:ln>
                <a:solidFill>
                  <a:schemeClr val="tx1"/>
                </a:solidFill>
                <a:effectLst/>
                <a:uLnTx/>
                <a:uFillTx/>
                <a:latin typeface="+mj-lt"/>
                <a:ea typeface="+mj-ea"/>
                <a:cs typeface="+mj-cs"/>
              </a:rPr>
            </a:b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4343400" cy="42672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b="1" dirty="0" smtClean="0">
                <a:sym typeface="Wingdings"/>
              </a:rPr>
              <a:t> </a:t>
            </a:r>
            <a:r>
              <a:rPr lang="en-US" sz="2600" b="1" dirty="0" smtClean="0"/>
              <a:t>Interests and achievements</a:t>
            </a:r>
          </a:p>
          <a:p>
            <a:pPr>
              <a:buFont typeface="Wingdings 2" pitchFamily="18" charset="2"/>
              <a:buChar char="A"/>
            </a:pPr>
            <a:r>
              <a:rPr lang="en-US" sz="2600" dirty="0" smtClean="0"/>
              <a:t>Keep this section short and to the point.</a:t>
            </a:r>
          </a:p>
          <a:p>
            <a:pPr>
              <a:buFont typeface="Wingdings 2" pitchFamily="18" charset="2"/>
              <a:buChar char="A"/>
            </a:pPr>
            <a:r>
              <a:rPr lang="en-US" sz="2600" dirty="0" smtClean="0"/>
              <a:t>Bullets can be used to separate interests into different types: sporting, creative etc. </a:t>
            </a:r>
          </a:p>
          <a:p>
            <a:pPr>
              <a:buFont typeface="Wingdings 2" pitchFamily="18" charset="2"/>
              <a:buChar char="A"/>
            </a:pPr>
            <a:r>
              <a:rPr lang="en-US" sz="2600" dirty="0" smtClean="0"/>
              <a:t>Don't use the old boring clichés here: "socializing with friends".</a:t>
            </a:r>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numCol="1"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What information should a CV include?</a:t>
            </a:r>
            <a:br>
              <a:rPr kumimoji="0" lang="en-US" sz="3000" b="0" i="0" u="none" strike="noStrike" kern="1200" cap="none" spc="0" normalizeH="0" baseline="0" noProof="0" dirty="0" smtClean="0">
                <a:ln>
                  <a:noFill/>
                </a:ln>
                <a:solidFill>
                  <a:schemeClr val="tx1"/>
                </a:solidFill>
                <a:effectLst/>
                <a:uLnTx/>
                <a:uFillTx/>
                <a:latin typeface="+mj-lt"/>
                <a:ea typeface="+mj-ea"/>
                <a:cs typeface="+mj-cs"/>
              </a:rPr>
            </a:b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pic>
        <p:nvPicPr>
          <p:cNvPr id="22529" name="Picture 1" descr="F:\Mahbuba\Moni\Characters\29.jpeg"/>
          <p:cNvPicPr>
            <a:picLocks noChangeAspect="1" noChangeArrowheads="1"/>
          </p:cNvPicPr>
          <p:nvPr/>
        </p:nvPicPr>
        <p:blipFill>
          <a:blip r:embed="rId2"/>
          <a:srcRect/>
          <a:stretch>
            <a:fillRect/>
          </a:stretch>
        </p:blipFill>
        <p:spPr bwMode="auto">
          <a:xfrm>
            <a:off x="5715000" y="1811569"/>
            <a:ext cx="2819400" cy="3598631"/>
          </a:xfrm>
          <a:prstGeom prst="ellipse">
            <a:avLst/>
          </a:prstGeom>
          <a:ln w="28575" cap="rnd">
            <a:solidFill>
              <a:schemeClr val="accent1"/>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buFont typeface="Wingdings 2" pitchFamily="18" charset="2"/>
              <a:buChar char="A"/>
            </a:pPr>
            <a:r>
              <a:rPr lang="en-US" dirty="0" smtClean="0"/>
              <a:t>Don't put many passive, solitary hobbies (reading, watching TV, stamp collecting)</a:t>
            </a:r>
          </a:p>
          <a:p>
            <a:pPr>
              <a:buFont typeface="Wingdings 2" pitchFamily="18" charset="2"/>
              <a:buChar char="A"/>
            </a:pPr>
            <a:r>
              <a:rPr lang="en-US" dirty="0" smtClean="0"/>
              <a:t>Hobbies that are a little out of the ordinary can help you to stand out from the crowd </a:t>
            </a:r>
          </a:p>
          <a:p>
            <a:pPr>
              <a:buFont typeface="Wingdings 2" pitchFamily="18" charset="2"/>
              <a:buChar char="A"/>
            </a:pPr>
            <a:r>
              <a:rPr lang="en-US" dirty="0" smtClean="0"/>
              <a:t>Any</a:t>
            </a:r>
            <a:r>
              <a:rPr lang="en-US" b="1" dirty="0" smtClean="0"/>
              <a:t> </a:t>
            </a:r>
            <a:r>
              <a:rPr lang="en-US" dirty="0" smtClean="0"/>
              <a:t>interests relevant to the job are worth mentioning</a:t>
            </a:r>
          </a:p>
          <a:p>
            <a:pPr>
              <a:buFont typeface="Wingdings 2" pitchFamily="18" charset="2"/>
              <a:buChar char="A"/>
            </a:pPr>
            <a:r>
              <a:rPr lang="en-US" dirty="0" smtClean="0"/>
              <a:t>Any evidence of leadership is important to mention: captain or coach of a sports team, course representative, chair of a student society, scout leader: </a:t>
            </a:r>
          </a:p>
          <a:p>
            <a:pPr>
              <a:buFont typeface="Wingdings 2" pitchFamily="18" charset="2"/>
              <a:buChar char="A"/>
            </a:pPr>
            <a:r>
              <a:rPr lang="en-US" dirty="0" smtClean="0"/>
              <a:t>Anything showing evidence of employability skills such as team working, organizing, planning, persuading, negotiating etc. </a:t>
            </a:r>
          </a:p>
          <a:p>
            <a:endParaRPr lang="en-US" dirty="0" smtClean="0"/>
          </a:p>
          <a:p>
            <a:endParaRPr lang="en-US" dirty="0" smtClean="0"/>
          </a:p>
          <a:p>
            <a:endParaRPr lang="en-US" dirty="0"/>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numCol="1" rtlCol="0"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What information should a CV include?</a:t>
            </a:r>
            <a:br>
              <a:rPr kumimoji="0" lang="en-US" sz="3000" b="0" i="0" u="none" strike="noStrike" kern="1200" cap="none" spc="0" normalizeH="0" baseline="0" noProof="0" dirty="0" smtClean="0">
                <a:ln>
                  <a:noFill/>
                </a:ln>
                <a:solidFill>
                  <a:schemeClr val="tx1"/>
                </a:solidFill>
                <a:effectLst/>
                <a:uLnTx/>
                <a:uFillTx/>
                <a:latin typeface="+mj-lt"/>
                <a:ea typeface="+mj-ea"/>
                <a:cs typeface="+mj-cs"/>
              </a:rPr>
            </a:b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0" y="0"/>
            <a:ext cx="9144000" cy="709425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Name</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Address</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Telephone</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Cell Phone</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Email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70C0"/>
                </a:solidFill>
                <a:effectLst/>
                <a:latin typeface="Berlin Sans FB Demi" pitchFamily="34" charset="0"/>
                <a:ea typeface="Times New Roman" pitchFamily="18" charset="0"/>
              </a:rPr>
              <a:t>Personal Information</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Date of Birth</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Place of Birth</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Citizenship</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Visa Status</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Gender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70C0"/>
                </a:solidFill>
                <a:effectLst/>
                <a:latin typeface="Berlin Sans FB Demi" pitchFamily="34" charset="0"/>
                <a:ea typeface="Times New Roman" pitchFamily="18" charset="0"/>
              </a:rPr>
              <a:t>Optional Personal Information</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Marital Status</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Spouse's Name</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Children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70C0"/>
                </a:solidFill>
                <a:effectLst/>
                <a:latin typeface="Berlin Sans FB Demi" pitchFamily="34" charset="0"/>
                <a:ea typeface="Times New Roman" pitchFamily="18" charset="0"/>
              </a:rPr>
              <a:t>Employment History</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1" u="none" strike="noStrike" cap="none" normalizeH="0" baseline="0" dirty="0" smtClean="0">
                <a:ln>
                  <a:noFill/>
                </a:ln>
                <a:solidFill>
                  <a:schemeClr val="tx1"/>
                </a:solidFill>
                <a:effectLst/>
                <a:latin typeface="Berlin Sans FB Demi" pitchFamily="34" charset="0"/>
                <a:ea typeface="Times New Roman" pitchFamily="18" charset="0"/>
              </a:rPr>
              <a:t>List in chronological order, include position details and dates</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Work History</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Academic Positions</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Research and Training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70C0"/>
                </a:solidFill>
                <a:effectLst/>
                <a:latin typeface="Berlin Sans FB Demi" pitchFamily="34" charset="0"/>
                <a:ea typeface="Times New Roman" pitchFamily="18" charset="0"/>
              </a:rPr>
              <a:t>Education</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1" u="none" strike="noStrike" cap="none" normalizeH="0" baseline="0" dirty="0" smtClean="0">
                <a:ln>
                  <a:noFill/>
                </a:ln>
                <a:solidFill>
                  <a:schemeClr val="tx1"/>
                </a:solidFill>
                <a:effectLst/>
                <a:latin typeface="Berlin Sans FB Demi" pitchFamily="34" charset="0"/>
                <a:ea typeface="Times New Roman" pitchFamily="18" charset="0"/>
              </a:rPr>
              <a:t>Include dates, majors, and details of degrees, training and certification </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High School</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University</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Graduate School</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Post-Doctoral Training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70C0"/>
                </a:solidFill>
                <a:effectLst/>
                <a:latin typeface="Berlin Sans FB Demi" pitchFamily="34" charset="0"/>
                <a:ea typeface="Times New Roman" pitchFamily="18" charset="0"/>
              </a:rPr>
              <a:t>Professional Qualifications</a:t>
            </a: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Certifications and Accreditations</a:t>
            </a:r>
            <a:b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br>
            <a:r>
              <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rPr>
              <a:t>Computer Skills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Berlin Sans FB Demi" pitchFamily="34" charset="0"/>
                <a:ea typeface="Times New Roman" pitchFamily="18" charset="0"/>
              </a:rPr>
              <a:t>Awards </a:t>
            </a:r>
            <a:endPar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Berlin Sans FB Demi" pitchFamily="34" charset="0"/>
                <a:ea typeface="Times New Roman" pitchFamily="18" charset="0"/>
              </a:rPr>
              <a:t>Publications</a:t>
            </a:r>
            <a:endPar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Berlin Sans FB Demi" pitchFamily="34" charset="0"/>
                <a:ea typeface="Times New Roman" pitchFamily="18" charset="0"/>
              </a:rPr>
              <a:t>Books</a:t>
            </a:r>
            <a:endPar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Berlin Sans FB Demi" pitchFamily="34" charset="0"/>
                <a:ea typeface="Times New Roman" pitchFamily="18" charset="0"/>
              </a:rPr>
              <a:t>Professional Memberships</a:t>
            </a:r>
            <a:endPar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chemeClr val="tx1"/>
                </a:solidFill>
                <a:effectLst/>
                <a:latin typeface="Berlin Sans FB Demi" pitchFamily="34" charset="0"/>
                <a:ea typeface="Times New Roman" pitchFamily="18" charset="0"/>
              </a:rPr>
              <a:t>Interests</a:t>
            </a:r>
            <a:endParaRPr kumimoji="0" lang="en-US" sz="1300" b="0" i="0" u="none" strike="noStrike" cap="none" normalizeH="0" baseline="0" dirty="0" smtClean="0">
              <a:ln>
                <a:noFill/>
              </a:ln>
              <a:solidFill>
                <a:schemeClr val="tx1"/>
              </a:solidFill>
              <a:effectLst/>
              <a:latin typeface="Berlin Sans FB Demi" pitchFamily="34" charset="0"/>
              <a:ea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300" b="0" i="0" u="none" strike="noStrike" cap="none" normalizeH="0" baseline="0" dirty="0" smtClean="0">
              <a:ln>
                <a:noFill/>
              </a:ln>
              <a:solidFill>
                <a:schemeClr val="tx1"/>
              </a:solidFill>
              <a:effectLst/>
              <a:latin typeface="Berlin Sans FB Demi"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a:solidFill>
            <a:schemeClr val="accent1">
              <a:lumMod val="20000"/>
              <a:lumOff val="80000"/>
            </a:schemeClr>
          </a:solidFill>
          <a:ln>
            <a:solidFill>
              <a:schemeClr val="accent1"/>
            </a:solidFill>
          </a:ln>
        </p:spPr>
        <p:txBody>
          <a:bodyPr numCol="2">
            <a:normAutofit/>
          </a:bodyPr>
          <a:lstStyle/>
          <a:p>
            <a:r>
              <a:rPr lang="en-US" sz="3000" dirty="0" smtClean="0"/>
              <a:t>What makes a good CV?</a:t>
            </a:r>
            <a:br>
              <a:rPr lang="en-US" sz="3000" dirty="0" smtClean="0"/>
            </a:br>
            <a:endParaRPr lang="en-US" sz="3000" dirty="0"/>
          </a:p>
        </p:txBody>
      </p:sp>
      <p:sp>
        <p:nvSpPr>
          <p:cNvPr id="3" name="Content Placeholder 2"/>
          <p:cNvSpPr>
            <a:spLocks noGrp="1"/>
          </p:cNvSpPr>
          <p:nvPr>
            <p:ph idx="1"/>
          </p:nvPr>
        </p:nvSpPr>
        <p:spPr>
          <a:xfrm>
            <a:off x="457200" y="1447800"/>
            <a:ext cx="8229600" cy="48006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2" pitchFamily="18" charset="2"/>
              <a:buChar char="A"/>
            </a:pPr>
            <a:r>
              <a:rPr lang="en-US" sz="2600" dirty="0" smtClean="0"/>
              <a:t>There is no single "correct" way to write and present a CV but the following general rules apply: </a:t>
            </a:r>
          </a:p>
          <a:p>
            <a:pPr>
              <a:buFont typeface="Wingdings 2" pitchFamily="18" charset="2"/>
              <a:buChar char="A"/>
            </a:pPr>
            <a:r>
              <a:rPr lang="en-US" sz="2600" dirty="0" smtClean="0"/>
              <a:t>It is targeted on the specific job or career area for which you are applying and brings out the relevant skills you have to offer </a:t>
            </a:r>
          </a:p>
          <a:p>
            <a:pPr>
              <a:buFont typeface="Wingdings 2" pitchFamily="18" charset="2"/>
              <a:buChar char="A"/>
            </a:pPr>
            <a:r>
              <a:rPr lang="en-US" sz="2600" dirty="0" smtClean="0"/>
              <a:t>It is carefully and clearly laid out: logically ordered, easy to read and not cramped </a:t>
            </a:r>
          </a:p>
          <a:p>
            <a:pPr>
              <a:buFont typeface="Wingdings 2" pitchFamily="18" charset="2"/>
              <a:buChar char="A"/>
            </a:pPr>
            <a:r>
              <a:rPr lang="en-US" sz="2600" dirty="0" smtClean="0"/>
              <a:t>It is informative but concise </a:t>
            </a:r>
          </a:p>
          <a:p>
            <a:pPr>
              <a:buFont typeface="Wingdings 2" pitchFamily="18" charset="2"/>
              <a:buChar char="A"/>
            </a:pPr>
            <a:r>
              <a:rPr lang="en-US" sz="2600" dirty="0" smtClean="0"/>
              <a:t>It is accurate in content, spelling and grammar. If you mention attention to detail as a skill, make sure your spelling and grammar is perfect!</a:t>
            </a:r>
          </a:p>
          <a:p>
            <a:endParaRPr lang="en-US" sz="26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685800"/>
          </a:xfrm>
          <a:solidFill>
            <a:schemeClr val="accent1">
              <a:lumMod val="20000"/>
              <a:lumOff val="80000"/>
            </a:schemeClr>
          </a:solidFill>
          <a:ln>
            <a:solidFill>
              <a:schemeClr val="accent1"/>
            </a:solidFill>
          </a:ln>
        </p:spPr>
        <p:txBody>
          <a:bodyPr vert="horz" numCol="2" anchor="ctr">
            <a:normAutofit/>
          </a:bodyPr>
          <a:lstStyle/>
          <a:p>
            <a:pPr algn="l"/>
            <a:r>
              <a:rPr lang="en-US" sz="3000" dirty="0" smtClean="0"/>
              <a:t>How long should a CV be?</a:t>
            </a:r>
            <a:br>
              <a:rPr lang="en-US" sz="3000" dirty="0" smtClean="0"/>
            </a:br>
            <a:endParaRPr lang="en-US" sz="3000" dirty="0"/>
          </a:p>
        </p:txBody>
      </p:sp>
      <p:sp>
        <p:nvSpPr>
          <p:cNvPr id="3" name="Content Placeholder 2"/>
          <p:cNvSpPr>
            <a:spLocks noGrp="1"/>
          </p:cNvSpPr>
          <p:nvPr>
            <p:ph idx="1"/>
          </p:nvPr>
        </p:nvSpPr>
        <p:spPr>
          <a:xfrm>
            <a:off x="457200" y="1600200"/>
            <a:ext cx="8229600" cy="47244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2" pitchFamily="18" charset="2"/>
              <a:buChar char="A"/>
            </a:pPr>
            <a:r>
              <a:rPr lang="en-US" sz="2600" dirty="0" smtClean="0"/>
              <a:t>There are no absolute rules but, in general, a new graduate's CV should cover no more than two sides of A4 paper. </a:t>
            </a:r>
          </a:p>
          <a:p>
            <a:pPr>
              <a:buFont typeface="Wingdings 2" pitchFamily="18" charset="2"/>
              <a:buChar char="A"/>
            </a:pPr>
            <a:r>
              <a:rPr lang="en-US" sz="2600" dirty="0" smtClean="0"/>
              <a:t>If you can summarize your career history comfortably on a single side, this is fine and has advantages when you are making speculative applications and need to put yourself across concisely. </a:t>
            </a:r>
          </a:p>
          <a:p>
            <a:pPr>
              <a:buFont typeface="Wingdings 2" pitchFamily="18" charset="2"/>
              <a:buChar char="A"/>
            </a:pPr>
            <a:r>
              <a:rPr lang="en-US" sz="2600" dirty="0" smtClean="0"/>
              <a:t>However, you should not leave out important items, or crowd your text too closely together in order to fit it onto that single side. Academic and technical CVs may be much longer: up to 4 or 5 sides. </a:t>
            </a:r>
          </a:p>
          <a:p>
            <a:endParaRPr lang="en-US" sz="26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a:solidFill>
            <a:schemeClr val="accent1">
              <a:lumMod val="20000"/>
              <a:lumOff val="80000"/>
            </a:schemeClr>
          </a:solidFill>
          <a:ln>
            <a:solidFill>
              <a:schemeClr val="accent1"/>
            </a:solidFill>
          </a:ln>
        </p:spPr>
        <p:txBody>
          <a:bodyPr>
            <a:normAutofit/>
          </a:bodyPr>
          <a:lstStyle/>
          <a:p>
            <a:pPr algn="l"/>
            <a:r>
              <a:rPr lang="en-US" sz="3000" dirty="0" smtClean="0"/>
              <a:t>Font</a:t>
            </a:r>
            <a:endParaRPr lang="en-US" sz="3000" dirty="0"/>
          </a:p>
        </p:txBody>
      </p:sp>
      <p:sp>
        <p:nvSpPr>
          <p:cNvPr id="3" name="Content Placeholder 2"/>
          <p:cNvSpPr>
            <a:spLocks noGrp="1"/>
          </p:cNvSpPr>
          <p:nvPr>
            <p:ph idx="1"/>
          </p:nvPr>
        </p:nvSpPr>
        <p:spPr>
          <a:xfrm>
            <a:off x="457200" y="8382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lvl="0">
              <a:buFont typeface="Wingdings" pitchFamily="2" charset="2"/>
              <a:buChar char="X"/>
            </a:pPr>
            <a:r>
              <a:rPr lang="en-US" sz="2600" dirty="0" smtClean="0"/>
              <a:t>TIMES NEW ROMAN is the standard windows "serif" font. A safe bet - law firms seem to like it! </a:t>
            </a:r>
          </a:p>
          <a:p>
            <a:pPr lvl="0">
              <a:buFont typeface="Wingdings" pitchFamily="2" charset="2"/>
              <a:buChar char="X"/>
            </a:pPr>
            <a:r>
              <a:rPr lang="en-US" sz="2600" dirty="0" smtClean="0"/>
              <a:t>A more interesting serif font might be GEORGIA. </a:t>
            </a:r>
          </a:p>
          <a:p>
            <a:pPr lvl="0">
              <a:buFont typeface="Wingdings" pitchFamily="2" charset="2"/>
              <a:buChar char="X"/>
            </a:pPr>
            <a:r>
              <a:rPr lang="en-US" sz="2600" dirty="0" smtClean="0"/>
              <a:t>ARIAL is the standard windows "sans" font.</a:t>
            </a:r>
          </a:p>
          <a:p>
            <a:pPr lvl="0">
              <a:buFont typeface="Wingdings" pitchFamily="2" charset="2"/>
              <a:buChar char="X"/>
            </a:pPr>
            <a:r>
              <a:rPr lang="en-US" sz="2600" dirty="0" smtClean="0"/>
              <a:t> However Arial and Times New Roman are so common that they're a little boring to the eye. </a:t>
            </a:r>
          </a:p>
          <a:p>
            <a:pPr lvl="0">
              <a:buFont typeface="Wingdings" pitchFamily="2" charset="2"/>
              <a:buChar char="X"/>
            </a:pPr>
            <a:r>
              <a:rPr lang="en-US" sz="2600" dirty="0" smtClean="0"/>
              <a:t>Notice how, in the example to the right, Verdana in 10 points looks bigger and easier to read than Times New Roman in 12 points.</a:t>
            </a:r>
          </a:p>
          <a:p>
            <a:pPr>
              <a:buFont typeface="Wingdings" pitchFamily="2" charset="2"/>
              <a:buChar char="X"/>
            </a:pPr>
            <a:r>
              <a:rPr lang="en-US" sz="2600" dirty="0" smtClean="0">
                <a:effectLst>
                  <a:outerShdw blurRad="38100" dist="38100" dir="2700000" algn="tl">
                    <a:srgbClr val="000000">
                      <a:alpha val="43137"/>
                    </a:srgbClr>
                  </a:outerShdw>
                </a:effectLst>
              </a:rPr>
              <a:t>A more classy choice might be VERDANA which has wider letters than most fonts. </a:t>
            </a:r>
            <a:br>
              <a:rPr lang="en-US" sz="2600" dirty="0" smtClean="0">
                <a:effectLst>
                  <a:outerShdw blurRad="38100" dist="38100" dir="2700000" algn="tl">
                    <a:srgbClr val="000000">
                      <a:alpha val="43137"/>
                    </a:srgbClr>
                  </a:outerShdw>
                </a:effectLst>
              </a:rPr>
            </a:br>
            <a:r>
              <a:rPr lang="en-US" sz="2600" dirty="0" smtClean="0">
                <a:effectLst>
                  <a:outerShdw blurRad="38100" dist="38100" dir="2700000" algn="tl">
                    <a:srgbClr val="000000">
                      <a:alpha val="43137"/>
                    </a:srgbClr>
                  </a:outerShdw>
                </a:effectLst>
              </a:rPr>
              <a:t>or GENEVA - these are both common sans fonts. </a:t>
            </a:r>
          </a:p>
          <a:p>
            <a:pPr>
              <a:buFont typeface="Wingdings" pitchFamily="2" charset="2"/>
              <a:buChar char="X"/>
            </a:pPr>
            <a:r>
              <a:rPr lang="en-US" sz="2600" dirty="0" smtClean="0"/>
              <a:t>Don't use </a:t>
            </a:r>
            <a:r>
              <a:rPr lang="en-US" sz="2600" dirty="0" smtClean="0">
                <a:latin typeface="Comic Sans MS" pitchFamily="66" charset="0"/>
              </a:rPr>
              <a:t>Comic Sans</a:t>
            </a:r>
          </a:p>
          <a:p>
            <a:pPr lvl="0">
              <a:buFont typeface="Wingdings" pitchFamily="2" charset="2"/>
              <a:buChar char="X"/>
            </a:pPr>
            <a:endParaRPr lang="en-US" sz="2600" dirty="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lvl="0">
              <a:buFont typeface="Wingdings" pitchFamily="2" charset="2"/>
              <a:buChar char="X"/>
            </a:pPr>
            <a:r>
              <a:rPr lang="en-US" sz="2600" dirty="0" smtClean="0"/>
              <a:t>FONT SIZE is normally 12 points for the normal font with larger sizes for subheadings and headings. </a:t>
            </a:r>
          </a:p>
          <a:p>
            <a:pPr lvl="0">
              <a:buFont typeface="Wingdings" pitchFamily="2" charset="2"/>
              <a:buChar char="X"/>
            </a:pPr>
            <a:r>
              <a:rPr lang="en-US" sz="2600" dirty="0" smtClean="0"/>
              <a:t>Popular CV body text font is 10 point Verdana or Lucida Sans with 12 or 14 points for sub headings. </a:t>
            </a:r>
          </a:p>
          <a:p>
            <a:pPr lvl="0">
              <a:buFont typeface="Wingdings" pitchFamily="2" charset="2"/>
              <a:buChar char="X"/>
            </a:pPr>
            <a:r>
              <a:rPr lang="en-US" sz="2600" dirty="0" smtClean="0"/>
              <a:t>14 points is too big for the normal body font - wastes space and looks crude. </a:t>
            </a:r>
          </a:p>
          <a:p>
            <a:pPr lvl="0">
              <a:buFont typeface="Wingdings" pitchFamily="2" charset="2"/>
              <a:buChar char="X"/>
            </a:pPr>
            <a:r>
              <a:rPr lang="en-US" sz="2600" dirty="0" smtClean="0"/>
              <a:t>8 or 9 points too small to be easily readable by everyone, especially in Times New Roman which should not be used in sizes less than </a:t>
            </a:r>
            <a:r>
              <a:rPr lang="en-US" sz="2600" smtClean="0"/>
              <a:t>11 points</a:t>
            </a:r>
          </a:p>
          <a:p>
            <a:pPr lvl="0">
              <a:buFont typeface="Wingdings" pitchFamily="2" charset="2"/>
              <a:buChar char="X"/>
            </a:pPr>
            <a:r>
              <a:rPr lang="en-US" sz="2600" smtClean="0"/>
              <a:t>Although </a:t>
            </a:r>
            <a:r>
              <a:rPr lang="en-US" sz="2600" dirty="0" smtClean="0"/>
              <a:t>many people use 12 points, some research on this suggested that smaller point size CVs (within reason) were perceived as more intellectual! </a:t>
            </a:r>
          </a:p>
          <a:p>
            <a:endParaRPr lang="en-US" sz="2600" dirty="0" smtClean="0"/>
          </a:p>
          <a:p>
            <a:endParaRPr lang="en-US" sz="2600" dirty="0"/>
          </a:p>
        </p:txBody>
      </p:sp>
      <p:sp>
        <p:nvSpPr>
          <p:cNvPr id="4" name="Title 1"/>
          <p:cNvSpPr txBox="1">
            <a:spLocks/>
          </p:cNvSpPr>
          <p:nvPr/>
        </p:nvSpPr>
        <p:spPr>
          <a:xfrm>
            <a:off x="457200" y="76200"/>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Font</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chemeClr val="accent1">
              <a:lumMod val="20000"/>
              <a:lumOff val="80000"/>
            </a:schemeClr>
          </a:solidFill>
          <a:ln>
            <a:solidFill>
              <a:schemeClr val="accent1"/>
            </a:solidFill>
          </a:ln>
        </p:spPr>
        <p:txBody>
          <a:bodyPr>
            <a:normAutofit/>
          </a:bodyPr>
          <a:lstStyle/>
          <a:p>
            <a:pPr algn="l"/>
            <a:r>
              <a:rPr lang="en-US" sz="3000" dirty="0" smtClean="0"/>
              <a:t>Report</a:t>
            </a:r>
            <a:endParaRPr lang="en-US" sz="3000" dirty="0"/>
          </a:p>
        </p:txBody>
      </p:sp>
      <p:sp>
        <p:nvSpPr>
          <p:cNvPr id="3" name="Content Placeholder 2"/>
          <p:cNvSpPr>
            <a:spLocks noGrp="1"/>
          </p:cNvSpPr>
          <p:nvPr>
            <p:ph idx="1"/>
          </p:nvPr>
        </p:nvSpPr>
        <p:spPr>
          <a:xfrm>
            <a:off x="457200" y="1600200"/>
            <a:ext cx="3962400" cy="4525963"/>
          </a:xfrm>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2"/>
              </a:rPr>
              <a:t> </a:t>
            </a:r>
            <a:r>
              <a:rPr lang="en-US" sz="2600" b="1" dirty="0" smtClean="0"/>
              <a:t>Report</a:t>
            </a:r>
          </a:p>
          <a:p>
            <a:pPr>
              <a:buNone/>
            </a:pPr>
            <a:r>
              <a:rPr lang="en-US" sz="2600" dirty="0" smtClean="0"/>
              <a:t>    A report may be defined as </a:t>
            </a:r>
            <a:r>
              <a:rPr lang="en-US" sz="2600" i="1" dirty="0" smtClean="0">
                <a:effectLst>
                  <a:outerShdw blurRad="38100" dist="38100" dir="2700000" algn="tl">
                    <a:srgbClr val="000000">
                      <a:alpha val="43137"/>
                    </a:srgbClr>
                  </a:outerShdw>
                </a:effectLst>
              </a:rPr>
              <a:t>“an orderly, objective message used to convey information from one organizational area to another to assist in decision making and problem solving.” </a:t>
            </a:r>
          </a:p>
          <a:p>
            <a:pPr>
              <a:buNone/>
            </a:pPr>
            <a:endParaRPr lang="en-US" sz="2600" dirty="0" smtClean="0"/>
          </a:p>
        </p:txBody>
      </p:sp>
      <p:pic>
        <p:nvPicPr>
          <p:cNvPr id="1026" name="Picture 2" descr="F:\Mahbuba\Moni\Characters\831.jpeg"/>
          <p:cNvPicPr>
            <a:picLocks noChangeAspect="1" noChangeArrowheads="1"/>
          </p:cNvPicPr>
          <p:nvPr/>
        </p:nvPicPr>
        <p:blipFill>
          <a:blip r:embed="rId2"/>
          <a:srcRect/>
          <a:stretch>
            <a:fillRect/>
          </a:stretch>
        </p:blipFill>
        <p:spPr bwMode="auto">
          <a:xfrm>
            <a:off x="4648200" y="2438400"/>
            <a:ext cx="4252210" cy="2819400"/>
          </a:xfrm>
          <a:prstGeom prst="rect">
            <a:avLst/>
          </a:prstGeom>
          <a:noFill/>
          <a:ln>
            <a:solidFill>
              <a:schemeClr val="accent1"/>
            </a:solidFill>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8229600" cy="62484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2"/>
              <a:buChar char="A"/>
            </a:pPr>
            <a:r>
              <a:rPr lang="en-US" sz="2600" dirty="0" smtClean="0"/>
              <a:t>The report documents substantial </a:t>
            </a:r>
            <a:r>
              <a:rPr lang="en-US" sz="2600" b="1" dirty="0" smtClean="0"/>
              <a:t>progress</a:t>
            </a:r>
            <a:r>
              <a:rPr lang="en-US" sz="2600" dirty="0" smtClean="0"/>
              <a:t> in accomplishing previously adopted goals, including goals related to student learning.</a:t>
            </a:r>
          </a:p>
          <a:p>
            <a:pPr>
              <a:buFont typeface="Wingdings 2"/>
              <a:buChar char="A"/>
            </a:pPr>
            <a:r>
              <a:rPr lang="en-US" sz="2600" dirty="0" smtClean="0"/>
              <a:t>The program articulates </a:t>
            </a:r>
            <a:r>
              <a:rPr lang="en-US" sz="2600" b="1" dirty="0" smtClean="0"/>
              <a:t>learning outcomes</a:t>
            </a:r>
            <a:r>
              <a:rPr lang="en-US" sz="2600" dirty="0" smtClean="0"/>
              <a:t> that clearly describe observable student behaviors and comprehend expected learning.</a:t>
            </a:r>
          </a:p>
          <a:p>
            <a:pPr>
              <a:buFont typeface="Wingdings 2"/>
              <a:buChar char="A"/>
            </a:pPr>
            <a:r>
              <a:rPr lang="en-US" sz="2600" dirty="0" smtClean="0"/>
              <a:t>The program gathers </a:t>
            </a:r>
            <a:r>
              <a:rPr lang="en-US" sz="2600" b="1" dirty="0" smtClean="0"/>
              <a:t>evidence of learning</a:t>
            </a:r>
            <a:r>
              <a:rPr lang="en-US" sz="2600" dirty="0" smtClean="0"/>
              <a:t>, using multiple means of assessment for each outcome, including direct measures of learning.</a:t>
            </a:r>
          </a:p>
          <a:p>
            <a:pPr>
              <a:buFont typeface="Wingdings 2"/>
              <a:buChar char="A"/>
            </a:pPr>
            <a:r>
              <a:rPr lang="en-US" sz="2600" dirty="0" smtClean="0"/>
              <a:t>The program faculty as a whole </a:t>
            </a:r>
            <a:r>
              <a:rPr lang="en-US" sz="2600" b="1" dirty="0" smtClean="0"/>
              <a:t>evaluates</a:t>
            </a:r>
            <a:r>
              <a:rPr lang="en-US" sz="2600" dirty="0" smtClean="0"/>
              <a:t> evidence of learning and makes specific </a:t>
            </a:r>
            <a:r>
              <a:rPr lang="en-US" sz="2600" b="1" dirty="0" smtClean="0"/>
              <a:t>plans</a:t>
            </a:r>
            <a:r>
              <a:rPr lang="en-US" sz="2600" dirty="0" smtClean="0"/>
              <a:t> to improve learning. </a:t>
            </a:r>
          </a:p>
          <a:p>
            <a:pPr>
              <a:buFont typeface="Wingdings 2"/>
              <a:buChar char="A"/>
            </a:pPr>
            <a:r>
              <a:rPr lang="en-US" sz="2600" dirty="0" smtClean="0"/>
              <a:t>The program clearly identifies </a:t>
            </a:r>
            <a:r>
              <a:rPr lang="en-US" sz="2600" b="1" dirty="0" smtClean="0"/>
              <a:t>other program</a:t>
            </a:r>
            <a:r>
              <a:rPr lang="en-US" sz="2600" dirty="0" smtClean="0"/>
              <a:t> </a:t>
            </a:r>
            <a:r>
              <a:rPr lang="en-US" sz="2600" b="1" dirty="0" smtClean="0"/>
              <a:t>outcomes</a:t>
            </a:r>
            <a:r>
              <a:rPr lang="en-US" sz="2600" dirty="0" smtClean="0"/>
              <a:t>, gathers and evaluates appropriate evidence related to each, and develops specific plans for improvement based its evaluation.</a:t>
            </a:r>
          </a:p>
          <a:p>
            <a:endParaRPr lang="en-US" sz="2600" dirty="0" smtClean="0"/>
          </a:p>
          <a:p>
            <a:endParaRPr lang="en-US" sz="2600" dirty="0"/>
          </a:p>
        </p:txBody>
      </p:sp>
      <p:sp>
        <p:nvSpPr>
          <p:cNvPr id="6" name="Title 1"/>
          <p:cNvSpPr>
            <a:spLocks noGrp="1"/>
          </p:cNvSpPr>
          <p:nvPr>
            <p:ph type="title"/>
          </p:nvPr>
        </p:nvSpPr>
        <p:spPr>
          <a:xfrm rot="16200000">
            <a:off x="-2732210" y="3099095"/>
            <a:ext cx="6268450" cy="639762"/>
          </a:xfrm>
          <a:solidFill>
            <a:schemeClr val="accent1">
              <a:lumMod val="20000"/>
              <a:lumOff val="80000"/>
            </a:schemeClr>
          </a:solidFill>
          <a:ln>
            <a:solidFill>
              <a:schemeClr val="accent1"/>
            </a:solidFill>
          </a:ln>
        </p:spPr>
        <p:txBody>
          <a:bodyPr>
            <a:normAutofit/>
          </a:bodyPr>
          <a:lstStyle/>
          <a:p>
            <a:pPr algn="l"/>
            <a:r>
              <a:rPr lang="en-US" sz="3000" dirty="0" smtClean="0"/>
              <a:t>Characteristics of a Good Report</a:t>
            </a:r>
            <a:endParaRPr lang="en-US" sz="30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2578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2"/>
              <a:buChar char="A"/>
            </a:pPr>
            <a:r>
              <a:rPr lang="en-US" sz="2600" dirty="0" smtClean="0"/>
              <a:t>The report clearly identifies significant </a:t>
            </a:r>
            <a:r>
              <a:rPr lang="en-US" sz="2600" b="1" dirty="0" smtClean="0"/>
              <a:t>strengths</a:t>
            </a:r>
            <a:r>
              <a:rPr lang="en-US" sz="2600" dirty="0" smtClean="0"/>
              <a:t> and </a:t>
            </a:r>
            <a:r>
              <a:rPr lang="en-US" sz="2600" b="1" dirty="0" smtClean="0"/>
              <a:t>areas for improvement</a:t>
            </a:r>
            <a:r>
              <a:rPr lang="en-US" sz="2600" dirty="0" smtClean="0"/>
              <a:t> based on assessment of learning and other outcomes.</a:t>
            </a:r>
          </a:p>
          <a:p>
            <a:pPr>
              <a:buFont typeface="Wingdings 2"/>
              <a:buChar char="A"/>
            </a:pPr>
            <a:r>
              <a:rPr lang="en-US" sz="2600" dirty="0" smtClean="0"/>
              <a:t>The report outlines </a:t>
            </a:r>
            <a:r>
              <a:rPr lang="en-US" sz="2600" b="1" dirty="0" smtClean="0"/>
              <a:t>plans</a:t>
            </a:r>
            <a:r>
              <a:rPr lang="en-US" sz="2600" dirty="0" smtClean="0"/>
              <a:t> to maintain strengths and address areas needing improvement, both in student learning and other program areas.</a:t>
            </a:r>
          </a:p>
          <a:p>
            <a:pPr>
              <a:buFont typeface="Wingdings 2"/>
              <a:buChar char="A"/>
            </a:pPr>
            <a:r>
              <a:rPr lang="en-US" sz="2600" dirty="0" smtClean="0"/>
              <a:t>The report documents the </a:t>
            </a:r>
            <a:r>
              <a:rPr lang="en-US" sz="2600" b="1" dirty="0" smtClean="0"/>
              <a:t>need</a:t>
            </a:r>
            <a:r>
              <a:rPr lang="en-US" sz="2600" dirty="0" smtClean="0"/>
              <a:t> for the program and explains how it supports the </a:t>
            </a:r>
            <a:r>
              <a:rPr lang="en-US" sz="2600" b="1" dirty="0" smtClean="0"/>
              <a:t>mission</a:t>
            </a:r>
            <a:r>
              <a:rPr lang="en-US" sz="2600" dirty="0" smtClean="0"/>
              <a:t> and strategic plan.</a:t>
            </a:r>
          </a:p>
          <a:p>
            <a:pPr>
              <a:buFont typeface="Wingdings 2"/>
              <a:buChar char="A"/>
            </a:pPr>
            <a:r>
              <a:rPr lang="en-US" sz="2600" dirty="0" smtClean="0"/>
              <a:t>The report provides </a:t>
            </a:r>
            <a:r>
              <a:rPr lang="en-US" sz="2600" b="1" dirty="0" smtClean="0"/>
              <a:t>additional evidence</a:t>
            </a:r>
            <a:r>
              <a:rPr lang="en-US" sz="2600" dirty="0" smtClean="0"/>
              <a:t> of program quality that is clear, well-organized, and relevant.</a:t>
            </a:r>
          </a:p>
          <a:p>
            <a:pPr>
              <a:buNone/>
            </a:pPr>
            <a:endParaRPr lang="en-US" sz="2600" dirty="0"/>
          </a:p>
        </p:txBody>
      </p:sp>
      <p:sp>
        <p:nvSpPr>
          <p:cNvPr id="4" name="Title 1"/>
          <p:cNvSpPr txBox="1">
            <a:spLocks/>
          </p:cNvSpPr>
          <p:nvPr/>
        </p:nvSpPr>
        <p:spPr>
          <a:xfrm>
            <a:off x="457200" y="274638"/>
            <a:ext cx="8229600" cy="6397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Characteristics of a Good Report</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a:solidFill>
            <a:schemeClr val="accent1">
              <a:lumMod val="20000"/>
              <a:lumOff val="80000"/>
            </a:schemeClr>
          </a:solidFill>
          <a:ln>
            <a:solidFill>
              <a:schemeClr val="accent1"/>
            </a:solidFill>
          </a:ln>
        </p:spPr>
        <p:txBody>
          <a:bodyPr>
            <a:normAutofit/>
          </a:bodyPr>
          <a:lstStyle/>
          <a:p>
            <a:pPr algn="l"/>
            <a:r>
              <a:rPr lang="en-US" sz="3000" dirty="0" smtClean="0"/>
              <a:t>Report Writing</a:t>
            </a:r>
            <a:endParaRPr lang="en-US" sz="30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lnSpcReduction="10000"/>
          </a:bodyPr>
          <a:lstStyle/>
          <a:p>
            <a:pPr>
              <a:buFont typeface="Wingdings 2"/>
              <a:buChar char="ª"/>
            </a:pPr>
            <a:r>
              <a:rPr lang="en-US" sz="2600" dirty="0" smtClean="0"/>
              <a:t>A report is a presentation of facts and findings, usually as a basis for recommendations; written for a specific readership, and probably intended to be kept as a record.</a:t>
            </a:r>
          </a:p>
          <a:p>
            <a:pPr>
              <a:buFont typeface="Wingdings"/>
              <a:buChar char="X"/>
            </a:pPr>
            <a:r>
              <a:rPr lang="en-US" sz="2600" dirty="0" smtClean="0"/>
              <a:t>During your studies you may be required to research a particular area and produce a report.</a:t>
            </a:r>
          </a:p>
          <a:p>
            <a:pPr>
              <a:buFont typeface="Wingdings"/>
              <a:buChar char="ü"/>
            </a:pPr>
            <a:r>
              <a:rPr lang="en-US" sz="2600" dirty="0" smtClean="0"/>
              <a:t>For instance, depending on your area of study, you might be asked to write a report on the performance characteristics of an aircraft engine, </a:t>
            </a:r>
          </a:p>
          <a:p>
            <a:pPr>
              <a:buFont typeface="Wingdings"/>
              <a:buChar char="ü"/>
            </a:pPr>
            <a:r>
              <a:rPr lang="en-US" sz="2600" dirty="0" smtClean="0"/>
              <a:t>the classroom management practices of a teacher, </a:t>
            </a:r>
          </a:p>
          <a:p>
            <a:pPr>
              <a:buFont typeface="Wingdings"/>
              <a:buChar char="ü"/>
            </a:pPr>
            <a:r>
              <a:rPr lang="en-US" sz="2600" dirty="0" smtClean="0"/>
              <a:t>the cost benefits of using a particular type of software in a company, etc.</a:t>
            </a:r>
          </a:p>
          <a:p>
            <a:pPr>
              <a:buFont typeface="Wingdings 2"/>
              <a:buChar char="ª"/>
            </a:pPr>
            <a:endParaRPr lang="en-US" sz="2600" dirty="0" smtClean="0"/>
          </a:p>
          <a:p>
            <a:pPr>
              <a:buFont typeface="Wingdings 2"/>
              <a:buChar char="ª"/>
            </a:pPr>
            <a:endParaRPr lang="en-US" sz="26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6388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dirty="0" smtClean="0">
                <a:sym typeface="Wingdings 2"/>
              </a:rPr>
              <a:t> </a:t>
            </a:r>
            <a:r>
              <a:rPr lang="en-US" sz="2600" dirty="0" smtClean="0"/>
              <a:t>Some of the reasons we write reports are to:</a:t>
            </a:r>
          </a:p>
          <a:p>
            <a:pPr>
              <a:buFont typeface="Wingdings"/>
              <a:buChar char="§"/>
            </a:pPr>
            <a:r>
              <a:rPr lang="en-US" sz="2600" dirty="0" smtClean="0"/>
              <a:t>Inform</a:t>
            </a:r>
          </a:p>
          <a:p>
            <a:pPr>
              <a:buFont typeface="Wingdings"/>
              <a:buChar char="§"/>
            </a:pPr>
            <a:r>
              <a:rPr lang="en-US" sz="2600" dirty="0" smtClean="0"/>
              <a:t>make proposals or recommendations for change</a:t>
            </a:r>
          </a:p>
          <a:p>
            <a:pPr>
              <a:buFont typeface="Wingdings"/>
              <a:buChar char="§"/>
            </a:pPr>
            <a:r>
              <a:rPr lang="en-US" sz="2600" dirty="0" smtClean="0"/>
              <a:t>analyze and solve problems</a:t>
            </a:r>
          </a:p>
          <a:p>
            <a:pPr>
              <a:buFont typeface="Wingdings"/>
              <a:buChar char="§"/>
            </a:pPr>
            <a:r>
              <a:rPr lang="en-US" sz="2600" dirty="0" smtClean="0"/>
              <a:t>present the findings of an investigation or project</a:t>
            </a:r>
          </a:p>
          <a:p>
            <a:pPr>
              <a:buFont typeface="Wingdings"/>
              <a:buChar char="§"/>
            </a:pPr>
            <a:r>
              <a:rPr lang="en-US" sz="2600" dirty="0" smtClean="0"/>
              <a:t>record progress</a:t>
            </a:r>
          </a:p>
          <a:p>
            <a:pPr>
              <a:buNone/>
            </a:pPr>
            <a:r>
              <a:rPr lang="en-US" sz="2600" dirty="0" smtClean="0">
                <a:sym typeface="Wingdings 2"/>
              </a:rPr>
              <a:t> </a:t>
            </a:r>
            <a:r>
              <a:rPr lang="en-US" sz="2600" dirty="0" smtClean="0"/>
              <a:t>Your lecturer or teacher will usually provide you with the following information:</a:t>
            </a:r>
          </a:p>
          <a:p>
            <a:pPr>
              <a:buFont typeface="Wingdings"/>
              <a:buChar char="§"/>
            </a:pPr>
            <a:r>
              <a:rPr lang="en-US" sz="2600" dirty="0" smtClean="0"/>
              <a:t>the topic or subject of the report</a:t>
            </a:r>
          </a:p>
          <a:p>
            <a:pPr>
              <a:buFont typeface="Wingdings"/>
              <a:buChar char="§"/>
            </a:pPr>
            <a:r>
              <a:rPr lang="en-US" sz="2600" dirty="0" smtClean="0"/>
              <a:t>the required length and due date</a:t>
            </a:r>
          </a:p>
          <a:p>
            <a:pPr>
              <a:buFont typeface="Wingdings"/>
              <a:buChar char="§"/>
            </a:pPr>
            <a:r>
              <a:rPr lang="en-US" sz="2600" dirty="0" smtClean="0"/>
              <a:t>a clear idea of its purpose and who will read it</a:t>
            </a:r>
          </a:p>
          <a:p>
            <a:pPr>
              <a:buFont typeface="Wingdings"/>
              <a:buChar char="§"/>
            </a:pPr>
            <a:r>
              <a:rPr lang="en-US" sz="2600" dirty="0" smtClean="0"/>
              <a:t>the format headings to be used and their order.</a:t>
            </a:r>
          </a:p>
        </p:txBody>
      </p:sp>
      <p:sp>
        <p:nvSpPr>
          <p:cNvPr id="5" name="Title 1"/>
          <p:cNvSpPr txBox="1">
            <a:spLocks/>
          </p:cNvSpPr>
          <p:nvPr/>
        </p:nvSpPr>
        <p:spPr>
          <a:xfrm>
            <a:off x="457200" y="152400"/>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smtClean="0">
                <a:ln>
                  <a:noFill/>
                </a:ln>
                <a:solidFill>
                  <a:schemeClr val="tx1"/>
                </a:solidFill>
                <a:effectLst/>
                <a:uLnTx/>
                <a:uFillTx/>
                <a:latin typeface="+mj-lt"/>
                <a:ea typeface="+mj-ea"/>
                <a:cs typeface="+mj-cs"/>
              </a:rPr>
              <a:t>Report Writing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1054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400" dirty="0" smtClean="0">
                <a:sym typeface="Wingdings 2"/>
              </a:rPr>
              <a:t> </a:t>
            </a:r>
            <a:r>
              <a:rPr lang="en-US" sz="2400" dirty="0" smtClean="0"/>
              <a:t>A useful writing process for longer reports is to:</a:t>
            </a:r>
          </a:p>
          <a:p>
            <a:pPr>
              <a:buNone/>
            </a:pPr>
            <a:r>
              <a:rPr lang="en-US" sz="2400" dirty="0" smtClean="0"/>
              <a:t>• organize your information</a:t>
            </a:r>
          </a:p>
          <a:p>
            <a:pPr>
              <a:buNone/>
            </a:pPr>
            <a:r>
              <a:rPr lang="en-US" sz="2400" dirty="0" smtClean="0"/>
              <a:t>• write an outline</a:t>
            </a:r>
          </a:p>
          <a:p>
            <a:pPr>
              <a:buNone/>
            </a:pPr>
            <a:r>
              <a:rPr lang="en-US" sz="2400" dirty="0" smtClean="0"/>
              <a:t>• write a first draft</a:t>
            </a:r>
          </a:p>
          <a:p>
            <a:pPr>
              <a:buNone/>
            </a:pPr>
            <a:r>
              <a:rPr lang="en-US" sz="2400" dirty="0" smtClean="0"/>
              <a:t>• re-write to improve the draft</a:t>
            </a:r>
          </a:p>
          <a:p>
            <a:pPr>
              <a:buNone/>
            </a:pPr>
            <a:r>
              <a:rPr lang="en-US" sz="2400" dirty="0" smtClean="0"/>
              <a:t>• edit and proofread</a:t>
            </a:r>
          </a:p>
          <a:p>
            <a:pPr>
              <a:buNone/>
            </a:pPr>
            <a:r>
              <a:rPr lang="en-US" sz="2400" dirty="0" smtClean="0">
                <a:sym typeface="Wingdings 2"/>
              </a:rPr>
              <a:t> </a:t>
            </a:r>
            <a:r>
              <a:rPr lang="en-US" sz="2400" dirty="0" smtClean="0"/>
              <a:t>You'll also need to consider the presentation of the report, in particular:</a:t>
            </a:r>
          </a:p>
          <a:p>
            <a:pPr>
              <a:buNone/>
            </a:pPr>
            <a:r>
              <a:rPr lang="en-US" sz="2400" dirty="0" smtClean="0"/>
              <a:t>• format and layout</a:t>
            </a:r>
          </a:p>
          <a:p>
            <a:pPr>
              <a:buNone/>
            </a:pPr>
            <a:r>
              <a:rPr lang="en-US" sz="2400" dirty="0" smtClean="0"/>
              <a:t>• inclusion of graphics and visuals</a:t>
            </a:r>
          </a:p>
          <a:p>
            <a:pPr>
              <a:buNone/>
            </a:pPr>
            <a:endParaRPr lang="en-US" sz="2600" i="1" dirty="0" smtClean="0"/>
          </a:p>
        </p:txBody>
      </p:sp>
      <p:sp>
        <p:nvSpPr>
          <p:cNvPr id="4" name="Title 1"/>
          <p:cNvSpPr txBox="1">
            <a:spLocks/>
          </p:cNvSpPr>
          <p:nvPr/>
        </p:nvSpPr>
        <p:spPr>
          <a:xfrm>
            <a:off x="457200" y="1764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tx1"/>
                </a:solidFill>
                <a:effectLst/>
                <a:uLnTx/>
                <a:uFillTx/>
                <a:latin typeface="+mj-lt"/>
                <a:ea typeface="+mj-ea"/>
                <a:cs typeface="+mj-cs"/>
              </a:rPr>
              <a:t>Report Writing</a:t>
            </a:r>
            <a:endParaRPr kumimoji="0" lang="en-US" sz="30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Title 1"/>
          <p:cNvSpPr txBox="1">
            <a:spLocks/>
          </p:cNvSpPr>
          <p:nvPr/>
        </p:nvSpPr>
        <p:spPr>
          <a:xfrm>
            <a:off x="457200" y="152400"/>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Steps in writing the report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181600"/>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a:buChar char="§"/>
            </a:pPr>
            <a:r>
              <a:rPr lang="en-US" sz="2600" dirty="0" smtClean="0"/>
              <a:t>For many students, the main difficulty in writing a report is to organize the information.  </a:t>
            </a:r>
          </a:p>
          <a:p>
            <a:pPr>
              <a:buFont typeface="Wingdings"/>
              <a:buChar char="§"/>
            </a:pPr>
            <a:r>
              <a:rPr lang="en-US" sz="2600" dirty="0" smtClean="0"/>
              <a:t>By the time you’ve finished researching, you’ve often gathered an incredible amount of information. </a:t>
            </a:r>
          </a:p>
          <a:p>
            <a:pPr>
              <a:buFont typeface="Wingdings"/>
              <a:buChar char="§"/>
            </a:pPr>
            <a:r>
              <a:rPr lang="en-US" sz="2600" dirty="0" smtClean="0"/>
              <a:t>So, what do you do with this large pile of papers? You have to break down the information using headings and sub-headings, then decide upon a logical order. </a:t>
            </a:r>
          </a:p>
          <a:p>
            <a:pPr>
              <a:buFont typeface="Wingdings"/>
              <a:buChar char="§"/>
            </a:pPr>
            <a:r>
              <a:rPr lang="en-US" sz="2600" dirty="0" smtClean="0"/>
              <a:t>You need an overall plan, which will also keep you on the subject.</a:t>
            </a:r>
          </a:p>
          <a:p>
            <a:pPr>
              <a:buFont typeface="Wingdings"/>
              <a:buChar char="§"/>
            </a:pPr>
            <a:r>
              <a:rPr lang="en-US" sz="2600" dirty="0" smtClean="0"/>
              <a:t>You’ll find some useful strategies for writing an outline in the Learning Links – Writing Essays, and Learning Links – Sample Essay resources.</a:t>
            </a:r>
          </a:p>
        </p:txBody>
      </p:sp>
      <p:sp>
        <p:nvSpPr>
          <p:cNvPr id="4" name="Title 1"/>
          <p:cNvSpPr txBox="1">
            <a:spLocks/>
          </p:cNvSpPr>
          <p:nvPr/>
        </p:nvSpPr>
        <p:spPr>
          <a:xfrm>
            <a:off x="457200" y="274638"/>
            <a:ext cx="8229600" cy="715962"/>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fontScale="92500"/>
          </a:bodyPr>
          <a:lstStyle/>
          <a:p>
            <a:pPr lvl="0">
              <a:spcBef>
                <a:spcPct val="0"/>
              </a:spcBef>
              <a:defRPr/>
            </a:pPr>
            <a:r>
              <a:rPr lang="en-US" sz="3200" dirty="0" smtClean="0"/>
              <a:t>Organizing the information and writing an outline</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89037"/>
            <a:ext cx="8229600" cy="5135563"/>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a:buChar char="X"/>
            </a:pPr>
            <a:r>
              <a:rPr lang="en-US" sz="2600" dirty="0" smtClean="0"/>
              <a:t>As with most other writing formats, reports should all have an introduction, a body and a conclusion.</a:t>
            </a:r>
          </a:p>
          <a:p>
            <a:pPr>
              <a:buFont typeface="Wingdings"/>
              <a:buChar char="X"/>
            </a:pPr>
            <a:r>
              <a:rPr lang="en-US" sz="2600" dirty="0" smtClean="0"/>
              <a:t>However, many reports may have all or some of the following sections (but note that your teacher or lecturer may want the report in a quite different structure – always check first):</a:t>
            </a:r>
          </a:p>
          <a:p>
            <a:pPr>
              <a:buFont typeface="Wingdings 2"/>
              <a:buChar char="A"/>
            </a:pPr>
            <a:r>
              <a:rPr lang="en-US" sz="2600" b="1" dirty="0" smtClean="0"/>
              <a:t>Title page</a:t>
            </a:r>
            <a:r>
              <a:rPr lang="en-US" sz="2600" dirty="0" smtClean="0"/>
              <a:t>, which includes:</a:t>
            </a:r>
          </a:p>
          <a:p>
            <a:pPr>
              <a:buFont typeface="Wingdings"/>
              <a:buChar char="ü"/>
            </a:pPr>
            <a:r>
              <a:rPr lang="en-US" sz="2600" dirty="0" smtClean="0"/>
              <a:t>the title of the report (avoid long titles)</a:t>
            </a:r>
          </a:p>
          <a:p>
            <a:pPr>
              <a:buFont typeface="Wingdings"/>
              <a:buChar char="ü"/>
            </a:pPr>
            <a:r>
              <a:rPr lang="en-US" sz="2600" dirty="0" smtClean="0"/>
              <a:t>student’s name and number</a:t>
            </a:r>
          </a:p>
          <a:p>
            <a:pPr>
              <a:buFont typeface="Wingdings"/>
              <a:buChar char="ü"/>
            </a:pPr>
            <a:r>
              <a:rPr lang="en-US" sz="2600" dirty="0" smtClean="0"/>
              <a:t>lecturer’s name</a:t>
            </a:r>
          </a:p>
          <a:p>
            <a:pPr>
              <a:buFont typeface="Wingdings"/>
              <a:buChar char="ü"/>
            </a:pPr>
            <a:r>
              <a:rPr lang="en-US" sz="2600" dirty="0" smtClean="0"/>
              <a:t>date of submission</a:t>
            </a:r>
          </a:p>
          <a:p>
            <a:endParaRPr lang="en-US" sz="2600" dirty="0"/>
          </a:p>
        </p:txBody>
      </p:sp>
      <p:sp>
        <p:nvSpPr>
          <p:cNvPr id="4" name="Title 1"/>
          <p:cNvSpPr txBox="1">
            <a:spLocks/>
          </p:cNvSpPr>
          <p:nvPr/>
        </p:nvSpPr>
        <p:spPr>
          <a:xfrm>
            <a:off x="457200" y="1764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a:buNone/>
            </a:pPr>
            <a:r>
              <a:rPr lang="en-US" sz="2600" dirty="0" smtClean="0">
                <a:sym typeface="Wingdings 2"/>
              </a:rPr>
              <a:t> </a:t>
            </a:r>
            <a:r>
              <a:rPr lang="en-US" sz="2800" b="1" dirty="0" smtClean="0"/>
              <a:t>Abstract or Summary:</a:t>
            </a:r>
          </a:p>
          <a:p>
            <a:pPr>
              <a:buFont typeface="Wingdings"/>
              <a:buChar char="ü"/>
            </a:pPr>
            <a:r>
              <a:rPr lang="en-US" sz="2800" dirty="0" smtClean="0"/>
              <a:t>is often written after the rest of the report is finished, but is usually read first</a:t>
            </a:r>
          </a:p>
          <a:p>
            <a:pPr>
              <a:buFont typeface="Wingdings"/>
              <a:buChar char="ü"/>
            </a:pPr>
            <a:r>
              <a:rPr lang="en-US" sz="2800" dirty="0" smtClean="0"/>
              <a:t>gives us the bare facts of the report including the findings and the conclusions</a:t>
            </a:r>
          </a:p>
          <a:p>
            <a:pPr>
              <a:buFont typeface="Wingdings"/>
              <a:buChar char="ü"/>
            </a:pPr>
            <a:r>
              <a:rPr lang="en-US" sz="2800" dirty="0" smtClean="0"/>
              <a:t>is typically very short</a:t>
            </a:r>
          </a:p>
          <a:p>
            <a:pPr>
              <a:buFont typeface="Wingdings 2"/>
              <a:buChar char="A"/>
            </a:pPr>
            <a:r>
              <a:rPr lang="en-US" sz="2800" b="1" dirty="0" smtClean="0"/>
              <a:t>Table of contents </a:t>
            </a:r>
            <a:r>
              <a:rPr lang="en-US" sz="2800" dirty="0" smtClean="0"/>
              <a:t>if your report is longer than a few pages. This:</a:t>
            </a:r>
          </a:p>
          <a:p>
            <a:pPr>
              <a:buFont typeface="Wingdings"/>
              <a:buChar char="ü"/>
            </a:pPr>
            <a:r>
              <a:rPr lang="en-US" sz="2800" dirty="0" smtClean="0"/>
              <a:t>lists the sections and sub-sections and page numbers</a:t>
            </a:r>
          </a:p>
          <a:p>
            <a:pPr>
              <a:buFont typeface="Wingdings"/>
              <a:buChar char="ü"/>
            </a:pPr>
            <a:r>
              <a:rPr lang="en-US" sz="2800" dirty="0" smtClean="0"/>
              <a:t>provides a list of diagrams, tables and appendices (if used)</a:t>
            </a:r>
            <a:endParaRPr lang="en-US" sz="2600" dirty="0"/>
          </a:p>
        </p:txBody>
      </p:sp>
      <p:sp>
        <p:nvSpPr>
          <p:cNvPr id="5" name="Title 1"/>
          <p:cNvSpPr txBox="1">
            <a:spLocks/>
          </p:cNvSpPr>
          <p:nvPr/>
        </p:nvSpPr>
        <p:spPr>
          <a:xfrm>
            <a:off x="457200" y="1764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70000" lnSpcReduction="20000"/>
          </a:bodyPr>
          <a:lstStyle/>
          <a:p>
            <a:pPr>
              <a:buNone/>
            </a:pPr>
            <a:r>
              <a:rPr lang="en-US" dirty="0" smtClean="0">
                <a:sym typeface="Wingdings"/>
              </a:rPr>
              <a:t> </a:t>
            </a:r>
            <a:r>
              <a:rPr lang="en-US" dirty="0" smtClean="0"/>
              <a:t>Here is an example of a Table of Contents for a report entitled How to Lobby:</a:t>
            </a:r>
          </a:p>
          <a:p>
            <a:pPr algn="ctr">
              <a:buNone/>
            </a:pPr>
            <a:r>
              <a:rPr lang="en-US" dirty="0" smtClean="0"/>
              <a:t>Contents</a:t>
            </a:r>
          </a:p>
          <a:p>
            <a:pPr>
              <a:buNone/>
            </a:pPr>
            <a:r>
              <a:rPr lang="en-US" dirty="0" smtClean="0"/>
              <a:t>1. Introduction                                                                                                1</a:t>
            </a:r>
          </a:p>
          <a:p>
            <a:pPr>
              <a:buNone/>
            </a:pPr>
            <a:r>
              <a:rPr lang="en-US" dirty="0" smtClean="0"/>
              <a:t>2. The lobbying campaign                                                                             2</a:t>
            </a:r>
          </a:p>
          <a:p>
            <a:pPr>
              <a:buNone/>
            </a:pPr>
            <a:r>
              <a:rPr lang="en-US" dirty="0" smtClean="0"/>
              <a:t>       2.1 Professional lobbyists                                                                      3</a:t>
            </a:r>
          </a:p>
          <a:p>
            <a:pPr>
              <a:buNone/>
            </a:pPr>
            <a:r>
              <a:rPr lang="en-US" dirty="0" smtClean="0"/>
              <a:t>       2.2 Petitions                                                                                             5</a:t>
            </a:r>
          </a:p>
          <a:p>
            <a:pPr>
              <a:buNone/>
            </a:pPr>
            <a:r>
              <a:rPr lang="en-US" dirty="0" smtClean="0"/>
              <a:t>       2.3 Letters                                                                                                7</a:t>
            </a:r>
          </a:p>
          <a:p>
            <a:pPr>
              <a:buNone/>
            </a:pPr>
            <a:r>
              <a:rPr lang="en-US" dirty="0" smtClean="0"/>
              <a:t>       2.4 Demonstrations                                                                                9</a:t>
            </a:r>
          </a:p>
          <a:p>
            <a:pPr>
              <a:buNone/>
            </a:pPr>
            <a:r>
              <a:rPr lang="en-US" dirty="0" smtClean="0"/>
              <a:t>3. Forming a lobby group                                                                           12</a:t>
            </a:r>
          </a:p>
          <a:p>
            <a:pPr>
              <a:buNone/>
            </a:pPr>
            <a:r>
              <a:rPr lang="en-US" dirty="0" smtClean="0"/>
              <a:t>    3.1 Incorporated associations                                                               14</a:t>
            </a:r>
          </a:p>
          <a:p>
            <a:pPr>
              <a:buNone/>
            </a:pPr>
            <a:r>
              <a:rPr lang="en-US" dirty="0" smtClean="0"/>
              <a:t>    3.2 Co-operatives                                                                                    15</a:t>
            </a:r>
          </a:p>
          <a:p>
            <a:pPr>
              <a:buNone/>
            </a:pPr>
            <a:r>
              <a:rPr lang="en-US" dirty="0" smtClean="0"/>
              <a:t>    3.2.1 Objectives                                                                                       16</a:t>
            </a:r>
          </a:p>
          <a:p>
            <a:pPr>
              <a:buNone/>
            </a:pPr>
            <a:r>
              <a:rPr lang="en-US" dirty="0" smtClean="0"/>
              <a:t>    3.2.2 Size                                                                                                   17</a:t>
            </a:r>
          </a:p>
          <a:p>
            <a:pPr>
              <a:buNone/>
            </a:pPr>
            <a:r>
              <a:rPr lang="en-US" dirty="0" smtClean="0"/>
              <a:t>4. Using the media                                                                                      18</a:t>
            </a:r>
          </a:p>
          <a:p>
            <a:pPr>
              <a:buNone/>
            </a:pPr>
            <a:r>
              <a:rPr lang="en-US" dirty="0" smtClean="0"/>
              <a:t>     4.1 The media release                                                                            20</a:t>
            </a:r>
          </a:p>
          <a:p>
            <a:pPr>
              <a:buNone/>
            </a:pPr>
            <a:r>
              <a:rPr lang="en-US" dirty="0" smtClean="0"/>
              <a:t>     4.2 Media conferences                                                                           22</a:t>
            </a:r>
          </a:p>
          <a:p>
            <a:pPr>
              <a:buNone/>
            </a:pPr>
            <a:r>
              <a:rPr lang="en-US" dirty="0" smtClean="0"/>
              <a:t>5. Conclusion and Recommendations                                                      25</a:t>
            </a:r>
            <a:endParaRPr lang="en-US" dirty="0"/>
          </a:p>
        </p:txBody>
      </p:sp>
      <p:graphicFrame>
        <p:nvGraphicFramePr>
          <p:cNvPr id="6" name="Table 5"/>
          <p:cNvGraphicFramePr>
            <a:graphicFrameLocks noGrp="1"/>
          </p:cNvGraphicFramePr>
          <p:nvPr/>
        </p:nvGraphicFramePr>
        <p:xfrm>
          <a:off x="457200" y="838200"/>
          <a:ext cx="8229600" cy="5715000"/>
        </p:xfrm>
        <a:graphic>
          <a:graphicData uri="http://schemas.openxmlformats.org/drawingml/2006/table">
            <a:tbl>
              <a:tblPr firstRow="1" bandRow="1">
                <a:tableStyleId>{5940675A-B579-460E-94D1-54222C63F5DA}</a:tableStyleId>
              </a:tblPr>
              <a:tblGrid>
                <a:gridCol w="8229600"/>
              </a:tblGrid>
              <a:tr h="5715000">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4102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2600" dirty="0" smtClean="0">
                <a:sym typeface="Wingdings 2"/>
              </a:rPr>
              <a:t></a:t>
            </a:r>
            <a:r>
              <a:rPr lang="en-US" sz="2600" b="1" dirty="0" smtClean="0">
                <a:sym typeface="Wingdings 2"/>
              </a:rPr>
              <a:t> </a:t>
            </a:r>
            <a:r>
              <a:rPr lang="en-US" sz="2600" b="1" dirty="0" smtClean="0"/>
              <a:t>Introduction</a:t>
            </a:r>
            <a:r>
              <a:rPr lang="en-US" sz="2600" dirty="0" smtClean="0"/>
              <a:t>, which:</a:t>
            </a:r>
          </a:p>
          <a:p>
            <a:pPr>
              <a:buFont typeface="Wingdings"/>
              <a:buChar char="ü"/>
            </a:pPr>
            <a:r>
              <a:rPr lang="en-US" sz="2600" dirty="0" smtClean="0"/>
              <a:t>gives the background</a:t>
            </a:r>
          </a:p>
          <a:p>
            <a:pPr>
              <a:buFont typeface="Wingdings"/>
              <a:buChar char="ü"/>
            </a:pPr>
            <a:r>
              <a:rPr lang="en-US" sz="2600" dirty="0" smtClean="0"/>
              <a:t>explains the purpose, scope and methods used</a:t>
            </a:r>
          </a:p>
          <a:p>
            <a:pPr>
              <a:buFont typeface="Wingdings"/>
              <a:buChar char="ü"/>
            </a:pPr>
            <a:r>
              <a:rPr lang="en-US" sz="2600" dirty="0" smtClean="0"/>
              <a:t>outlines the terms of reference</a:t>
            </a:r>
          </a:p>
          <a:p>
            <a:pPr>
              <a:buFont typeface="Wingdings"/>
              <a:buChar char="ü"/>
            </a:pPr>
            <a:r>
              <a:rPr lang="en-US" sz="2600" dirty="0" smtClean="0"/>
              <a:t>It should be a brief, accurate background for the body of the report</a:t>
            </a:r>
          </a:p>
          <a:p>
            <a:pPr>
              <a:buNone/>
            </a:pPr>
            <a:r>
              <a:rPr lang="en-US" sz="2600" dirty="0" smtClean="0">
                <a:sym typeface="Wingdings 2"/>
              </a:rPr>
              <a:t> </a:t>
            </a:r>
            <a:r>
              <a:rPr lang="en-US" sz="2600" b="1" dirty="0" smtClean="0"/>
              <a:t>The body</a:t>
            </a:r>
            <a:r>
              <a:rPr lang="en-US" sz="2600" dirty="0" smtClean="0"/>
              <a:t>, which covers the work done and what you found. It’s divided into topics which are</a:t>
            </a:r>
          </a:p>
          <a:p>
            <a:pPr>
              <a:buFont typeface="Wingdings"/>
              <a:buChar char="ü"/>
            </a:pPr>
            <a:r>
              <a:rPr lang="en-US" sz="2600" dirty="0" smtClean="0"/>
              <a:t>arranged in a logical order with headings and sub-headings</a:t>
            </a:r>
          </a:p>
          <a:p>
            <a:pPr>
              <a:buNone/>
            </a:pPr>
            <a:r>
              <a:rPr lang="en-US" sz="2600" b="1" dirty="0" smtClean="0">
                <a:sym typeface="Wingdings 2"/>
              </a:rPr>
              <a:t> </a:t>
            </a:r>
            <a:r>
              <a:rPr lang="en-US" sz="2600" b="1" dirty="0" smtClean="0"/>
              <a:t>Conclusion</a:t>
            </a:r>
            <a:r>
              <a:rPr lang="en-US" sz="2600" dirty="0" smtClean="0"/>
              <a:t> covers the writer’s judgment based on information in the body of the report.</a:t>
            </a:r>
            <a:endParaRPr lang="en-US" sz="2600" dirty="0"/>
          </a:p>
        </p:txBody>
      </p:sp>
      <p:sp>
        <p:nvSpPr>
          <p:cNvPr id="4" name="Title 1"/>
          <p:cNvSpPr txBox="1">
            <a:spLocks/>
          </p:cNvSpPr>
          <p:nvPr/>
        </p:nvSpPr>
        <p:spPr>
          <a:xfrm>
            <a:off x="457200" y="1764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17637"/>
            <a:ext cx="8229600" cy="4525963"/>
          </a:xfrm>
        </p:spPr>
        <p:style>
          <a:lnRef idx="2">
            <a:schemeClr val="accent1"/>
          </a:lnRef>
          <a:fillRef idx="1">
            <a:schemeClr val="lt1"/>
          </a:fillRef>
          <a:effectRef idx="0">
            <a:schemeClr val="accent1"/>
          </a:effectRef>
          <a:fontRef idx="minor">
            <a:schemeClr val="dk1"/>
          </a:fontRef>
        </p:style>
        <p:txBody>
          <a:bodyPr>
            <a:normAutofit lnSpcReduction="10000"/>
          </a:bodyPr>
          <a:lstStyle/>
          <a:p>
            <a:pPr>
              <a:buNone/>
            </a:pPr>
            <a:r>
              <a:rPr lang="en-US" sz="2600" dirty="0" smtClean="0">
                <a:sym typeface="Wingdings 2"/>
              </a:rPr>
              <a:t> </a:t>
            </a:r>
            <a:r>
              <a:rPr lang="en-US" sz="2600" b="1" dirty="0" smtClean="0"/>
              <a:t>Recommendations:</a:t>
            </a:r>
          </a:p>
          <a:p>
            <a:pPr>
              <a:buFont typeface="Wingdings"/>
              <a:buChar char="ü"/>
            </a:pPr>
            <a:r>
              <a:rPr lang="en-US" sz="2600" dirty="0" smtClean="0"/>
              <a:t>gives solutions to the problems</a:t>
            </a:r>
          </a:p>
          <a:p>
            <a:pPr>
              <a:buFont typeface="Wingdings"/>
              <a:buChar char="ü"/>
            </a:pPr>
            <a:r>
              <a:rPr lang="en-US" sz="2600" dirty="0" smtClean="0"/>
              <a:t>suggests possible courses of action as a result of the conclusions, </a:t>
            </a:r>
          </a:p>
          <a:p>
            <a:pPr>
              <a:buFont typeface="Wingdings"/>
              <a:buChar char="ð"/>
            </a:pPr>
            <a:r>
              <a:rPr lang="en-US" sz="2600" dirty="0" smtClean="0"/>
              <a:t>who should take action</a:t>
            </a:r>
          </a:p>
          <a:p>
            <a:pPr>
              <a:buFont typeface="Wingdings"/>
              <a:buChar char="ð"/>
            </a:pPr>
            <a:r>
              <a:rPr lang="en-US" sz="2600" dirty="0" smtClean="0"/>
              <a:t>what should be done</a:t>
            </a:r>
          </a:p>
          <a:p>
            <a:pPr>
              <a:buFont typeface="Wingdings"/>
              <a:buChar char="ð"/>
            </a:pPr>
            <a:r>
              <a:rPr lang="en-US" sz="2600" dirty="0" smtClean="0"/>
              <a:t>when and how it should be done</a:t>
            </a:r>
          </a:p>
          <a:p>
            <a:pPr>
              <a:buNone/>
            </a:pPr>
            <a:r>
              <a:rPr lang="en-US" sz="2600" dirty="0" smtClean="0">
                <a:sym typeface="Wingdings 2"/>
              </a:rPr>
              <a:t></a:t>
            </a:r>
            <a:r>
              <a:rPr lang="en-US" sz="2600" b="1" dirty="0" smtClean="0">
                <a:sym typeface="Wingdings 2"/>
              </a:rPr>
              <a:t> </a:t>
            </a:r>
            <a:r>
              <a:rPr lang="en-US" sz="2600" b="1" dirty="0" smtClean="0"/>
              <a:t>Appendices </a:t>
            </a:r>
            <a:r>
              <a:rPr lang="en-US" sz="2600" dirty="0" smtClean="0"/>
              <a:t>contain evidence which supports the report but is not essential because it’s either too long or too technical for the audience.</a:t>
            </a:r>
          </a:p>
          <a:p>
            <a:endParaRPr lang="en-US" sz="2600" dirty="0"/>
          </a:p>
        </p:txBody>
      </p:sp>
      <p:sp>
        <p:nvSpPr>
          <p:cNvPr id="4" name="Title 1"/>
          <p:cNvSpPr txBox="1">
            <a:spLocks/>
          </p:cNvSpPr>
          <p:nvPr/>
        </p:nvSpPr>
        <p:spPr>
          <a:xfrm>
            <a:off x="457200" y="3288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Font typeface="Wingdings 2"/>
              <a:buChar char="A"/>
            </a:pPr>
            <a:r>
              <a:rPr lang="en-US" sz="2600" b="1" dirty="0" smtClean="0"/>
              <a:t>Bibliography</a:t>
            </a:r>
            <a:r>
              <a:rPr lang="en-US" sz="2600" dirty="0" smtClean="0"/>
              <a:t> includes all sources of information used in the report and often those used for background reading as well.</a:t>
            </a:r>
          </a:p>
          <a:p>
            <a:pPr>
              <a:buFont typeface="Wingdings 2"/>
              <a:buChar char="A"/>
            </a:pPr>
            <a:r>
              <a:rPr lang="en-US" sz="2600" b="1" dirty="0" smtClean="0"/>
              <a:t>Glossary</a:t>
            </a:r>
            <a:r>
              <a:rPr lang="en-US" sz="2600" dirty="0" smtClean="0"/>
              <a:t> is an alphabetical list of special words, phrases and terms used in the report, accompanied by a short explanation of each. </a:t>
            </a:r>
          </a:p>
          <a:p>
            <a:pPr>
              <a:buFont typeface="Wingdings 2"/>
              <a:buChar char="A"/>
            </a:pPr>
            <a:r>
              <a:rPr lang="en-US" sz="2600" dirty="0" smtClean="0"/>
              <a:t>These are common in technical reports.</a:t>
            </a:r>
            <a:endParaRPr lang="en-US" sz="2600" dirty="0"/>
          </a:p>
        </p:txBody>
      </p:sp>
      <p:sp>
        <p:nvSpPr>
          <p:cNvPr id="4" name="Title 1"/>
          <p:cNvSpPr txBox="1">
            <a:spLocks/>
          </p:cNvSpPr>
          <p:nvPr/>
        </p:nvSpPr>
        <p:spPr>
          <a:xfrm>
            <a:off x="457200" y="3288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a:buChar char="§"/>
            </a:pPr>
            <a:r>
              <a:rPr lang="en-US" sz="2600" dirty="0" smtClean="0"/>
              <a:t>When you begin writing your report, you don't have to begin with the introduction and write until you reach the conclusion. </a:t>
            </a:r>
          </a:p>
          <a:p>
            <a:pPr>
              <a:buFont typeface="Wingdings"/>
              <a:buChar char="§"/>
            </a:pPr>
            <a:r>
              <a:rPr lang="en-US" sz="2600" dirty="0" smtClean="0"/>
              <a:t>In a report, it's often better to write parts of the body first, then the conclusions, and write the introduction last, when you're sure you know what you're introducing.</a:t>
            </a:r>
          </a:p>
          <a:p>
            <a:pPr>
              <a:buFont typeface="Wingdings"/>
              <a:buChar char="§"/>
            </a:pPr>
            <a:r>
              <a:rPr lang="en-US" sz="2600" dirty="0" smtClean="0"/>
              <a:t>Don’t expect to produce a perfect report the first time you write. </a:t>
            </a:r>
          </a:p>
          <a:p>
            <a:pPr>
              <a:buFont typeface="Wingdings"/>
              <a:buChar char="§"/>
            </a:pPr>
            <a:r>
              <a:rPr lang="en-US" sz="2600" dirty="0" smtClean="0"/>
              <a:t>It’s usually an on-going process of </a:t>
            </a:r>
            <a:r>
              <a:rPr lang="en-US" sz="2800" dirty="0" smtClean="0"/>
              <a:t>writing and re-writing.</a:t>
            </a:r>
            <a:endParaRPr lang="en-US" sz="2600" dirty="0" smtClean="0"/>
          </a:p>
        </p:txBody>
      </p:sp>
      <p:sp>
        <p:nvSpPr>
          <p:cNvPr id="4" name="Title 1"/>
          <p:cNvSpPr txBox="1">
            <a:spLocks/>
          </p:cNvSpPr>
          <p:nvPr/>
        </p:nvSpPr>
        <p:spPr>
          <a:xfrm>
            <a:off x="457200" y="3288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a:buNone/>
            </a:pPr>
            <a:r>
              <a:rPr lang="en-US" sz="2600" dirty="0" smtClean="0">
                <a:sym typeface="Wingdings"/>
              </a:rPr>
              <a:t> </a:t>
            </a:r>
            <a:r>
              <a:rPr lang="en-US" sz="2600" dirty="0" smtClean="0">
                <a:effectLst>
                  <a:outerShdw blurRad="38100" dist="38100" dir="2700000" algn="tl">
                    <a:srgbClr val="000000">
                      <a:alpha val="43137"/>
                    </a:srgbClr>
                  </a:outerShdw>
                </a:effectLst>
              </a:rPr>
              <a:t>Here are some helpful hints</a:t>
            </a:r>
            <a:r>
              <a:rPr lang="en-US" sz="2600" dirty="0" smtClean="0"/>
              <a:t>:</a:t>
            </a:r>
          </a:p>
          <a:p>
            <a:pPr>
              <a:buNone/>
            </a:pPr>
            <a:r>
              <a:rPr lang="en-US" sz="2600" dirty="0" smtClean="0"/>
              <a:t>• Use a computer – even if you’re slow, it saves time in the end.</a:t>
            </a:r>
          </a:p>
          <a:p>
            <a:pPr>
              <a:buNone/>
            </a:pPr>
            <a:r>
              <a:rPr lang="en-US" sz="2600" dirty="0" smtClean="0"/>
              <a:t>• Write your first draft quickly to establish a ‘flow’.</a:t>
            </a:r>
          </a:p>
          <a:p>
            <a:pPr>
              <a:buNone/>
            </a:pPr>
            <a:r>
              <a:rPr lang="en-US" sz="2600" dirty="0" smtClean="0"/>
              <a:t>• Don’t stop to fix errors – do your editing and proofreading later</a:t>
            </a:r>
          </a:p>
          <a:p>
            <a:pPr>
              <a:buNone/>
            </a:pPr>
            <a:r>
              <a:rPr lang="en-US" sz="2600" dirty="0" smtClean="0"/>
              <a:t>• Use short, clear sentences – you can decide to join some of them in a later draft.</a:t>
            </a:r>
          </a:p>
          <a:p>
            <a:pPr>
              <a:buNone/>
            </a:pPr>
            <a:r>
              <a:rPr lang="en-US" sz="2600" dirty="0" smtClean="0"/>
              <a:t>• Use bullet point form for important information to make it easy for the reader.</a:t>
            </a:r>
          </a:p>
          <a:p>
            <a:endParaRPr lang="en-US" sz="2600" dirty="0"/>
          </a:p>
        </p:txBody>
      </p:sp>
      <p:sp>
        <p:nvSpPr>
          <p:cNvPr id="4" name="Title 1"/>
          <p:cNvSpPr txBox="1">
            <a:spLocks/>
          </p:cNvSpPr>
          <p:nvPr/>
        </p:nvSpPr>
        <p:spPr>
          <a:xfrm>
            <a:off x="457200" y="328856"/>
            <a:ext cx="8229600" cy="585544"/>
          </a:xfrm>
          <a:prstGeom prst="rect">
            <a:avLst/>
          </a:prstGeom>
          <a:solidFill>
            <a:schemeClr val="accent1">
              <a:lumMod val="20000"/>
              <a:lumOff val="80000"/>
            </a:schemeClr>
          </a:solidFill>
          <a:ln>
            <a:solidFill>
              <a:schemeClr val="accent1"/>
            </a:solidFill>
          </a:ln>
        </p:spPr>
        <p:txBody>
          <a:bodyPr vert="horz" lIns="91440" tIns="45720" rIns="91440" bIns="45720" rtlCol="0" anchor="ctr">
            <a:normAutofit/>
          </a:bodyPr>
          <a:lstStyle/>
          <a:p>
            <a:pPr lvl="0">
              <a:spcBef>
                <a:spcPct val="0"/>
              </a:spcBef>
              <a:defRPr/>
            </a:pPr>
            <a:r>
              <a:rPr lang="en-US" sz="3000" dirty="0" smtClean="0"/>
              <a:t>Writing a First Draft</a:t>
            </a:r>
            <a:endParaRPr kumimoji="0" lang="en-US" sz="300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2438400"/>
            <a:ext cx="4257383" cy="1015663"/>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defRPr/>
            </a:pPr>
            <a:r>
              <a:rPr lang="en-US" sz="6000" b="1" dirty="0" smtClean="0">
                <a:ln/>
                <a:solidFill>
                  <a:srgbClr val="0070C0"/>
                </a:solidFill>
                <a:latin typeface="Arial" charset="0"/>
                <a:cs typeface="Arial" charset="0"/>
                <a:sym typeface="Wingdings"/>
              </a:rPr>
              <a:t> </a:t>
            </a:r>
            <a:r>
              <a:rPr lang="en-US" sz="6000" b="1" dirty="0">
                <a:ln/>
                <a:solidFill>
                  <a:srgbClr val="0070C0"/>
                </a:solidFill>
                <a:latin typeface="Arial" charset="0"/>
                <a:cs typeface="Arial" charset="0"/>
              </a:rPr>
              <a:t>Thank </a:t>
            </a:r>
            <a:r>
              <a:rPr lang="en-US" sz="6000" b="1" dirty="0" smtClean="0">
                <a:ln/>
                <a:solidFill>
                  <a:srgbClr val="0070C0"/>
                </a:solidFill>
                <a:latin typeface="Arial" charset="0"/>
                <a:cs typeface="Arial" charset="0"/>
              </a:rPr>
              <a:t>You</a:t>
            </a:r>
            <a:endParaRPr lang="en-US" sz="6000" b="1" dirty="0">
              <a:ln/>
              <a:solidFill>
                <a:srgbClr val="0070C0"/>
              </a:solidFill>
              <a:latin typeface="Arial" charset="0"/>
              <a:cs typeface="Arial" charset="0"/>
            </a:endParaRPr>
          </a:p>
        </p:txBody>
      </p:sp>
      <p:pic>
        <p:nvPicPr>
          <p:cNvPr id="16387" name="Picture 2" descr="G:\MONI\NUB\Characters\20.jpg"/>
          <p:cNvPicPr>
            <a:picLocks noChangeAspect="1" noChangeArrowheads="1"/>
          </p:cNvPicPr>
          <p:nvPr/>
        </p:nvPicPr>
        <p:blipFill>
          <a:blip r:embed="rId2"/>
          <a:srcRect/>
          <a:stretch>
            <a:fillRect/>
          </a:stretch>
        </p:blipFill>
        <p:spPr bwMode="auto">
          <a:xfrm>
            <a:off x="6096000" y="2514600"/>
            <a:ext cx="990600" cy="985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4118</Words>
  <Application>Microsoft Office PowerPoint</Application>
  <PresentationFormat>On-screen Show (4:3)</PresentationFormat>
  <Paragraphs>447</Paragraphs>
  <Slides>58</Slides>
  <Notes>0</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Slide 1</vt:lpstr>
      <vt:lpstr>Mechanical Structure of a letter</vt:lpstr>
      <vt:lpstr>Slide 3</vt:lpstr>
      <vt:lpstr>Slide 4</vt:lpstr>
      <vt:lpstr>Slide 5</vt:lpstr>
      <vt:lpstr>Slide 6</vt:lpstr>
      <vt:lpstr>Slide 7</vt:lpstr>
      <vt:lpstr>Slide 8</vt:lpstr>
      <vt:lpstr>Slide 9</vt:lpstr>
      <vt:lpstr>Slide 10</vt:lpstr>
      <vt:lpstr>Slide 11</vt:lpstr>
      <vt:lpstr>Contents of Enquiry Letter</vt:lpstr>
      <vt:lpstr>Slide 13</vt:lpstr>
      <vt:lpstr>Slide 14</vt:lpstr>
      <vt:lpstr>Examples of Enquiry Letter</vt:lpstr>
      <vt:lpstr>Slide 16</vt:lpstr>
      <vt:lpstr>Letter of Order</vt:lpstr>
      <vt:lpstr>Contents of a Letter of Order</vt:lpstr>
      <vt:lpstr>Features of Order Letter</vt:lpstr>
      <vt:lpstr>Slide 20</vt:lpstr>
      <vt:lpstr>Types of Order Letter</vt:lpstr>
      <vt:lpstr>Execution of an Order</vt:lpstr>
      <vt:lpstr>Refusal Of An Order Letter</vt:lpstr>
      <vt:lpstr>Cancellation of an Order</vt:lpstr>
      <vt:lpstr>Letter of Complaints</vt:lpstr>
      <vt:lpstr>Factors To Be Considered In Drafting A Letter Of Complaints</vt:lpstr>
      <vt:lpstr>Slide 27</vt:lpstr>
      <vt:lpstr>Adjustment Letter</vt:lpstr>
      <vt:lpstr>Slide 29</vt:lpstr>
      <vt:lpstr>What is a CV </vt:lpstr>
      <vt:lpstr>Slide 31</vt:lpstr>
      <vt:lpstr>Slide 32</vt:lpstr>
      <vt:lpstr>When Should a CV be Used</vt:lpstr>
      <vt:lpstr>What information should a CV include? </vt:lpstr>
      <vt:lpstr>Slide 35</vt:lpstr>
      <vt:lpstr>Slide 36</vt:lpstr>
      <vt:lpstr>Slide 37</vt:lpstr>
      <vt:lpstr>Slide 38</vt:lpstr>
      <vt:lpstr>What makes a good CV? </vt:lpstr>
      <vt:lpstr>How long should a CV be? </vt:lpstr>
      <vt:lpstr>Font</vt:lpstr>
      <vt:lpstr>Slide 42</vt:lpstr>
      <vt:lpstr>Report</vt:lpstr>
      <vt:lpstr>Characteristics of a Good Report</vt:lpstr>
      <vt:lpstr>Slide 45</vt:lpstr>
      <vt:lpstr>Report Writing</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Teacher</cp:lastModifiedBy>
  <cp:revision>313</cp:revision>
  <dcterms:created xsi:type="dcterms:W3CDTF">2006-08-16T00:00:00Z</dcterms:created>
  <dcterms:modified xsi:type="dcterms:W3CDTF">2019-04-17T12:48:36Z</dcterms:modified>
</cp:coreProperties>
</file>