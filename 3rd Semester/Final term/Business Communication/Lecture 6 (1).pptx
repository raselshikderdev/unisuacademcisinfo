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8" r:id="rId3"/>
    <p:sldId id="260" r:id="rId4"/>
    <p:sldId id="261" r:id="rId5"/>
    <p:sldId id="262" r:id="rId6"/>
    <p:sldId id="263" r:id="rId7"/>
    <p:sldId id="264" r:id="rId8"/>
    <p:sldId id="265" r:id="rId9"/>
    <p:sldId id="283"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57"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9" d="100"/>
          <a:sy n="69" d="100"/>
        </p:scale>
        <p:origin x="-546" y="-108"/>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BD78ACD-025D-4953-8CDF-E0E89D90DCCF}" type="datetimeFigureOut">
              <a:rPr lang="en-US" smtClean="0"/>
              <a:pPr/>
              <a:t>4/17/2019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A78A264-EBDD-4B7E-8E97-7F95950A9593}"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A78A264-EBDD-4B7E-8E97-7F95950A9593}" type="slidenum">
              <a:rPr lang="en-US" smtClean="0"/>
              <a:pPr/>
              <a:t>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4/17/2019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4/17/2019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4/17/2019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4/17/2019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4/17/2019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4/17/2019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4/17/2019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152400"/>
            <a:ext cx="8455969" cy="1938992"/>
          </a:xfrm>
          <a:prstGeom prst="rect">
            <a:avLst/>
          </a:prstGeom>
          <a:noFill/>
        </p:spPr>
        <p:txBody>
          <a:bodyPr>
            <a:spAutoFit/>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algn="ctr" fontAlgn="auto">
              <a:spcBef>
                <a:spcPts val="0"/>
              </a:spcBef>
              <a:spcAft>
                <a:spcPts val="0"/>
              </a:spcAft>
              <a:defRPr/>
            </a:pPr>
            <a:r>
              <a:rPr lang="en-US" sz="6000" b="1" cap="all"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mn-lt"/>
                <a:cs typeface="+mn-cs"/>
              </a:rPr>
              <a:t>BUSINESS COMMUNICATION</a:t>
            </a:r>
          </a:p>
        </p:txBody>
      </p:sp>
      <p:sp>
        <p:nvSpPr>
          <p:cNvPr id="5" name="Rectangle 4"/>
          <p:cNvSpPr/>
          <p:nvPr/>
        </p:nvSpPr>
        <p:spPr>
          <a:xfrm>
            <a:off x="3008501" y="5096470"/>
            <a:ext cx="2935099" cy="923330"/>
          </a:xfrm>
          <a:prstGeom prst="rect">
            <a:avLst/>
          </a:prstGeom>
          <a:noFill/>
        </p:spPr>
        <p:txBody>
          <a:bodyPr wrap="none">
            <a:spAutoFit/>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algn="ctr" fontAlgn="auto">
              <a:spcBef>
                <a:spcPts val="0"/>
              </a:spcBef>
              <a:spcAft>
                <a:spcPts val="0"/>
              </a:spcAft>
              <a:defRPr/>
            </a:pPr>
            <a:r>
              <a:rPr lang="en-US" sz="5400" b="1" cap="all"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mn-lt"/>
                <a:cs typeface="+mn-cs"/>
              </a:rPr>
              <a:t>BBA 2106</a:t>
            </a:r>
          </a:p>
        </p:txBody>
      </p:sp>
      <p:sp>
        <p:nvSpPr>
          <p:cNvPr id="2052" name="TextBox 6"/>
          <p:cNvSpPr txBox="1">
            <a:spLocks noChangeArrowheads="1"/>
          </p:cNvSpPr>
          <p:nvPr/>
        </p:nvSpPr>
        <p:spPr bwMode="auto">
          <a:xfrm>
            <a:off x="2209800" y="2667000"/>
            <a:ext cx="4724400" cy="2246769"/>
          </a:xfrm>
          <a:prstGeom prst="rect">
            <a:avLst/>
          </a:prstGeom>
          <a:noFill/>
          <a:ln w="9525">
            <a:noFill/>
            <a:miter lim="800000"/>
            <a:headEnd/>
            <a:tailEnd/>
          </a:ln>
        </p:spPr>
        <p:txBody>
          <a:bodyPr wrap="square">
            <a:spAutoFit/>
          </a:bodyPr>
          <a:lstStyle/>
          <a:p>
            <a:pPr algn="ctr"/>
            <a:r>
              <a:rPr lang="en-US" sz="3500" b="1" dirty="0" smtClean="0">
                <a:solidFill>
                  <a:srgbClr val="7030A0"/>
                </a:solidFill>
                <a:latin typeface="Algerian" pitchFamily="82" charset="0"/>
              </a:rPr>
              <a:t>Construction of </a:t>
            </a:r>
          </a:p>
          <a:p>
            <a:pPr algn="ctr"/>
            <a:r>
              <a:rPr lang="en-US" sz="3500" b="1" dirty="0" smtClean="0">
                <a:solidFill>
                  <a:srgbClr val="7030A0"/>
                </a:solidFill>
                <a:latin typeface="Algerian" pitchFamily="82" charset="0"/>
              </a:rPr>
              <a:t>Clear sentence</a:t>
            </a:r>
          </a:p>
          <a:p>
            <a:pPr algn="ctr"/>
            <a:r>
              <a:rPr lang="en-US" sz="3500" b="1" dirty="0" smtClean="0">
                <a:solidFill>
                  <a:srgbClr val="7030A0"/>
                </a:solidFill>
                <a:latin typeface="Algerian" pitchFamily="82" charset="0"/>
              </a:rPr>
              <a:t>&amp;</a:t>
            </a:r>
          </a:p>
          <a:p>
            <a:pPr algn="ctr"/>
            <a:r>
              <a:rPr lang="en-US" sz="3500" b="1" dirty="0" smtClean="0">
                <a:solidFill>
                  <a:srgbClr val="7030A0"/>
                </a:solidFill>
                <a:latin typeface="Algerian" pitchFamily="82" charset="0"/>
              </a:rPr>
              <a:t>paragraph</a:t>
            </a:r>
            <a:endParaRPr lang="en-US" sz="3500" b="1" dirty="0">
              <a:solidFill>
                <a:srgbClr val="7030A0"/>
              </a:solidFill>
              <a:latin typeface="Algerian" pitchFamily="82"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4876800" cy="563562"/>
          </a:xfrm>
          <a:solidFill>
            <a:schemeClr val="accent1">
              <a:lumMod val="20000"/>
              <a:lumOff val="80000"/>
            </a:schemeClr>
          </a:solidFill>
          <a:ln>
            <a:solidFill>
              <a:schemeClr val="accent1"/>
            </a:solidFill>
          </a:ln>
        </p:spPr>
        <p:txBody>
          <a:bodyPr>
            <a:normAutofit/>
          </a:bodyPr>
          <a:lstStyle/>
          <a:p>
            <a:r>
              <a:rPr lang="en-US" sz="3000" dirty="0" smtClean="0"/>
              <a:t>The Importance of Adaption </a:t>
            </a:r>
            <a:endParaRPr lang="en-US" sz="3000" dirty="0"/>
          </a:p>
        </p:txBody>
      </p:sp>
      <p:sp>
        <p:nvSpPr>
          <p:cNvPr id="3" name="Content Placeholder 2"/>
          <p:cNvSpPr>
            <a:spLocks noGrp="1"/>
          </p:cNvSpPr>
          <p:nvPr>
            <p:ph idx="1"/>
          </p:nvPr>
        </p:nvSpPr>
        <p:spPr>
          <a:xfrm>
            <a:off x="457200" y="1066800"/>
            <a:ext cx="8229600" cy="4983163"/>
          </a:xfrm>
        </p:spPr>
        <p:style>
          <a:lnRef idx="2">
            <a:schemeClr val="accent1"/>
          </a:lnRef>
          <a:fillRef idx="1">
            <a:schemeClr val="lt1"/>
          </a:fillRef>
          <a:effectRef idx="0">
            <a:schemeClr val="accent1"/>
          </a:effectRef>
          <a:fontRef idx="minor">
            <a:schemeClr val="dk1"/>
          </a:fontRef>
        </p:style>
        <p:txBody>
          <a:bodyPr>
            <a:normAutofit lnSpcReduction="10000"/>
          </a:bodyPr>
          <a:lstStyle/>
          <a:p>
            <a:pPr>
              <a:buFont typeface="Wingdings"/>
              <a:buChar char="§"/>
            </a:pPr>
            <a:r>
              <a:rPr lang="en-US" sz="2800" dirty="0" smtClean="0"/>
              <a:t>Sentences should be adopted to readers.</a:t>
            </a:r>
          </a:p>
          <a:p>
            <a:pPr>
              <a:buFont typeface="Wingdings"/>
              <a:buChar char="§"/>
            </a:pPr>
            <a:r>
              <a:rPr lang="en-US" sz="2800" dirty="0" smtClean="0"/>
              <a:t>Use the simpler sentence structures for those less able to understand.</a:t>
            </a:r>
          </a:p>
          <a:p>
            <a:pPr>
              <a:buFont typeface="Wingdings"/>
              <a:buChar char="§"/>
            </a:pPr>
            <a:r>
              <a:rPr lang="en-US" sz="2800" dirty="0" smtClean="0"/>
              <a:t>Use the more complex structures when appropriate.</a:t>
            </a:r>
          </a:p>
          <a:p>
            <a:pPr>
              <a:buFont typeface="Wingdings"/>
              <a:buChar char="§"/>
            </a:pPr>
            <a:r>
              <a:rPr lang="en-US" sz="2800" dirty="0" smtClean="0"/>
              <a:t>Writing effectively requires managing the emphasis in sender’s sentences and paragraphs.</a:t>
            </a:r>
          </a:p>
          <a:p>
            <a:pPr>
              <a:buNone/>
            </a:pPr>
            <a:r>
              <a:rPr lang="en-US" sz="2800" dirty="0" smtClean="0"/>
              <a:t>     </a:t>
            </a:r>
            <a:r>
              <a:rPr lang="en-US" sz="2800" i="1" dirty="0" smtClean="0">
                <a:effectLst>
                  <a:outerShdw blurRad="38100" dist="38100" dir="2700000" algn="tl">
                    <a:srgbClr val="000000">
                      <a:alpha val="43137"/>
                    </a:srgbClr>
                  </a:outerShdw>
                </a:effectLst>
              </a:rPr>
              <a:t>Each sentences express a main idea, and ordering the sentence elements according to accepted rules of grammar and logic.</a:t>
            </a:r>
          </a:p>
          <a:p>
            <a:pPr>
              <a:buNone/>
            </a:pPr>
            <a:r>
              <a:rPr lang="en-US" sz="2800" dirty="0" smtClean="0"/>
              <a:t>    </a:t>
            </a:r>
            <a:r>
              <a:rPr lang="en-US" sz="2800" i="1" dirty="0" smtClean="0">
                <a:effectLst>
                  <a:outerShdw blurRad="38100" dist="38100" dir="2700000" algn="tl">
                    <a:srgbClr val="000000">
                      <a:alpha val="43137"/>
                    </a:srgbClr>
                  </a:outerShdw>
                </a:effectLst>
              </a:rPr>
              <a:t>Paragraphs that are united, efficient, forward moving, and coherent.</a:t>
            </a:r>
          </a:p>
          <a:p>
            <a:endParaRPr lang="en-US" sz="2800" dirty="0" smtClean="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2209800" cy="639762"/>
          </a:xfrm>
          <a:solidFill>
            <a:schemeClr val="accent1">
              <a:lumMod val="20000"/>
              <a:lumOff val="80000"/>
            </a:schemeClr>
          </a:solidFill>
          <a:ln>
            <a:solidFill>
              <a:schemeClr val="accent1"/>
            </a:solidFill>
          </a:ln>
        </p:spPr>
        <p:txBody>
          <a:bodyPr>
            <a:normAutofit/>
          </a:bodyPr>
          <a:lstStyle/>
          <a:p>
            <a:pPr eaLnBrk="1" hangingPunct="1">
              <a:defRPr/>
            </a:pPr>
            <a:r>
              <a:rPr lang="en-US" sz="3000" dirty="0" smtClean="0"/>
              <a:t>Principles</a:t>
            </a:r>
            <a:endParaRPr lang="en-US" sz="3000" dirty="0"/>
          </a:p>
        </p:txBody>
      </p:sp>
      <p:sp>
        <p:nvSpPr>
          <p:cNvPr id="4099" name="Content Placeholder 2"/>
          <p:cNvSpPr>
            <a:spLocks noGrp="1"/>
          </p:cNvSpPr>
          <p:nvPr>
            <p:ph idx="1"/>
          </p:nvPr>
        </p:nvSpPr>
        <p:spPr>
          <a:xfrm>
            <a:off x="457200" y="1143000"/>
            <a:ext cx="8229600" cy="5410200"/>
          </a:xfrm>
        </p:spPr>
        <p:style>
          <a:lnRef idx="2">
            <a:schemeClr val="accent1"/>
          </a:lnRef>
          <a:fillRef idx="1">
            <a:schemeClr val="lt1"/>
          </a:fillRef>
          <a:effectRef idx="0">
            <a:schemeClr val="accent1"/>
          </a:effectRef>
          <a:fontRef idx="minor">
            <a:schemeClr val="dk1"/>
          </a:fontRef>
        </p:style>
        <p:txBody>
          <a:bodyPr>
            <a:normAutofit/>
          </a:bodyPr>
          <a:lstStyle/>
          <a:p>
            <a:pPr eaLnBrk="1" hangingPunct="1">
              <a:buFont typeface="Wingdings" pitchFamily="2" charset="2"/>
              <a:buChar char="r"/>
            </a:pPr>
            <a:r>
              <a:rPr lang="en-US" sz="2800" dirty="0" smtClean="0"/>
              <a:t>A study of relevant literature indicates that the principles of communication can be branded as </a:t>
            </a:r>
          </a:p>
          <a:p>
            <a:pPr eaLnBrk="1" hangingPunct="1">
              <a:buNone/>
            </a:pPr>
            <a:r>
              <a:rPr lang="en-US" sz="2800" dirty="0" smtClean="0"/>
              <a:t>    “Six-Cs”.</a:t>
            </a:r>
          </a:p>
          <a:p>
            <a:pPr eaLnBrk="1" hangingPunct="1">
              <a:buFont typeface="Arial" charset="0"/>
              <a:buNone/>
            </a:pPr>
            <a:endParaRPr lang="en-US" sz="2800" dirty="0" smtClean="0"/>
          </a:p>
          <a:p>
            <a:pPr eaLnBrk="1" hangingPunct="1">
              <a:buFont typeface="Arial" charset="0"/>
              <a:buNone/>
            </a:pPr>
            <a:r>
              <a:rPr lang="en-US" sz="2800" dirty="0" smtClean="0">
                <a:sym typeface="Wingdings" pitchFamily="2" charset="2"/>
              </a:rPr>
              <a:t> </a:t>
            </a:r>
            <a:r>
              <a:rPr lang="en-US" sz="2800" dirty="0" smtClean="0"/>
              <a:t>Clarity</a:t>
            </a:r>
          </a:p>
          <a:p>
            <a:pPr eaLnBrk="1" hangingPunct="1">
              <a:buFont typeface="Arial" charset="0"/>
              <a:buNone/>
            </a:pPr>
            <a:r>
              <a:rPr lang="en-US" sz="2800" dirty="0" smtClean="0">
                <a:sym typeface="Wingdings" pitchFamily="2" charset="2"/>
              </a:rPr>
              <a:t> </a:t>
            </a:r>
            <a:r>
              <a:rPr lang="en-US" sz="2800" dirty="0" smtClean="0"/>
              <a:t>Consideration</a:t>
            </a:r>
          </a:p>
          <a:p>
            <a:pPr eaLnBrk="1" hangingPunct="1">
              <a:buFont typeface="Arial" charset="0"/>
              <a:buNone/>
            </a:pPr>
            <a:r>
              <a:rPr lang="en-US" sz="2800" dirty="0" smtClean="0">
                <a:sym typeface="Wingdings" pitchFamily="2" charset="2"/>
              </a:rPr>
              <a:t> </a:t>
            </a:r>
            <a:r>
              <a:rPr lang="en-US" sz="2800" dirty="0" smtClean="0"/>
              <a:t>Courtesy</a:t>
            </a:r>
          </a:p>
          <a:p>
            <a:pPr eaLnBrk="1" hangingPunct="1">
              <a:buFont typeface="Arial" charset="0"/>
              <a:buNone/>
            </a:pPr>
            <a:r>
              <a:rPr lang="en-US" sz="2800" dirty="0" smtClean="0">
                <a:sym typeface="Wingdings" pitchFamily="2" charset="2"/>
              </a:rPr>
              <a:t> </a:t>
            </a:r>
            <a:r>
              <a:rPr lang="en-US" sz="2800" dirty="0" smtClean="0"/>
              <a:t>Completeness</a:t>
            </a:r>
          </a:p>
          <a:p>
            <a:pPr eaLnBrk="1" hangingPunct="1">
              <a:buFont typeface="Arial" charset="0"/>
              <a:buNone/>
            </a:pPr>
            <a:r>
              <a:rPr lang="en-US" sz="2800" dirty="0" smtClean="0">
                <a:sym typeface="Wingdings" pitchFamily="2" charset="2"/>
              </a:rPr>
              <a:t> </a:t>
            </a:r>
            <a:r>
              <a:rPr lang="en-US" sz="2800" dirty="0" smtClean="0"/>
              <a:t>Conciseness</a:t>
            </a:r>
          </a:p>
          <a:p>
            <a:pPr eaLnBrk="1" hangingPunct="1">
              <a:buFont typeface="Arial" charset="0"/>
              <a:buNone/>
            </a:pPr>
            <a:r>
              <a:rPr lang="en-US" sz="2800" dirty="0" smtClean="0">
                <a:sym typeface="Wingdings" pitchFamily="2" charset="2"/>
              </a:rPr>
              <a:t> </a:t>
            </a:r>
            <a:r>
              <a:rPr lang="en-US" sz="2800" dirty="0" smtClean="0"/>
              <a:t>Correctness</a:t>
            </a:r>
          </a:p>
        </p:txBody>
      </p:sp>
      <p:pic>
        <p:nvPicPr>
          <p:cNvPr id="4100" name="Picture 4" descr="C:\Users\Bob Stretch\AppData\Local\Microsoft\Windows\Temporary Internet Files\Content.IE5\ZUGDL5A6\MCj04108330000[1].wmf"/>
          <p:cNvPicPr>
            <a:picLocks noChangeAspect="1" noChangeArrowheads="1"/>
          </p:cNvPicPr>
          <p:nvPr/>
        </p:nvPicPr>
        <p:blipFill>
          <a:blip r:embed="rId2"/>
          <a:srcRect/>
          <a:stretch>
            <a:fillRect/>
          </a:stretch>
        </p:blipFill>
        <p:spPr bwMode="auto">
          <a:xfrm>
            <a:off x="5257800" y="2133600"/>
            <a:ext cx="3722688" cy="4343400"/>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981200" cy="563562"/>
          </a:xfrm>
          <a:solidFill>
            <a:schemeClr val="accent1">
              <a:lumMod val="20000"/>
              <a:lumOff val="80000"/>
            </a:schemeClr>
          </a:solidFill>
          <a:ln>
            <a:solidFill>
              <a:schemeClr val="accent1"/>
            </a:solidFill>
          </a:ln>
        </p:spPr>
        <p:txBody>
          <a:bodyPr>
            <a:normAutofit/>
          </a:bodyPr>
          <a:lstStyle/>
          <a:p>
            <a:pPr eaLnBrk="1" hangingPunct="1">
              <a:defRPr/>
            </a:pPr>
            <a:r>
              <a:rPr lang="en-US" sz="3000" dirty="0" smtClean="0"/>
              <a:t>CLARITY</a:t>
            </a:r>
            <a:endParaRPr lang="en-US" sz="3000" dirty="0"/>
          </a:p>
        </p:txBody>
      </p:sp>
      <p:sp>
        <p:nvSpPr>
          <p:cNvPr id="5123" name="Content Placeholder 2"/>
          <p:cNvSpPr>
            <a:spLocks noGrp="1"/>
          </p:cNvSpPr>
          <p:nvPr>
            <p:ph idx="1"/>
          </p:nvPr>
        </p:nvSpPr>
        <p:spPr>
          <a:xfrm>
            <a:off x="457200" y="990600"/>
            <a:ext cx="8229600" cy="5638800"/>
          </a:xfrm>
        </p:spPr>
        <p:style>
          <a:lnRef idx="2">
            <a:schemeClr val="accent1"/>
          </a:lnRef>
          <a:fillRef idx="1">
            <a:schemeClr val="lt1"/>
          </a:fillRef>
          <a:effectRef idx="0">
            <a:schemeClr val="accent1"/>
          </a:effectRef>
          <a:fontRef idx="minor">
            <a:schemeClr val="dk1"/>
          </a:fontRef>
        </p:style>
        <p:txBody>
          <a:bodyPr>
            <a:noAutofit/>
          </a:bodyPr>
          <a:lstStyle/>
          <a:p>
            <a:pPr algn="just" eaLnBrk="1" hangingPunct="1">
              <a:buFont typeface="Arial" charset="0"/>
              <a:buNone/>
            </a:pPr>
            <a:r>
              <a:rPr lang="en-US" sz="2800" dirty="0" smtClean="0">
                <a:sym typeface="Wingdings 2" pitchFamily="18" charset="2"/>
              </a:rPr>
              <a:t> </a:t>
            </a:r>
            <a:r>
              <a:rPr lang="en-US" sz="2800" dirty="0" smtClean="0"/>
              <a:t>This principles is related to another principle, known as the principle of “adaption”.</a:t>
            </a:r>
          </a:p>
          <a:p>
            <a:pPr algn="just" eaLnBrk="1" hangingPunct="1">
              <a:buFont typeface="Arial" charset="0"/>
              <a:buNone/>
            </a:pPr>
            <a:r>
              <a:rPr lang="en-US" sz="2800" dirty="0" smtClean="0">
                <a:sym typeface="Wingdings 2" pitchFamily="18" charset="2"/>
              </a:rPr>
              <a:t> </a:t>
            </a:r>
            <a:r>
              <a:rPr lang="en-US" sz="2800" dirty="0" smtClean="0"/>
              <a:t>Adapting is not an easy task. The communicator has to clearly visualize the receiver. s/he should form a mental picture of </a:t>
            </a:r>
          </a:p>
          <a:p>
            <a:pPr algn="just" eaLnBrk="1" hangingPunct="1">
              <a:buFont typeface="Arial" charset="0"/>
              <a:buNone/>
            </a:pPr>
            <a:r>
              <a:rPr lang="en-US" sz="2800" dirty="0" smtClean="0">
                <a:sym typeface="Wingdings" pitchFamily="2" charset="2"/>
              </a:rPr>
              <a:t> </a:t>
            </a:r>
            <a:r>
              <a:rPr lang="en-US" sz="2800" dirty="0" smtClean="0"/>
              <a:t>who are the receivers, and </a:t>
            </a:r>
          </a:p>
          <a:p>
            <a:pPr algn="just" eaLnBrk="1" hangingPunct="1">
              <a:buFont typeface="Arial" charset="0"/>
              <a:buNone/>
            </a:pPr>
            <a:r>
              <a:rPr lang="en-US" sz="2800" dirty="0" smtClean="0">
                <a:sym typeface="Wingdings" pitchFamily="2" charset="2"/>
              </a:rPr>
              <a:t></a:t>
            </a:r>
            <a:r>
              <a:rPr lang="en-US" sz="2800" dirty="0" smtClean="0"/>
              <a:t>how much they know about the subject,</a:t>
            </a:r>
          </a:p>
          <a:p>
            <a:pPr algn="just" eaLnBrk="1" hangingPunct="1">
              <a:buFont typeface="Arial" charset="0"/>
              <a:buNone/>
            </a:pPr>
            <a:r>
              <a:rPr lang="en-US" sz="2800" dirty="0" smtClean="0">
                <a:sym typeface="Wingdings" pitchFamily="2" charset="2"/>
              </a:rPr>
              <a:t> w</a:t>
            </a:r>
            <a:r>
              <a:rPr lang="en-US" sz="2800" dirty="0" smtClean="0"/>
              <a:t>hat their educational level,</a:t>
            </a:r>
          </a:p>
          <a:p>
            <a:pPr algn="just" eaLnBrk="1" hangingPunct="1">
              <a:buFont typeface="Arial" charset="0"/>
              <a:buNone/>
            </a:pPr>
            <a:r>
              <a:rPr lang="en-US" sz="2800" dirty="0" smtClean="0">
                <a:sym typeface="Wingdings" pitchFamily="2" charset="2"/>
              </a:rPr>
              <a:t> h</a:t>
            </a:r>
            <a:r>
              <a:rPr lang="en-US" sz="2800" dirty="0" smtClean="0"/>
              <a:t>ow they think.</a:t>
            </a:r>
          </a:p>
          <a:p>
            <a:pPr algn="just" eaLnBrk="1" hangingPunct="1">
              <a:buFont typeface="Arial" charset="0"/>
              <a:buNone/>
            </a:pPr>
            <a:r>
              <a:rPr lang="en-US" sz="2800" dirty="0" smtClean="0">
                <a:sym typeface="Wingdings" pitchFamily="2" charset="2"/>
              </a:rPr>
              <a:t> t</a:t>
            </a:r>
            <a:r>
              <a:rPr lang="en-US" sz="2800" dirty="0" smtClean="0"/>
              <a:t>hen keeping the receivers’ image in mind, the communicator should select the symbols that will communicate to them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Content Placeholder 2"/>
          <p:cNvSpPr>
            <a:spLocks noGrp="1"/>
          </p:cNvSpPr>
          <p:nvPr>
            <p:ph idx="1"/>
          </p:nvPr>
        </p:nvSpPr>
        <p:spPr>
          <a:xfrm>
            <a:off x="457200" y="990600"/>
            <a:ext cx="8229600" cy="5486400"/>
          </a:xfrm>
        </p:spPr>
        <p:style>
          <a:lnRef idx="2">
            <a:schemeClr val="accent1"/>
          </a:lnRef>
          <a:fillRef idx="1">
            <a:schemeClr val="lt1"/>
          </a:fillRef>
          <a:effectRef idx="0">
            <a:schemeClr val="accent1"/>
          </a:effectRef>
          <a:fontRef idx="minor">
            <a:schemeClr val="dk1"/>
          </a:fontRef>
        </p:style>
        <p:txBody>
          <a:bodyPr>
            <a:noAutofit/>
          </a:bodyPr>
          <a:lstStyle/>
          <a:p>
            <a:pPr algn="just" eaLnBrk="1" hangingPunct="1">
              <a:buFont typeface="Arial" charset="0"/>
              <a:buNone/>
            </a:pPr>
            <a:r>
              <a:rPr lang="en-US" sz="2800" dirty="0" smtClean="0">
                <a:sym typeface="Wingdings 2" pitchFamily="18" charset="2"/>
              </a:rPr>
              <a:t> </a:t>
            </a:r>
            <a:r>
              <a:rPr lang="en-US" sz="2800" dirty="0" smtClean="0"/>
              <a:t>In many business situation adopting to the receivers will mean communicating at a level lower than that of the communicator.</a:t>
            </a:r>
          </a:p>
          <a:p>
            <a:pPr algn="just" eaLnBrk="1" hangingPunct="1">
              <a:buFont typeface="Arial" charset="0"/>
              <a:buNone/>
            </a:pPr>
            <a:r>
              <a:rPr lang="en-US" sz="2800" dirty="0" smtClean="0">
                <a:sym typeface="Wingdings 2" pitchFamily="18" charset="2"/>
              </a:rPr>
              <a:t> </a:t>
            </a:r>
            <a:r>
              <a:rPr lang="en-US" sz="2800" dirty="0" smtClean="0"/>
              <a:t>That task of adoption is relatively easy when you write to someone who is about as educated and informed on your subject as you are.</a:t>
            </a:r>
          </a:p>
          <a:p>
            <a:pPr algn="just" eaLnBrk="1" hangingPunct="1">
              <a:buFont typeface="Arial" charset="0"/>
              <a:buNone/>
            </a:pPr>
            <a:r>
              <a:rPr lang="en-US" sz="2800" dirty="0" smtClean="0">
                <a:sym typeface="Wingdings 2" pitchFamily="18" charset="2"/>
              </a:rPr>
              <a:t> </a:t>
            </a:r>
            <a:r>
              <a:rPr lang="en-US" sz="2800" dirty="0" smtClean="0"/>
              <a:t>You need only write or speak to a person like yourself, using language that is easy for you to understand.</a:t>
            </a:r>
          </a:p>
          <a:p>
            <a:pPr algn="just" eaLnBrk="1" hangingPunct="1">
              <a:buFont typeface="Arial" charset="0"/>
              <a:buNone/>
            </a:pPr>
            <a:r>
              <a:rPr lang="en-US" sz="2800" dirty="0" smtClean="0">
                <a:sym typeface="Wingdings 2" pitchFamily="18" charset="2"/>
              </a:rPr>
              <a:t> </a:t>
            </a:r>
            <a:r>
              <a:rPr lang="en-US" sz="2800" dirty="0" smtClean="0"/>
              <a:t>Adoption becomes easy when you are communicating to a single receiver or a homogenous group.</a:t>
            </a:r>
          </a:p>
        </p:txBody>
      </p:sp>
      <p:sp>
        <p:nvSpPr>
          <p:cNvPr id="4" name="Title 1"/>
          <p:cNvSpPr txBox="1">
            <a:spLocks/>
          </p:cNvSpPr>
          <p:nvPr/>
        </p:nvSpPr>
        <p:spPr bwMode="auto">
          <a:xfrm>
            <a:off x="457200" y="274638"/>
            <a:ext cx="1981200" cy="563562"/>
          </a:xfrm>
          <a:prstGeom prst="rect">
            <a:avLst/>
          </a:prstGeom>
          <a:solidFill>
            <a:schemeClr val="accent1">
              <a:lumMod val="20000"/>
              <a:lumOff val="80000"/>
            </a:schemeClr>
          </a:solidFill>
          <a:ln w="9525">
            <a:solidFill>
              <a:schemeClr val="accent1"/>
            </a:solidFill>
            <a:miter lim="800000"/>
            <a:headEnd/>
            <a:tailEnd/>
          </a:ln>
        </p:spPr>
        <p:txBody>
          <a:bodyPr anchor="ctr"/>
          <a:lstStyle/>
          <a:p>
            <a:pPr algn="ctr">
              <a:defRPr/>
            </a:pPr>
            <a:r>
              <a:rPr lang="en-US" sz="3000" dirty="0">
                <a:latin typeface="+mj-lt"/>
                <a:ea typeface="+mj-ea"/>
                <a:cs typeface="+mj-cs"/>
              </a:rPr>
              <a:t>CLARITY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Content Placeholder 2"/>
          <p:cNvSpPr>
            <a:spLocks noGrp="1"/>
          </p:cNvSpPr>
          <p:nvPr>
            <p:ph idx="1"/>
          </p:nvPr>
        </p:nvSpPr>
        <p:spPr>
          <a:xfrm>
            <a:off x="457200" y="990600"/>
            <a:ext cx="8229600" cy="5638800"/>
          </a:xfrm>
        </p:spPr>
        <p:style>
          <a:lnRef idx="2">
            <a:schemeClr val="accent1"/>
          </a:lnRef>
          <a:fillRef idx="1">
            <a:schemeClr val="lt1"/>
          </a:fillRef>
          <a:effectRef idx="0">
            <a:schemeClr val="accent1"/>
          </a:effectRef>
          <a:fontRef idx="minor">
            <a:schemeClr val="dk1"/>
          </a:fontRef>
        </p:style>
        <p:txBody>
          <a:bodyPr>
            <a:noAutofit/>
          </a:bodyPr>
          <a:lstStyle/>
          <a:p>
            <a:pPr algn="just" eaLnBrk="1" hangingPunct="1">
              <a:buFont typeface="Arial" charset="0"/>
              <a:buNone/>
            </a:pPr>
            <a:r>
              <a:rPr lang="en-US" sz="2800" dirty="0" smtClean="0">
                <a:sym typeface="Wingdings 2" pitchFamily="18" charset="2"/>
              </a:rPr>
              <a:t> </a:t>
            </a:r>
            <a:r>
              <a:rPr lang="en-US" sz="2800" b="1" dirty="0" smtClean="0"/>
              <a:t>Care In the choice of word</a:t>
            </a:r>
          </a:p>
          <a:p>
            <a:pPr algn="just" eaLnBrk="1" hangingPunct="1">
              <a:buFont typeface="Arial" charset="0"/>
              <a:buNone/>
            </a:pPr>
            <a:r>
              <a:rPr lang="en-US" sz="2800" dirty="0" smtClean="0">
                <a:sym typeface="Wingdings 3" pitchFamily="18" charset="2"/>
              </a:rPr>
              <a:t> </a:t>
            </a:r>
            <a:r>
              <a:rPr lang="en-US" sz="2800" dirty="0" smtClean="0"/>
              <a:t>Speaking or writing in language that you have adopted to your listener or reader is not as easy as it may first appear. In order to do the job well, you will have to be a good communicator and follow certain rules of word selection.</a:t>
            </a:r>
          </a:p>
          <a:p>
            <a:pPr algn="just" eaLnBrk="1" hangingPunct="1">
              <a:buFont typeface="Arial" charset="0"/>
              <a:buNone/>
            </a:pPr>
            <a:r>
              <a:rPr lang="en-US" sz="2800" dirty="0" smtClean="0">
                <a:sym typeface="Wingdings 2" pitchFamily="18" charset="2"/>
              </a:rPr>
              <a:t> </a:t>
            </a:r>
            <a:r>
              <a:rPr lang="en-US" sz="2800" b="1" dirty="0" smtClean="0"/>
              <a:t>Use familiar words:</a:t>
            </a:r>
          </a:p>
          <a:p>
            <a:pPr algn="just" eaLnBrk="1" hangingPunct="1">
              <a:buFont typeface="Arial" charset="0"/>
              <a:buNone/>
            </a:pPr>
            <a:r>
              <a:rPr lang="en-US" sz="2800" dirty="0" smtClean="0">
                <a:ea typeface="Calibri" pitchFamily="34" charset="0"/>
                <a:cs typeface="Calibri" pitchFamily="34" charset="0"/>
              </a:rPr>
              <a:t>●  </a:t>
            </a:r>
            <a:r>
              <a:rPr lang="en-US" sz="2800" dirty="0" smtClean="0"/>
              <a:t>This is the first rule of word selection. The suggestion to use familiar language is in a sense a specific suggestion to use simple words that will carry the thought without demeaning the receiver’s understanding and intelligence.</a:t>
            </a:r>
          </a:p>
        </p:txBody>
      </p:sp>
      <p:sp>
        <p:nvSpPr>
          <p:cNvPr id="4" name="Title 1"/>
          <p:cNvSpPr txBox="1">
            <a:spLocks/>
          </p:cNvSpPr>
          <p:nvPr/>
        </p:nvSpPr>
        <p:spPr bwMode="auto">
          <a:xfrm>
            <a:off x="457200" y="274638"/>
            <a:ext cx="1981200" cy="563562"/>
          </a:xfrm>
          <a:prstGeom prst="rect">
            <a:avLst/>
          </a:prstGeom>
          <a:solidFill>
            <a:schemeClr val="accent1">
              <a:lumMod val="20000"/>
              <a:lumOff val="80000"/>
            </a:schemeClr>
          </a:solidFill>
          <a:ln w="9525">
            <a:solidFill>
              <a:schemeClr val="accent1"/>
            </a:solidFill>
            <a:miter lim="800000"/>
            <a:headEnd/>
            <a:tailEnd/>
          </a:ln>
        </p:spPr>
        <p:txBody>
          <a:bodyPr anchor="ctr"/>
          <a:lstStyle/>
          <a:p>
            <a:pPr algn="ctr">
              <a:defRPr/>
            </a:pPr>
            <a:r>
              <a:rPr lang="en-US" sz="3000" dirty="0">
                <a:latin typeface="+mj-lt"/>
                <a:ea typeface="+mj-ea"/>
                <a:cs typeface="+mj-cs"/>
              </a:rPr>
              <a:t>CLARITY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p:cNvSpPr>
            <a:spLocks noGrp="1"/>
          </p:cNvSpPr>
          <p:nvPr>
            <p:ph idx="1"/>
          </p:nvPr>
        </p:nvSpPr>
        <p:spPr>
          <a:xfrm>
            <a:off x="457200" y="1143000"/>
            <a:ext cx="8229600" cy="5334000"/>
          </a:xfrm>
        </p:spPr>
        <p:style>
          <a:lnRef idx="2">
            <a:schemeClr val="accent1"/>
          </a:lnRef>
          <a:fillRef idx="1">
            <a:schemeClr val="lt1"/>
          </a:fillRef>
          <a:effectRef idx="0">
            <a:schemeClr val="accent1"/>
          </a:effectRef>
          <a:fontRef idx="minor">
            <a:schemeClr val="dk1"/>
          </a:fontRef>
        </p:style>
        <p:txBody>
          <a:bodyPr>
            <a:normAutofit/>
          </a:bodyPr>
          <a:lstStyle/>
          <a:p>
            <a:pPr algn="just" eaLnBrk="1" hangingPunct="1">
              <a:buFont typeface="Arial" charset="0"/>
              <a:buNone/>
            </a:pPr>
            <a:r>
              <a:rPr lang="en-US" sz="2800" dirty="0" smtClean="0">
                <a:ea typeface="Calibri" pitchFamily="34" charset="0"/>
                <a:cs typeface="Calibri" pitchFamily="34" charset="0"/>
              </a:rPr>
              <a:t>● </a:t>
            </a:r>
            <a:r>
              <a:rPr lang="en-US" sz="2800" dirty="0" smtClean="0"/>
              <a:t>Thus, it is wise to use the word </a:t>
            </a:r>
            <a:r>
              <a:rPr lang="en-US" sz="2800" i="1" dirty="0" smtClean="0"/>
              <a:t>“try” </a:t>
            </a:r>
            <a:r>
              <a:rPr lang="en-US" sz="2800" dirty="0" smtClean="0"/>
              <a:t>instead of </a:t>
            </a:r>
            <a:r>
              <a:rPr lang="en-US" sz="2800" i="1" dirty="0" smtClean="0"/>
              <a:t>“endeavor”</a:t>
            </a:r>
            <a:r>
              <a:rPr lang="en-US" sz="2800" dirty="0" smtClean="0"/>
              <a:t>; </a:t>
            </a:r>
            <a:r>
              <a:rPr lang="en-US" sz="2800" i="1" dirty="0" smtClean="0"/>
              <a:t>“end” </a:t>
            </a:r>
            <a:r>
              <a:rPr lang="en-US" sz="2800" dirty="0" smtClean="0"/>
              <a:t>instead of </a:t>
            </a:r>
            <a:r>
              <a:rPr lang="en-US" sz="2800" i="1" dirty="0" smtClean="0"/>
              <a:t>“terminate”</a:t>
            </a:r>
            <a:r>
              <a:rPr lang="en-US" sz="2800" dirty="0" smtClean="0"/>
              <a:t>; </a:t>
            </a:r>
            <a:r>
              <a:rPr lang="en-US" sz="2800" i="1" dirty="0" smtClean="0"/>
              <a:t>“show” </a:t>
            </a:r>
            <a:r>
              <a:rPr lang="en-US" sz="2800" dirty="0" smtClean="0"/>
              <a:t>instead of </a:t>
            </a:r>
            <a:r>
              <a:rPr lang="en-US" sz="2800" i="1" dirty="0" smtClean="0"/>
              <a:t>“demonstrate”</a:t>
            </a:r>
            <a:r>
              <a:rPr lang="en-US" sz="2800" dirty="0" smtClean="0"/>
              <a:t>; </a:t>
            </a:r>
            <a:r>
              <a:rPr lang="en-US" sz="2800" i="1" dirty="0" smtClean="0"/>
              <a:t>“use”</a:t>
            </a:r>
            <a:r>
              <a:rPr lang="en-US" sz="2800" dirty="0" smtClean="0"/>
              <a:t> instead of </a:t>
            </a:r>
            <a:r>
              <a:rPr lang="en-US" sz="2800" i="1" dirty="0" smtClean="0"/>
              <a:t>“utilize”</a:t>
            </a:r>
            <a:r>
              <a:rPr lang="en-US" sz="2800" dirty="0" smtClean="0"/>
              <a:t>.</a:t>
            </a:r>
          </a:p>
          <a:p>
            <a:pPr algn="just" eaLnBrk="1" hangingPunct="1">
              <a:buFont typeface="Arial" charset="0"/>
              <a:buNone/>
            </a:pPr>
            <a:endParaRPr lang="en-US" sz="2800" b="1" dirty="0" smtClean="0">
              <a:ea typeface="Calibri" pitchFamily="34" charset="0"/>
              <a:cs typeface="Calibri" pitchFamily="34" charset="0"/>
              <a:sym typeface="Wingdings 2" pitchFamily="18" charset="2"/>
            </a:endParaRPr>
          </a:p>
          <a:p>
            <a:pPr algn="just" eaLnBrk="1" hangingPunct="1">
              <a:buFont typeface="Arial" charset="0"/>
              <a:buNone/>
            </a:pPr>
            <a:r>
              <a:rPr lang="en-US" sz="2800" b="1" dirty="0" smtClean="0">
                <a:ea typeface="Calibri" pitchFamily="34" charset="0"/>
                <a:cs typeface="Calibri" pitchFamily="34" charset="0"/>
                <a:sym typeface="Wingdings" pitchFamily="2" charset="2"/>
              </a:rPr>
              <a:t> </a:t>
            </a:r>
            <a:r>
              <a:rPr lang="en-US" sz="2800" b="1" dirty="0" smtClean="0"/>
              <a:t>Sentence with unfamiliar words:</a:t>
            </a:r>
          </a:p>
          <a:p>
            <a:pPr algn="just" eaLnBrk="1" hangingPunct="1">
              <a:buFont typeface="Arial" charset="0"/>
              <a:buNone/>
            </a:pPr>
            <a:r>
              <a:rPr lang="en-US" sz="2800" dirty="0" smtClean="0">
                <a:ea typeface="Calibri" pitchFamily="34" charset="0"/>
                <a:cs typeface="Calibri" pitchFamily="34" charset="0"/>
              </a:rPr>
              <a:t>● </a:t>
            </a:r>
            <a:r>
              <a:rPr lang="en-US" sz="2800" i="1" dirty="0" smtClean="0"/>
              <a:t>It appears from a perusal of the pertinent data that a lucrative market potential exist for the product.</a:t>
            </a:r>
          </a:p>
          <a:p>
            <a:pPr algn="just" eaLnBrk="1" hangingPunct="1">
              <a:buFont typeface="Arial" charset="0"/>
              <a:buNone/>
            </a:pPr>
            <a:r>
              <a:rPr lang="en-US" sz="2800" dirty="0" smtClean="0">
                <a:sym typeface="Wingdings" pitchFamily="2" charset="2"/>
              </a:rPr>
              <a:t> </a:t>
            </a:r>
            <a:r>
              <a:rPr lang="en-US" sz="2800" b="1" dirty="0" smtClean="0"/>
              <a:t>Sentence with familiar words:</a:t>
            </a:r>
          </a:p>
          <a:p>
            <a:pPr algn="just" eaLnBrk="1" hangingPunct="1">
              <a:buFont typeface="Arial" charset="0"/>
              <a:buNone/>
            </a:pPr>
            <a:r>
              <a:rPr lang="en-US" sz="2800" dirty="0" smtClean="0">
                <a:ea typeface="Calibri" pitchFamily="34" charset="0"/>
                <a:cs typeface="Calibri" pitchFamily="34" charset="0"/>
              </a:rPr>
              <a:t>● </a:t>
            </a:r>
            <a:r>
              <a:rPr lang="en-US" sz="2800" i="1" dirty="0" smtClean="0"/>
              <a:t>The data studied indicate that the product has a good market. </a:t>
            </a:r>
          </a:p>
        </p:txBody>
      </p:sp>
      <p:sp>
        <p:nvSpPr>
          <p:cNvPr id="4" name="Title 1"/>
          <p:cNvSpPr txBox="1">
            <a:spLocks/>
          </p:cNvSpPr>
          <p:nvPr/>
        </p:nvSpPr>
        <p:spPr bwMode="auto">
          <a:xfrm>
            <a:off x="457200" y="274638"/>
            <a:ext cx="1981200" cy="563562"/>
          </a:xfrm>
          <a:prstGeom prst="rect">
            <a:avLst/>
          </a:prstGeom>
          <a:solidFill>
            <a:schemeClr val="accent1">
              <a:lumMod val="20000"/>
              <a:lumOff val="80000"/>
            </a:schemeClr>
          </a:solidFill>
          <a:ln w="9525">
            <a:solidFill>
              <a:schemeClr val="accent1"/>
            </a:solidFill>
            <a:miter lim="800000"/>
            <a:headEnd/>
            <a:tailEnd/>
          </a:ln>
        </p:spPr>
        <p:txBody>
          <a:bodyPr anchor="ctr"/>
          <a:lstStyle/>
          <a:p>
            <a:pPr algn="ctr">
              <a:defRPr/>
            </a:pPr>
            <a:r>
              <a:rPr lang="en-US" sz="3200" dirty="0">
                <a:latin typeface="+mj-lt"/>
                <a:ea typeface="+mj-ea"/>
                <a:cs typeface="+mj-cs"/>
              </a:rPr>
              <a:t>CLARITY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Content Placeholder 2"/>
          <p:cNvSpPr>
            <a:spLocks noGrp="1"/>
          </p:cNvSpPr>
          <p:nvPr>
            <p:ph idx="1"/>
          </p:nvPr>
        </p:nvSpPr>
        <p:spPr>
          <a:xfrm>
            <a:off x="457200" y="838200"/>
            <a:ext cx="8229600" cy="5715000"/>
          </a:xfrm>
        </p:spPr>
        <p:style>
          <a:lnRef idx="2">
            <a:schemeClr val="accent1"/>
          </a:lnRef>
          <a:fillRef idx="1">
            <a:schemeClr val="lt1"/>
          </a:fillRef>
          <a:effectRef idx="0">
            <a:schemeClr val="accent1"/>
          </a:effectRef>
          <a:fontRef idx="minor">
            <a:schemeClr val="dk1"/>
          </a:fontRef>
        </p:style>
        <p:txBody>
          <a:bodyPr>
            <a:noAutofit/>
          </a:bodyPr>
          <a:lstStyle/>
          <a:p>
            <a:pPr eaLnBrk="1" hangingPunct="1">
              <a:buFont typeface="Arial" charset="0"/>
              <a:buNone/>
            </a:pPr>
            <a:r>
              <a:rPr lang="en-US" sz="2800" dirty="0" smtClean="0">
                <a:ea typeface="Calibri" pitchFamily="34" charset="0"/>
                <a:cs typeface="Calibri" pitchFamily="34" charset="0"/>
                <a:sym typeface="Wingdings 2" pitchFamily="18" charset="2"/>
              </a:rPr>
              <a:t></a:t>
            </a:r>
            <a:r>
              <a:rPr lang="en-US" sz="2800" b="1" dirty="0" smtClean="0">
                <a:ea typeface="Calibri" pitchFamily="34" charset="0"/>
                <a:cs typeface="Calibri" pitchFamily="34" charset="0"/>
                <a:sym typeface="Wingdings 2" pitchFamily="18" charset="2"/>
              </a:rPr>
              <a:t> Use short words for long phrases:</a:t>
            </a:r>
            <a:endParaRPr lang="en-US" sz="2800" b="1" dirty="0" smtClean="0">
              <a:ea typeface="Calibri" pitchFamily="34" charset="0"/>
              <a:cs typeface="Calibri" pitchFamily="34" charset="0"/>
            </a:endParaRPr>
          </a:p>
          <a:p>
            <a:pPr eaLnBrk="1" hangingPunct="1">
              <a:buFont typeface="Arial" charset="0"/>
              <a:buNone/>
            </a:pPr>
            <a:r>
              <a:rPr lang="en-US" sz="2800" dirty="0" smtClean="0">
                <a:ea typeface="Calibri" pitchFamily="34" charset="0"/>
                <a:cs typeface="Calibri" pitchFamily="34" charset="0"/>
              </a:rPr>
              <a:t>●  </a:t>
            </a:r>
            <a:r>
              <a:rPr lang="en-US" sz="2800" dirty="0" smtClean="0"/>
              <a:t>Since short words tend to communicate better long phrases, you should favor them in writing and speaking as well. </a:t>
            </a:r>
          </a:p>
          <a:p>
            <a:pPr eaLnBrk="1" hangingPunct="1">
              <a:buFont typeface="Arial" charset="0"/>
              <a:buNone/>
            </a:pPr>
            <a:r>
              <a:rPr lang="en-US" sz="2800" dirty="0" smtClean="0">
                <a:ea typeface="Calibri" pitchFamily="34" charset="0"/>
                <a:cs typeface="Calibri" pitchFamily="34" charset="0"/>
              </a:rPr>
              <a:t>●  </a:t>
            </a:r>
            <a:r>
              <a:rPr lang="en-US" sz="2800" dirty="0" smtClean="0"/>
              <a:t>Short words are to be preferred instead of long phrases as under:</a:t>
            </a:r>
          </a:p>
          <a:p>
            <a:pPr eaLnBrk="1" hangingPunct="1"/>
            <a:endParaRPr lang="en-US" sz="2800" dirty="0" smtClean="0"/>
          </a:p>
          <a:p>
            <a:pPr eaLnBrk="1" hangingPunct="1"/>
            <a:endParaRPr lang="en-US" sz="2800" dirty="0" smtClean="0"/>
          </a:p>
          <a:p>
            <a:pPr eaLnBrk="1" hangingPunct="1"/>
            <a:endParaRPr lang="en-US" sz="2800" dirty="0" smtClean="0"/>
          </a:p>
          <a:p>
            <a:pPr eaLnBrk="1" hangingPunct="1"/>
            <a:endParaRPr lang="en-US" sz="2800" dirty="0" smtClean="0"/>
          </a:p>
          <a:p>
            <a:pPr eaLnBrk="1" hangingPunct="1"/>
            <a:endParaRPr lang="en-US" sz="2800" dirty="0" smtClean="0"/>
          </a:p>
        </p:txBody>
      </p:sp>
      <p:sp>
        <p:nvSpPr>
          <p:cNvPr id="4" name="Title 1"/>
          <p:cNvSpPr txBox="1">
            <a:spLocks/>
          </p:cNvSpPr>
          <p:nvPr/>
        </p:nvSpPr>
        <p:spPr bwMode="auto">
          <a:xfrm>
            <a:off x="457200" y="122237"/>
            <a:ext cx="1981200" cy="563563"/>
          </a:xfrm>
          <a:prstGeom prst="rect">
            <a:avLst/>
          </a:prstGeom>
          <a:solidFill>
            <a:schemeClr val="accent1">
              <a:lumMod val="20000"/>
              <a:lumOff val="80000"/>
            </a:schemeClr>
          </a:solidFill>
          <a:ln w="9525">
            <a:solidFill>
              <a:schemeClr val="accent1"/>
            </a:solidFill>
            <a:miter lim="800000"/>
            <a:headEnd/>
            <a:tailEnd/>
          </a:ln>
        </p:spPr>
        <p:txBody>
          <a:bodyPr anchor="ctr"/>
          <a:lstStyle/>
          <a:p>
            <a:pPr algn="ctr">
              <a:defRPr/>
            </a:pPr>
            <a:r>
              <a:rPr lang="en-US" sz="3000" dirty="0">
                <a:latin typeface="+mj-lt"/>
                <a:ea typeface="+mj-ea"/>
                <a:cs typeface="+mj-cs"/>
              </a:rPr>
              <a:t>CLARITY</a:t>
            </a:r>
          </a:p>
        </p:txBody>
      </p:sp>
      <p:graphicFrame>
        <p:nvGraphicFramePr>
          <p:cNvPr id="5" name="Table 4"/>
          <p:cNvGraphicFramePr>
            <a:graphicFrameLocks noGrp="1"/>
          </p:cNvGraphicFramePr>
          <p:nvPr/>
        </p:nvGraphicFramePr>
        <p:xfrm>
          <a:off x="1752600" y="3810000"/>
          <a:ext cx="6096000" cy="2438400"/>
        </p:xfrm>
        <a:graphic>
          <a:graphicData uri="http://schemas.openxmlformats.org/drawingml/2006/table">
            <a:tbl>
              <a:tblPr firstRow="1" bandRow="1">
                <a:tableStyleId>{69CF1AB2-1976-4502-BF36-3FF5EA218861}</a:tableStyleId>
              </a:tblPr>
              <a:tblGrid>
                <a:gridCol w="3048000"/>
                <a:gridCol w="3048000"/>
              </a:tblGrid>
              <a:tr h="370840">
                <a:tc>
                  <a:txBody>
                    <a:bodyPr/>
                    <a:lstStyle/>
                    <a:p>
                      <a:pPr algn="ctr"/>
                      <a:r>
                        <a:rPr lang="en-US" sz="2600" b="1" dirty="0" smtClean="0"/>
                        <a:t>Long Phrases</a:t>
                      </a:r>
                      <a:endParaRPr lang="en-US" sz="2600" b="1" dirty="0"/>
                    </a:p>
                  </a:txBody>
                  <a:tcPr/>
                </a:tc>
                <a:tc>
                  <a:txBody>
                    <a:bodyPr/>
                    <a:lstStyle/>
                    <a:p>
                      <a:pPr algn="ctr"/>
                      <a:r>
                        <a:rPr lang="en-US" sz="2600" b="1" dirty="0" smtClean="0"/>
                        <a:t>Short words</a:t>
                      </a:r>
                      <a:endParaRPr lang="en-US" sz="2600" b="1" dirty="0"/>
                    </a:p>
                  </a:txBody>
                  <a:tcPr/>
                </a:tc>
              </a:tr>
              <a:tr h="370840">
                <a:tc>
                  <a:txBody>
                    <a:bodyPr/>
                    <a:lstStyle/>
                    <a:p>
                      <a:pPr algn="ctr"/>
                      <a:r>
                        <a:rPr lang="en-US" sz="2600" dirty="0" smtClean="0"/>
                        <a:t>Subsequent to </a:t>
                      </a:r>
                      <a:endParaRPr lang="en-US" sz="2600" dirty="0"/>
                    </a:p>
                  </a:txBody>
                  <a:tcPr/>
                </a:tc>
                <a:tc>
                  <a:txBody>
                    <a:bodyPr/>
                    <a:lstStyle/>
                    <a:p>
                      <a:pPr algn="ctr"/>
                      <a:r>
                        <a:rPr lang="en-US" sz="2600" dirty="0" smtClean="0"/>
                        <a:t>After</a:t>
                      </a:r>
                      <a:endParaRPr lang="en-US" sz="2600" dirty="0"/>
                    </a:p>
                  </a:txBody>
                  <a:tcPr/>
                </a:tc>
              </a:tr>
              <a:tr h="370840">
                <a:tc>
                  <a:txBody>
                    <a:bodyPr/>
                    <a:lstStyle/>
                    <a:p>
                      <a:pPr algn="ctr"/>
                      <a:r>
                        <a:rPr lang="en-US" sz="2600" dirty="0" smtClean="0"/>
                        <a:t>At all times</a:t>
                      </a:r>
                      <a:endParaRPr lang="en-US" sz="2600" dirty="0"/>
                    </a:p>
                  </a:txBody>
                  <a:tcPr/>
                </a:tc>
                <a:tc>
                  <a:txBody>
                    <a:bodyPr/>
                    <a:lstStyle/>
                    <a:p>
                      <a:pPr algn="ctr"/>
                      <a:r>
                        <a:rPr lang="en-US" sz="2600" dirty="0" smtClean="0"/>
                        <a:t>Always</a:t>
                      </a:r>
                      <a:endParaRPr lang="en-US" sz="2600" dirty="0"/>
                    </a:p>
                  </a:txBody>
                  <a:tcPr/>
                </a:tc>
              </a:tr>
              <a:tr h="370840">
                <a:tc>
                  <a:txBody>
                    <a:bodyPr/>
                    <a:lstStyle/>
                    <a:p>
                      <a:pPr algn="ctr"/>
                      <a:r>
                        <a:rPr lang="en-US" sz="2600" dirty="0" smtClean="0"/>
                        <a:t>Prior to </a:t>
                      </a:r>
                      <a:endParaRPr lang="en-US" sz="2600" dirty="0"/>
                    </a:p>
                  </a:txBody>
                  <a:tcPr/>
                </a:tc>
                <a:tc>
                  <a:txBody>
                    <a:bodyPr/>
                    <a:lstStyle/>
                    <a:p>
                      <a:pPr algn="ctr"/>
                      <a:r>
                        <a:rPr lang="en-US" sz="2600" dirty="0" smtClean="0"/>
                        <a:t>Before</a:t>
                      </a:r>
                      <a:endParaRPr lang="en-US" sz="2600" dirty="0"/>
                    </a:p>
                  </a:txBody>
                  <a:tcPr/>
                </a:tc>
              </a:tr>
              <a:tr h="370840">
                <a:tc>
                  <a:txBody>
                    <a:bodyPr/>
                    <a:lstStyle/>
                    <a:p>
                      <a:pPr algn="ctr"/>
                      <a:r>
                        <a:rPr lang="en-US" sz="2600" dirty="0" smtClean="0"/>
                        <a:t>In the event that </a:t>
                      </a:r>
                      <a:endParaRPr lang="en-US" sz="2600" dirty="0"/>
                    </a:p>
                  </a:txBody>
                  <a:tcPr/>
                </a:tc>
                <a:tc>
                  <a:txBody>
                    <a:bodyPr/>
                    <a:lstStyle/>
                    <a:p>
                      <a:pPr algn="ctr"/>
                      <a:r>
                        <a:rPr lang="en-US" sz="2600" dirty="0" smtClean="0"/>
                        <a:t>If</a:t>
                      </a:r>
                      <a:endParaRPr lang="en-US" sz="2600" dirty="0"/>
                    </a:p>
                  </a:txBody>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4191000" cy="4525963"/>
          </a:xfrm>
        </p:spPr>
        <p:style>
          <a:lnRef idx="2">
            <a:schemeClr val="accent1"/>
          </a:lnRef>
          <a:fillRef idx="1">
            <a:schemeClr val="lt1"/>
          </a:fillRef>
          <a:effectRef idx="0">
            <a:schemeClr val="accent1"/>
          </a:effectRef>
          <a:fontRef idx="minor">
            <a:schemeClr val="dk1"/>
          </a:fontRef>
        </p:style>
        <p:txBody>
          <a:bodyPr>
            <a:normAutofit/>
          </a:bodyPr>
          <a:lstStyle/>
          <a:p>
            <a:pPr>
              <a:buFont typeface="Wingdings" pitchFamily="2" charset="2"/>
              <a:buChar char="ð"/>
            </a:pPr>
            <a:r>
              <a:rPr lang="en-US" sz="2800" i="1" dirty="0" smtClean="0"/>
              <a:t>“The supervisor is attentive at all times.”</a:t>
            </a:r>
            <a:r>
              <a:rPr lang="en-US" sz="2800" dirty="0" smtClean="0"/>
              <a:t>____ long phrase</a:t>
            </a:r>
          </a:p>
          <a:p>
            <a:pPr>
              <a:buFont typeface="Wingdings" pitchFamily="2" charset="2"/>
              <a:buChar char="ð"/>
            </a:pPr>
            <a:r>
              <a:rPr lang="en-US" sz="2800" i="1" dirty="0" smtClean="0"/>
              <a:t>“The super visor is always attentive</a:t>
            </a:r>
            <a:r>
              <a:rPr lang="en-US" sz="2800" dirty="0" smtClean="0"/>
              <a:t>” </a:t>
            </a:r>
          </a:p>
          <a:p>
            <a:pPr>
              <a:buNone/>
            </a:pPr>
            <a:r>
              <a:rPr lang="en-US" sz="2800" dirty="0" smtClean="0"/>
              <a:t>    -------- sentence with short words </a:t>
            </a:r>
          </a:p>
          <a:p>
            <a:pPr>
              <a:buNone/>
            </a:pPr>
            <a:endParaRPr lang="en-US" sz="2800" dirty="0" smtClean="0"/>
          </a:p>
          <a:p>
            <a:endParaRPr lang="en-US" sz="2800" dirty="0"/>
          </a:p>
        </p:txBody>
      </p:sp>
      <p:sp>
        <p:nvSpPr>
          <p:cNvPr id="4" name="Title 1"/>
          <p:cNvSpPr txBox="1">
            <a:spLocks/>
          </p:cNvSpPr>
          <p:nvPr/>
        </p:nvSpPr>
        <p:spPr bwMode="auto">
          <a:xfrm>
            <a:off x="457200" y="762000"/>
            <a:ext cx="1981200" cy="563563"/>
          </a:xfrm>
          <a:prstGeom prst="rect">
            <a:avLst/>
          </a:prstGeom>
          <a:solidFill>
            <a:schemeClr val="accent1">
              <a:lumMod val="20000"/>
              <a:lumOff val="80000"/>
            </a:schemeClr>
          </a:solidFill>
          <a:ln w="9525">
            <a:solidFill>
              <a:schemeClr val="accent1"/>
            </a:solidFill>
            <a:miter lim="800000"/>
            <a:headEnd/>
            <a:tailEnd/>
          </a:ln>
        </p:spPr>
        <p:txBody>
          <a:bodyPr anchor="ctr"/>
          <a:lstStyle/>
          <a:p>
            <a:pPr algn="ctr">
              <a:defRPr/>
            </a:pPr>
            <a:r>
              <a:rPr lang="en-US" sz="3000" dirty="0">
                <a:latin typeface="+mj-lt"/>
                <a:ea typeface="+mj-ea"/>
                <a:cs typeface="+mj-cs"/>
              </a:rPr>
              <a:t>CLARITY</a:t>
            </a:r>
          </a:p>
        </p:txBody>
      </p:sp>
      <p:pic>
        <p:nvPicPr>
          <p:cNvPr id="1026" name="Picture 2" descr="F:\Mahbuba\Moni\Characters\1000.jpg"/>
          <p:cNvPicPr>
            <a:picLocks noChangeAspect="1" noChangeArrowheads="1"/>
          </p:cNvPicPr>
          <p:nvPr/>
        </p:nvPicPr>
        <p:blipFill>
          <a:blip r:embed="rId2"/>
          <a:srcRect/>
          <a:stretch>
            <a:fillRect/>
          </a:stretch>
        </p:blipFill>
        <p:spPr bwMode="auto">
          <a:xfrm>
            <a:off x="5105400" y="2057400"/>
            <a:ext cx="3048000" cy="3576320"/>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Content Placeholder 2"/>
          <p:cNvSpPr>
            <a:spLocks noGrp="1"/>
          </p:cNvSpPr>
          <p:nvPr>
            <p:ph idx="1"/>
          </p:nvPr>
        </p:nvSpPr>
        <p:spPr>
          <a:xfrm>
            <a:off x="457200" y="1219200"/>
            <a:ext cx="8305800" cy="4724400"/>
          </a:xfrm>
        </p:spPr>
        <p:style>
          <a:lnRef idx="2">
            <a:schemeClr val="accent1"/>
          </a:lnRef>
          <a:fillRef idx="1">
            <a:schemeClr val="lt1"/>
          </a:fillRef>
          <a:effectRef idx="0">
            <a:schemeClr val="accent1"/>
          </a:effectRef>
          <a:fontRef idx="minor">
            <a:schemeClr val="dk1"/>
          </a:fontRef>
        </p:style>
        <p:txBody>
          <a:bodyPr>
            <a:noAutofit/>
          </a:bodyPr>
          <a:lstStyle/>
          <a:p>
            <a:pPr algn="just" eaLnBrk="1" hangingPunct="1">
              <a:buFont typeface="Arial" charset="0"/>
              <a:buNone/>
            </a:pPr>
            <a:r>
              <a:rPr lang="en-US" sz="2800" dirty="0" smtClean="0">
                <a:sym typeface="Wingdings 2" pitchFamily="18" charset="2"/>
              </a:rPr>
              <a:t> </a:t>
            </a:r>
            <a:r>
              <a:rPr lang="en-US" sz="2800" b="1" dirty="0" smtClean="0"/>
              <a:t>Use concrete words:</a:t>
            </a:r>
          </a:p>
          <a:p>
            <a:pPr algn="just" eaLnBrk="1" hangingPunct="1">
              <a:buFont typeface="Arial" charset="0"/>
              <a:buNone/>
            </a:pPr>
            <a:r>
              <a:rPr lang="en-US" sz="2800" dirty="0" smtClean="0">
                <a:ea typeface="Calibri" pitchFamily="34" charset="0"/>
                <a:cs typeface="Calibri" pitchFamily="34" charset="0"/>
              </a:rPr>
              <a:t>● </a:t>
            </a:r>
            <a:r>
              <a:rPr lang="en-US" sz="2800" dirty="0" smtClean="0"/>
              <a:t>Words that convey sharp, clear meanings in the receiver’s/reader’s mind may be called “concrete”.</a:t>
            </a:r>
          </a:p>
          <a:p>
            <a:pPr algn="just" eaLnBrk="1" hangingPunct="1">
              <a:buFont typeface="Arial" charset="0"/>
              <a:buNone/>
            </a:pPr>
            <a:r>
              <a:rPr lang="en-US" sz="2800" dirty="0" smtClean="0">
                <a:sym typeface="Wingdings" pitchFamily="2" charset="2"/>
              </a:rPr>
              <a:t> </a:t>
            </a:r>
            <a:r>
              <a:rPr lang="en-US" sz="2800" b="1" dirty="0" smtClean="0"/>
              <a:t>Sentence using abstract words:</a:t>
            </a:r>
          </a:p>
          <a:p>
            <a:pPr algn="just" eaLnBrk="1" hangingPunct="1">
              <a:buFont typeface="Arial" charset="0"/>
              <a:buNone/>
            </a:pPr>
            <a:r>
              <a:rPr lang="en-US" sz="2800" i="1" dirty="0" smtClean="0"/>
              <a:t>     “</a:t>
            </a:r>
            <a:r>
              <a:rPr lang="en-US" sz="2800" b="1" i="1" dirty="0" smtClean="0"/>
              <a:t>Majority</a:t>
            </a:r>
            <a:r>
              <a:rPr lang="en-US" sz="2800" i="1" dirty="0" smtClean="0"/>
              <a:t> of the students are present.”</a:t>
            </a:r>
          </a:p>
          <a:p>
            <a:pPr algn="just" eaLnBrk="1" hangingPunct="1">
              <a:buFont typeface="Arial" charset="0"/>
              <a:buNone/>
            </a:pPr>
            <a:r>
              <a:rPr lang="en-US" sz="2800" i="1" dirty="0" smtClean="0"/>
              <a:t>     “Mr. </a:t>
            </a:r>
            <a:r>
              <a:rPr lang="en-US" sz="2800" i="1" dirty="0" err="1" smtClean="0"/>
              <a:t>Hasan</a:t>
            </a:r>
            <a:r>
              <a:rPr lang="en-US" sz="2800" i="1" dirty="0" smtClean="0"/>
              <a:t> is </a:t>
            </a:r>
            <a:r>
              <a:rPr lang="en-US" sz="2800" b="1" i="1" dirty="0" smtClean="0"/>
              <a:t>coming soon</a:t>
            </a:r>
            <a:r>
              <a:rPr lang="en-US" sz="2800" i="1" dirty="0" smtClean="0"/>
              <a:t>.”</a:t>
            </a:r>
          </a:p>
          <a:p>
            <a:pPr algn="just" eaLnBrk="1" hangingPunct="1">
              <a:buFont typeface="Arial" charset="0"/>
              <a:buNone/>
            </a:pPr>
            <a:r>
              <a:rPr lang="en-US" sz="2800" dirty="0" smtClean="0">
                <a:sym typeface="Wingdings" pitchFamily="2" charset="2"/>
              </a:rPr>
              <a:t> </a:t>
            </a:r>
            <a:r>
              <a:rPr lang="en-US" sz="2800" b="1" dirty="0" smtClean="0"/>
              <a:t>Sentence using concrete words:</a:t>
            </a:r>
            <a:endParaRPr lang="en-US" sz="2800" b="1" i="1" dirty="0" smtClean="0"/>
          </a:p>
          <a:p>
            <a:pPr algn="just" eaLnBrk="1" hangingPunct="1">
              <a:buFont typeface="Arial" charset="0"/>
              <a:buNone/>
            </a:pPr>
            <a:r>
              <a:rPr lang="en-US" sz="2800" i="1" dirty="0" smtClean="0"/>
              <a:t>    “</a:t>
            </a:r>
            <a:r>
              <a:rPr lang="en-US" sz="2800" b="1" i="1" dirty="0" smtClean="0"/>
              <a:t>69 percent </a:t>
            </a:r>
            <a:r>
              <a:rPr lang="en-US" sz="2800" i="1" dirty="0" smtClean="0"/>
              <a:t>of the students are present.”</a:t>
            </a:r>
          </a:p>
          <a:p>
            <a:pPr algn="just" eaLnBrk="1" hangingPunct="1">
              <a:buFont typeface="Arial" charset="0"/>
              <a:buNone/>
            </a:pPr>
            <a:r>
              <a:rPr lang="en-US" sz="2800" i="1" dirty="0" smtClean="0"/>
              <a:t>    “Mr. </a:t>
            </a:r>
            <a:r>
              <a:rPr lang="en-US" sz="2800" i="1" dirty="0" err="1" smtClean="0"/>
              <a:t>Hasan</a:t>
            </a:r>
            <a:r>
              <a:rPr lang="en-US" sz="2800" i="1" dirty="0" smtClean="0"/>
              <a:t> is coming </a:t>
            </a:r>
            <a:r>
              <a:rPr lang="en-US" sz="2800" b="1" i="1" dirty="0" smtClean="0"/>
              <a:t>on 1</a:t>
            </a:r>
            <a:r>
              <a:rPr lang="en-US" sz="2800" b="1" i="1" baseline="30000" dirty="0" smtClean="0"/>
              <a:t>st</a:t>
            </a:r>
            <a:r>
              <a:rPr lang="en-US" sz="2800" b="1" i="1" dirty="0" smtClean="0"/>
              <a:t> September, 2012</a:t>
            </a:r>
            <a:r>
              <a:rPr lang="en-US" sz="2800" i="1" dirty="0" smtClean="0"/>
              <a:t>.”</a:t>
            </a:r>
            <a:r>
              <a:rPr lang="en-US" sz="2800" dirty="0" smtClean="0"/>
              <a:t> </a:t>
            </a:r>
          </a:p>
        </p:txBody>
      </p:sp>
      <p:sp>
        <p:nvSpPr>
          <p:cNvPr id="4" name="Title 1"/>
          <p:cNvSpPr txBox="1">
            <a:spLocks/>
          </p:cNvSpPr>
          <p:nvPr/>
        </p:nvSpPr>
        <p:spPr bwMode="auto">
          <a:xfrm>
            <a:off x="457200" y="274638"/>
            <a:ext cx="1981200" cy="563562"/>
          </a:xfrm>
          <a:prstGeom prst="rect">
            <a:avLst/>
          </a:prstGeom>
          <a:solidFill>
            <a:schemeClr val="accent1">
              <a:lumMod val="20000"/>
              <a:lumOff val="80000"/>
            </a:schemeClr>
          </a:solidFill>
          <a:ln w="9525">
            <a:solidFill>
              <a:schemeClr val="accent1"/>
            </a:solidFill>
            <a:miter lim="800000"/>
            <a:headEnd/>
            <a:tailEnd/>
          </a:ln>
        </p:spPr>
        <p:txBody>
          <a:bodyPr anchor="ctr"/>
          <a:lstStyle/>
          <a:p>
            <a:pPr algn="ctr">
              <a:defRPr/>
            </a:pPr>
            <a:r>
              <a:rPr lang="en-US" sz="3000" dirty="0">
                <a:latin typeface="+mj-lt"/>
                <a:ea typeface="+mj-ea"/>
                <a:cs typeface="+mj-cs"/>
              </a:rPr>
              <a:t>CLARITY</a:t>
            </a:r>
          </a:p>
        </p:txBody>
      </p:sp>
      <p:pic>
        <p:nvPicPr>
          <p:cNvPr id="10244" name="Picture 4" descr="C:\Users\Bob Stretch\AppData\Local\Microsoft\Windows\Temporary Internet Files\Content.IE5\118DJOWU\MCj04103710000[1].wmf"/>
          <p:cNvPicPr>
            <a:picLocks noChangeAspect="1" noChangeArrowheads="1"/>
          </p:cNvPicPr>
          <p:nvPr/>
        </p:nvPicPr>
        <p:blipFill>
          <a:blip r:embed="rId2"/>
          <a:srcRect/>
          <a:stretch>
            <a:fillRect/>
          </a:stretch>
        </p:blipFill>
        <p:spPr bwMode="auto">
          <a:xfrm>
            <a:off x="6400800" y="2590800"/>
            <a:ext cx="2209800" cy="2916238"/>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Content Placeholder 2"/>
          <p:cNvSpPr>
            <a:spLocks noGrp="1"/>
          </p:cNvSpPr>
          <p:nvPr>
            <p:ph idx="1"/>
          </p:nvPr>
        </p:nvSpPr>
        <p:spPr>
          <a:xfrm>
            <a:off x="457200" y="914400"/>
            <a:ext cx="8229600" cy="5715000"/>
          </a:xfrm>
        </p:spPr>
        <p:style>
          <a:lnRef idx="2">
            <a:schemeClr val="accent1"/>
          </a:lnRef>
          <a:fillRef idx="1">
            <a:schemeClr val="lt1"/>
          </a:fillRef>
          <a:effectRef idx="0">
            <a:schemeClr val="accent1"/>
          </a:effectRef>
          <a:fontRef idx="minor">
            <a:schemeClr val="dk1"/>
          </a:fontRef>
        </p:style>
        <p:txBody>
          <a:bodyPr>
            <a:noAutofit/>
          </a:bodyPr>
          <a:lstStyle/>
          <a:p>
            <a:pPr algn="just" eaLnBrk="1" hangingPunct="1">
              <a:buFont typeface="Wingdings" pitchFamily="2" charset="2"/>
              <a:buChar char=""/>
            </a:pPr>
            <a:r>
              <a:rPr lang="en-US" sz="2800" b="1" dirty="0" smtClean="0"/>
              <a:t>Use strong, vigorous words in place of weak ones:</a:t>
            </a:r>
          </a:p>
          <a:p>
            <a:pPr algn="just" eaLnBrk="1" hangingPunct="1">
              <a:buFont typeface="Arial" charset="0"/>
              <a:buNone/>
            </a:pPr>
            <a:r>
              <a:rPr lang="en-US" sz="2800" dirty="0" smtClean="0">
                <a:ea typeface="Calibri" pitchFamily="34" charset="0"/>
                <a:cs typeface="Calibri" pitchFamily="34" charset="0"/>
              </a:rPr>
              <a:t>● Verbs are the strongest words. Nouns are second. Adjectives and adverbs are weak words. They are used to be sparingly.</a:t>
            </a:r>
          </a:p>
          <a:p>
            <a:pPr algn="just" eaLnBrk="1" hangingPunct="1">
              <a:buFont typeface="Arial" charset="0"/>
              <a:buNone/>
            </a:pPr>
            <a:endParaRPr lang="en-US" sz="2800" dirty="0" smtClean="0">
              <a:ea typeface="Calibri" pitchFamily="34" charset="0"/>
              <a:cs typeface="Calibri" pitchFamily="34" charset="0"/>
            </a:endParaRPr>
          </a:p>
          <a:p>
            <a:pPr algn="just" eaLnBrk="1" hangingPunct="1">
              <a:buFont typeface="Arial" charset="0"/>
              <a:buNone/>
            </a:pPr>
            <a:endParaRPr lang="en-US" sz="2800" dirty="0" smtClean="0">
              <a:ea typeface="Calibri" pitchFamily="34" charset="0"/>
              <a:cs typeface="Calibri" pitchFamily="34" charset="0"/>
            </a:endParaRPr>
          </a:p>
          <a:p>
            <a:pPr algn="just" eaLnBrk="1" hangingPunct="1">
              <a:buFont typeface="Arial" charset="0"/>
              <a:buNone/>
            </a:pPr>
            <a:endParaRPr lang="en-US" sz="2800" dirty="0" smtClean="0">
              <a:ea typeface="Calibri" pitchFamily="34" charset="0"/>
              <a:cs typeface="Calibri" pitchFamily="34" charset="0"/>
            </a:endParaRPr>
          </a:p>
          <a:p>
            <a:pPr algn="just" eaLnBrk="1" hangingPunct="1">
              <a:buFont typeface="Arial" charset="0"/>
              <a:buNone/>
            </a:pPr>
            <a:endParaRPr lang="en-US" sz="2800" dirty="0" smtClean="0">
              <a:ea typeface="Calibri" pitchFamily="34" charset="0"/>
              <a:cs typeface="Calibri" pitchFamily="34" charset="0"/>
            </a:endParaRPr>
          </a:p>
          <a:p>
            <a:pPr algn="just" eaLnBrk="1" hangingPunct="1">
              <a:buFont typeface="Arial" charset="0"/>
              <a:buNone/>
            </a:pPr>
            <a:r>
              <a:rPr lang="en-US" sz="2800" dirty="0" smtClean="0">
                <a:ea typeface="Calibri" pitchFamily="34" charset="0"/>
                <a:cs typeface="Calibri" pitchFamily="34" charset="0"/>
                <a:sym typeface="Wingdings" pitchFamily="2" charset="2"/>
              </a:rPr>
              <a:t> </a:t>
            </a:r>
            <a:r>
              <a:rPr lang="en-US" sz="2800" i="1" dirty="0" smtClean="0">
                <a:ea typeface="Calibri" pitchFamily="34" charset="0"/>
                <a:cs typeface="Calibri" pitchFamily="34" charset="0"/>
                <a:sym typeface="Wingdings" pitchFamily="2" charset="2"/>
              </a:rPr>
              <a:t>“</a:t>
            </a:r>
            <a:r>
              <a:rPr lang="en-US" sz="2800" i="1" dirty="0" smtClean="0">
                <a:ea typeface="Calibri" pitchFamily="34" charset="0"/>
                <a:cs typeface="Calibri" pitchFamily="34" charset="0"/>
              </a:rPr>
              <a:t>Now </a:t>
            </a:r>
            <a:r>
              <a:rPr lang="en-US" sz="2800" b="1" i="1" dirty="0" smtClean="0">
                <a:ea typeface="Calibri" pitchFamily="34" charset="0"/>
                <a:cs typeface="Calibri" pitchFamily="34" charset="0"/>
              </a:rPr>
              <a:t>make an announcement </a:t>
            </a:r>
            <a:r>
              <a:rPr lang="en-US" sz="2800" i="1" dirty="0" smtClean="0">
                <a:ea typeface="Calibri" pitchFamily="34" charset="0"/>
                <a:cs typeface="Calibri" pitchFamily="34" charset="0"/>
              </a:rPr>
              <a:t>of the date of exam”</a:t>
            </a:r>
            <a:r>
              <a:rPr lang="en-US" sz="2800" dirty="0" smtClean="0">
                <a:ea typeface="Calibri" pitchFamily="34" charset="0"/>
                <a:cs typeface="Calibri" pitchFamily="34" charset="0"/>
              </a:rPr>
              <a:t>---sentence using noun.</a:t>
            </a:r>
          </a:p>
          <a:p>
            <a:pPr algn="just" eaLnBrk="1" hangingPunct="1">
              <a:buFont typeface="Arial" charset="0"/>
              <a:buNone/>
            </a:pPr>
            <a:r>
              <a:rPr lang="en-US" sz="2800" dirty="0" smtClean="0">
                <a:ea typeface="Calibri" pitchFamily="34" charset="0"/>
                <a:cs typeface="Calibri" pitchFamily="34" charset="0"/>
                <a:sym typeface="Wingdings" pitchFamily="2" charset="2"/>
              </a:rPr>
              <a:t> </a:t>
            </a:r>
            <a:r>
              <a:rPr lang="en-US" sz="2800" i="1" dirty="0" smtClean="0">
                <a:ea typeface="Calibri" pitchFamily="34" charset="0"/>
                <a:cs typeface="Calibri" pitchFamily="34" charset="0"/>
                <a:sym typeface="Wingdings" pitchFamily="2" charset="2"/>
              </a:rPr>
              <a:t>“Now </a:t>
            </a:r>
            <a:r>
              <a:rPr lang="en-US" sz="2800" b="1" i="1" dirty="0" smtClean="0">
                <a:ea typeface="Calibri" pitchFamily="34" charset="0"/>
                <a:cs typeface="Calibri" pitchFamily="34" charset="0"/>
                <a:sym typeface="Wingdings" pitchFamily="2" charset="2"/>
              </a:rPr>
              <a:t>announce</a:t>
            </a:r>
            <a:r>
              <a:rPr lang="en-US" sz="2800" i="1" dirty="0" smtClean="0">
                <a:ea typeface="Calibri" pitchFamily="34" charset="0"/>
                <a:cs typeface="Calibri" pitchFamily="34" charset="0"/>
                <a:sym typeface="Wingdings" pitchFamily="2" charset="2"/>
              </a:rPr>
              <a:t> the date of exam”.---</a:t>
            </a:r>
            <a:r>
              <a:rPr lang="en-US" sz="2800" dirty="0" smtClean="0">
                <a:ea typeface="Calibri" pitchFamily="34" charset="0"/>
                <a:cs typeface="Calibri" pitchFamily="34" charset="0"/>
                <a:sym typeface="Wingdings" pitchFamily="2" charset="2"/>
              </a:rPr>
              <a:t>sentence using verb</a:t>
            </a:r>
            <a:endParaRPr lang="en-US" sz="2800" dirty="0" smtClean="0">
              <a:ea typeface="Calibri" pitchFamily="34" charset="0"/>
              <a:cs typeface="Calibri" pitchFamily="34" charset="0"/>
            </a:endParaRPr>
          </a:p>
          <a:p>
            <a:pPr algn="just" eaLnBrk="1" hangingPunct="1">
              <a:buFont typeface="Arial" charset="0"/>
              <a:buNone/>
            </a:pPr>
            <a:endParaRPr lang="en-US" sz="2800" dirty="0" smtClean="0"/>
          </a:p>
          <a:p>
            <a:pPr algn="just" eaLnBrk="1" hangingPunct="1">
              <a:buFont typeface="Arial" charset="0"/>
              <a:buNone/>
            </a:pPr>
            <a:r>
              <a:rPr lang="en-US" sz="2800" dirty="0" smtClean="0">
                <a:sym typeface="Wingdings" pitchFamily="2" charset="2"/>
              </a:rPr>
              <a:t>  </a:t>
            </a:r>
            <a:endParaRPr lang="en-US" sz="2800" dirty="0" smtClean="0"/>
          </a:p>
        </p:txBody>
      </p:sp>
      <p:sp>
        <p:nvSpPr>
          <p:cNvPr id="4" name="Title 1"/>
          <p:cNvSpPr txBox="1">
            <a:spLocks/>
          </p:cNvSpPr>
          <p:nvPr/>
        </p:nvSpPr>
        <p:spPr bwMode="auto">
          <a:xfrm>
            <a:off x="457200" y="274638"/>
            <a:ext cx="1981200" cy="563562"/>
          </a:xfrm>
          <a:prstGeom prst="rect">
            <a:avLst/>
          </a:prstGeom>
          <a:solidFill>
            <a:schemeClr val="accent1">
              <a:lumMod val="20000"/>
              <a:lumOff val="80000"/>
            </a:schemeClr>
          </a:solidFill>
          <a:ln w="9525">
            <a:solidFill>
              <a:schemeClr val="accent1"/>
            </a:solidFill>
            <a:miter lim="800000"/>
            <a:headEnd/>
            <a:tailEnd/>
          </a:ln>
        </p:spPr>
        <p:txBody>
          <a:bodyPr anchor="ctr"/>
          <a:lstStyle/>
          <a:p>
            <a:pPr algn="ctr">
              <a:defRPr/>
            </a:pPr>
            <a:r>
              <a:rPr lang="en-US" sz="3000" dirty="0">
                <a:latin typeface="+mj-lt"/>
                <a:ea typeface="+mj-ea"/>
                <a:cs typeface="+mj-cs"/>
              </a:rPr>
              <a:t>CLARITY</a:t>
            </a:r>
          </a:p>
        </p:txBody>
      </p:sp>
      <p:graphicFrame>
        <p:nvGraphicFramePr>
          <p:cNvPr id="5" name="Table 4"/>
          <p:cNvGraphicFramePr>
            <a:graphicFrameLocks noGrp="1"/>
          </p:cNvGraphicFramePr>
          <p:nvPr/>
        </p:nvGraphicFramePr>
        <p:xfrm>
          <a:off x="1600200" y="2926080"/>
          <a:ext cx="6934200" cy="1950720"/>
        </p:xfrm>
        <a:graphic>
          <a:graphicData uri="http://schemas.openxmlformats.org/drawingml/2006/table">
            <a:tbl>
              <a:tblPr firstRow="1" bandRow="1">
                <a:tableStyleId>{8799B23B-EC83-4686-B30A-512413B5E67A}</a:tableStyleId>
              </a:tblPr>
              <a:tblGrid>
                <a:gridCol w="3467100"/>
                <a:gridCol w="3467100"/>
              </a:tblGrid>
              <a:tr h="308339">
                <a:tc>
                  <a:txBody>
                    <a:bodyPr/>
                    <a:lstStyle/>
                    <a:p>
                      <a:pPr algn="ctr"/>
                      <a:r>
                        <a:rPr lang="en-US" sz="2600" dirty="0" smtClean="0"/>
                        <a:t>Nouns (to be avoided)</a:t>
                      </a:r>
                      <a:endParaRPr lang="en-US" sz="2600" dirty="0"/>
                    </a:p>
                  </a:txBody>
                  <a:tcPr/>
                </a:tc>
                <a:tc>
                  <a:txBody>
                    <a:bodyPr/>
                    <a:lstStyle/>
                    <a:p>
                      <a:pPr algn="ctr"/>
                      <a:r>
                        <a:rPr lang="en-US" sz="2600" dirty="0" smtClean="0"/>
                        <a:t>Verbs (to be used)</a:t>
                      </a:r>
                      <a:endParaRPr lang="en-US" sz="2600" dirty="0"/>
                    </a:p>
                  </a:txBody>
                  <a:tcPr/>
                </a:tc>
              </a:tr>
              <a:tr h="453660">
                <a:tc>
                  <a:txBody>
                    <a:bodyPr/>
                    <a:lstStyle/>
                    <a:p>
                      <a:pPr algn="ctr"/>
                      <a:r>
                        <a:rPr lang="en-US" sz="2600" dirty="0" smtClean="0"/>
                        <a:t>Make an announcement</a:t>
                      </a:r>
                      <a:endParaRPr lang="en-US" sz="2600" dirty="0"/>
                    </a:p>
                  </a:txBody>
                  <a:tcPr/>
                </a:tc>
                <a:tc>
                  <a:txBody>
                    <a:bodyPr/>
                    <a:lstStyle/>
                    <a:p>
                      <a:pPr algn="ctr"/>
                      <a:r>
                        <a:rPr lang="en-US" sz="2600" dirty="0" smtClean="0"/>
                        <a:t>Announce</a:t>
                      </a:r>
                      <a:endParaRPr lang="en-US" sz="2600" dirty="0"/>
                    </a:p>
                  </a:txBody>
                  <a:tcPr/>
                </a:tc>
              </a:tr>
              <a:tr h="453660">
                <a:tc>
                  <a:txBody>
                    <a:bodyPr/>
                    <a:lstStyle/>
                    <a:p>
                      <a:pPr algn="ctr"/>
                      <a:r>
                        <a:rPr lang="en-US" sz="2600" dirty="0" smtClean="0"/>
                        <a:t>Take into consideration</a:t>
                      </a:r>
                      <a:endParaRPr lang="en-US" sz="2600" dirty="0"/>
                    </a:p>
                  </a:txBody>
                  <a:tcPr/>
                </a:tc>
                <a:tc>
                  <a:txBody>
                    <a:bodyPr/>
                    <a:lstStyle/>
                    <a:p>
                      <a:pPr algn="ctr"/>
                      <a:r>
                        <a:rPr lang="en-US" sz="2600" dirty="0" smtClean="0"/>
                        <a:t>Consider</a:t>
                      </a:r>
                      <a:endParaRPr lang="en-US" sz="2600" dirty="0"/>
                    </a:p>
                  </a:txBody>
                  <a:tcPr/>
                </a:tc>
              </a:tr>
              <a:tr h="453660">
                <a:tc>
                  <a:txBody>
                    <a:bodyPr/>
                    <a:lstStyle/>
                    <a:p>
                      <a:pPr algn="ctr"/>
                      <a:r>
                        <a:rPr lang="en-US" sz="2600" dirty="0" smtClean="0"/>
                        <a:t>Make a decision</a:t>
                      </a:r>
                      <a:endParaRPr lang="en-US" sz="2600" dirty="0"/>
                    </a:p>
                  </a:txBody>
                  <a:tcPr/>
                </a:tc>
                <a:tc>
                  <a:txBody>
                    <a:bodyPr/>
                    <a:lstStyle/>
                    <a:p>
                      <a:pPr algn="ctr"/>
                      <a:r>
                        <a:rPr lang="en-US" sz="2600" dirty="0" smtClean="0"/>
                        <a:t>decide</a:t>
                      </a:r>
                      <a:endParaRPr lang="en-US" sz="2600" dirty="0"/>
                    </a:p>
                  </a:txBody>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Content Placeholder 2"/>
          <p:cNvSpPr>
            <a:spLocks noGrp="1"/>
          </p:cNvSpPr>
          <p:nvPr>
            <p:ph idx="1"/>
          </p:nvPr>
        </p:nvSpPr>
        <p:spPr>
          <a:xfrm>
            <a:off x="457200" y="762000"/>
            <a:ext cx="8229600" cy="5867400"/>
          </a:xfrm>
        </p:spPr>
        <p:style>
          <a:lnRef idx="2">
            <a:schemeClr val="accent1"/>
          </a:lnRef>
          <a:fillRef idx="1">
            <a:schemeClr val="lt1"/>
          </a:fillRef>
          <a:effectRef idx="0">
            <a:schemeClr val="accent1"/>
          </a:effectRef>
          <a:fontRef idx="minor">
            <a:schemeClr val="dk1"/>
          </a:fontRef>
        </p:style>
        <p:txBody>
          <a:bodyPr>
            <a:noAutofit/>
          </a:bodyPr>
          <a:lstStyle/>
          <a:p>
            <a:pPr algn="just" eaLnBrk="1" hangingPunct="1">
              <a:buFont typeface="Arial" charset="0"/>
              <a:buNone/>
            </a:pPr>
            <a:r>
              <a:rPr lang="en-US" sz="2800" dirty="0" smtClean="0">
                <a:sym typeface="Wingdings" pitchFamily="2" charset="2"/>
              </a:rPr>
              <a:t> </a:t>
            </a:r>
            <a:r>
              <a:rPr lang="en-US" sz="2800" b="1" dirty="0" smtClean="0">
                <a:sym typeface="Wingdings" pitchFamily="2" charset="2"/>
              </a:rPr>
              <a:t>Avoid repetitions (double entry):</a:t>
            </a:r>
          </a:p>
          <a:p>
            <a:pPr algn="just" eaLnBrk="1" hangingPunct="1">
              <a:buFont typeface="Arial" charset="0"/>
              <a:buNone/>
            </a:pPr>
            <a:r>
              <a:rPr lang="en-US" sz="2800" dirty="0" smtClean="0">
                <a:ea typeface="Calibri" pitchFamily="34" charset="0"/>
                <a:cs typeface="Calibri" pitchFamily="34" charset="0"/>
                <a:sym typeface="Wingdings" pitchFamily="2" charset="2"/>
              </a:rPr>
              <a:t>●  We often use two words in a sentence having the same meaning This approach is considered incorrect.</a:t>
            </a:r>
          </a:p>
          <a:p>
            <a:pPr algn="just" eaLnBrk="1" hangingPunct="1">
              <a:buFont typeface="Arial" charset="0"/>
              <a:buNone/>
            </a:pPr>
            <a:endParaRPr lang="en-US" sz="2800" dirty="0" smtClean="0">
              <a:ea typeface="Calibri" pitchFamily="34" charset="0"/>
              <a:cs typeface="Calibri" pitchFamily="34" charset="0"/>
              <a:sym typeface="Wingdings" pitchFamily="2" charset="2"/>
            </a:endParaRPr>
          </a:p>
          <a:p>
            <a:pPr algn="just" eaLnBrk="1" hangingPunct="1">
              <a:buFont typeface="Arial" charset="0"/>
              <a:buNone/>
            </a:pPr>
            <a:endParaRPr lang="en-US" sz="2800" dirty="0" smtClean="0">
              <a:ea typeface="Calibri" pitchFamily="34" charset="0"/>
              <a:cs typeface="Calibri" pitchFamily="34" charset="0"/>
              <a:sym typeface="Wingdings" pitchFamily="2" charset="2"/>
            </a:endParaRPr>
          </a:p>
          <a:p>
            <a:pPr algn="just" eaLnBrk="1" hangingPunct="1">
              <a:buFont typeface="Arial" charset="0"/>
              <a:buNone/>
            </a:pPr>
            <a:endParaRPr lang="en-US" sz="2800" dirty="0" smtClean="0">
              <a:ea typeface="Calibri" pitchFamily="34" charset="0"/>
              <a:cs typeface="Calibri" pitchFamily="34" charset="0"/>
              <a:sym typeface="Wingdings" pitchFamily="2" charset="2"/>
            </a:endParaRPr>
          </a:p>
          <a:p>
            <a:pPr algn="just" eaLnBrk="1" hangingPunct="1">
              <a:buFont typeface="Arial" charset="0"/>
              <a:buNone/>
            </a:pPr>
            <a:endParaRPr lang="en-US" sz="2800" dirty="0" smtClean="0">
              <a:ea typeface="Calibri" pitchFamily="34" charset="0"/>
              <a:cs typeface="Calibri" pitchFamily="34" charset="0"/>
              <a:sym typeface="Wingdings" pitchFamily="2" charset="2"/>
            </a:endParaRPr>
          </a:p>
          <a:p>
            <a:pPr algn="just" eaLnBrk="1" hangingPunct="1">
              <a:buFont typeface="Arial" charset="0"/>
              <a:buNone/>
            </a:pPr>
            <a:endParaRPr lang="en-US" sz="2800" dirty="0" smtClean="0">
              <a:ea typeface="Calibri" pitchFamily="34" charset="0"/>
              <a:cs typeface="Calibri" pitchFamily="34" charset="0"/>
              <a:sym typeface="Wingdings" pitchFamily="2" charset="2"/>
            </a:endParaRPr>
          </a:p>
          <a:p>
            <a:pPr algn="just" eaLnBrk="1" hangingPunct="1">
              <a:buFont typeface="Wingdings" pitchFamily="2" charset="2"/>
              <a:buChar char="ð"/>
            </a:pPr>
            <a:r>
              <a:rPr lang="en-US" sz="2800" dirty="0" smtClean="0">
                <a:ea typeface="Calibri" pitchFamily="34" charset="0"/>
                <a:cs typeface="Calibri" pitchFamily="34" charset="0"/>
                <a:sym typeface="Wingdings" pitchFamily="2" charset="2"/>
              </a:rPr>
              <a:t>“</a:t>
            </a:r>
            <a:r>
              <a:rPr lang="en-US" sz="2800" i="1" dirty="0" smtClean="0">
                <a:ea typeface="Calibri" pitchFamily="34" charset="0"/>
                <a:cs typeface="Calibri" pitchFamily="34" charset="0"/>
                <a:sym typeface="Wingdings" pitchFamily="2" charset="2"/>
              </a:rPr>
              <a:t>Mr. </a:t>
            </a:r>
            <a:r>
              <a:rPr lang="en-US" sz="2800" i="1" dirty="0" err="1" smtClean="0">
                <a:ea typeface="Calibri" pitchFamily="34" charset="0"/>
                <a:cs typeface="Calibri" pitchFamily="34" charset="0"/>
                <a:sym typeface="Wingdings" pitchFamily="2" charset="2"/>
              </a:rPr>
              <a:t>Kamal</a:t>
            </a:r>
            <a:r>
              <a:rPr lang="en-US" sz="2800" i="1" dirty="0" smtClean="0">
                <a:ea typeface="Calibri" pitchFamily="34" charset="0"/>
                <a:cs typeface="Calibri" pitchFamily="34" charset="0"/>
                <a:sym typeface="Wingdings" pitchFamily="2" charset="2"/>
              </a:rPr>
              <a:t> will come here at </a:t>
            </a:r>
            <a:r>
              <a:rPr lang="en-US" sz="2800" b="1" i="1" dirty="0" smtClean="0">
                <a:ea typeface="Calibri" pitchFamily="34" charset="0"/>
                <a:cs typeface="Calibri" pitchFamily="34" charset="0"/>
                <a:sym typeface="Wingdings" pitchFamily="2" charset="2"/>
              </a:rPr>
              <a:t>4 p.m. in the evening</a:t>
            </a:r>
            <a:r>
              <a:rPr lang="en-US" sz="2800" dirty="0" smtClean="0">
                <a:ea typeface="Calibri" pitchFamily="34" charset="0"/>
                <a:cs typeface="Calibri" pitchFamily="34" charset="0"/>
                <a:sym typeface="Wingdings" pitchFamily="2" charset="2"/>
              </a:rPr>
              <a:t>”– sentence with repetition.</a:t>
            </a:r>
            <a:endParaRPr lang="en-US" sz="2800" i="1" dirty="0" smtClean="0">
              <a:ea typeface="Calibri" pitchFamily="34" charset="0"/>
              <a:cs typeface="Calibri" pitchFamily="34" charset="0"/>
              <a:sym typeface="Wingdings" pitchFamily="2" charset="2"/>
            </a:endParaRPr>
          </a:p>
          <a:p>
            <a:pPr algn="just" eaLnBrk="1" hangingPunct="1">
              <a:buFont typeface="Wingdings" pitchFamily="2" charset="2"/>
              <a:buChar char="ð"/>
            </a:pPr>
            <a:r>
              <a:rPr lang="en-US" sz="2800" i="1" dirty="0" smtClean="0">
                <a:ea typeface="Calibri" pitchFamily="34" charset="0"/>
                <a:cs typeface="Calibri" pitchFamily="34" charset="0"/>
                <a:sym typeface="Wingdings" pitchFamily="2" charset="2"/>
              </a:rPr>
              <a:t>“Mr. </a:t>
            </a:r>
            <a:r>
              <a:rPr lang="en-US" sz="2800" i="1" dirty="0" err="1" smtClean="0">
                <a:ea typeface="Calibri" pitchFamily="34" charset="0"/>
                <a:cs typeface="Calibri" pitchFamily="34" charset="0"/>
                <a:sym typeface="Wingdings" pitchFamily="2" charset="2"/>
              </a:rPr>
              <a:t>Kamal</a:t>
            </a:r>
            <a:r>
              <a:rPr lang="en-US" sz="2800" i="1" dirty="0" smtClean="0">
                <a:ea typeface="Calibri" pitchFamily="34" charset="0"/>
                <a:cs typeface="Calibri" pitchFamily="34" charset="0"/>
                <a:sym typeface="Wingdings" pitchFamily="2" charset="2"/>
              </a:rPr>
              <a:t> will come here </a:t>
            </a:r>
            <a:r>
              <a:rPr lang="en-US" sz="2800" b="1" i="1" dirty="0" smtClean="0">
                <a:ea typeface="Calibri" pitchFamily="34" charset="0"/>
                <a:cs typeface="Calibri" pitchFamily="34" charset="0"/>
                <a:sym typeface="Wingdings" pitchFamily="2" charset="2"/>
              </a:rPr>
              <a:t>at 4 p.m.</a:t>
            </a:r>
            <a:r>
              <a:rPr lang="en-US" sz="2800" i="1" dirty="0" smtClean="0">
                <a:ea typeface="Calibri" pitchFamily="34" charset="0"/>
                <a:cs typeface="Calibri" pitchFamily="34" charset="0"/>
                <a:sym typeface="Wingdings" pitchFamily="2" charset="2"/>
              </a:rPr>
              <a:t>”</a:t>
            </a:r>
            <a:r>
              <a:rPr lang="en-US" sz="2800" dirty="0" smtClean="0">
                <a:ea typeface="Calibri" pitchFamily="34" charset="0"/>
                <a:cs typeface="Calibri" pitchFamily="34" charset="0"/>
                <a:sym typeface="Wingdings" pitchFamily="2" charset="2"/>
              </a:rPr>
              <a:t>—sentence avoiding repetition.</a:t>
            </a:r>
          </a:p>
          <a:p>
            <a:pPr algn="just" eaLnBrk="1" hangingPunct="1">
              <a:buFont typeface="Wingdings" pitchFamily="2" charset="2"/>
              <a:buChar char="ð"/>
            </a:pPr>
            <a:endParaRPr lang="en-US" sz="2800" dirty="0" smtClean="0"/>
          </a:p>
        </p:txBody>
      </p:sp>
      <p:sp>
        <p:nvSpPr>
          <p:cNvPr id="4" name="Title 1"/>
          <p:cNvSpPr txBox="1">
            <a:spLocks/>
          </p:cNvSpPr>
          <p:nvPr/>
        </p:nvSpPr>
        <p:spPr bwMode="auto">
          <a:xfrm>
            <a:off x="457200" y="122238"/>
            <a:ext cx="1981200" cy="563562"/>
          </a:xfrm>
          <a:prstGeom prst="rect">
            <a:avLst/>
          </a:prstGeom>
          <a:solidFill>
            <a:schemeClr val="accent1">
              <a:lumMod val="20000"/>
              <a:lumOff val="80000"/>
            </a:schemeClr>
          </a:solidFill>
          <a:ln w="9525">
            <a:solidFill>
              <a:schemeClr val="accent1"/>
            </a:solidFill>
            <a:miter lim="800000"/>
            <a:headEnd/>
            <a:tailEnd/>
          </a:ln>
        </p:spPr>
        <p:txBody>
          <a:bodyPr anchor="ctr"/>
          <a:lstStyle/>
          <a:p>
            <a:pPr algn="ctr">
              <a:defRPr/>
            </a:pPr>
            <a:r>
              <a:rPr lang="en-US" sz="3000" dirty="0">
                <a:latin typeface="+mj-lt"/>
                <a:ea typeface="+mj-ea"/>
                <a:cs typeface="+mj-cs"/>
              </a:rPr>
              <a:t>CLARITY</a:t>
            </a:r>
          </a:p>
        </p:txBody>
      </p:sp>
      <p:graphicFrame>
        <p:nvGraphicFramePr>
          <p:cNvPr id="5" name="Table 4"/>
          <p:cNvGraphicFramePr>
            <a:graphicFrameLocks noGrp="1"/>
          </p:cNvGraphicFramePr>
          <p:nvPr/>
        </p:nvGraphicFramePr>
        <p:xfrm>
          <a:off x="1371600" y="2301240"/>
          <a:ext cx="6096000" cy="2346960"/>
        </p:xfrm>
        <a:graphic>
          <a:graphicData uri="http://schemas.openxmlformats.org/drawingml/2006/table">
            <a:tbl>
              <a:tblPr firstRow="1" bandRow="1">
                <a:tableStyleId>{5C22544A-7EE6-4342-B048-85BDC9FD1C3A}</a:tableStyleId>
              </a:tblPr>
              <a:tblGrid>
                <a:gridCol w="3048000"/>
                <a:gridCol w="3048000"/>
              </a:tblGrid>
              <a:tr h="370840">
                <a:tc>
                  <a:txBody>
                    <a:bodyPr/>
                    <a:lstStyle/>
                    <a:p>
                      <a:r>
                        <a:rPr lang="en-US" sz="2600" dirty="0" smtClean="0"/>
                        <a:t>Repetition</a:t>
                      </a:r>
                      <a:endParaRPr lang="en-US" sz="2600" dirty="0"/>
                    </a:p>
                  </a:txBody>
                  <a:tcPr/>
                </a:tc>
                <a:tc>
                  <a:txBody>
                    <a:bodyPr/>
                    <a:lstStyle/>
                    <a:p>
                      <a:r>
                        <a:rPr lang="en-US" sz="2600" dirty="0" smtClean="0"/>
                        <a:t>No repetition</a:t>
                      </a:r>
                      <a:endParaRPr lang="en-US" sz="2600" dirty="0"/>
                    </a:p>
                  </a:txBody>
                  <a:tcPr/>
                </a:tc>
              </a:tr>
              <a:tr h="370840">
                <a:tc>
                  <a:txBody>
                    <a:bodyPr/>
                    <a:lstStyle/>
                    <a:p>
                      <a:r>
                        <a:rPr lang="en-US" sz="2600" dirty="0" smtClean="0"/>
                        <a:t>10 a.m. in the morning</a:t>
                      </a:r>
                      <a:endParaRPr lang="en-US" sz="2600" dirty="0"/>
                    </a:p>
                  </a:txBody>
                  <a:tcPr/>
                </a:tc>
                <a:tc>
                  <a:txBody>
                    <a:bodyPr/>
                    <a:lstStyle/>
                    <a:p>
                      <a:r>
                        <a:rPr lang="en-US" sz="2600" dirty="0" smtClean="0"/>
                        <a:t>10 a.m.</a:t>
                      </a:r>
                      <a:endParaRPr lang="en-US" sz="2600" dirty="0"/>
                    </a:p>
                  </a:txBody>
                  <a:tcPr/>
                </a:tc>
              </a:tr>
              <a:tr h="370840">
                <a:tc>
                  <a:txBody>
                    <a:bodyPr/>
                    <a:lstStyle/>
                    <a:p>
                      <a:r>
                        <a:rPr lang="en-US" sz="2600" dirty="0" smtClean="0"/>
                        <a:t>Actual fact </a:t>
                      </a:r>
                      <a:endParaRPr lang="en-US" sz="2600" dirty="0"/>
                    </a:p>
                  </a:txBody>
                  <a:tcPr/>
                </a:tc>
                <a:tc>
                  <a:txBody>
                    <a:bodyPr/>
                    <a:lstStyle/>
                    <a:p>
                      <a:r>
                        <a:rPr lang="en-US" sz="2600" dirty="0" smtClean="0"/>
                        <a:t>Fact</a:t>
                      </a:r>
                      <a:endParaRPr lang="en-US" sz="2600" dirty="0"/>
                    </a:p>
                  </a:txBody>
                  <a:tcPr/>
                </a:tc>
              </a:tr>
              <a:tr h="370840">
                <a:tc>
                  <a:txBody>
                    <a:bodyPr/>
                    <a:lstStyle/>
                    <a:p>
                      <a:r>
                        <a:rPr lang="en-US" sz="2600" dirty="0" smtClean="0"/>
                        <a:t>Mental state of mind</a:t>
                      </a:r>
                      <a:r>
                        <a:rPr lang="en-US" sz="2600" baseline="0" dirty="0" smtClean="0"/>
                        <a:t> </a:t>
                      </a:r>
                      <a:endParaRPr lang="en-US" sz="2600" dirty="0"/>
                    </a:p>
                  </a:txBody>
                  <a:tcPr/>
                </a:tc>
                <a:tc>
                  <a:txBody>
                    <a:bodyPr/>
                    <a:lstStyle/>
                    <a:p>
                      <a:r>
                        <a:rPr lang="en-US" sz="2600" dirty="0" smtClean="0"/>
                        <a:t>State of mind.</a:t>
                      </a:r>
                      <a:endParaRPr lang="en-US" sz="2600" dirty="0"/>
                    </a:p>
                  </a:txBody>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Content Placeholder 2"/>
          <p:cNvSpPr>
            <a:spLocks noGrp="1"/>
          </p:cNvSpPr>
          <p:nvPr>
            <p:ph idx="1"/>
          </p:nvPr>
        </p:nvSpPr>
        <p:spPr>
          <a:xfrm>
            <a:off x="457200" y="1066800"/>
            <a:ext cx="8229600" cy="5059363"/>
          </a:xfrm>
        </p:spPr>
        <p:style>
          <a:lnRef idx="2">
            <a:schemeClr val="accent1"/>
          </a:lnRef>
          <a:fillRef idx="1">
            <a:schemeClr val="lt1"/>
          </a:fillRef>
          <a:effectRef idx="0">
            <a:schemeClr val="accent1"/>
          </a:effectRef>
          <a:fontRef idx="minor">
            <a:schemeClr val="dk1"/>
          </a:fontRef>
        </p:style>
        <p:txBody>
          <a:bodyPr>
            <a:noAutofit/>
          </a:bodyPr>
          <a:lstStyle/>
          <a:p>
            <a:pPr algn="just">
              <a:buFont typeface="Arial" charset="0"/>
              <a:buNone/>
            </a:pPr>
            <a:r>
              <a:rPr lang="en-US" sz="2800" dirty="0" smtClean="0">
                <a:sym typeface="Wingdings 2" pitchFamily="18" charset="2"/>
              </a:rPr>
              <a:t> </a:t>
            </a:r>
            <a:r>
              <a:rPr lang="en-US" sz="2800" b="1" dirty="0" smtClean="0"/>
              <a:t>Use technical words/ Jargons with care:</a:t>
            </a:r>
          </a:p>
          <a:p>
            <a:pPr algn="just">
              <a:buFont typeface="Arial" charset="0"/>
              <a:buNone/>
            </a:pPr>
            <a:r>
              <a:rPr lang="en-US" sz="2800" dirty="0" smtClean="0">
                <a:sym typeface="Wingdings 2" pitchFamily="18" charset="2"/>
              </a:rPr>
              <a:t> </a:t>
            </a:r>
            <a:r>
              <a:rPr lang="en-US" sz="2800" dirty="0" smtClean="0"/>
              <a:t>Each profession has its own technical words called “jargons” which gradually become the part of a person’s everyday working vocabulary.</a:t>
            </a:r>
          </a:p>
          <a:p>
            <a:pPr algn="just">
              <a:buFont typeface="Arial" charset="0"/>
              <a:buNone/>
            </a:pPr>
            <a:r>
              <a:rPr lang="en-US" sz="2800" dirty="0" smtClean="0">
                <a:sym typeface="Wingdings 2" pitchFamily="18" charset="2"/>
              </a:rPr>
              <a:t> </a:t>
            </a:r>
            <a:r>
              <a:rPr lang="en-US" sz="2800" dirty="0" smtClean="0"/>
              <a:t>In writing/speaking to those outside her/his own field, s/he may use these words. The result is miscommunication.</a:t>
            </a:r>
          </a:p>
          <a:p>
            <a:pPr algn="just">
              <a:buFont typeface="Arial" charset="0"/>
              <a:buNone/>
            </a:pPr>
            <a:r>
              <a:rPr lang="en-US" sz="2800" dirty="0" smtClean="0">
                <a:sym typeface="Wingdings 2" pitchFamily="18" charset="2"/>
              </a:rPr>
              <a:t> </a:t>
            </a:r>
            <a:r>
              <a:rPr lang="en-US" sz="2800" dirty="0" smtClean="0"/>
              <a:t>Jargon consists in the use of words like </a:t>
            </a:r>
            <a:r>
              <a:rPr lang="en-US" sz="2800" i="1" dirty="0" smtClean="0"/>
              <a:t>‘ultimo’</a:t>
            </a:r>
            <a:r>
              <a:rPr lang="en-US" sz="2800" dirty="0" smtClean="0"/>
              <a:t>, </a:t>
            </a:r>
            <a:r>
              <a:rPr lang="en-US" sz="2800" i="1" dirty="0" smtClean="0"/>
              <a:t>‘proximo’, ‘instant’, </a:t>
            </a:r>
            <a:r>
              <a:rPr lang="en-US" sz="2800" dirty="0" smtClean="0"/>
              <a:t>and </a:t>
            </a:r>
            <a:r>
              <a:rPr lang="en-US" sz="2800" i="1" dirty="0" smtClean="0"/>
              <a:t>‘oblige’ </a:t>
            </a:r>
            <a:r>
              <a:rPr lang="en-US" sz="2800" dirty="0" smtClean="0"/>
              <a:t>etc.</a:t>
            </a:r>
          </a:p>
          <a:p>
            <a:pPr algn="just"/>
            <a:endParaRPr lang="en-US" sz="2800" dirty="0" smtClean="0"/>
          </a:p>
          <a:p>
            <a:pPr algn="just">
              <a:buFont typeface="Arial" charset="0"/>
              <a:buNone/>
            </a:pPr>
            <a:r>
              <a:rPr lang="en-US" sz="2800" dirty="0" smtClean="0"/>
              <a:t>     </a:t>
            </a:r>
          </a:p>
        </p:txBody>
      </p:sp>
      <p:sp>
        <p:nvSpPr>
          <p:cNvPr id="4" name="Title 1"/>
          <p:cNvSpPr txBox="1">
            <a:spLocks/>
          </p:cNvSpPr>
          <p:nvPr/>
        </p:nvSpPr>
        <p:spPr bwMode="auto">
          <a:xfrm>
            <a:off x="457200" y="122238"/>
            <a:ext cx="1981200" cy="563562"/>
          </a:xfrm>
          <a:prstGeom prst="rect">
            <a:avLst/>
          </a:prstGeom>
          <a:solidFill>
            <a:schemeClr val="accent1">
              <a:lumMod val="20000"/>
              <a:lumOff val="80000"/>
            </a:schemeClr>
          </a:solidFill>
          <a:ln w="9525">
            <a:solidFill>
              <a:schemeClr val="accent1"/>
            </a:solidFill>
            <a:miter lim="800000"/>
            <a:headEnd/>
            <a:tailEnd/>
          </a:ln>
        </p:spPr>
        <p:txBody>
          <a:bodyPr anchor="ctr"/>
          <a:lstStyle/>
          <a:p>
            <a:pPr algn="ctr">
              <a:defRPr/>
            </a:pPr>
            <a:r>
              <a:rPr lang="en-US" sz="3000" dirty="0">
                <a:latin typeface="+mj-lt"/>
                <a:ea typeface="+mj-ea"/>
                <a:cs typeface="+mj-cs"/>
              </a:rPr>
              <a:t>CLARITY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p:cNvSpPr>
            <a:spLocks noGrp="1"/>
          </p:cNvSpPr>
          <p:nvPr>
            <p:ph idx="1"/>
          </p:nvPr>
        </p:nvSpPr>
        <p:spPr>
          <a:xfrm>
            <a:off x="457200" y="1143000"/>
            <a:ext cx="8229600" cy="4983163"/>
          </a:xfrm>
        </p:spPr>
        <p:style>
          <a:lnRef idx="2">
            <a:schemeClr val="accent1"/>
          </a:lnRef>
          <a:fillRef idx="1">
            <a:schemeClr val="lt1"/>
          </a:fillRef>
          <a:effectRef idx="0">
            <a:schemeClr val="accent1"/>
          </a:effectRef>
          <a:fontRef idx="minor">
            <a:schemeClr val="dk1"/>
          </a:fontRef>
        </p:style>
        <p:txBody>
          <a:bodyPr>
            <a:normAutofit/>
          </a:bodyPr>
          <a:lstStyle/>
          <a:p>
            <a:pPr algn="just">
              <a:buFont typeface="Arial" charset="0"/>
              <a:buNone/>
            </a:pPr>
            <a:r>
              <a:rPr lang="en-US" sz="2800" dirty="0" smtClean="0">
                <a:sym typeface="Wingdings 2" pitchFamily="18" charset="2"/>
              </a:rPr>
              <a:t> </a:t>
            </a:r>
            <a:r>
              <a:rPr lang="en-US" sz="2800" dirty="0" smtClean="0"/>
              <a:t>The communication advantage of avoiding the use of jargons may be obvious from the following examples:</a:t>
            </a:r>
          </a:p>
          <a:p>
            <a:pPr algn="just"/>
            <a:endParaRPr lang="en-US" sz="2800" dirty="0" smtClean="0"/>
          </a:p>
        </p:txBody>
      </p:sp>
      <p:sp>
        <p:nvSpPr>
          <p:cNvPr id="4" name="Title 1"/>
          <p:cNvSpPr txBox="1">
            <a:spLocks/>
          </p:cNvSpPr>
          <p:nvPr/>
        </p:nvSpPr>
        <p:spPr bwMode="auto">
          <a:xfrm>
            <a:off x="457200" y="228600"/>
            <a:ext cx="1981200" cy="563562"/>
          </a:xfrm>
          <a:prstGeom prst="rect">
            <a:avLst/>
          </a:prstGeom>
          <a:solidFill>
            <a:schemeClr val="accent1">
              <a:lumMod val="20000"/>
              <a:lumOff val="80000"/>
            </a:schemeClr>
          </a:solidFill>
          <a:ln w="9525">
            <a:solidFill>
              <a:schemeClr val="accent1"/>
            </a:solidFill>
            <a:miter lim="800000"/>
            <a:headEnd/>
            <a:tailEnd/>
          </a:ln>
        </p:spPr>
        <p:txBody>
          <a:bodyPr anchor="ctr"/>
          <a:lstStyle/>
          <a:p>
            <a:pPr algn="ctr">
              <a:defRPr/>
            </a:pPr>
            <a:r>
              <a:rPr lang="en-US" sz="3000" dirty="0">
                <a:latin typeface="+mj-lt"/>
                <a:ea typeface="+mj-ea"/>
                <a:cs typeface="+mj-cs"/>
              </a:rPr>
              <a:t>CLARITY</a:t>
            </a:r>
          </a:p>
        </p:txBody>
      </p:sp>
      <p:graphicFrame>
        <p:nvGraphicFramePr>
          <p:cNvPr id="5" name="Table 4"/>
          <p:cNvGraphicFramePr>
            <a:graphicFrameLocks noGrp="1"/>
          </p:cNvGraphicFramePr>
          <p:nvPr/>
        </p:nvGraphicFramePr>
        <p:xfrm>
          <a:off x="609600" y="2590800"/>
          <a:ext cx="7848600" cy="2418080"/>
        </p:xfrm>
        <a:graphic>
          <a:graphicData uri="http://schemas.openxmlformats.org/drawingml/2006/table">
            <a:tbl>
              <a:tblPr firstRow="1" bandRow="1">
                <a:tableStyleId>{5C22544A-7EE6-4342-B048-85BDC9FD1C3A}</a:tableStyleId>
              </a:tblPr>
              <a:tblGrid>
                <a:gridCol w="3924300"/>
                <a:gridCol w="3924300"/>
              </a:tblGrid>
              <a:tr h="609600">
                <a:tc>
                  <a:txBody>
                    <a:bodyPr/>
                    <a:lstStyle/>
                    <a:p>
                      <a:pPr algn="just"/>
                      <a:r>
                        <a:rPr lang="en-US" sz="2800" dirty="0" smtClean="0"/>
                        <a:t>Sentence</a:t>
                      </a:r>
                      <a:r>
                        <a:rPr lang="en-US" sz="2800" baseline="0" dirty="0" smtClean="0"/>
                        <a:t> with jargon</a:t>
                      </a:r>
                      <a:endParaRPr lang="en-US" sz="2800" dirty="0"/>
                    </a:p>
                  </a:txBody>
                  <a:tcPr/>
                </a:tc>
                <a:tc>
                  <a:txBody>
                    <a:bodyPr/>
                    <a:lstStyle/>
                    <a:p>
                      <a:pPr algn="just"/>
                      <a:r>
                        <a:rPr lang="en-US" sz="2800" dirty="0" smtClean="0"/>
                        <a:t>Sentences avoiding jargon</a:t>
                      </a:r>
                      <a:endParaRPr lang="en-US" sz="2800" dirty="0"/>
                    </a:p>
                  </a:txBody>
                  <a:tcPr/>
                </a:tc>
              </a:tr>
              <a:tr h="1473200">
                <a:tc>
                  <a:txBody>
                    <a:bodyPr/>
                    <a:lstStyle/>
                    <a:p>
                      <a:pPr algn="just"/>
                      <a:r>
                        <a:rPr lang="en-US" sz="2800" dirty="0" smtClean="0"/>
                        <a:t>Your letter of 10</a:t>
                      </a:r>
                      <a:r>
                        <a:rPr lang="en-US" sz="2800" baseline="30000" dirty="0" smtClean="0"/>
                        <a:t>th</a:t>
                      </a:r>
                      <a:r>
                        <a:rPr lang="en-US" sz="2800" dirty="0" smtClean="0"/>
                        <a:t> ultimo was received on time.</a:t>
                      </a:r>
                      <a:endParaRPr lang="en-US" sz="2800" dirty="0"/>
                    </a:p>
                  </a:txBody>
                  <a:tcPr/>
                </a:tc>
                <a:tc>
                  <a:txBody>
                    <a:bodyPr/>
                    <a:lstStyle/>
                    <a:p>
                      <a:pPr algn="just"/>
                      <a:r>
                        <a:rPr lang="en-US" sz="2800" dirty="0" smtClean="0"/>
                        <a:t>Your letter of 10</a:t>
                      </a:r>
                      <a:r>
                        <a:rPr lang="en-US" sz="2800" baseline="30000" dirty="0" smtClean="0"/>
                        <a:t>th</a:t>
                      </a:r>
                      <a:r>
                        <a:rPr lang="en-US" sz="2800" dirty="0" smtClean="0"/>
                        <a:t> August was received on time</a:t>
                      </a:r>
                      <a:endParaRPr lang="en-US" sz="2800" dirty="0"/>
                    </a:p>
                  </a:txBody>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2"/>
          <p:cNvSpPr>
            <a:spLocks noGrp="1"/>
          </p:cNvSpPr>
          <p:nvPr>
            <p:ph idx="1"/>
          </p:nvPr>
        </p:nvSpPr>
        <p:spPr>
          <a:xfrm>
            <a:off x="457200" y="762000"/>
            <a:ext cx="8229600" cy="5943600"/>
          </a:xfrm>
        </p:spPr>
        <p:style>
          <a:lnRef idx="2">
            <a:schemeClr val="accent1"/>
          </a:lnRef>
          <a:fillRef idx="1">
            <a:schemeClr val="lt1"/>
          </a:fillRef>
          <a:effectRef idx="0">
            <a:schemeClr val="accent1"/>
          </a:effectRef>
          <a:fontRef idx="minor">
            <a:schemeClr val="dk1"/>
          </a:fontRef>
        </p:style>
        <p:txBody>
          <a:bodyPr>
            <a:normAutofit/>
          </a:bodyPr>
          <a:lstStyle/>
          <a:p>
            <a:pPr>
              <a:buFont typeface="Arial" charset="0"/>
              <a:buNone/>
            </a:pPr>
            <a:r>
              <a:rPr lang="en-US" sz="2800" dirty="0" smtClean="0">
                <a:sym typeface="Wingdings 2" pitchFamily="18" charset="2"/>
              </a:rPr>
              <a:t> </a:t>
            </a:r>
            <a:r>
              <a:rPr lang="en-US" sz="2800" b="1" dirty="0" smtClean="0"/>
              <a:t>Choose active over passive verb:</a:t>
            </a:r>
          </a:p>
          <a:p>
            <a:pPr>
              <a:buFont typeface="Arial" charset="0"/>
              <a:buNone/>
            </a:pPr>
            <a:r>
              <a:rPr lang="en-US" sz="2800" dirty="0" smtClean="0">
                <a:sym typeface="Wingdings 2" pitchFamily="18" charset="2"/>
              </a:rPr>
              <a:t>  </a:t>
            </a:r>
            <a:r>
              <a:rPr lang="en-US" sz="2800" dirty="0" smtClean="0"/>
              <a:t>Verbs are at their greatest strength when they are in the active voice. </a:t>
            </a:r>
          </a:p>
          <a:p>
            <a:pPr>
              <a:buFont typeface="Arial" charset="0"/>
              <a:buNone/>
            </a:pPr>
            <a:r>
              <a:rPr lang="en-US" sz="2800" dirty="0" smtClean="0">
                <a:sym typeface="Wingdings 2" pitchFamily="18" charset="2"/>
              </a:rPr>
              <a:t>  </a:t>
            </a:r>
            <a:r>
              <a:rPr lang="en-US" sz="2800" dirty="0" smtClean="0"/>
              <a:t>For effective communication one should use as much active voice as is logically possible.</a:t>
            </a:r>
          </a:p>
          <a:p>
            <a:endParaRPr lang="en-US" sz="2800" dirty="0" smtClean="0"/>
          </a:p>
        </p:txBody>
      </p:sp>
      <p:sp>
        <p:nvSpPr>
          <p:cNvPr id="4" name="Title 1"/>
          <p:cNvSpPr txBox="1">
            <a:spLocks/>
          </p:cNvSpPr>
          <p:nvPr/>
        </p:nvSpPr>
        <p:spPr bwMode="auto">
          <a:xfrm>
            <a:off x="457200" y="122238"/>
            <a:ext cx="1981200" cy="563562"/>
          </a:xfrm>
          <a:prstGeom prst="rect">
            <a:avLst/>
          </a:prstGeom>
          <a:solidFill>
            <a:schemeClr val="accent1">
              <a:lumMod val="20000"/>
              <a:lumOff val="80000"/>
            </a:schemeClr>
          </a:solidFill>
          <a:ln w="9525">
            <a:solidFill>
              <a:schemeClr val="accent1"/>
            </a:solidFill>
            <a:miter lim="800000"/>
            <a:headEnd/>
            <a:tailEnd/>
          </a:ln>
        </p:spPr>
        <p:txBody>
          <a:bodyPr anchor="ctr"/>
          <a:lstStyle/>
          <a:p>
            <a:pPr algn="ctr">
              <a:defRPr/>
            </a:pPr>
            <a:r>
              <a:rPr lang="en-US" sz="3000" dirty="0">
                <a:latin typeface="+mj-lt"/>
                <a:ea typeface="+mj-ea"/>
                <a:cs typeface="+mj-cs"/>
              </a:rPr>
              <a:t>CLARITY</a:t>
            </a:r>
          </a:p>
        </p:txBody>
      </p:sp>
      <p:graphicFrame>
        <p:nvGraphicFramePr>
          <p:cNvPr id="5" name="Table 4"/>
          <p:cNvGraphicFramePr>
            <a:graphicFrameLocks noGrp="1"/>
          </p:cNvGraphicFramePr>
          <p:nvPr/>
        </p:nvGraphicFramePr>
        <p:xfrm>
          <a:off x="762000" y="3291840"/>
          <a:ext cx="7696200" cy="3261360"/>
        </p:xfrm>
        <a:graphic>
          <a:graphicData uri="http://schemas.openxmlformats.org/drawingml/2006/table">
            <a:tbl>
              <a:tblPr firstRow="1" bandRow="1">
                <a:tableStyleId>{69CF1AB2-1976-4502-BF36-3FF5EA218861}</a:tableStyleId>
              </a:tblPr>
              <a:tblGrid>
                <a:gridCol w="3848100"/>
                <a:gridCol w="3848100"/>
              </a:tblGrid>
              <a:tr h="975360">
                <a:tc>
                  <a:txBody>
                    <a:bodyPr/>
                    <a:lstStyle/>
                    <a:p>
                      <a:r>
                        <a:rPr lang="en-US" sz="2600" dirty="0" smtClean="0"/>
                        <a:t>Sentences using passive</a:t>
                      </a:r>
                      <a:r>
                        <a:rPr lang="en-US" sz="2600" baseline="0" dirty="0" smtClean="0"/>
                        <a:t> verb</a:t>
                      </a:r>
                      <a:endParaRPr lang="en-US" sz="2600" dirty="0" smtClean="0"/>
                    </a:p>
                    <a:p>
                      <a:endParaRPr lang="en-US" sz="2600" dirty="0"/>
                    </a:p>
                  </a:txBody>
                  <a:tcPr/>
                </a:tc>
                <a:tc>
                  <a:txBody>
                    <a:bodyPr/>
                    <a:lstStyle/>
                    <a:p>
                      <a:r>
                        <a:rPr lang="en-US" sz="2600" dirty="0" smtClean="0"/>
                        <a:t>Sentences using active verb</a:t>
                      </a:r>
                      <a:endParaRPr lang="en-US" sz="2600" dirty="0"/>
                    </a:p>
                  </a:txBody>
                  <a:tcPr/>
                </a:tc>
              </a:tr>
              <a:tr h="914400">
                <a:tc>
                  <a:txBody>
                    <a:bodyPr/>
                    <a:lstStyle/>
                    <a:p>
                      <a:r>
                        <a:rPr lang="en-US" sz="2600" dirty="0" smtClean="0"/>
                        <a:t>This policy has</a:t>
                      </a:r>
                      <a:r>
                        <a:rPr lang="en-US" sz="2600" baseline="0" dirty="0" smtClean="0"/>
                        <a:t> been supported by the union.</a:t>
                      </a:r>
                      <a:endParaRPr lang="en-US" sz="2600" dirty="0"/>
                    </a:p>
                  </a:txBody>
                  <a:tcPr/>
                </a:tc>
                <a:tc>
                  <a:txBody>
                    <a:bodyPr/>
                    <a:lstStyle/>
                    <a:p>
                      <a:r>
                        <a:rPr lang="en-US" sz="2600" dirty="0" smtClean="0"/>
                        <a:t>The union has supported this policy.</a:t>
                      </a:r>
                      <a:endParaRPr lang="en-US" sz="2600" dirty="0"/>
                    </a:p>
                  </a:txBody>
                  <a:tcPr/>
                </a:tc>
              </a:tr>
              <a:tr h="1066800">
                <a:tc>
                  <a:txBody>
                    <a:bodyPr/>
                    <a:lstStyle/>
                    <a:p>
                      <a:r>
                        <a:rPr lang="en-US" sz="2600" dirty="0" smtClean="0"/>
                        <a:t>The decision was enforced by the management.</a:t>
                      </a:r>
                      <a:endParaRPr lang="en-US" sz="2600" dirty="0"/>
                    </a:p>
                  </a:txBody>
                  <a:tcPr/>
                </a:tc>
                <a:tc>
                  <a:txBody>
                    <a:bodyPr/>
                    <a:lstStyle/>
                    <a:p>
                      <a:r>
                        <a:rPr lang="en-US" sz="2600" dirty="0" smtClean="0"/>
                        <a:t>The management enforced</a:t>
                      </a:r>
                      <a:r>
                        <a:rPr lang="en-US" sz="2600" baseline="0" dirty="0" smtClean="0"/>
                        <a:t> the decision.</a:t>
                      </a:r>
                      <a:endParaRPr lang="en-US" sz="2600" dirty="0"/>
                    </a:p>
                  </a:txBody>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Content Placeholder 2"/>
          <p:cNvSpPr>
            <a:spLocks noGrp="1"/>
          </p:cNvSpPr>
          <p:nvPr>
            <p:ph idx="1"/>
          </p:nvPr>
        </p:nvSpPr>
        <p:spPr>
          <a:xfrm>
            <a:off x="457200" y="533400"/>
            <a:ext cx="8229600" cy="6172200"/>
          </a:xfrm>
        </p:spPr>
        <p:style>
          <a:lnRef idx="2">
            <a:schemeClr val="accent1"/>
          </a:lnRef>
          <a:fillRef idx="1">
            <a:schemeClr val="lt1"/>
          </a:fillRef>
          <a:effectRef idx="0">
            <a:schemeClr val="accent1"/>
          </a:effectRef>
          <a:fontRef idx="minor">
            <a:schemeClr val="dk1"/>
          </a:fontRef>
        </p:style>
        <p:txBody>
          <a:bodyPr>
            <a:noAutofit/>
          </a:bodyPr>
          <a:lstStyle/>
          <a:p>
            <a:pPr algn="just">
              <a:buFont typeface="Arial" charset="0"/>
              <a:buNone/>
            </a:pPr>
            <a:r>
              <a:rPr lang="en-US" sz="2800" dirty="0" smtClean="0">
                <a:sym typeface="Wingdings 2" pitchFamily="18" charset="2"/>
              </a:rPr>
              <a:t> </a:t>
            </a:r>
            <a:r>
              <a:rPr lang="en-US" sz="2800" b="1" dirty="0" smtClean="0"/>
              <a:t>Avoid Ambiguity:</a:t>
            </a:r>
          </a:p>
          <a:p>
            <a:pPr algn="just">
              <a:buFont typeface="Arial" charset="0"/>
              <a:buNone/>
            </a:pPr>
            <a:r>
              <a:rPr lang="en-US" sz="2800" dirty="0" smtClean="0">
                <a:sym typeface="Wingdings 2" pitchFamily="18" charset="2"/>
              </a:rPr>
              <a:t> </a:t>
            </a:r>
            <a:r>
              <a:rPr lang="en-US" sz="2800" dirty="0" smtClean="0"/>
              <a:t>If the message can mean more than one thing, it becomes ambiguous and ineffective. </a:t>
            </a:r>
          </a:p>
          <a:p>
            <a:pPr algn="just">
              <a:buFont typeface="Wingdings 3" pitchFamily="18" charset="2"/>
              <a:buChar char=""/>
            </a:pPr>
            <a:r>
              <a:rPr lang="en-US" sz="2800" b="1" dirty="0" smtClean="0"/>
              <a:t>Faulty Punctuation: (use of . , ; :)</a:t>
            </a:r>
          </a:p>
          <a:p>
            <a:pPr algn="just">
              <a:buFont typeface="Wingdings 3" pitchFamily="18" charset="2"/>
              <a:buChar char=""/>
            </a:pPr>
            <a:r>
              <a:rPr lang="en-US" sz="2800" b="1" dirty="0" smtClean="0"/>
              <a:t>Careless use of personal pronoun: (use of I, she, </a:t>
            </a:r>
            <a:r>
              <a:rPr lang="en-US" sz="2800" b="1" dirty="0" err="1" smtClean="0"/>
              <a:t>he,we</a:t>
            </a:r>
            <a:r>
              <a:rPr lang="en-US" sz="2800" b="1" dirty="0" smtClean="0"/>
              <a:t>)</a:t>
            </a:r>
          </a:p>
          <a:p>
            <a:pPr algn="just">
              <a:buFont typeface="Wingdings 2" pitchFamily="18" charset="2"/>
              <a:buChar char="}"/>
            </a:pPr>
            <a:r>
              <a:rPr lang="en-US" sz="2800" b="1" dirty="0" smtClean="0">
                <a:sym typeface="Wingdings 2" pitchFamily="18" charset="2"/>
              </a:rPr>
              <a:t>Avoid excessive use of the infititive:</a:t>
            </a:r>
          </a:p>
          <a:p>
            <a:pPr algn="just">
              <a:buFont typeface="Arial" charset="0"/>
              <a:buNone/>
            </a:pPr>
            <a:r>
              <a:rPr lang="en-US" sz="2800" dirty="0" smtClean="0">
                <a:sym typeface="Wingdings 2" pitchFamily="18" charset="2"/>
              </a:rPr>
              <a:t> The excessive use of </a:t>
            </a:r>
            <a:r>
              <a:rPr lang="en-US" sz="2800" b="1" dirty="0" smtClean="0">
                <a:sym typeface="Wingdings 2" pitchFamily="18" charset="2"/>
              </a:rPr>
              <a:t> </a:t>
            </a:r>
            <a:r>
              <a:rPr lang="en-US" sz="2800" dirty="0" smtClean="0">
                <a:sym typeface="Wingdings 2" pitchFamily="18" charset="2"/>
              </a:rPr>
              <a:t>infititive  “to” tends to make the style formal and impersonal. </a:t>
            </a:r>
          </a:p>
          <a:p>
            <a:pPr algn="just">
              <a:buFont typeface="Wingdings 2" pitchFamily="18" charset="2"/>
              <a:buChar char=""/>
            </a:pPr>
            <a:r>
              <a:rPr lang="en-US" sz="2800" dirty="0" smtClean="0">
                <a:sym typeface="Wingdings 2" pitchFamily="18" charset="2"/>
              </a:rPr>
              <a:t>So it is better to avoid over use of “to”. </a:t>
            </a:r>
          </a:p>
          <a:p>
            <a:pPr algn="just">
              <a:buFont typeface="Wingdings 2" pitchFamily="18" charset="2"/>
              <a:buChar char=""/>
            </a:pPr>
            <a:r>
              <a:rPr lang="en-US" sz="2800" dirty="0" smtClean="0">
                <a:sym typeface="Wingdings 2" pitchFamily="18" charset="2"/>
              </a:rPr>
              <a:t>avoiding “to”: I supervise the production workers.</a:t>
            </a:r>
          </a:p>
          <a:p>
            <a:pPr algn="just">
              <a:buFont typeface="Wingdings 2" pitchFamily="18" charset="2"/>
              <a:buChar char=""/>
            </a:pPr>
            <a:r>
              <a:rPr lang="en-US" sz="2800" dirty="0" smtClean="0">
                <a:sym typeface="Wingdings 2" pitchFamily="18" charset="2"/>
              </a:rPr>
              <a:t>Using “to”: It is my job to supervise production workers.</a:t>
            </a:r>
          </a:p>
          <a:p>
            <a:pPr algn="just">
              <a:buFont typeface="Wingdings 2" pitchFamily="18" charset="2"/>
              <a:buChar char=""/>
            </a:pPr>
            <a:endParaRPr lang="en-US" sz="2800" dirty="0" smtClean="0"/>
          </a:p>
          <a:p>
            <a:pPr algn="just">
              <a:buFont typeface="Wingdings 2" pitchFamily="18" charset="2"/>
              <a:buChar char=""/>
            </a:pPr>
            <a:endParaRPr lang="en-US" sz="2800" dirty="0" smtClean="0"/>
          </a:p>
          <a:p>
            <a:pPr algn="just">
              <a:buFont typeface="Arial" charset="0"/>
              <a:buNone/>
            </a:pPr>
            <a:endParaRPr lang="en-US" sz="2800" dirty="0" smtClean="0"/>
          </a:p>
          <a:p>
            <a:pPr algn="just"/>
            <a:endParaRPr lang="en-US" sz="2800" dirty="0" smtClean="0"/>
          </a:p>
        </p:txBody>
      </p:sp>
      <p:sp>
        <p:nvSpPr>
          <p:cNvPr id="4" name="Title 1"/>
          <p:cNvSpPr txBox="1">
            <a:spLocks/>
          </p:cNvSpPr>
          <p:nvPr/>
        </p:nvSpPr>
        <p:spPr bwMode="auto">
          <a:xfrm>
            <a:off x="445168" y="0"/>
            <a:ext cx="1981200" cy="563562"/>
          </a:xfrm>
          <a:prstGeom prst="rect">
            <a:avLst/>
          </a:prstGeom>
          <a:solidFill>
            <a:schemeClr val="accent1">
              <a:lumMod val="20000"/>
              <a:lumOff val="80000"/>
            </a:schemeClr>
          </a:solidFill>
          <a:ln w="9525">
            <a:solidFill>
              <a:schemeClr val="accent1"/>
            </a:solidFill>
            <a:miter lim="800000"/>
            <a:headEnd/>
            <a:tailEnd/>
          </a:ln>
        </p:spPr>
        <p:txBody>
          <a:bodyPr anchor="ctr"/>
          <a:lstStyle/>
          <a:p>
            <a:pPr algn="ctr">
              <a:defRPr/>
            </a:pPr>
            <a:r>
              <a:rPr lang="en-US" sz="3000" dirty="0">
                <a:latin typeface="+mj-lt"/>
                <a:ea typeface="+mj-ea"/>
                <a:cs typeface="+mj-cs"/>
              </a:rPr>
              <a:t>CLARITY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ontent Placeholder 2"/>
          <p:cNvSpPr>
            <a:spLocks noGrp="1"/>
          </p:cNvSpPr>
          <p:nvPr>
            <p:ph idx="1"/>
          </p:nvPr>
        </p:nvSpPr>
        <p:spPr>
          <a:xfrm>
            <a:off x="457200" y="1143000"/>
            <a:ext cx="8229600" cy="4983163"/>
          </a:xfrm>
        </p:spPr>
        <p:style>
          <a:lnRef idx="2">
            <a:schemeClr val="accent1"/>
          </a:lnRef>
          <a:fillRef idx="1">
            <a:schemeClr val="lt1"/>
          </a:fillRef>
          <a:effectRef idx="0">
            <a:schemeClr val="accent1"/>
          </a:effectRef>
          <a:fontRef idx="minor">
            <a:schemeClr val="dk1"/>
          </a:fontRef>
        </p:style>
        <p:txBody>
          <a:bodyPr>
            <a:noAutofit/>
          </a:bodyPr>
          <a:lstStyle/>
          <a:p>
            <a:pPr algn="just">
              <a:buFont typeface="Wingdings 2" pitchFamily="18" charset="2"/>
              <a:buChar char="~"/>
            </a:pPr>
            <a:r>
              <a:rPr lang="en-US" sz="2800" b="1" dirty="0" smtClean="0">
                <a:sym typeface="Wingdings 2" pitchFamily="18" charset="2"/>
              </a:rPr>
              <a:t>Emphasize on short sentence:</a:t>
            </a:r>
          </a:p>
          <a:p>
            <a:pPr algn="just">
              <a:buFont typeface="Wingdings 2" pitchFamily="18" charset="2"/>
              <a:buChar char=""/>
            </a:pPr>
            <a:r>
              <a:rPr lang="en-US" sz="2800" dirty="0" smtClean="0">
                <a:sym typeface="Wingdings 2" pitchFamily="18" charset="2"/>
              </a:rPr>
              <a:t>The communicator has</a:t>
            </a:r>
          </a:p>
          <a:p>
            <a:pPr algn="just">
              <a:buFont typeface="Arial" charset="0"/>
              <a:buNone/>
            </a:pPr>
            <a:r>
              <a:rPr lang="en-US" sz="2800" dirty="0" smtClean="0">
                <a:sym typeface="Wingdings 2" pitchFamily="18" charset="2"/>
              </a:rPr>
              <a:t>     to remember that long </a:t>
            </a:r>
          </a:p>
          <a:p>
            <a:pPr algn="just">
              <a:buFont typeface="Arial" charset="0"/>
              <a:buNone/>
            </a:pPr>
            <a:r>
              <a:rPr lang="en-US" sz="2800" dirty="0" smtClean="0">
                <a:sym typeface="Wingdings 2" pitchFamily="18" charset="2"/>
              </a:rPr>
              <a:t>     sentences are hard to </a:t>
            </a:r>
          </a:p>
          <a:p>
            <a:pPr algn="just">
              <a:buFont typeface="Arial" charset="0"/>
              <a:buNone/>
            </a:pPr>
            <a:r>
              <a:rPr lang="en-US" sz="2800" dirty="0" smtClean="0">
                <a:sym typeface="Wingdings 2" pitchFamily="18" charset="2"/>
              </a:rPr>
              <a:t>     read while short sentences</a:t>
            </a:r>
          </a:p>
          <a:p>
            <a:pPr algn="just">
              <a:buFont typeface="Arial" charset="0"/>
              <a:buNone/>
            </a:pPr>
            <a:r>
              <a:rPr lang="en-US" sz="2800" dirty="0" smtClean="0">
                <a:sym typeface="Wingdings 2" pitchFamily="18" charset="2"/>
              </a:rPr>
              <a:t>    are usually easy.</a:t>
            </a:r>
          </a:p>
          <a:p>
            <a:pPr algn="just">
              <a:buFont typeface="Wingdings 2" pitchFamily="18" charset="2"/>
              <a:buChar char=""/>
            </a:pPr>
            <a:r>
              <a:rPr lang="en-US" sz="2800" dirty="0" smtClean="0">
                <a:sym typeface="Wingdings 2" pitchFamily="18" charset="2"/>
              </a:rPr>
              <a:t>Short sentence means about </a:t>
            </a:r>
          </a:p>
          <a:p>
            <a:pPr algn="just">
              <a:buFont typeface="Arial" charset="0"/>
              <a:buNone/>
            </a:pPr>
            <a:r>
              <a:rPr lang="en-US" sz="2800" dirty="0" smtClean="0">
                <a:sym typeface="Wingdings 2" pitchFamily="18" charset="2"/>
              </a:rPr>
              <a:t>   16 to 18 words for </a:t>
            </a:r>
          </a:p>
          <a:p>
            <a:pPr algn="just">
              <a:buFont typeface="Arial" charset="0"/>
              <a:buNone/>
            </a:pPr>
            <a:r>
              <a:rPr lang="en-US" sz="2800" dirty="0" smtClean="0">
                <a:sym typeface="Wingdings 2" pitchFamily="18" charset="2"/>
              </a:rPr>
              <a:t>   middle reader.</a:t>
            </a:r>
          </a:p>
          <a:p>
            <a:pPr algn="just">
              <a:buFont typeface="Arial" charset="0"/>
              <a:buNone/>
            </a:pPr>
            <a:r>
              <a:rPr lang="en-US" sz="2800" dirty="0" smtClean="0">
                <a:sym typeface="Wingdings 2" pitchFamily="18" charset="2"/>
              </a:rPr>
              <a:t>    </a:t>
            </a:r>
          </a:p>
          <a:p>
            <a:pPr algn="just">
              <a:buFont typeface="Arial" charset="0"/>
              <a:buNone/>
            </a:pPr>
            <a:r>
              <a:rPr lang="en-US" sz="2800" dirty="0" smtClean="0">
                <a:sym typeface="Wingdings 2" pitchFamily="18" charset="2"/>
              </a:rPr>
              <a:t>     </a:t>
            </a:r>
            <a:endParaRPr lang="en-US" sz="2800" dirty="0" smtClean="0"/>
          </a:p>
        </p:txBody>
      </p:sp>
      <p:sp>
        <p:nvSpPr>
          <p:cNvPr id="4" name="Title 1"/>
          <p:cNvSpPr txBox="1">
            <a:spLocks/>
          </p:cNvSpPr>
          <p:nvPr/>
        </p:nvSpPr>
        <p:spPr bwMode="auto">
          <a:xfrm>
            <a:off x="457200" y="198438"/>
            <a:ext cx="1981200" cy="563562"/>
          </a:xfrm>
          <a:prstGeom prst="rect">
            <a:avLst/>
          </a:prstGeom>
          <a:solidFill>
            <a:schemeClr val="accent1">
              <a:lumMod val="20000"/>
              <a:lumOff val="80000"/>
            </a:schemeClr>
          </a:solidFill>
          <a:ln w="9525">
            <a:solidFill>
              <a:schemeClr val="accent1"/>
            </a:solidFill>
            <a:miter lim="800000"/>
            <a:headEnd/>
            <a:tailEnd/>
          </a:ln>
        </p:spPr>
        <p:txBody>
          <a:bodyPr anchor="ctr"/>
          <a:lstStyle/>
          <a:p>
            <a:pPr algn="ctr">
              <a:defRPr/>
            </a:pPr>
            <a:r>
              <a:rPr lang="en-US" sz="3000" dirty="0">
                <a:latin typeface="+mj-lt"/>
                <a:ea typeface="+mj-ea"/>
                <a:cs typeface="+mj-cs"/>
              </a:rPr>
              <a:t>CLARITY</a:t>
            </a:r>
          </a:p>
        </p:txBody>
      </p:sp>
      <p:pic>
        <p:nvPicPr>
          <p:cNvPr id="17412" name="Picture 2" descr="F:\Mahbuba\Moni\Characters\4.jpg"/>
          <p:cNvPicPr>
            <a:picLocks noChangeAspect="1" noChangeArrowheads="1"/>
          </p:cNvPicPr>
          <p:nvPr/>
        </p:nvPicPr>
        <p:blipFill>
          <a:blip r:embed="rId2"/>
          <a:srcRect/>
          <a:stretch>
            <a:fillRect/>
          </a:stretch>
        </p:blipFill>
        <p:spPr bwMode="auto">
          <a:xfrm>
            <a:off x="5029200" y="1676400"/>
            <a:ext cx="3657600" cy="3429000"/>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3124200" cy="563562"/>
          </a:xfrm>
          <a:solidFill>
            <a:schemeClr val="accent1">
              <a:lumMod val="20000"/>
              <a:lumOff val="80000"/>
            </a:schemeClr>
          </a:solidFill>
          <a:ln>
            <a:solidFill>
              <a:schemeClr val="accent1"/>
            </a:solidFill>
          </a:ln>
        </p:spPr>
        <p:txBody>
          <a:bodyPr>
            <a:normAutofit/>
          </a:bodyPr>
          <a:lstStyle/>
          <a:p>
            <a:pPr>
              <a:defRPr/>
            </a:pPr>
            <a:r>
              <a:rPr lang="en-US" sz="3000" dirty="0" smtClean="0"/>
              <a:t>Consideration</a:t>
            </a:r>
            <a:endParaRPr lang="en-US" sz="3000" dirty="0"/>
          </a:p>
        </p:txBody>
      </p:sp>
      <p:sp>
        <p:nvSpPr>
          <p:cNvPr id="18435" name="Content Placeholder 2"/>
          <p:cNvSpPr>
            <a:spLocks noGrp="1"/>
          </p:cNvSpPr>
          <p:nvPr>
            <p:ph idx="1"/>
          </p:nvPr>
        </p:nvSpPr>
        <p:spPr>
          <a:xfrm>
            <a:off x="457200" y="673768"/>
            <a:ext cx="8229600" cy="6031832"/>
          </a:xfrm>
        </p:spPr>
        <p:style>
          <a:lnRef idx="2">
            <a:schemeClr val="accent1"/>
          </a:lnRef>
          <a:fillRef idx="1">
            <a:schemeClr val="lt1"/>
          </a:fillRef>
          <a:effectRef idx="0">
            <a:schemeClr val="accent1"/>
          </a:effectRef>
          <a:fontRef idx="minor">
            <a:schemeClr val="dk1"/>
          </a:fontRef>
        </p:style>
        <p:txBody>
          <a:bodyPr>
            <a:noAutofit/>
          </a:bodyPr>
          <a:lstStyle/>
          <a:p>
            <a:pPr algn="just">
              <a:buFont typeface="Arial" charset="0"/>
              <a:buNone/>
            </a:pPr>
            <a:r>
              <a:rPr lang="en-US" sz="2800" dirty="0" smtClean="0">
                <a:sym typeface="Wingdings 2" pitchFamily="18" charset="2"/>
              </a:rPr>
              <a:t></a:t>
            </a:r>
            <a:r>
              <a:rPr lang="en-US" sz="2800" dirty="0" smtClean="0"/>
              <a:t>In communication the reader/ communicatee is important. In any case the communicator should not forget the reader’s point of view in the whole of the message/ letter.</a:t>
            </a:r>
          </a:p>
          <a:p>
            <a:pPr algn="just">
              <a:buFont typeface="Arial" charset="0"/>
              <a:buNone/>
            </a:pPr>
            <a:r>
              <a:rPr lang="en-US" sz="2800" dirty="0" smtClean="0">
                <a:sym typeface="Wingdings 2" pitchFamily="18" charset="2"/>
              </a:rPr>
              <a:t> </a:t>
            </a:r>
            <a:r>
              <a:rPr lang="en-US" sz="2800" b="1" dirty="0" smtClean="0"/>
              <a:t>Adopt the ‘you’ attitude:</a:t>
            </a:r>
          </a:p>
          <a:p>
            <a:pPr algn="just">
              <a:buFont typeface="Arial" charset="0"/>
              <a:buNone/>
            </a:pPr>
            <a:r>
              <a:rPr lang="en-US" sz="2800" dirty="0" smtClean="0">
                <a:sym typeface="Wingdings 2" pitchFamily="18" charset="2"/>
              </a:rPr>
              <a:t> </a:t>
            </a:r>
            <a:r>
              <a:rPr lang="en-US" sz="2800" dirty="0" smtClean="0"/>
              <a:t>In order to make your make our message/ letters more effective, we must avoid the use of “I’s” and “</a:t>
            </a:r>
            <a:r>
              <a:rPr lang="en-US" sz="2800" dirty="0" err="1" smtClean="0"/>
              <a:t>we’s</a:t>
            </a:r>
            <a:r>
              <a:rPr lang="en-US" sz="2800" dirty="0" smtClean="0"/>
              <a:t>” and use as many “</a:t>
            </a:r>
            <a:r>
              <a:rPr lang="en-US" sz="2800" dirty="0" err="1" smtClean="0"/>
              <a:t>you’s</a:t>
            </a:r>
            <a:r>
              <a:rPr lang="en-US" sz="2800" dirty="0" smtClean="0"/>
              <a:t>” as possible.</a:t>
            </a:r>
          </a:p>
          <a:p>
            <a:pPr algn="just">
              <a:buFont typeface="Arial" charset="0"/>
              <a:buNone/>
            </a:pPr>
            <a:r>
              <a:rPr lang="en-US" sz="2800" dirty="0" smtClean="0">
                <a:sym typeface="Wingdings" pitchFamily="2" charset="2"/>
              </a:rPr>
              <a:t> </a:t>
            </a:r>
            <a:r>
              <a:rPr lang="en-US" sz="2800" i="1" dirty="0" smtClean="0"/>
              <a:t>Sentence with “you” attitude:</a:t>
            </a:r>
          </a:p>
          <a:p>
            <a:pPr algn="just">
              <a:buFont typeface="Arial" charset="0"/>
              <a:buNone/>
            </a:pPr>
            <a:r>
              <a:rPr lang="en-US" sz="2800" dirty="0" smtClean="0"/>
              <a:t>    Thank you for your kind response.</a:t>
            </a:r>
          </a:p>
          <a:p>
            <a:pPr algn="just">
              <a:buFont typeface="Arial" charset="0"/>
              <a:buNone/>
            </a:pPr>
            <a:r>
              <a:rPr lang="en-US" sz="2800" dirty="0" smtClean="0">
                <a:sym typeface="Wingdings" pitchFamily="2" charset="2"/>
              </a:rPr>
              <a:t> </a:t>
            </a:r>
            <a:r>
              <a:rPr lang="en-US" sz="2800" i="1" dirty="0" smtClean="0"/>
              <a:t>Sentence with “we” attitude</a:t>
            </a:r>
          </a:p>
          <a:p>
            <a:pPr algn="just">
              <a:buFont typeface="Arial" charset="0"/>
              <a:buNone/>
            </a:pPr>
            <a:r>
              <a:rPr lang="en-US" sz="2800" dirty="0" smtClean="0"/>
              <a:t>    I want to express my sincere thanks for the kind response.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Content Placeholder 2"/>
          <p:cNvSpPr>
            <a:spLocks noGrp="1"/>
          </p:cNvSpPr>
          <p:nvPr>
            <p:ph idx="1"/>
          </p:nvPr>
        </p:nvSpPr>
        <p:spPr>
          <a:xfrm>
            <a:off x="457200" y="1066800"/>
            <a:ext cx="8229600" cy="5410200"/>
          </a:xfrm>
        </p:spPr>
        <p:style>
          <a:lnRef idx="2">
            <a:schemeClr val="accent1"/>
          </a:lnRef>
          <a:fillRef idx="1">
            <a:schemeClr val="lt1"/>
          </a:fillRef>
          <a:effectRef idx="0">
            <a:schemeClr val="accent1"/>
          </a:effectRef>
          <a:fontRef idx="minor">
            <a:schemeClr val="dk1"/>
          </a:fontRef>
        </p:style>
        <p:txBody>
          <a:bodyPr>
            <a:noAutofit/>
          </a:bodyPr>
          <a:lstStyle/>
          <a:p>
            <a:pPr>
              <a:buFont typeface="Wingdings" pitchFamily="2" charset="2"/>
              <a:buChar char=""/>
            </a:pPr>
            <a:r>
              <a:rPr lang="en-US" sz="2800" b="1" dirty="0" smtClean="0">
                <a:sym typeface="Wingdings" pitchFamily="2" charset="2"/>
              </a:rPr>
              <a:t>Avoid gender biased:</a:t>
            </a:r>
          </a:p>
          <a:p>
            <a:pPr>
              <a:buFont typeface="Arial" charset="0"/>
              <a:buNone/>
            </a:pPr>
            <a:r>
              <a:rPr lang="en-US" sz="2800" dirty="0" smtClean="0">
                <a:sym typeface="Wingdings" pitchFamily="2" charset="2"/>
              </a:rPr>
              <a:t>     the world of business is no more exclusively dominated by men. There are many women entrepreneur and business executives of business.</a:t>
            </a:r>
          </a:p>
          <a:p>
            <a:pPr>
              <a:buFont typeface="Arial" charset="0"/>
              <a:buNone/>
            </a:pPr>
            <a:endParaRPr lang="en-US" sz="2800" dirty="0" smtClean="0">
              <a:sym typeface="Wingdings" pitchFamily="2" charset="2"/>
            </a:endParaRPr>
          </a:p>
          <a:p>
            <a:pPr>
              <a:buFont typeface="Wingdings 3" pitchFamily="18" charset="2"/>
              <a:buChar char=""/>
            </a:pPr>
            <a:r>
              <a:rPr lang="en-US" sz="2800" b="1" dirty="0" smtClean="0">
                <a:sym typeface="Wingdings" pitchFamily="2" charset="2"/>
              </a:rPr>
              <a:t>While addressing someone/s:</a:t>
            </a:r>
          </a:p>
          <a:p>
            <a:pPr>
              <a:buFont typeface="Arial" charset="0"/>
              <a:buNone/>
            </a:pPr>
            <a:r>
              <a:rPr lang="en-US" sz="2800" dirty="0" smtClean="0">
                <a:sym typeface="Wingdings 3" pitchFamily="18" charset="2"/>
              </a:rPr>
              <a:t> </a:t>
            </a:r>
            <a:r>
              <a:rPr lang="en-US" sz="2800" dirty="0" smtClean="0">
                <a:sym typeface="Wingdings" pitchFamily="2" charset="2"/>
              </a:rPr>
              <a:t>use a slash to include both the options:</a:t>
            </a:r>
          </a:p>
          <a:p>
            <a:pPr>
              <a:buFont typeface="Arial" charset="0"/>
              <a:buNone/>
            </a:pPr>
            <a:r>
              <a:rPr lang="en-US" sz="2800" dirty="0" smtClean="0">
                <a:sym typeface="Wingdings" pitchFamily="2" charset="2"/>
              </a:rPr>
              <a:t>     Dear Sir/ Madam, gentlemen/ ladies.</a:t>
            </a:r>
          </a:p>
          <a:p>
            <a:pPr>
              <a:buFont typeface="Wingdings 3" pitchFamily="18" charset="2"/>
              <a:buChar char="ª"/>
            </a:pPr>
            <a:r>
              <a:rPr lang="en-US" sz="2800" dirty="0" smtClean="0">
                <a:sym typeface="Wingdings 3" pitchFamily="18" charset="2"/>
              </a:rPr>
              <a:t>use words free from gender biased:</a:t>
            </a:r>
          </a:p>
          <a:p>
            <a:pPr>
              <a:buFont typeface="Arial" charset="0"/>
              <a:buNone/>
            </a:pPr>
            <a:r>
              <a:rPr lang="en-US" sz="2800" dirty="0" smtClean="0">
                <a:sym typeface="Wingdings 3" pitchFamily="18" charset="2"/>
              </a:rPr>
              <a:t>     Chairperson, police.</a:t>
            </a:r>
          </a:p>
          <a:p>
            <a:pPr>
              <a:buFont typeface="Arial" charset="0"/>
              <a:buNone/>
            </a:pPr>
            <a:r>
              <a:rPr lang="en-US" sz="2800" dirty="0" smtClean="0">
                <a:sym typeface="Wingdings 3" pitchFamily="18" charset="2"/>
              </a:rPr>
              <a:t> use ‘the’ for his/her.</a:t>
            </a:r>
          </a:p>
          <a:p>
            <a:pPr>
              <a:buFont typeface="Arial" charset="0"/>
              <a:buNone/>
            </a:pPr>
            <a:endParaRPr lang="en-US" sz="2800" dirty="0" smtClean="0">
              <a:sym typeface="Wingdings" pitchFamily="2" charset="2"/>
            </a:endParaRPr>
          </a:p>
          <a:p>
            <a:pPr>
              <a:buFont typeface="Arial" charset="0"/>
              <a:buNone/>
            </a:pPr>
            <a:endParaRPr lang="en-US" sz="2800" dirty="0" smtClean="0">
              <a:sym typeface="Wingdings" pitchFamily="2" charset="2"/>
            </a:endParaRPr>
          </a:p>
          <a:p>
            <a:pPr>
              <a:buFont typeface="Wingdings" pitchFamily="2" charset="2"/>
              <a:buChar char=""/>
            </a:pPr>
            <a:endParaRPr lang="en-US" sz="2800" dirty="0" smtClean="0"/>
          </a:p>
        </p:txBody>
      </p:sp>
      <p:sp>
        <p:nvSpPr>
          <p:cNvPr id="4" name="Title 1"/>
          <p:cNvSpPr txBox="1">
            <a:spLocks/>
          </p:cNvSpPr>
          <p:nvPr/>
        </p:nvSpPr>
        <p:spPr bwMode="auto">
          <a:xfrm>
            <a:off x="457200" y="274638"/>
            <a:ext cx="3124200" cy="563562"/>
          </a:xfrm>
          <a:prstGeom prst="rect">
            <a:avLst/>
          </a:prstGeom>
          <a:solidFill>
            <a:schemeClr val="accent1">
              <a:lumMod val="20000"/>
              <a:lumOff val="80000"/>
            </a:schemeClr>
          </a:solidFill>
          <a:ln w="9525">
            <a:solidFill>
              <a:schemeClr val="accent1"/>
            </a:solidFill>
            <a:miter lim="800000"/>
            <a:headEnd/>
            <a:tailEnd/>
          </a:ln>
        </p:spPr>
        <p:txBody>
          <a:bodyPr anchor="ctr"/>
          <a:lstStyle/>
          <a:p>
            <a:pPr algn="ctr" eaLnBrk="0" hangingPunct="0">
              <a:defRPr/>
            </a:pPr>
            <a:r>
              <a:rPr lang="en-US" sz="3000">
                <a:latin typeface="+mj-lt"/>
                <a:ea typeface="+mj-ea"/>
                <a:cs typeface="+mj-cs"/>
              </a:rPr>
              <a:t>Consideration</a:t>
            </a:r>
            <a:endParaRPr lang="en-US" sz="3000" dirty="0">
              <a:latin typeface="+mj-lt"/>
              <a:ea typeface="+mj-ea"/>
              <a:cs typeface="+mj-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2"/>
          <p:cNvSpPr>
            <a:spLocks noGrp="1"/>
          </p:cNvSpPr>
          <p:nvPr>
            <p:ph idx="1"/>
          </p:nvPr>
        </p:nvSpPr>
        <p:spPr>
          <a:xfrm>
            <a:off x="457200" y="884237"/>
            <a:ext cx="8229600" cy="5592763"/>
          </a:xfrm>
        </p:spPr>
        <p:style>
          <a:lnRef idx="2">
            <a:schemeClr val="accent1"/>
          </a:lnRef>
          <a:fillRef idx="1">
            <a:schemeClr val="lt1"/>
          </a:fillRef>
          <a:effectRef idx="0">
            <a:schemeClr val="accent1"/>
          </a:effectRef>
          <a:fontRef idx="minor">
            <a:schemeClr val="dk1"/>
          </a:fontRef>
        </p:style>
        <p:txBody>
          <a:bodyPr>
            <a:normAutofit/>
          </a:bodyPr>
          <a:lstStyle/>
          <a:p>
            <a:pPr algn="just">
              <a:buFont typeface="Wingdings 2" pitchFamily="18" charset="2"/>
              <a:buChar char="w"/>
            </a:pPr>
            <a:r>
              <a:rPr lang="en-US" sz="2800" b="1" dirty="0" smtClean="0">
                <a:sym typeface="Wingdings 2" pitchFamily="18" charset="2"/>
              </a:rPr>
              <a:t>Use positive instead of negative approach:</a:t>
            </a:r>
          </a:p>
          <a:p>
            <a:pPr algn="just">
              <a:buFont typeface="Arial" charset="0"/>
              <a:buNone/>
            </a:pPr>
            <a:r>
              <a:rPr lang="en-US" sz="2800" dirty="0" smtClean="0">
                <a:sym typeface="Wingdings 2" pitchFamily="18" charset="2"/>
              </a:rPr>
              <a:t>     An approach with a negative beginning or a negative approach irritates the reader and make a feel that the communicator lacks business manners and courtesy.</a:t>
            </a:r>
          </a:p>
          <a:p>
            <a:pPr algn="just">
              <a:buFont typeface="Arial" charset="0"/>
              <a:buNone/>
            </a:pPr>
            <a:r>
              <a:rPr lang="en-US" sz="2800" dirty="0" smtClean="0">
                <a:sym typeface="Wingdings 2" pitchFamily="18" charset="2"/>
              </a:rPr>
              <a:t>    A positive approach helps retain the customers goodwill.</a:t>
            </a:r>
            <a:endParaRPr lang="en-US" sz="2800" dirty="0" smtClean="0"/>
          </a:p>
        </p:txBody>
      </p:sp>
      <p:sp>
        <p:nvSpPr>
          <p:cNvPr id="4" name="Title 1"/>
          <p:cNvSpPr txBox="1">
            <a:spLocks/>
          </p:cNvSpPr>
          <p:nvPr/>
        </p:nvSpPr>
        <p:spPr bwMode="auto">
          <a:xfrm>
            <a:off x="457200" y="250574"/>
            <a:ext cx="3124200" cy="563562"/>
          </a:xfrm>
          <a:prstGeom prst="rect">
            <a:avLst/>
          </a:prstGeom>
          <a:solidFill>
            <a:schemeClr val="accent1">
              <a:lumMod val="20000"/>
              <a:lumOff val="80000"/>
            </a:schemeClr>
          </a:solidFill>
          <a:ln w="9525">
            <a:solidFill>
              <a:schemeClr val="accent1"/>
            </a:solidFill>
            <a:miter lim="800000"/>
            <a:headEnd/>
            <a:tailEnd/>
          </a:ln>
        </p:spPr>
        <p:txBody>
          <a:bodyPr anchor="ctr"/>
          <a:lstStyle/>
          <a:p>
            <a:pPr algn="ctr" eaLnBrk="0" hangingPunct="0">
              <a:defRPr/>
            </a:pPr>
            <a:r>
              <a:rPr lang="en-US" sz="3000" dirty="0">
                <a:latin typeface="+mj-lt"/>
                <a:ea typeface="+mj-ea"/>
                <a:cs typeface="+mj-cs"/>
              </a:rPr>
              <a:t>Consideration</a:t>
            </a:r>
          </a:p>
        </p:txBody>
      </p:sp>
      <p:graphicFrame>
        <p:nvGraphicFramePr>
          <p:cNvPr id="5" name="Table 4"/>
          <p:cNvGraphicFramePr>
            <a:graphicFrameLocks noGrp="1"/>
          </p:cNvGraphicFramePr>
          <p:nvPr/>
        </p:nvGraphicFramePr>
        <p:xfrm>
          <a:off x="685800" y="4191000"/>
          <a:ext cx="7848600" cy="2164080"/>
        </p:xfrm>
        <a:graphic>
          <a:graphicData uri="http://schemas.openxmlformats.org/drawingml/2006/table">
            <a:tbl>
              <a:tblPr firstRow="1" bandRow="1">
                <a:tableStyleId>{74C1A8A3-306A-4EB7-A6B1-4F7E0EB9C5D6}</a:tableStyleId>
              </a:tblPr>
              <a:tblGrid>
                <a:gridCol w="3924300"/>
                <a:gridCol w="3924300"/>
              </a:tblGrid>
              <a:tr h="370840">
                <a:tc>
                  <a:txBody>
                    <a:bodyPr/>
                    <a:lstStyle/>
                    <a:p>
                      <a:r>
                        <a:rPr lang="en-US" sz="2600" dirty="0" smtClean="0"/>
                        <a:t>Sentence with positive approach</a:t>
                      </a:r>
                      <a:endParaRPr lang="en-US" sz="2600" dirty="0"/>
                    </a:p>
                  </a:txBody>
                  <a:tcPr/>
                </a:tc>
                <a:tc>
                  <a:txBody>
                    <a:bodyPr/>
                    <a:lstStyle/>
                    <a:p>
                      <a:r>
                        <a:rPr lang="en-US" sz="2600" dirty="0" smtClean="0"/>
                        <a:t>Sentence with negative approach</a:t>
                      </a:r>
                      <a:endParaRPr lang="en-US" sz="2600" dirty="0"/>
                    </a:p>
                  </a:txBody>
                  <a:tcPr/>
                </a:tc>
              </a:tr>
              <a:tr h="370840">
                <a:tc>
                  <a:txBody>
                    <a:bodyPr/>
                    <a:lstStyle/>
                    <a:p>
                      <a:r>
                        <a:rPr lang="en-US" sz="2600" dirty="0" smtClean="0"/>
                        <a:t>Thank you for your</a:t>
                      </a:r>
                      <a:r>
                        <a:rPr lang="en-US" sz="2600" baseline="0" dirty="0" smtClean="0"/>
                        <a:t> order. The goods will sent to you soon.</a:t>
                      </a:r>
                      <a:endParaRPr lang="en-US" sz="2600" dirty="0"/>
                    </a:p>
                  </a:txBody>
                  <a:tcPr/>
                </a:tc>
                <a:tc>
                  <a:txBody>
                    <a:bodyPr/>
                    <a:lstStyle/>
                    <a:p>
                      <a:r>
                        <a:rPr lang="en-US" sz="2600" dirty="0" smtClean="0"/>
                        <a:t>We regret to inform</a:t>
                      </a:r>
                      <a:r>
                        <a:rPr lang="en-US" sz="2600" baseline="0" dirty="0" smtClean="0"/>
                        <a:t> you that we will not be able to execute your order </a:t>
                      </a:r>
                      <a:r>
                        <a:rPr lang="en-US" sz="2600" baseline="0" dirty="0" err="1" smtClean="0"/>
                        <a:t>untill</a:t>
                      </a:r>
                      <a:r>
                        <a:rPr lang="en-US" sz="2600" baseline="0" dirty="0" smtClean="0"/>
                        <a:t>….</a:t>
                      </a:r>
                      <a:endParaRPr lang="en-US" sz="2600" dirty="0"/>
                    </a:p>
                  </a:txBody>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828800" cy="487362"/>
          </a:xfrm>
          <a:solidFill>
            <a:schemeClr val="accent1">
              <a:lumMod val="20000"/>
              <a:lumOff val="80000"/>
            </a:schemeClr>
          </a:solidFill>
          <a:ln>
            <a:solidFill>
              <a:schemeClr val="accent1"/>
            </a:solidFill>
          </a:ln>
        </p:spPr>
        <p:txBody>
          <a:bodyPr>
            <a:noAutofit/>
          </a:bodyPr>
          <a:lstStyle/>
          <a:p>
            <a:pPr>
              <a:defRPr/>
            </a:pPr>
            <a:r>
              <a:rPr lang="en-US" sz="3000" dirty="0" smtClean="0"/>
              <a:t>Courtesy</a:t>
            </a:r>
            <a:endParaRPr lang="en-US" sz="3000" dirty="0"/>
          </a:p>
        </p:txBody>
      </p:sp>
      <p:sp>
        <p:nvSpPr>
          <p:cNvPr id="21507" name="Content Placeholder 2"/>
          <p:cNvSpPr>
            <a:spLocks noGrp="1"/>
          </p:cNvSpPr>
          <p:nvPr>
            <p:ph idx="1"/>
          </p:nvPr>
        </p:nvSpPr>
        <p:spPr>
          <a:xfrm>
            <a:off x="457200" y="1265238"/>
            <a:ext cx="8229600" cy="4983162"/>
          </a:xfrm>
        </p:spPr>
        <p:style>
          <a:lnRef idx="2">
            <a:schemeClr val="accent1"/>
          </a:lnRef>
          <a:fillRef idx="1">
            <a:schemeClr val="lt1"/>
          </a:fillRef>
          <a:effectRef idx="0">
            <a:schemeClr val="accent1"/>
          </a:effectRef>
          <a:fontRef idx="minor">
            <a:schemeClr val="dk1"/>
          </a:fontRef>
        </p:style>
        <p:txBody>
          <a:bodyPr>
            <a:noAutofit/>
          </a:bodyPr>
          <a:lstStyle/>
          <a:p>
            <a:pPr algn="just">
              <a:buFont typeface="Arial" charset="0"/>
              <a:buNone/>
            </a:pPr>
            <a:r>
              <a:rPr lang="en-US" sz="2800" dirty="0" smtClean="0">
                <a:sym typeface="Wingdings 2" pitchFamily="18" charset="2"/>
              </a:rPr>
              <a:t> </a:t>
            </a:r>
            <a:r>
              <a:rPr lang="en-US" sz="2800" dirty="0" smtClean="0"/>
              <a:t>Courtesy costs nothing but gains a lot. In business world courtesy is indispensable. The observance of the following principles will help promote courtesy.</a:t>
            </a:r>
          </a:p>
          <a:p>
            <a:pPr algn="just">
              <a:buFont typeface="Arial" charset="0"/>
              <a:buNone/>
            </a:pPr>
            <a:r>
              <a:rPr lang="en-US" sz="2800" dirty="0" smtClean="0">
                <a:sym typeface="Wingdings 3" pitchFamily="18" charset="2"/>
              </a:rPr>
              <a:t></a:t>
            </a:r>
            <a:r>
              <a:rPr lang="en-US" sz="2800" b="1" dirty="0" smtClean="0"/>
              <a:t>Apologies sincerely for an omission and thank generously for a favor.</a:t>
            </a:r>
          </a:p>
          <a:p>
            <a:pPr algn="just">
              <a:buFont typeface="Arial" charset="0"/>
              <a:buNone/>
            </a:pPr>
            <a:r>
              <a:rPr lang="en-US" sz="2800" dirty="0" smtClean="0">
                <a:sym typeface="Wingdings 3" pitchFamily="18" charset="2"/>
              </a:rPr>
              <a:t> </a:t>
            </a:r>
            <a:r>
              <a:rPr lang="en-US" sz="2800" dirty="0" smtClean="0"/>
              <a:t>If you have overlooked or failed to do something, express your regrets promptly and make up for the omission at the earliest.</a:t>
            </a:r>
          </a:p>
          <a:p>
            <a:pPr algn="just">
              <a:buFont typeface="Arial" charset="0"/>
              <a:buNone/>
            </a:pPr>
            <a:r>
              <a:rPr lang="en-US" sz="2800" dirty="0" smtClean="0">
                <a:sym typeface="Wingdings 3" pitchFamily="18" charset="2"/>
              </a:rPr>
              <a:t> </a:t>
            </a:r>
            <a:r>
              <a:rPr lang="en-US" sz="2800" dirty="0" smtClean="0"/>
              <a:t>If anyone does a favor to you, acknowledge it promptly and thank the person generously for the kindness.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Content Placeholder 2"/>
          <p:cNvSpPr>
            <a:spLocks noGrp="1"/>
          </p:cNvSpPr>
          <p:nvPr>
            <p:ph sz="half" idx="1"/>
          </p:nvPr>
        </p:nvSpPr>
        <p:spPr>
          <a:xfrm>
            <a:off x="457200" y="609600"/>
            <a:ext cx="4038600" cy="6096000"/>
          </a:xfrm>
        </p:spPr>
        <p:style>
          <a:lnRef idx="2">
            <a:schemeClr val="accent1"/>
          </a:lnRef>
          <a:fillRef idx="1">
            <a:schemeClr val="lt1"/>
          </a:fillRef>
          <a:effectRef idx="0">
            <a:schemeClr val="accent1"/>
          </a:effectRef>
          <a:fontRef idx="minor">
            <a:schemeClr val="dk1"/>
          </a:fontRef>
        </p:style>
        <p:txBody>
          <a:bodyPr>
            <a:noAutofit/>
          </a:bodyPr>
          <a:lstStyle/>
          <a:p>
            <a:pPr>
              <a:buFont typeface="Arial" charset="0"/>
              <a:buNone/>
            </a:pPr>
            <a:r>
              <a:rPr lang="en-US" dirty="0" smtClean="0">
                <a:sym typeface="Wingdings 2" pitchFamily="18" charset="2"/>
              </a:rPr>
              <a:t> </a:t>
            </a:r>
            <a:r>
              <a:rPr lang="en-US" dirty="0" smtClean="0"/>
              <a:t>Answer the quarries promptly.</a:t>
            </a:r>
          </a:p>
          <a:p>
            <a:pPr>
              <a:buFont typeface="Arial" charset="0"/>
              <a:buNone/>
            </a:pPr>
            <a:r>
              <a:rPr lang="en-US" dirty="0" smtClean="0">
                <a:sym typeface="Wingdings 2" pitchFamily="18" charset="2"/>
              </a:rPr>
              <a:t> </a:t>
            </a:r>
            <a:r>
              <a:rPr lang="en-US" dirty="0" smtClean="0"/>
              <a:t>In business </a:t>
            </a:r>
            <a:r>
              <a:rPr lang="en-US" i="1" dirty="0" smtClean="0"/>
              <a:t>‘time’ </a:t>
            </a:r>
            <a:r>
              <a:rPr lang="en-US" dirty="0" smtClean="0"/>
              <a:t>is money and </a:t>
            </a:r>
          </a:p>
          <a:p>
            <a:pPr>
              <a:buFont typeface="Arial" charset="0"/>
              <a:buNone/>
            </a:pPr>
            <a:r>
              <a:rPr lang="en-US" dirty="0" smtClean="0"/>
              <a:t>    for that matter giving prompt </a:t>
            </a:r>
          </a:p>
          <a:p>
            <a:pPr>
              <a:buFont typeface="Arial" charset="0"/>
              <a:buNone/>
            </a:pPr>
            <a:r>
              <a:rPr lang="en-US" dirty="0" smtClean="0"/>
              <a:t>    response to any query is a </a:t>
            </a:r>
          </a:p>
          <a:p>
            <a:pPr>
              <a:buFont typeface="Arial" charset="0"/>
              <a:buNone/>
            </a:pPr>
            <a:r>
              <a:rPr lang="en-US" dirty="0" smtClean="0"/>
              <a:t>    matter of courtesy.</a:t>
            </a:r>
          </a:p>
          <a:p>
            <a:pPr>
              <a:buFont typeface="Arial" charset="0"/>
              <a:buNone/>
            </a:pPr>
            <a:r>
              <a:rPr lang="en-US" dirty="0" smtClean="0">
                <a:sym typeface="Wingdings 2" pitchFamily="18" charset="2"/>
              </a:rPr>
              <a:t> </a:t>
            </a:r>
            <a:r>
              <a:rPr lang="en-US" dirty="0" smtClean="0"/>
              <a:t>A successful executive should</a:t>
            </a:r>
          </a:p>
          <a:p>
            <a:pPr>
              <a:buFont typeface="Arial" charset="0"/>
              <a:buNone/>
            </a:pPr>
            <a:r>
              <a:rPr lang="en-US" dirty="0" smtClean="0"/>
              <a:t>     not forget about the courtesy.</a:t>
            </a:r>
          </a:p>
        </p:txBody>
      </p:sp>
      <p:sp>
        <p:nvSpPr>
          <p:cNvPr id="4" name="Title 1"/>
          <p:cNvSpPr txBox="1">
            <a:spLocks/>
          </p:cNvSpPr>
          <p:nvPr/>
        </p:nvSpPr>
        <p:spPr bwMode="auto">
          <a:xfrm>
            <a:off x="457200" y="76200"/>
            <a:ext cx="1828800" cy="487362"/>
          </a:xfrm>
          <a:prstGeom prst="rect">
            <a:avLst/>
          </a:prstGeom>
          <a:solidFill>
            <a:schemeClr val="accent1">
              <a:lumMod val="20000"/>
              <a:lumOff val="80000"/>
            </a:schemeClr>
          </a:solidFill>
          <a:ln w="9525">
            <a:solidFill>
              <a:schemeClr val="accent1"/>
            </a:solidFill>
            <a:miter lim="800000"/>
            <a:headEnd/>
            <a:tailEnd/>
          </a:ln>
        </p:spPr>
        <p:txBody>
          <a:bodyPr anchor="ctr"/>
          <a:lstStyle/>
          <a:p>
            <a:pPr algn="ctr" eaLnBrk="0" hangingPunct="0">
              <a:defRPr/>
            </a:pPr>
            <a:r>
              <a:rPr lang="en-US" sz="3000" dirty="0">
                <a:latin typeface="+mj-lt"/>
                <a:ea typeface="+mj-ea"/>
                <a:cs typeface="+mj-cs"/>
              </a:rPr>
              <a:t>Courtesy</a:t>
            </a:r>
          </a:p>
        </p:txBody>
      </p:sp>
      <p:pic>
        <p:nvPicPr>
          <p:cNvPr id="22532" name="Picture 2" descr="F:\Mahbuba\Moni\Characters\89.jpeg"/>
          <p:cNvPicPr>
            <a:picLocks noChangeAspect="1" noChangeArrowheads="1"/>
          </p:cNvPicPr>
          <p:nvPr/>
        </p:nvPicPr>
        <p:blipFill>
          <a:blip r:embed="rId2"/>
          <a:srcRect/>
          <a:stretch>
            <a:fillRect/>
          </a:stretch>
        </p:blipFill>
        <p:spPr bwMode="auto">
          <a:xfrm>
            <a:off x="4648200" y="990600"/>
            <a:ext cx="4267200" cy="5105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74638"/>
            <a:ext cx="2667000" cy="563562"/>
          </a:xfrm>
          <a:solidFill>
            <a:schemeClr val="accent1">
              <a:lumMod val="20000"/>
              <a:lumOff val="80000"/>
            </a:schemeClr>
          </a:solidFill>
          <a:ln>
            <a:solidFill>
              <a:schemeClr val="accent1"/>
            </a:solidFill>
          </a:ln>
        </p:spPr>
        <p:txBody>
          <a:bodyPr>
            <a:normAutofit/>
          </a:bodyPr>
          <a:lstStyle/>
          <a:p>
            <a:pPr>
              <a:defRPr/>
            </a:pPr>
            <a:r>
              <a:rPr lang="en-US" sz="3000" dirty="0" smtClean="0"/>
              <a:t>Completeness</a:t>
            </a:r>
            <a:endParaRPr lang="en-US" sz="3000" dirty="0"/>
          </a:p>
        </p:txBody>
      </p:sp>
      <p:sp>
        <p:nvSpPr>
          <p:cNvPr id="23555" name="Content Placeholder 5"/>
          <p:cNvSpPr>
            <a:spLocks noGrp="1"/>
          </p:cNvSpPr>
          <p:nvPr>
            <p:ph idx="1"/>
          </p:nvPr>
        </p:nvSpPr>
        <p:spPr>
          <a:xfrm>
            <a:off x="457200" y="1219200"/>
            <a:ext cx="8229600" cy="4906963"/>
          </a:xfrm>
        </p:spPr>
        <p:style>
          <a:lnRef idx="2">
            <a:schemeClr val="accent1"/>
          </a:lnRef>
          <a:fillRef idx="1">
            <a:schemeClr val="lt1"/>
          </a:fillRef>
          <a:effectRef idx="0">
            <a:schemeClr val="accent1"/>
          </a:effectRef>
          <a:fontRef idx="minor">
            <a:schemeClr val="dk1"/>
          </a:fontRef>
        </p:style>
        <p:txBody>
          <a:bodyPr>
            <a:normAutofit/>
          </a:bodyPr>
          <a:lstStyle/>
          <a:p>
            <a:pPr>
              <a:buFont typeface="Arial" charset="0"/>
              <a:buNone/>
            </a:pPr>
            <a:r>
              <a:rPr lang="en-US" sz="2800" dirty="0" smtClean="0">
                <a:sym typeface="Wingdings 2" pitchFamily="18" charset="2"/>
              </a:rPr>
              <a:t> </a:t>
            </a:r>
            <a:r>
              <a:rPr lang="en-US" sz="2800" dirty="0" smtClean="0"/>
              <a:t>Completeness in business communication is of absolute necessary. Incomplete information may lead to wrong decision.</a:t>
            </a:r>
          </a:p>
          <a:p>
            <a:pPr>
              <a:buFont typeface="Arial" charset="0"/>
              <a:buNone/>
            </a:pPr>
            <a:r>
              <a:rPr lang="en-US" sz="2800" b="1" dirty="0" smtClean="0">
                <a:sym typeface="Wingdings 3" pitchFamily="18" charset="2"/>
              </a:rPr>
              <a:t> </a:t>
            </a:r>
            <a:r>
              <a:rPr lang="en-US" sz="2800" b="1" dirty="0" smtClean="0"/>
              <a:t>Checking for the “five W” questions:</a:t>
            </a:r>
          </a:p>
          <a:p>
            <a:pPr>
              <a:buFont typeface="Arial" charset="0"/>
              <a:buNone/>
            </a:pPr>
            <a:r>
              <a:rPr lang="en-US" sz="2800" i="1" dirty="0" smtClean="0"/>
              <a:t>    Who, what, where, when, why</a:t>
            </a:r>
            <a:r>
              <a:rPr lang="en-US" sz="2800" dirty="0" smtClean="0"/>
              <a:t> and </a:t>
            </a:r>
          </a:p>
          <a:p>
            <a:pPr>
              <a:buFont typeface="Arial" charset="0"/>
              <a:buNone/>
            </a:pPr>
            <a:r>
              <a:rPr lang="en-US" sz="2800" dirty="0" smtClean="0"/>
              <a:t>    any other essential points like </a:t>
            </a:r>
            <a:r>
              <a:rPr lang="en-US" sz="2800" i="1" dirty="0" smtClean="0"/>
              <a:t>why</a:t>
            </a:r>
            <a:r>
              <a:rPr lang="en-US" sz="2800" dirty="0" smtClean="0"/>
              <a:t> </a:t>
            </a:r>
          </a:p>
          <a:p>
            <a:pPr>
              <a:buFont typeface="Arial" charset="0"/>
              <a:buNone/>
            </a:pPr>
            <a:r>
              <a:rPr lang="en-US" sz="2800" dirty="0" smtClean="0"/>
              <a:t>    also helps to make your message </a:t>
            </a:r>
          </a:p>
          <a:p>
            <a:pPr>
              <a:buFont typeface="Arial" charset="0"/>
              <a:buNone/>
            </a:pPr>
            <a:r>
              <a:rPr lang="en-US" sz="2800" dirty="0" smtClean="0"/>
              <a:t>     complete. </a:t>
            </a:r>
          </a:p>
        </p:txBody>
      </p:sp>
      <p:pic>
        <p:nvPicPr>
          <p:cNvPr id="23556" name="Picture 2" descr="F:\Mahbuba\Moni\Characters\93.jpeg"/>
          <p:cNvPicPr>
            <a:picLocks noChangeAspect="1" noChangeArrowheads="1"/>
          </p:cNvPicPr>
          <p:nvPr/>
        </p:nvPicPr>
        <p:blipFill>
          <a:blip r:embed="rId2"/>
          <a:srcRect/>
          <a:stretch>
            <a:fillRect/>
          </a:stretch>
        </p:blipFill>
        <p:spPr bwMode="auto">
          <a:xfrm>
            <a:off x="6342063" y="2133600"/>
            <a:ext cx="1811337" cy="3810000"/>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2286000" cy="563562"/>
          </a:xfrm>
          <a:solidFill>
            <a:schemeClr val="accent1">
              <a:lumMod val="20000"/>
              <a:lumOff val="80000"/>
            </a:schemeClr>
          </a:solidFill>
          <a:ln>
            <a:solidFill>
              <a:schemeClr val="accent1"/>
            </a:solidFill>
          </a:ln>
        </p:spPr>
        <p:txBody>
          <a:bodyPr>
            <a:normAutofit/>
          </a:bodyPr>
          <a:lstStyle/>
          <a:p>
            <a:pPr>
              <a:defRPr/>
            </a:pPr>
            <a:r>
              <a:rPr lang="en-US" sz="3000" dirty="0" smtClean="0"/>
              <a:t>Conciseness</a:t>
            </a:r>
            <a:endParaRPr lang="en-US" sz="3000" dirty="0"/>
          </a:p>
        </p:txBody>
      </p:sp>
      <p:sp>
        <p:nvSpPr>
          <p:cNvPr id="24579" name="Content Placeholder 2"/>
          <p:cNvSpPr>
            <a:spLocks noGrp="1"/>
          </p:cNvSpPr>
          <p:nvPr>
            <p:ph idx="1"/>
          </p:nvPr>
        </p:nvSpPr>
        <p:spPr>
          <a:xfrm>
            <a:off x="457200" y="1143000"/>
            <a:ext cx="8229600" cy="4983163"/>
          </a:xfrm>
        </p:spPr>
        <p:style>
          <a:lnRef idx="2">
            <a:schemeClr val="accent1"/>
          </a:lnRef>
          <a:fillRef idx="1">
            <a:schemeClr val="lt1"/>
          </a:fillRef>
          <a:effectRef idx="0">
            <a:schemeClr val="accent1"/>
          </a:effectRef>
          <a:fontRef idx="minor">
            <a:schemeClr val="dk1"/>
          </a:fontRef>
        </p:style>
        <p:txBody>
          <a:bodyPr>
            <a:normAutofit/>
          </a:bodyPr>
          <a:lstStyle/>
          <a:p>
            <a:pPr algn="just">
              <a:buFont typeface="Arial" charset="0"/>
              <a:buNone/>
            </a:pPr>
            <a:r>
              <a:rPr lang="en-US" sz="2800" dirty="0" smtClean="0">
                <a:sym typeface="Wingdings 2" pitchFamily="18" charset="2"/>
              </a:rPr>
              <a:t></a:t>
            </a:r>
            <a:r>
              <a:rPr lang="en-US" sz="2800" dirty="0" smtClean="0"/>
              <a:t>Busy executives have little time to listen to or read lengthy message. So, the communicator has to remember that while trying to make the message complete, attempts are also to be made to keep it as concise as possible.</a:t>
            </a:r>
          </a:p>
          <a:p>
            <a:pPr algn="just">
              <a:buFont typeface="Arial" charset="0"/>
              <a:buNone/>
            </a:pPr>
            <a:r>
              <a:rPr lang="en-US" sz="2800" dirty="0" smtClean="0">
                <a:sym typeface="Wingdings 2" pitchFamily="18" charset="2"/>
              </a:rPr>
              <a:t> </a:t>
            </a:r>
            <a:r>
              <a:rPr lang="en-US" sz="2800" dirty="0" smtClean="0"/>
              <a:t>As a matter of fact there is no hard and fast rule for the length of a message/letter. </a:t>
            </a:r>
          </a:p>
          <a:p>
            <a:pPr algn="just">
              <a:buFont typeface="Arial" charset="0"/>
              <a:buNone/>
            </a:pPr>
            <a:r>
              <a:rPr lang="en-US" sz="2800" dirty="0" smtClean="0">
                <a:sym typeface="Wingdings 2" pitchFamily="18" charset="2"/>
              </a:rPr>
              <a:t> </a:t>
            </a:r>
            <a:r>
              <a:rPr lang="en-US" sz="2800" dirty="0" smtClean="0"/>
              <a:t>It should be as long or as short as is necessary to tell the story effectively. </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Content Placeholder 2"/>
          <p:cNvSpPr>
            <a:spLocks noGrp="1"/>
          </p:cNvSpPr>
          <p:nvPr>
            <p:ph idx="1"/>
          </p:nvPr>
        </p:nvSpPr>
        <p:spPr>
          <a:xfrm>
            <a:off x="457200" y="1676400"/>
            <a:ext cx="5943600" cy="3505200"/>
          </a:xfrm>
        </p:spPr>
        <p:style>
          <a:lnRef idx="2">
            <a:schemeClr val="accent1"/>
          </a:lnRef>
          <a:fillRef idx="1">
            <a:schemeClr val="lt1"/>
          </a:fillRef>
          <a:effectRef idx="0">
            <a:schemeClr val="accent1"/>
          </a:effectRef>
          <a:fontRef idx="minor">
            <a:schemeClr val="dk1"/>
          </a:fontRef>
        </p:style>
        <p:txBody>
          <a:bodyPr/>
          <a:lstStyle/>
          <a:p>
            <a:pPr>
              <a:buFont typeface="Arial" charset="0"/>
              <a:buNone/>
            </a:pPr>
            <a:r>
              <a:rPr lang="en-US" sz="2600" dirty="0" smtClean="0">
                <a:sym typeface="Wingdings 2" pitchFamily="18" charset="2"/>
              </a:rPr>
              <a:t> Only relevant facts are to be included</a:t>
            </a:r>
          </a:p>
          <a:p>
            <a:pPr>
              <a:buFont typeface="Wingdings" pitchFamily="2" charset="2"/>
              <a:buChar char=""/>
            </a:pPr>
            <a:r>
              <a:rPr lang="en-US" sz="2600" dirty="0" smtClean="0">
                <a:sym typeface="Wingdings" pitchFamily="2" charset="2"/>
              </a:rPr>
              <a:t>Repetition to be avoided</a:t>
            </a:r>
          </a:p>
          <a:p>
            <a:pPr>
              <a:buFont typeface="Wingdings 2" pitchFamily="18" charset="2"/>
              <a:buChar char="w"/>
            </a:pPr>
            <a:r>
              <a:rPr lang="en-US" sz="2600" dirty="0" smtClean="0">
                <a:sym typeface="Wingdings 2" pitchFamily="18" charset="2"/>
              </a:rPr>
              <a:t>Surplus words to be discarded</a:t>
            </a:r>
          </a:p>
          <a:p>
            <a:pPr>
              <a:buFont typeface="Wingdings 2" pitchFamily="18" charset="2"/>
              <a:buChar char="x"/>
            </a:pPr>
            <a:r>
              <a:rPr lang="en-US" sz="2600" dirty="0" smtClean="0">
                <a:sym typeface="Wingdings 2" pitchFamily="18" charset="2"/>
              </a:rPr>
              <a:t>Logical construction to be emphasized</a:t>
            </a:r>
          </a:p>
          <a:p>
            <a:pPr>
              <a:buFont typeface="Arial" charset="0"/>
              <a:buNone/>
            </a:pPr>
            <a:r>
              <a:rPr lang="en-US" sz="2600" dirty="0" smtClean="0">
                <a:sym typeface="Wingdings 2" pitchFamily="18" charset="2"/>
              </a:rPr>
              <a:t> Paragraphs to be designed carefully </a:t>
            </a:r>
          </a:p>
          <a:p>
            <a:pPr>
              <a:buFont typeface="Arial" charset="0"/>
              <a:buNone/>
            </a:pPr>
            <a:endParaRPr lang="en-US" sz="2600" dirty="0" smtClean="0">
              <a:sym typeface="Wingdings" pitchFamily="2" charset="2"/>
            </a:endParaRPr>
          </a:p>
        </p:txBody>
      </p:sp>
      <p:sp>
        <p:nvSpPr>
          <p:cNvPr id="4" name="Title 1"/>
          <p:cNvSpPr txBox="1">
            <a:spLocks/>
          </p:cNvSpPr>
          <p:nvPr/>
        </p:nvSpPr>
        <p:spPr bwMode="auto">
          <a:xfrm>
            <a:off x="457200" y="274638"/>
            <a:ext cx="2286000" cy="563562"/>
          </a:xfrm>
          <a:prstGeom prst="rect">
            <a:avLst/>
          </a:prstGeom>
          <a:solidFill>
            <a:schemeClr val="accent1">
              <a:lumMod val="20000"/>
              <a:lumOff val="80000"/>
            </a:schemeClr>
          </a:solidFill>
          <a:ln w="9525">
            <a:solidFill>
              <a:schemeClr val="accent1"/>
            </a:solidFill>
            <a:miter lim="800000"/>
            <a:headEnd/>
            <a:tailEnd/>
          </a:ln>
        </p:spPr>
        <p:txBody>
          <a:bodyPr anchor="ctr"/>
          <a:lstStyle/>
          <a:p>
            <a:pPr algn="ctr" eaLnBrk="0" hangingPunct="0">
              <a:defRPr/>
            </a:pPr>
            <a:r>
              <a:rPr lang="en-US" sz="3000">
                <a:latin typeface="+mj-lt"/>
                <a:ea typeface="+mj-ea"/>
                <a:cs typeface="+mj-cs"/>
              </a:rPr>
              <a:t>Conciseness</a:t>
            </a:r>
            <a:endParaRPr lang="en-US" sz="3000" dirty="0">
              <a:latin typeface="+mj-lt"/>
              <a:ea typeface="+mj-ea"/>
              <a:cs typeface="+mj-cs"/>
            </a:endParaRPr>
          </a:p>
        </p:txBody>
      </p:sp>
      <p:pic>
        <p:nvPicPr>
          <p:cNvPr id="25604" name="Picture 4" descr="F:\Mahbuba\Moni\Characters\133.jpeg"/>
          <p:cNvPicPr>
            <a:picLocks noChangeAspect="1" noChangeArrowheads="1"/>
          </p:cNvPicPr>
          <p:nvPr/>
        </p:nvPicPr>
        <p:blipFill>
          <a:blip r:embed="rId2"/>
          <a:srcRect/>
          <a:stretch>
            <a:fillRect/>
          </a:stretch>
        </p:blipFill>
        <p:spPr bwMode="auto">
          <a:xfrm>
            <a:off x="6553200" y="1600200"/>
            <a:ext cx="2514600" cy="3657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2514600" cy="715962"/>
          </a:xfrm>
          <a:solidFill>
            <a:schemeClr val="accent1">
              <a:lumMod val="20000"/>
              <a:lumOff val="80000"/>
            </a:schemeClr>
          </a:solidFill>
          <a:ln>
            <a:solidFill>
              <a:schemeClr val="accent1"/>
            </a:solidFill>
          </a:ln>
        </p:spPr>
        <p:txBody>
          <a:bodyPr>
            <a:normAutofit/>
          </a:bodyPr>
          <a:lstStyle/>
          <a:p>
            <a:pPr>
              <a:defRPr/>
            </a:pPr>
            <a:r>
              <a:rPr lang="en-US" sz="3000" dirty="0" smtClean="0"/>
              <a:t>Correctness</a:t>
            </a:r>
            <a:endParaRPr lang="en-US" sz="3000" dirty="0"/>
          </a:p>
        </p:txBody>
      </p:sp>
      <p:sp>
        <p:nvSpPr>
          <p:cNvPr id="26627" name="Content Placeholder 2"/>
          <p:cNvSpPr>
            <a:spLocks noGrp="1"/>
          </p:cNvSpPr>
          <p:nvPr>
            <p:ph idx="1"/>
          </p:nvPr>
        </p:nvSpPr>
        <p:spPr>
          <a:xfrm>
            <a:off x="457200" y="1295400"/>
            <a:ext cx="8229600" cy="4830763"/>
          </a:xfrm>
        </p:spPr>
        <p:style>
          <a:lnRef idx="2">
            <a:schemeClr val="accent1"/>
          </a:lnRef>
          <a:fillRef idx="1">
            <a:schemeClr val="lt1"/>
          </a:fillRef>
          <a:effectRef idx="0">
            <a:schemeClr val="accent1"/>
          </a:effectRef>
          <a:fontRef idx="minor">
            <a:schemeClr val="dk1"/>
          </a:fontRef>
        </p:style>
        <p:txBody>
          <a:bodyPr/>
          <a:lstStyle/>
          <a:p>
            <a:pPr algn="just">
              <a:buFont typeface="Arial" charset="0"/>
              <a:buNone/>
            </a:pPr>
            <a:r>
              <a:rPr lang="en-US" sz="2600" dirty="0" smtClean="0">
                <a:sym typeface="Wingdings 2" pitchFamily="18" charset="2"/>
              </a:rPr>
              <a:t> </a:t>
            </a:r>
            <a:r>
              <a:rPr lang="en-US" sz="2600" dirty="0" smtClean="0"/>
              <a:t>Correctness has to be ensured in drafting a message. In correct message may bring in damaging results.</a:t>
            </a:r>
          </a:p>
          <a:p>
            <a:pPr algn="just">
              <a:buFont typeface="Wingdings 2" pitchFamily="18" charset="2"/>
              <a:buChar char=""/>
            </a:pPr>
            <a:r>
              <a:rPr lang="en-US" sz="2600" dirty="0" smtClean="0"/>
              <a:t>There are several dimensions of ensuring </a:t>
            </a:r>
          </a:p>
          <a:p>
            <a:pPr algn="just">
              <a:buFont typeface="Arial" charset="0"/>
              <a:buNone/>
            </a:pPr>
            <a:r>
              <a:rPr lang="en-US" sz="2600" dirty="0" smtClean="0"/>
              <a:t>     correctness, the following are to </a:t>
            </a:r>
          </a:p>
          <a:p>
            <a:pPr algn="just">
              <a:buFont typeface="Arial" charset="0"/>
              <a:buNone/>
            </a:pPr>
            <a:r>
              <a:rPr lang="en-US" sz="2600" dirty="0" smtClean="0"/>
              <a:t>     be given careful attention:</a:t>
            </a:r>
          </a:p>
          <a:p>
            <a:pPr algn="just">
              <a:buFont typeface="Arial" charset="0"/>
              <a:buNone/>
            </a:pPr>
            <a:r>
              <a:rPr lang="en-US" sz="2600" dirty="0" smtClean="0">
                <a:sym typeface="Wingdings 2" pitchFamily="18" charset="2"/>
              </a:rPr>
              <a:t> Give correct message</a:t>
            </a:r>
          </a:p>
          <a:p>
            <a:pPr algn="just">
              <a:buFont typeface="Arial" charset="0"/>
              <a:buNone/>
            </a:pPr>
            <a:r>
              <a:rPr lang="en-US" sz="2600" dirty="0" smtClean="0">
                <a:sym typeface="Wingdings" pitchFamily="2" charset="2"/>
              </a:rPr>
              <a:t> The message should not be outdated</a:t>
            </a:r>
          </a:p>
          <a:p>
            <a:pPr algn="just">
              <a:buFont typeface="Arial" charset="0"/>
              <a:buNone/>
            </a:pPr>
            <a:r>
              <a:rPr lang="en-US" sz="2600" dirty="0" smtClean="0">
                <a:sym typeface="Wingdings 2" pitchFamily="18" charset="2"/>
              </a:rPr>
              <a:t> make the message most adaptable</a:t>
            </a:r>
            <a:endParaRPr lang="en-US" sz="2600" dirty="0" smtClean="0"/>
          </a:p>
          <a:p>
            <a:pPr algn="just">
              <a:buFont typeface="Arial" charset="0"/>
              <a:buNone/>
            </a:pPr>
            <a:endParaRPr lang="en-US" sz="2600" dirty="0" smtClean="0"/>
          </a:p>
        </p:txBody>
      </p:sp>
      <p:pic>
        <p:nvPicPr>
          <p:cNvPr id="26628" name="Picture 2" descr="F:\Mahbuba\Moni\Characters\127.jpeg"/>
          <p:cNvPicPr>
            <a:picLocks noChangeAspect="1" noChangeArrowheads="1"/>
          </p:cNvPicPr>
          <p:nvPr/>
        </p:nvPicPr>
        <p:blipFill>
          <a:blip r:embed="rId2"/>
          <a:srcRect/>
          <a:stretch>
            <a:fillRect/>
          </a:stretch>
        </p:blipFill>
        <p:spPr bwMode="auto">
          <a:xfrm>
            <a:off x="5943600" y="2667000"/>
            <a:ext cx="2743200" cy="3200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57400" y="2590800"/>
            <a:ext cx="3660169" cy="923330"/>
          </a:xfrm>
          <a:prstGeom prst="rect">
            <a:avLst/>
          </a:prstGeom>
          <a:noFill/>
        </p:spPr>
        <p:txBody>
          <a:bodyPr wrap="none">
            <a:spAutoFit/>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pPr algn="ctr">
              <a:defRPr/>
            </a:pPr>
            <a:r>
              <a:rPr lang="en-US" sz="5400" b="1" dirty="0">
                <a:ln/>
                <a:solidFill>
                  <a:schemeClr val="accent3"/>
                </a:solidFill>
              </a:rPr>
              <a:t>Thank You</a:t>
            </a:r>
          </a:p>
        </p:txBody>
      </p:sp>
      <p:pic>
        <p:nvPicPr>
          <p:cNvPr id="1026" name="Picture 2" descr="F:\Mahbuba\Moni\Characters\196.jpeg"/>
          <p:cNvPicPr>
            <a:picLocks noChangeAspect="1" noChangeArrowheads="1"/>
          </p:cNvPicPr>
          <p:nvPr/>
        </p:nvPicPr>
        <p:blipFill>
          <a:blip r:embed="rId2"/>
          <a:srcRect/>
          <a:stretch>
            <a:fillRect/>
          </a:stretch>
        </p:blipFill>
        <p:spPr bwMode="auto">
          <a:xfrm>
            <a:off x="5562600" y="2590800"/>
            <a:ext cx="995362" cy="995362"/>
          </a:xfrm>
          <a:prstGeom prst="rect">
            <a:avLst/>
          </a:prstGeom>
          <a:noFill/>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108</TotalTime>
  <Words>1818</Words>
  <Application>Microsoft Office PowerPoint</Application>
  <PresentationFormat>On-screen Show (4:3)</PresentationFormat>
  <Paragraphs>229</Paragraphs>
  <Slides>27</Slides>
  <Notes>1</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Office Theme</vt:lpstr>
      <vt:lpstr>Slide 1</vt:lpstr>
      <vt:lpstr>The Importance of Adaption </vt:lpstr>
      <vt:lpstr>Principles</vt:lpstr>
      <vt:lpstr>CLARITY</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Consideration</vt:lpstr>
      <vt:lpstr>Slide 19</vt:lpstr>
      <vt:lpstr>Slide 20</vt:lpstr>
      <vt:lpstr>Courtesy</vt:lpstr>
      <vt:lpstr>Slide 22</vt:lpstr>
      <vt:lpstr>Completeness</vt:lpstr>
      <vt:lpstr>Conciseness</vt:lpstr>
      <vt:lpstr>Slide 25</vt:lpstr>
      <vt:lpstr>Correctness</vt:lpstr>
      <vt:lpstr>Slide 27</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
  <cp:lastModifiedBy>Teacher</cp:lastModifiedBy>
  <cp:revision>42</cp:revision>
  <dcterms:created xsi:type="dcterms:W3CDTF">2006-08-16T00:00:00Z</dcterms:created>
  <dcterms:modified xsi:type="dcterms:W3CDTF">2019-04-17T12:45:54Z</dcterms:modified>
</cp:coreProperties>
</file>