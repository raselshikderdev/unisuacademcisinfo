
<file path=[Content_Types].xml><?xml version="1.0" encoding="utf-8"?>
<Types xmlns="http://schemas.openxmlformats.org/package/2006/content-types">
  <Default Extension="rels" ContentType="application/vnd.openxmlformats-package.relationships+xml"/>
  <Default Extension="xml" ContentType="application/xml"/>
  <Default Extension="emf" ContentType="image/x-emf"/>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handoutMasters/handoutMaster1.xml" ContentType="application/vnd.openxmlformats-officedocument.presentationml.handoutMaster+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theme/themeOverride1.xml" ContentType="application/vnd.openxmlformats-officedocument.themeOverride+xml"/>
  <Override PartName="/ppt/slides/slide7.xml" ContentType="application/vnd.openxmlformats-officedocument.presentationml.slide+xml"/>
  <Override PartName="/ppt/notesSlides/notesSlide5.xml" ContentType="application/vnd.openxmlformats-officedocument.presentationml.notesSlide+xml"/>
  <Override PartName="/ppt/slides/slide8.xml" ContentType="application/vnd.openxmlformats-officedocument.presentationml.slide+xml"/>
  <Override PartName="/ppt/notesSlides/notesSlide6.xml" ContentType="application/vnd.openxmlformats-officedocument.presentationml.notesSlide+xml"/>
  <Override PartName="/ppt/slides/slide9.xml" ContentType="application/vnd.openxmlformats-officedocument.presentationml.slide+xml"/>
  <Override PartName="/ppt/notesSlides/notesSlide7.xml" ContentType="application/vnd.openxmlformats-officedocument.presentationml.notesSlide+xml"/>
  <Override PartName="/ppt/slides/slide10.xml" ContentType="application/vnd.openxmlformats-officedocument.presentationml.slide+xml"/>
  <Override PartName="/ppt/notesSlides/notesSlide8.xml" ContentType="application/vnd.openxmlformats-officedocument.presentationml.notesSlide+xml"/>
  <Override PartName="/ppt/slides/slide11.xml" ContentType="application/vnd.openxmlformats-officedocument.presentationml.slide+xml"/>
  <Override PartName="/ppt/notesSlides/notesSlide9.xml" ContentType="application/vnd.openxmlformats-officedocument.presentationml.notesSlide+xml"/>
  <Override PartName="/ppt/slides/slide12.xml" ContentType="application/vnd.openxmlformats-officedocument.presentationml.slide+xml"/>
  <Override PartName="/ppt/notesSlides/notesSlide10.xml" ContentType="application/vnd.openxmlformats-officedocument.presentationml.notesSlide+xml"/>
  <Override PartName="/ppt/slides/slide13.xml" ContentType="application/vnd.openxmlformats-officedocument.presentationml.slide+xml"/>
  <Override PartName="/ppt/notesSlides/notesSlide11.xml" ContentType="application/vnd.openxmlformats-officedocument.presentationml.notesSlide+xml"/>
  <Override PartName="/ppt/slides/slide14.xml" ContentType="application/vnd.openxmlformats-officedocument.presentationml.slide+xml"/>
  <Override PartName="/ppt/notesSlides/notesSlide12.xml" ContentType="application/vnd.openxmlformats-officedocument.presentationml.notesSlide+xml"/>
  <Override PartName="/ppt/slides/slide15.xml" ContentType="application/vnd.openxmlformats-officedocument.presentationml.slide+xml"/>
  <Override PartName="/ppt/notesSlides/notesSlide13.xml" ContentType="application/vnd.openxmlformats-officedocument.presentationml.notesSlide+xml"/>
  <Override PartName="/ppt/slides/slide16.xml" ContentType="application/vnd.openxmlformats-officedocument.presentationml.slide+xml"/>
  <Override PartName="/ppt/notesSlides/notesSlide14.xml" ContentType="application/vnd.openxmlformats-officedocument.presentationml.notesSlide+xml"/>
  <Override PartName="/ppt/slides/slide17.xml" ContentType="application/vnd.openxmlformats-officedocument.presentationml.slide+xml"/>
  <Override PartName="/ppt/notesSlides/notesSlide15.xml" ContentType="application/vnd.openxmlformats-officedocument.presentationml.notesSlide+xml"/>
  <Override PartName="/ppt/slides/slide18.xml" ContentType="application/vnd.openxmlformats-officedocument.presentationml.slide+xml"/>
  <Override PartName="/ppt/notesSlides/notesSlide16.xml" ContentType="application/vnd.openxmlformats-officedocument.presentationml.notesSlide+xml"/>
  <Override PartName="/ppt/slides/slide19.xml" ContentType="application/vnd.openxmlformats-officedocument.presentationml.slide+xml"/>
  <Override PartName="/ppt/notesSlides/notesSlide17.xml" ContentType="application/vnd.openxmlformats-officedocument.presentationml.notesSlide+xml"/>
  <Override PartName="/ppt/slides/slide20.xml" ContentType="application/vnd.openxmlformats-officedocument.presentationml.slide+xml"/>
  <Override PartName="/ppt/notesSlides/notesSlide18.xml" ContentType="application/vnd.openxmlformats-officedocument.presentationml.notesSlide+xml"/>
  <Override PartName="/ppt/slides/slide21.xml" ContentType="application/vnd.openxmlformats-officedocument.presentationml.slide+xml"/>
  <Override PartName="/ppt/notesSlides/notesSlide19.xml" ContentType="application/vnd.openxmlformats-officedocument.presentationml.notesSlide+xml"/>
  <Override PartName="/ppt/slides/slide22.xml" ContentType="application/vnd.openxmlformats-officedocument.presentationml.slide+xml"/>
  <Override PartName="/ppt/notesSlides/notesSlide20.xml" ContentType="application/vnd.openxmlformats-officedocument.presentationml.notesSlide+xml"/>
  <Override PartName="/ppt/slides/slide23.xml" ContentType="application/vnd.openxmlformats-officedocument.presentationml.slide+xml"/>
  <Override PartName="/ppt/notesSlides/notesSlide21.xml" ContentType="application/vnd.openxmlformats-officedocument.presentationml.notesSlide+xml"/>
  <Override PartName="/ppt/slides/slide24.xml" ContentType="application/vnd.openxmlformats-officedocument.presentationml.slide+xml"/>
  <Override PartName="/ppt/notesSlides/notesSlide22.xml" ContentType="application/vnd.openxmlformats-officedocument.presentationml.notesSlide+xml"/>
  <Override PartName="/ppt/slides/slide25.xml" ContentType="application/vnd.openxmlformats-officedocument.presentationml.slide+xml"/>
  <Override PartName="/ppt/notesSlides/notesSlide23.xml" ContentType="application/vnd.openxmlformats-officedocument.presentationml.notesSlide+xml"/>
  <Override PartName="/ppt/slides/slide26.xml" ContentType="application/vnd.openxmlformats-officedocument.presentationml.slide+xml"/>
  <Override PartName="/ppt/notesSlides/notesSlide24.xml" ContentType="application/vnd.openxmlformats-officedocument.presentationml.notesSlide+xml"/>
  <Override PartName="/ppt/slides/slide27.xml" ContentType="application/vnd.openxmlformats-officedocument.presentationml.slide+xml"/>
  <Override PartName="/ppt/notesSlides/notesSlide25.xml" ContentType="application/vnd.openxmlformats-officedocument.presentationml.notesSlide+xml"/>
  <Override PartName="/ppt/slides/slide28.xml" ContentType="application/vnd.openxmlformats-officedocument.presentationml.slide+xml"/>
  <Override PartName="/ppt/notesSlides/notesSlide26.xml" ContentType="application/vnd.openxmlformats-officedocument.presentationml.notesSlide+xml"/>
  <Override PartName="/ppt/slides/slide29.xml" ContentType="application/vnd.openxmlformats-officedocument.presentationml.slide+xml"/>
  <Override PartName="/ppt/notesSlides/notesSlide27.xml" ContentType="application/vnd.openxmlformats-officedocument.presentationml.notesSlide+xml"/>
  <Override PartName="/ppt/slides/slide30.xml" ContentType="application/vnd.openxmlformats-officedocument.presentationml.slide+xml"/>
  <Override PartName="/ppt/notesSlides/notesSlide28.xml" ContentType="application/vnd.openxmlformats-officedocument.presentationml.notesSlide+xml"/>
  <Override PartName="/ppt/slides/slide31.xml" ContentType="application/vnd.openxmlformats-officedocument.presentationml.slide+xml"/>
  <Override PartName="/ppt/notesSlides/notesSlide29.xml" ContentType="application/vnd.openxmlformats-officedocument.presentationml.notesSlide+xml"/>
  <Override PartName="/ppt/slides/slide32.xml" ContentType="application/vnd.openxmlformats-officedocument.presentationml.slide+xml"/>
  <Override PartName="/ppt/notesSlides/notesSlide30.xml" ContentType="application/vnd.openxmlformats-officedocument.presentationml.notesSlide+xml"/>
  <Override PartName="/ppt/slides/slide33.xml" ContentType="application/vnd.openxmlformats-officedocument.presentationml.slide+xml"/>
  <Override PartName="/ppt/notesSlides/notesSlide31.xml" ContentType="application/vnd.openxmlformats-officedocument.presentationml.notesSlide+xml"/>
  <Override PartName="/ppt/slides/slide34.xml" ContentType="application/vnd.openxmlformats-officedocument.presentationml.slide+xml"/>
  <Override PartName="/ppt/notesSlides/notesSlide32.xml" ContentType="application/vnd.openxmlformats-officedocument.presentationml.notesSlide+xml"/>
  <Override PartName="/ppt/slides/slide35.xml" ContentType="application/vnd.openxmlformats-officedocument.presentationml.slide+xml"/>
  <Override PartName="/ppt/notesSlides/notesSlide33.xml" ContentType="application/vnd.openxmlformats-officedocument.presentationml.notesSlide+xml"/>
  <Override PartName="/ppt/slides/slide36.xml" ContentType="application/vnd.openxmlformats-officedocument.presentationml.slide+xml"/>
  <Override PartName="/ppt/notesSlides/notesSlide34.xml" ContentType="application/vnd.openxmlformats-officedocument.presentationml.notesSlide+xml"/>
  <Override PartName="/ppt/slides/slide37.xml" ContentType="application/vnd.openxmlformats-officedocument.presentationml.slide+xml"/>
  <Override PartName="/ppt/notesSlides/notesSlide35.xml" ContentType="application/vnd.openxmlformats-officedocument.presentationml.notesSlide+xml"/>
  <Override PartName="/ppt/slides/slide38.xml" ContentType="application/vnd.openxmlformats-officedocument.presentationml.slide+xml"/>
  <Override PartName="/ppt/notesSlides/notesSlide36.xml" ContentType="application/vnd.openxmlformats-officedocument.presentationml.notesSlide+xml"/>
  <Override PartName="/ppt/slides/slide39.xml" ContentType="application/vnd.openxmlformats-officedocument.presentationml.slide+xml"/>
  <Override PartName="/ppt/notesSlides/notesSlide37.xml" ContentType="application/vnd.openxmlformats-officedocument.presentationml.notesSlide+xml"/>
  <Override PartName="/ppt/slides/slide40.xml" ContentType="application/vnd.openxmlformats-officedocument.presentationml.slide+xml"/>
  <Override PartName="/ppt/notesSlides/notesSlide38.xml" ContentType="application/vnd.openxmlformats-officedocument.presentationml.notesSlide+xml"/>
  <Override PartName="/ppt/slides/slide41.xml" ContentType="application/vnd.openxmlformats-officedocument.presentationml.slide+xml"/>
  <Override PartName="/ppt/notesSlides/notesSlide39.xml" ContentType="application/vnd.openxmlformats-officedocument.presentationml.notesSlide+xml"/>
  <Override PartName="/ppt/slides/slide42.xml" ContentType="application/vnd.openxmlformats-officedocument.presentationml.slide+xml"/>
  <Override PartName="/ppt/notesSlides/notesSlide40.xml" ContentType="application/vnd.openxmlformats-officedocument.presentationml.notesSlide+xml"/>
  <Override PartName="/ppt/slides/slide43.xml" ContentType="application/vnd.openxmlformats-officedocument.presentationml.slide+xml"/>
  <Override PartName="/ppt/notesSlides/notesSlide41.xml" ContentType="application/vnd.openxmlformats-officedocument.presentationml.notesSlide+xml"/>
  <Override PartName="/ppt/slides/slide44.xml" ContentType="application/vnd.openxmlformats-officedocument.presentationml.slide+xml"/>
  <Override PartName="/ppt/notesSlides/notesSlide42.xml" ContentType="application/vnd.openxmlformats-officedocument.presentationml.notesSlide+xml"/>
  <Override PartName="/ppt/slides/slide45.xml" ContentType="application/vnd.openxmlformats-officedocument.presentationml.slide+xml"/>
  <Override PartName="/ppt/notesSlides/notesSlide43.xml" ContentType="application/vnd.openxmlformats-officedocument.presentationml.notesSlide+xml"/>
  <Override PartName="/ppt/slides/slide46.xml" ContentType="application/vnd.openxmlformats-officedocument.presentationml.slide+xml"/>
  <Override PartName="/ppt/slides/slide47.xml" ContentType="application/vnd.openxmlformats-officedocument.presentationml.slide+xml"/>
  <Override PartName="/ppt/notesSlides/notesSlide44.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p="http://schemas.openxmlformats.org/presentationml/2006/main" xmlns:r="http://schemas.openxmlformats.org/officeDocument/2006/relationships" xmlns:a="http://schemas.openxmlformats.org/drawingml/2006/main" firstSlideNum="1" rtl="0" saveSubsetFonts="0" serverZoom="0" showSpecialPlsOnTitleSld="1">
  <p:sldMasterIdLst>
    <p:sldMasterId id="2147483660" r:id="rId1"/>
  </p:sldMasterIdLst>
  <p:notesMasterIdLst>
    <p:notesMasterId r:id="rId2"/>
  </p:notesMasterIdLst>
  <p:handoutMasterIdLst>
    <p:handoutMasterId r:id="rId3"/>
  </p:handoutMasterIdLst>
  <p:sldIdLst>
    <p:sldId id="337" r:id="rId4"/>
    <p:sldId id="338" r:id="rId5"/>
    <p:sldId id="339" r:id="rId6"/>
    <p:sldId id="340" r:id="rId7"/>
    <p:sldId id="341" r:id="rId8"/>
    <p:sldId id="342" r:id="rId9"/>
    <p:sldId id="343" r:id="rId10"/>
    <p:sldId id="344" r:id="rId11"/>
    <p:sldId id="345" r:id="rId12"/>
    <p:sldId id="346" r:id="rId13"/>
    <p:sldId id="347" r:id="rId14"/>
    <p:sldId id="348" r:id="rId15"/>
    <p:sldId id="349" r:id="rId16"/>
    <p:sldId id="350" r:id="rId17"/>
    <p:sldId id="351" r:id="rId18"/>
    <p:sldId id="352" r:id="rId19"/>
    <p:sldId id="353" r:id="rId20"/>
    <p:sldId id="354" r:id="rId21"/>
    <p:sldId id="355" r:id="rId22"/>
    <p:sldId id="356" r:id="rId23"/>
    <p:sldId id="357" r:id="rId24"/>
    <p:sldId id="358" r:id="rId25"/>
    <p:sldId id="359" r:id="rId26"/>
    <p:sldId id="360" r:id="rId27"/>
    <p:sldId id="361" r:id="rId28"/>
    <p:sldId id="362" r:id="rId29"/>
    <p:sldId id="363" r:id="rId30"/>
    <p:sldId id="364" r:id="rId31"/>
    <p:sldId id="365" r:id="rId32"/>
    <p:sldId id="366" r:id="rId33"/>
    <p:sldId id="367" r:id="rId34"/>
    <p:sldId id="368" r:id="rId35"/>
    <p:sldId id="369" r:id="rId36"/>
    <p:sldId id="370" r:id="rId37"/>
    <p:sldId id="371" r:id="rId38"/>
    <p:sldId id="372" r:id="rId39"/>
    <p:sldId id="373" r:id="rId40"/>
    <p:sldId id="374" r:id="rId41"/>
    <p:sldId id="375" r:id="rId42"/>
    <p:sldId id="376" r:id="rId43"/>
    <p:sldId id="377" r:id="rId44"/>
    <p:sldId id="378" r:id="rId45"/>
    <p:sldId id="379" r:id="rId46"/>
    <p:sldId id="380" r:id="rId47"/>
    <p:sldId id="381" r:id="rId48"/>
    <p:sldId id="382" r:id="rId49"/>
    <p:sldId id="383" r:id="rId50"/>
  </p:sldIdLst>
  <p:sldSz type="screen4x3" cy="6858000" cx="9144000"/>
  <p:notesSz cx="7004050" cy="9290050"/>
  <p:defaultTex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showOutlineIcons="1" snapVertSplitter="0" vertBarState="restored" horzBarState="maximized" preferSingleView="0">
    <p:restoredLeft sz="15620"/>
    <p:restoredTop sz="94660"/>
  </p:normalViewPr>
  <p:slideViewPr>
    <p:cSldViewPr showGuides="0" snapToGrid="1" snapToObjects="0">
      <p:cViewPr varScale="0">
        <p:scale>
          <a:sx n="75" d="100"/>
          <a:sy n="75" d="100"/>
        </p:scale>
        <p:origin x="-600" y="1474"/>
      </p:cViewPr>
      <p:guideLst>
        <p:guide orient="horz" pos="2925"/>
        <p:guide orient="vert" pos="2206"/>
      </p:guideLst>
    </p:cSldViewPr>
  </p:slideViewPr>
  <p:gridSpacing cx="0" cy="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tableStyles" Target="tableStyles.xml"/><Relationship Id="rId52" Type="http://schemas.openxmlformats.org/officeDocument/2006/relationships/presProps" Target="presProps.xml"/><Relationship Id="rId5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white">
      <p:bgPr>
        <a:solidFill>
          <a:schemeClr val="lt1"/>
        </a:solidFill>
      </p:bgPr>
    </p:bg>
    <p:spTree>
      <p:nvGrpSpPr>
        <p:cNvPr id="209" name=""/>
        <p:cNvGrpSpPr/>
        <p:nvPr/>
      </p:nvGrpSpPr>
      <p:grpSpPr>
        <a:xfrm rot="0">
          <a:off x="0" y="0"/>
          <a:ext cx="0" cy="0"/>
          <a:chOff x="0" y="0"/>
          <a:chExt cx="0" cy="0"/>
        </a:xfrm>
      </p:grpSpPr>
    </p:spTree>
  </p:cSld>
  <p:clrMap accent1="dk1" accent2="dk1" accent3="dk1" accent4="dk1" accent5="dk1" accent6="dk1" bg1="dk1" bg2="dk1" tx1="dk1" tx2="dk1" hlink="dk1" folHlink="dk1"/>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207" name=""/>
        <p:cNvGrpSpPr/>
        <p:nvPr/>
      </p:nvGrpSpPr>
      <p:grpSpPr>
        <a:xfrm rot="0">
          <a:off x="0" y="0"/>
          <a:ext cx="0" cy="0"/>
          <a:chOff x="0" y="0"/>
          <a:chExt cx="0" cy="0"/>
        </a:xfrm>
      </p:grpSpPr>
      <p:sp>
        <p:nvSpPr>
          <p:cNvPr id="1049013" name=""/>
          <p:cNvSpPr/>
          <p:nvPr>
            <p:ph type="body" sz="quarter" idx="3"/>
          </p:nvPr>
        </p:nvSpPr>
        <p:spPr>
          <a:xfrm rot="0">
            <a:off x="388937" y="4413250"/>
            <a:ext cx="6303962" cy="4179887"/>
          </a:xfrm>
          <a:prstGeom prst="rect"/>
          <a:noFill/>
          <a:ln>
            <a:noFill/>
          </a:ln>
        </p:spPr>
        <p:txBody>
          <a:bodyPr bIns="45130" lIns="91871" rIns="91871" tIns="45130"/>
          <a:p>
            <a:pPr lvl="0"/>
            <a:r>
              <a:rPr altLang="en-US" lang="en-US"/>
              <a:t>Click to edit Master notes styles</a:t>
            </a:r>
          </a:p>
          <a:p>
            <a:pPr lvl="1"/>
            <a:r>
              <a:rPr altLang="en-US" lang="en-US"/>
              <a:t>Second Level</a:t>
            </a:r>
          </a:p>
          <a:p>
            <a:pPr lvl="2"/>
            <a:r>
              <a:rPr altLang="en-US" lang="en-US"/>
              <a:t>Third Level</a:t>
            </a:r>
          </a:p>
          <a:p>
            <a:pPr lvl="3"/>
            <a:r>
              <a:rPr altLang="en-US" lang="en-US"/>
              <a:t>Fourth Level</a:t>
            </a:r>
          </a:p>
          <a:p>
            <a:pPr lvl="4"/>
            <a:r>
              <a:rPr altLang="en-US" lang="en-US"/>
              <a:t>Fifth Level</a:t>
            </a:r>
          </a:p>
        </p:txBody>
      </p:sp>
      <p:sp>
        <p:nvSpPr>
          <p:cNvPr id="1049014" name=""/>
          <p:cNvSpPr/>
          <p:nvPr>
            <p:ph type="sldImg" sz="full" idx="2"/>
          </p:nvPr>
        </p:nvSpPr>
        <p:spPr>
          <a:xfrm rot="0">
            <a:off x="1189037" y="703262"/>
            <a:ext cx="4627562" cy="3470275"/>
          </a:xfrm>
          <a:prstGeom prst="rect"/>
          <a:noFill/>
          <a:ln w="12700" cap="flat" cmpd="sng">
            <a:solidFill>
              <a:schemeClr val="dk1">
                <a:alpha val="100000"/>
              </a:schemeClr>
            </a:solidFill>
            <a:prstDash val="solid"/>
            <a:round/>
          </a:ln>
        </p:spPr>
        <p:txBody>
          <a:bodyPr anchor="ctr" bIns="45720" lIns="91440" rIns="91440" tIns="45720"/>
          <a:p/>
        </p:txBody>
      </p:sp>
    </p:spTree>
  </p:cSld>
  <p:clrMap accent1="dk1" accent2="dk1" accent3="dk1" accent4="dk1" accent5="dk1" accent6="dk1" bg1="dk1" bg2="dk1" tx1="dk1" tx2="dk1" hlink="dk1" folHlink="dk1"/>
  <p:notesStyle>
    <a:lvl1pPr algn="l" fontAlgn="base" indent="0" latinLnBrk="1" marL="0" rtl="0">
      <a:lnSpc>
        <a:spcPct val="100000"/>
      </a:lnSpc>
      <a:spcBef>
        <a:spcPct val="30000"/>
      </a:spcBef>
      <a:spcAft>
        <a:spcPct val="0"/>
      </a:spcAft>
      <a:buFontTx/>
      <a:buNone/>
      <a:defRPr baseline="0" b="0" sz="1400" i="0">
        <a:solidFill>
          <a:schemeClr val="dk1"/>
        </a:solidFill>
        <a:latin typeface="Arial" pitchFamily="0" charset="0"/>
        <a:sym typeface="Comic Sans MS" pitchFamily="66" charset="0"/>
      </a:defRPr>
    </a:lvl1pPr>
    <a:lvl2pPr algn="l" fontAlgn="base" indent="0" latinLnBrk="1" marL="457200" rtl="0">
      <a:lnSpc>
        <a:spcPct val="100000"/>
      </a:lnSpc>
      <a:spcBef>
        <a:spcPct val="30000"/>
      </a:spcBef>
      <a:spcAft>
        <a:spcPct val="0"/>
      </a:spcAft>
      <a:buFontTx/>
      <a:buNone/>
      <a:defRPr baseline="0" b="0" sz="1400" i="0">
        <a:solidFill>
          <a:schemeClr val="dk1"/>
        </a:solidFill>
        <a:latin typeface="Arial" pitchFamily="0" charset="0"/>
        <a:sym typeface="Comic Sans MS" pitchFamily="66" charset="0"/>
      </a:defRPr>
    </a:lvl2pPr>
    <a:lvl3pPr algn="l" fontAlgn="base" indent="0" latinLnBrk="1" marL="914400" rtl="0">
      <a:lnSpc>
        <a:spcPct val="100000"/>
      </a:lnSpc>
      <a:spcBef>
        <a:spcPct val="30000"/>
      </a:spcBef>
      <a:spcAft>
        <a:spcPct val="0"/>
      </a:spcAft>
      <a:buFontTx/>
      <a:buNone/>
      <a:defRPr baseline="0" b="0" sz="1400" i="0">
        <a:solidFill>
          <a:schemeClr val="dk1"/>
        </a:solidFill>
        <a:latin typeface="Arial" pitchFamily="0" charset="0"/>
        <a:sym typeface="Comic Sans MS" pitchFamily="66" charset="0"/>
      </a:defRPr>
    </a:lvl3pPr>
    <a:lvl4pPr algn="l" fontAlgn="base" indent="0" latinLnBrk="1" marL="1371600" rtl="0">
      <a:lnSpc>
        <a:spcPct val="100000"/>
      </a:lnSpc>
      <a:spcBef>
        <a:spcPct val="30000"/>
      </a:spcBef>
      <a:spcAft>
        <a:spcPct val="0"/>
      </a:spcAft>
      <a:buFontTx/>
      <a:buNone/>
      <a:defRPr baseline="0" b="0" sz="1400" i="0">
        <a:solidFill>
          <a:schemeClr val="dk1"/>
        </a:solidFill>
        <a:latin typeface="Arial" pitchFamily="0" charset="0"/>
        <a:sym typeface="Comic Sans MS" pitchFamily="66" charset="0"/>
      </a:defRPr>
    </a:lvl4pPr>
    <a:lvl5pPr algn="l" fontAlgn="base" indent="0" latinLnBrk="1" marL="1828800" rtl="0">
      <a:lnSpc>
        <a:spcPct val="100000"/>
      </a:lnSpc>
      <a:spcBef>
        <a:spcPct val="30000"/>
      </a:spcBef>
      <a:spcAft>
        <a:spcPct val="0"/>
      </a:spcAft>
      <a:buFontTx/>
      <a:buNone/>
      <a:defRPr baseline="0" b="0" sz="1400" i="0">
        <a:solidFill>
          <a:schemeClr val="dk1"/>
        </a:solidFill>
        <a:latin typeface="Arial" pitchFamily="0" charset="0"/>
        <a:sym typeface="Comic Sans MS" pitchFamily="66" charset="0"/>
      </a:defRPr>
    </a:lvl5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64" name=""/>
        <p:cNvGrpSpPr/>
        <p:nvPr/>
      </p:nvGrpSpPr>
      <p:grpSpPr>
        <a:xfrm rot="0">
          <a:off x="0" y="0"/>
          <a:ext cx="0" cy="0"/>
          <a:chOff x="0" y="0"/>
          <a:chExt cx="0" cy="0"/>
        </a:xfrm>
      </p:grpSpPr>
      <p:sp>
        <p:nvSpPr>
          <p:cNvPr id="1048586" name=""/>
          <p:cNvSpPr/>
          <p:nvPr>
            <p:ph type="sldImg" sz="full" idx="0"/>
          </p:nvPr>
        </p:nvSpPr>
        <p:spPr>
          <a:xfrm rot="0">
            <a:off x="1189037" y="703262"/>
            <a:ext cx="4627562" cy="3470275"/>
          </a:xfrm>
          <a:prstGeom prst="rect"/>
        </p:spPr>
        <p:txBody>
          <a:bodyPr anchor="ctr" bIns="45720" lIns="91440" rIns="91440" tIns="45720"/>
          <a:p/>
        </p:txBody>
      </p:sp>
      <p:sp>
        <p:nvSpPr>
          <p:cNvPr id="1048587" name=""/>
          <p:cNvSpPr/>
          <p:nvPr>
            <p:ph type="body" sz="full" idx="1"/>
          </p:nvPr>
        </p:nvSpPr>
        <p:spPr>
          <a:xfrm rot="0">
            <a:off x="388937" y="4413250"/>
            <a:ext cx="6303962" cy="4179887"/>
          </a:xfrm>
          <a:prstGeom prst="rect"/>
          <a:noFill/>
        </p:spPr>
        <p:txBody>
          <a:bodyPr anchor="t" bIns="45130" lIns="91871" rIns="91871" tIns="45130"/>
          <a:p>
            <a:pPr lvl="0"/>
            <a:r>
              <a:rPr altLang="en-US" b="1" sz="1200" lang="en-US"/>
              <a:t>1.  On the topic, “Challenges Facing Financial Accounting,” what did the AICPA Special Committee on Financial Reporting suggest should be included in future financial statements?</a:t>
            </a:r>
          </a:p>
          <a:p>
            <a:pPr lvl="0">
              <a:buFontTx/>
              <a:buChar char="•"/>
            </a:pPr>
            <a:r>
              <a:rPr altLang="en-US" b="1" sz="1200" lang="en-US"/>
              <a:t>Non-financial</a:t>
            </a:r>
            <a:r>
              <a:rPr altLang="en-US" b="1" sz="1000" lang="en-US"/>
              <a:t> </a:t>
            </a:r>
            <a:r>
              <a:rPr altLang="en-US" b="1" sz="1200" lang="en-US"/>
              <a:t>Measurements</a:t>
            </a:r>
            <a:r>
              <a:rPr altLang="en-US" b="1" sz="1000" lang="en-US"/>
              <a:t> (customer satisfaction indexes, backlog information, and reject rates on goods purchases).</a:t>
            </a:r>
          </a:p>
          <a:p>
            <a:pPr lvl="0">
              <a:buFontTx/>
              <a:buChar char="•"/>
            </a:pPr>
            <a:r>
              <a:rPr altLang="en-US" b="1" sz="1200" lang="en-US"/>
              <a:t>Forward-looking Information</a:t>
            </a:r>
            <a:r>
              <a:rPr altLang="en-US" b="1" sz="1000" lang="en-US"/>
              <a:t> </a:t>
            </a:r>
          </a:p>
          <a:p>
            <a:pPr lvl="0">
              <a:buFontTx/>
              <a:buChar char="•"/>
            </a:pPr>
            <a:r>
              <a:rPr altLang="en-US" b="1" sz="1200" lang="en-US"/>
              <a:t>Soft Assets</a:t>
            </a:r>
            <a:r>
              <a:rPr altLang="en-US" b="1" sz="1000" lang="en-US"/>
              <a:t> (a company’s know-how, market dominance, marketing setup, well-trained employees, and brand image).</a:t>
            </a:r>
          </a:p>
          <a:p>
            <a:pPr lvl="0">
              <a:buFontTx/>
              <a:buChar char="•"/>
            </a:pPr>
            <a:r>
              <a:rPr altLang="en-US" b="1" sz="1200" lang="en-US"/>
              <a:t>Timeliness</a:t>
            </a:r>
            <a:r>
              <a:rPr altLang="en-US" b="1" sz="1000" lang="en-US"/>
              <a:t> (no real time financial information)</a:t>
            </a:r>
          </a:p>
          <a:p>
            <a:pPr lvl="0">
              <a:buFontTx/>
              <a:buChar char="•"/>
            </a:pPr>
            <a:endParaRPr altLang="en-US" b="1" sz="1000"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67" name=""/>
        <p:cNvGrpSpPr/>
        <p:nvPr/>
      </p:nvGrpSpPr>
      <p:grpSpPr>
        <a:xfrm rot="0">
          <a:off x="0" y="0"/>
          <a:ext cx="0" cy="0"/>
          <a:chOff x="0" y="0"/>
          <a:chExt cx="0" cy="0"/>
        </a:xfrm>
      </p:grpSpPr>
      <p:sp>
        <p:nvSpPr>
          <p:cNvPr id="1048603" name=""/>
          <p:cNvSpPr/>
          <p:nvPr>
            <p:ph type="sldImg" sz="full" idx="0"/>
          </p:nvPr>
        </p:nvSpPr>
        <p:spPr>
          <a:xfrm rot="0">
            <a:off x="1189037" y="703262"/>
            <a:ext cx="4627562" cy="3470275"/>
          </a:xfrm>
          <a:prstGeom prst="rect"/>
        </p:spPr>
        <p:txBody>
          <a:bodyPr anchor="ctr" bIns="45720" lIns="91440" rIns="91440" tIns="45720"/>
          <a:p/>
        </p:txBody>
      </p:sp>
      <p:sp>
        <p:nvSpPr>
          <p:cNvPr id="1048604" name=""/>
          <p:cNvSpPr/>
          <p:nvPr>
            <p:ph type="body" sz="full" idx="1"/>
          </p:nvPr>
        </p:nvSpPr>
        <p:spPr>
          <a:xfrm rot="0">
            <a:off x="466725" y="4413250"/>
            <a:ext cx="5992812" cy="4179887"/>
          </a:xfrm>
          <a:prstGeom prst="rect"/>
          <a:noFill/>
        </p:spPr>
        <p:txBody>
          <a:bodyPr anchor="t" bIns="45130" lIns="91871" rIns="91871" tIns="45130"/>
          <a:p>
            <a:pPr lvl="0"/>
            <a:r>
              <a:rPr altLang="en-US" b="1" lang="en-US">
                <a:latin typeface="Times New Roman" pitchFamily="18" charset="0"/>
              </a:rPr>
              <a:t>Service Cost - </a:t>
            </a:r>
            <a:r>
              <a:rPr altLang="en-US" lang="en-US">
                <a:latin typeface="Times New Roman" pitchFamily="18" charset="0"/>
              </a:rPr>
              <a:t>Actuaries compute service cost as the present value of the new benefits earned by employees during the year.  Future salary levels considered in calculation.</a:t>
            </a:r>
          </a:p>
          <a:p>
            <a:pPr lvl="0"/>
            <a:r>
              <a:rPr altLang="en-US" b="1" lang="en-US">
                <a:latin typeface="Times New Roman" pitchFamily="18" charset="0"/>
              </a:rPr>
              <a:t>Interest on Liability</a:t>
            </a:r>
            <a:r>
              <a:rPr altLang="en-US" lang="en-US">
                <a:latin typeface="Times New Roman" pitchFamily="18" charset="0"/>
              </a:rPr>
              <a:t> - Interest accrues each year on the PBO just as it does on any discounted debt.</a:t>
            </a:r>
          </a:p>
          <a:p>
            <a:pPr lvl="0"/>
            <a:r>
              <a:rPr altLang="en-US" b="1" lang="en-US">
                <a:latin typeface="Times New Roman" pitchFamily="18" charset="0"/>
              </a:rPr>
              <a:t>Actual Return on Plan Assets - </a:t>
            </a:r>
            <a:r>
              <a:rPr altLang="en-US" lang="en-US">
                <a:latin typeface="Times New Roman" pitchFamily="18" charset="0"/>
              </a:rPr>
              <a:t>Increase in pension funds from interest, dividends, and realized and unrealized changes in the fair market value of the plan assets.</a:t>
            </a:r>
          </a:p>
          <a:p>
            <a:pPr lvl="0"/>
            <a:r>
              <a:rPr altLang="en-US" b="1" lang="en-US">
                <a:latin typeface="Times New Roman" pitchFamily="18" charset="0"/>
              </a:rPr>
              <a:t>Amortization of Unrecognized Prior Service Cost - </a:t>
            </a:r>
            <a:r>
              <a:rPr altLang="en-US" lang="en-US">
                <a:latin typeface="Times New Roman" pitchFamily="18" charset="0"/>
              </a:rPr>
              <a:t>The cost of providing retroactive benefits is allocated to pension expense in the future, specifically to the remaining service-years of the affected employees.</a:t>
            </a:r>
          </a:p>
          <a:p>
            <a:pPr lvl="0"/>
            <a:r>
              <a:rPr altLang="en-US" b="1" lang="en-US">
                <a:latin typeface="Times New Roman" pitchFamily="18" charset="0"/>
              </a:rPr>
              <a:t>Gain or Loss - </a:t>
            </a:r>
            <a:r>
              <a:rPr altLang="en-US" lang="en-US">
                <a:latin typeface="Times New Roman" pitchFamily="18" charset="0"/>
              </a:rPr>
              <a:t>Volatility in pension expense can be caused by sudden and large changes in the market value of plan assets and by changes in the projected benefit obligation.  Two items comprise the gain or loss:</a:t>
            </a:r>
          </a:p>
          <a:p>
            <a:pPr lvl="0">
              <a:buFontTx/>
              <a:buChar char="•"/>
            </a:pPr>
            <a:r>
              <a:rPr altLang="en-US" lang="en-US">
                <a:latin typeface="Times New Roman" pitchFamily="18" charset="0"/>
              </a:rPr>
              <a:t> difference between the actual return and the expected return on plan assets and,</a:t>
            </a:r>
          </a:p>
          <a:p>
            <a:pPr lvl="0">
              <a:buFontTx/>
              <a:buChar char="•"/>
            </a:pPr>
            <a:r>
              <a:rPr altLang="en-US" lang="en-US">
                <a:latin typeface="Times New Roman" pitchFamily="18" charset="0"/>
              </a:rPr>
              <a:t> amortization of the unrecognized net gain or loss from previous periods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70" name=""/>
        <p:cNvGrpSpPr/>
        <p:nvPr/>
      </p:nvGrpSpPr>
      <p:grpSpPr>
        <a:xfrm rot="0">
          <a:off x="0" y="0"/>
          <a:ext cx="0" cy="0"/>
          <a:chOff x="0" y="0"/>
          <a:chExt cx="0" cy="0"/>
        </a:xfrm>
      </p:grpSpPr>
      <p:sp>
        <p:nvSpPr>
          <p:cNvPr id="1048609" name=""/>
          <p:cNvSpPr/>
          <p:nvPr>
            <p:ph type="sldImg" sz="full" idx="0"/>
          </p:nvPr>
        </p:nvSpPr>
        <p:spPr>
          <a:xfrm rot="0">
            <a:off x="1189037" y="703262"/>
            <a:ext cx="4625975" cy="3470275"/>
          </a:xfrm>
          <a:prstGeom prst="rect"/>
        </p:spPr>
        <p:txBody>
          <a:bodyPr anchor="ctr" bIns="45720" lIns="91440" rIns="91440" tIns="45720"/>
          <a:p/>
        </p:txBody>
      </p:sp>
      <p:sp>
        <p:nvSpPr>
          <p:cNvPr id="1048610"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73" name=""/>
        <p:cNvGrpSpPr/>
        <p:nvPr/>
      </p:nvGrpSpPr>
      <p:grpSpPr>
        <a:xfrm rot="0">
          <a:off x="0" y="0"/>
          <a:ext cx="0" cy="0"/>
          <a:chOff x="0" y="0"/>
          <a:chExt cx="0" cy="0"/>
        </a:xfrm>
      </p:grpSpPr>
      <p:sp>
        <p:nvSpPr>
          <p:cNvPr id="1048619" name=""/>
          <p:cNvSpPr/>
          <p:nvPr>
            <p:ph type="sldImg" sz="full" idx="0"/>
          </p:nvPr>
        </p:nvSpPr>
        <p:spPr>
          <a:xfrm rot="0">
            <a:off x="1189037" y="703262"/>
            <a:ext cx="4625975" cy="3470275"/>
          </a:xfrm>
          <a:prstGeom prst="rect"/>
        </p:spPr>
        <p:txBody>
          <a:bodyPr anchor="ctr" bIns="45720" lIns="91440" rIns="91440" tIns="45720"/>
          <a:p/>
        </p:txBody>
      </p:sp>
      <p:sp>
        <p:nvSpPr>
          <p:cNvPr id="1048620"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77" name=""/>
        <p:cNvGrpSpPr/>
        <p:nvPr/>
      </p:nvGrpSpPr>
      <p:grpSpPr>
        <a:xfrm rot="0">
          <a:off x="0" y="0"/>
          <a:ext cx="0" cy="0"/>
          <a:chOff x="0" y="0"/>
          <a:chExt cx="0" cy="0"/>
        </a:xfrm>
      </p:grpSpPr>
      <p:sp>
        <p:nvSpPr>
          <p:cNvPr id="1048633" name=""/>
          <p:cNvSpPr/>
          <p:nvPr>
            <p:ph type="sldImg" sz="full" idx="0"/>
          </p:nvPr>
        </p:nvSpPr>
        <p:spPr>
          <a:xfrm rot="0">
            <a:off x="1189037" y="703262"/>
            <a:ext cx="4625975" cy="3470275"/>
          </a:xfrm>
          <a:prstGeom prst="rect"/>
        </p:spPr>
        <p:txBody>
          <a:bodyPr anchor="ctr" bIns="45720" lIns="91440" rIns="91440" tIns="45720"/>
          <a:p/>
        </p:txBody>
      </p:sp>
      <p:sp>
        <p:nvSpPr>
          <p:cNvPr id="1048634"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80" name=""/>
        <p:cNvGrpSpPr/>
        <p:nvPr/>
      </p:nvGrpSpPr>
      <p:grpSpPr>
        <a:xfrm rot="0">
          <a:off x="0" y="0"/>
          <a:ext cx="0" cy="0"/>
          <a:chOff x="0" y="0"/>
          <a:chExt cx="0" cy="0"/>
        </a:xfrm>
      </p:grpSpPr>
      <p:sp>
        <p:nvSpPr>
          <p:cNvPr id="1048654" name=""/>
          <p:cNvSpPr/>
          <p:nvPr>
            <p:ph type="sldImg" sz="full" idx="0"/>
          </p:nvPr>
        </p:nvSpPr>
        <p:spPr>
          <a:xfrm rot="0">
            <a:off x="1189037" y="703262"/>
            <a:ext cx="4625975" cy="3470275"/>
          </a:xfrm>
          <a:prstGeom prst="rect"/>
        </p:spPr>
        <p:txBody>
          <a:bodyPr anchor="ctr" bIns="45720" lIns="91440" rIns="91440" tIns="45720"/>
          <a:p/>
        </p:txBody>
      </p:sp>
      <p:sp>
        <p:nvSpPr>
          <p:cNvPr id="1048655"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83" name=""/>
        <p:cNvGrpSpPr/>
        <p:nvPr/>
      </p:nvGrpSpPr>
      <p:grpSpPr>
        <a:xfrm rot="0">
          <a:off x="0" y="0"/>
          <a:ext cx="0" cy="0"/>
          <a:chOff x="0" y="0"/>
          <a:chExt cx="0" cy="0"/>
        </a:xfrm>
      </p:grpSpPr>
      <p:sp>
        <p:nvSpPr>
          <p:cNvPr id="1048670" name=""/>
          <p:cNvSpPr/>
          <p:nvPr>
            <p:ph type="sldImg" sz="full" idx="0"/>
          </p:nvPr>
        </p:nvSpPr>
        <p:spPr>
          <a:xfrm rot="0">
            <a:off x="1189037" y="703262"/>
            <a:ext cx="4625975" cy="3470275"/>
          </a:xfrm>
          <a:prstGeom prst="rect"/>
        </p:spPr>
        <p:txBody>
          <a:bodyPr anchor="ctr" bIns="45720" lIns="91440" rIns="91440" tIns="45720"/>
          <a:p/>
        </p:txBody>
      </p:sp>
      <p:sp>
        <p:nvSpPr>
          <p:cNvPr id="1048671"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86" name=""/>
        <p:cNvGrpSpPr/>
        <p:nvPr/>
      </p:nvGrpSpPr>
      <p:grpSpPr>
        <a:xfrm rot="0">
          <a:off x="0" y="0"/>
          <a:ext cx="0" cy="0"/>
          <a:chOff x="0" y="0"/>
          <a:chExt cx="0" cy="0"/>
        </a:xfrm>
      </p:grpSpPr>
      <p:sp>
        <p:nvSpPr>
          <p:cNvPr id="1048686" name=""/>
          <p:cNvSpPr/>
          <p:nvPr>
            <p:ph type="sldImg" sz="full" idx="0"/>
          </p:nvPr>
        </p:nvSpPr>
        <p:spPr>
          <a:xfrm rot="0">
            <a:off x="1189037" y="703262"/>
            <a:ext cx="4625975" cy="3470275"/>
          </a:xfrm>
          <a:prstGeom prst="rect"/>
        </p:spPr>
        <p:txBody>
          <a:bodyPr anchor="ctr" bIns="45720" lIns="91440" rIns="91440" tIns="45720"/>
          <a:p/>
        </p:txBody>
      </p:sp>
      <p:sp>
        <p:nvSpPr>
          <p:cNvPr id="1048687"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89" name=""/>
        <p:cNvGrpSpPr/>
        <p:nvPr/>
      </p:nvGrpSpPr>
      <p:grpSpPr>
        <a:xfrm rot="0">
          <a:off x="0" y="0"/>
          <a:ext cx="0" cy="0"/>
          <a:chOff x="0" y="0"/>
          <a:chExt cx="0" cy="0"/>
        </a:xfrm>
      </p:grpSpPr>
      <p:sp>
        <p:nvSpPr>
          <p:cNvPr id="1048702" name=""/>
          <p:cNvSpPr/>
          <p:nvPr>
            <p:ph type="sldImg" sz="full" idx="0"/>
          </p:nvPr>
        </p:nvSpPr>
        <p:spPr>
          <a:xfrm rot="0">
            <a:off x="1189037" y="703262"/>
            <a:ext cx="4625975" cy="3470275"/>
          </a:xfrm>
          <a:prstGeom prst="rect"/>
        </p:spPr>
        <p:txBody>
          <a:bodyPr anchor="ctr" bIns="45720" lIns="91440" rIns="91440" tIns="45720"/>
          <a:p/>
        </p:txBody>
      </p:sp>
      <p:sp>
        <p:nvSpPr>
          <p:cNvPr id="1048703"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92" name=""/>
        <p:cNvGrpSpPr/>
        <p:nvPr/>
      </p:nvGrpSpPr>
      <p:grpSpPr>
        <a:xfrm rot="0">
          <a:off x="0" y="0"/>
          <a:ext cx="0" cy="0"/>
          <a:chOff x="0" y="0"/>
          <a:chExt cx="0" cy="0"/>
        </a:xfrm>
      </p:grpSpPr>
      <p:sp>
        <p:nvSpPr>
          <p:cNvPr id="1048720" name=""/>
          <p:cNvSpPr/>
          <p:nvPr>
            <p:ph type="sldImg" sz="full" idx="0"/>
          </p:nvPr>
        </p:nvSpPr>
        <p:spPr>
          <a:xfrm rot="0">
            <a:off x="1189037" y="703262"/>
            <a:ext cx="4625975" cy="3470275"/>
          </a:xfrm>
          <a:prstGeom prst="rect"/>
        </p:spPr>
        <p:txBody>
          <a:bodyPr anchor="ctr" bIns="45720" lIns="91440" rIns="91440" tIns="45720"/>
          <a:p/>
        </p:txBody>
      </p:sp>
      <p:sp>
        <p:nvSpPr>
          <p:cNvPr id="1048721"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95" name=""/>
        <p:cNvGrpSpPr/>
        <p:nvPr/>
      </p:nvGrpSpPr>
      <p:grpSpPr>
        <a:xfrm rot="0">
          <a:off x="0" y="0"/>
          <a:ext cx="0" cy="0"/>
          <a:chOff x="0" y="0"/>
          <a:chExt cx="0" cy="0"/>
        </a:xfrm>
      </p:grpSpPr>
      <p:sp>
        <p:nvSpPr>
          <p:cNvPr id="1048727" name=""/>
          <p:cNvSpPr/>
          <p:nvPr>
            <p:ph type="sldImg" sz="full" idx="0"/>
          </p:nvPr>
        </p:nvSpPr>
        <p:spPr>
          <a:xfrm rot="0">
            <a:off x="1189037" y="703262"/>
            <a:ext cx="4627562" cy="3470275"/>
          </a:xfrm>
          <a:prstGeom prst="rect"/>
        </p:spPr>
        <p:txBody>
          <a:bodyPr anchor="ctr" bIns="45720" lIns="91440" rIns="91440" tIns="45720"/>
          <a:p/>
        </p:txBody>
      </p:sp>
      <p:sp>
        <p:nvSpPr>
          <p:cNvPr id="1048728"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98" name=""/>
        <p:cNvGrpSpPr/>
        <p:nvPr/>
      </p:nvGrpSpPr>
      <p:grpSpPr>
        <a:xfrm rot="0">
          <a:off x="0" y="0"/>
          <a:ext cx="0" cy="0"/>
          <a:chOff x="0" y="0"/>
          <a:chExt cx="0" cy="0"/>
        </a:xfrm>
      </p:grpSpPr>
      <p:sp>
        <p:nvSpPr>
          <p:cNvPr id="1048733" name=""/>
          <p:cNvSpPr/>
          <p:nvPr>
            <p:ph type="sldImg" sz="full" idx="0"/>
          </p:nvPr>
        </p:nvSpPr>
        <p:spPr>
          <a:xfrm rot="0">
            <a:off x="1189037" y="703262"/>
            <a:ext cx="4625975" cy="3470275"/>
          </a:xfrm>
          <a:prstGeom prst="rect"/>
        </p:spPr>
        <p:txBody>
          <a:bodyPr anchor="ctr" bIns="45720" lIns="91440" rIns="91440" tIns="45720"/>
          <a:p/>
        </p:txBody>
      </p:sp>
      <p:sp>
        <p:nvSpPr>
          <p:cNvPr id="1048734"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01" name=""/>
        <p:cNvGrpSpPr/>
        <p:nvPr/>
      </p:nvGrpSpPr>
      <p:grpSpPr>
        <a:xfrm rot="0">
          <a:off x="0" y="0"/>
          <a:ext cx="0" cy="0"/>
          <a:chOff x="0" y="0"/>
          <a:chExt cx="0" cy="0"/>
        </a:xfrm>
      </p:grpSpPr>
      <p:sp>
        <p:nvSpPr>
          <p:cNvPr id="1048738" name=""/>
          <p:cNvSpPr/>
          <p:nvPr>
            <p:ph type="sldImg" sz="full" idx="0"/>
          </p:nvPr>
        </p:nvSpPr>
        <p:spPr>
          <a:xfrm rot="0">
            <a:off x="1189037" y="703262"/>
            <a:ext cx="4625975" cy="3470275"/>
          </a:xfrm>
          <a:prstGeom prst="rect"/>
        </p:spPr>
        <p:txBody>
          <a:bodyPr anchor="ctr" bIns="45720" lIns="91440" rIns="91440" tIns="45720"/>
          <a:p/>
        </p:txBody>
      </p:sp>
      <p:sp>
        <p:nvSpPr>
          <p:cNvPr id="1048739"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04" name=""/>
        <p:cNvGrpSpPr/>
        <p:nvPr/>
      </p:nvGrpSpPr>
      <p:grpSpPr>
        <a:xfrm rot="0">
          <a:off x="0" y="0"/>
          <a:ext cx="0" cy="0"/>
          <a:chOff x="0" y="0"/>
          <a:chExt cx="0" cy="0"/>
        </a:xfrm>
      </p:grpSpPr>
      <p:sp>
        <p:nvSpPr>
          <p:cNvPr id="1048743" name=""/>
          <p:cNvSpPr/>
          <p:nvPr>
            <p:ph type="sldImg" sz="full" idx="0"/>
          </p:nvPr>
        </p:nvSpPr>
        <p:spPr>
          <a:xfrm rot="0">
            <a:off x="1189037" y="703262"/>
            <a:ext cx="4625975" cy="3470275"/>
          </a:xfrm>
          <a:prstGeom prst="rect"/>
        </p:spPr>
        <p:txBody>
          <a:bodyPr anchor="ctr" bIns="45720" lIns="91440" rIns="91440" tIns="45720"/>
          <a:p/>
        </p:txBody>
      </p:sp>
      <p:sp>
        <p:nvSpPr>
          <p:cNvPr id="1048744"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07" name=""/>
        <p:cNvGrpSpPr/>
        <p:nvPr/>
      </p:nvGrpSpPr>
      <p:grpSpPr>
        <a:xfrm rot="0">
          <a:off x="0" y="0"/>
          <a:ext cx="0" cy="0"/>
          <a:chOff x="0" y="0"/>
          <a:chExt cx="0" cy="0"/>
        </a:xfrm>
      </p:grpSpPr>
      <p:sp>
        <p:nvSpPr>
          <p:cNvPr id="1048749" name=""/>
          <p:cNvSpPr/>
          <p:nvPr>
            <p:ph type="sldImg" sz="full" idx="0"/>
          </p:nvPr>
        </p:nvSpPr>
        <p:spPr>
          <a:xfrm rot="0">
            <a:off x="1189037" y="703262"/>
            <a:ext cx="4625975" cy="3470275"/>
          </a:xfrm>
          <a:prstGeom prst="rect"/>
        </p:spPr>
        <p:txBody>
          <a:bodyPr anchor="ctr" bIns="45720" lIns="91440" rIns="91440" tIns="45720"/>
          <a:p/>
        </p:txBody>
      </p:sp>
      <p:sp>
        <p:nvSpPr>
          <p:cNvPr id="1048750"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10" name=""/>
        <p:cNvGrpSpPr/>
        <p:nvPr/>
      </p:nvGrpSpPr>
      <p:grpSpPr>
        <a:xfrm rot="0">
          <a:off x="0" y="0"/>
          <a:ext cx="0" cy="0"/>
          <a:chOff x="0" y="0"/>
          <a:chExt cx="0" cy="0"/>
        </a:xfrm>
      </p:grpSpPr>
      <p:sp>
        <p:nvSpPr>
          <p:cNvPr id="1048755" name=""/>
          <p:cNvSpPr/>
          <p:nvPr>
            <p:ph type="sldImg" sz="full" idx="0"/>
          </p:nvPr>
        </p:nvSpPr>
        <p:spPr>
          <a:xfrm rot="0">
            <a:off x="1189037" y="703262"/>
            <a:ext cx="4625975" cy="3470275"/>
          </a:xfrm>
          <a:prstGeom prst="rect"/>
        </p:spPr>
        <p:txBody>
          <a:bodyPr anchor="ctr" bIns="45720" lIns="91440" rIns="91440" tIns="45720"/>
          <a:p/>
        </p:txBody>
      </p:sp>
      <p:sp>
        <p:nvSpPr>
          <p:cNvPr id="1048756"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13" name=""/>
        <p:cNvGrpSpPr/>
        <p:nvPr/>
      </p:nvGrpSpPr>
      <p:grpSpPr>
        <a:xfrm rot="0">
          <a:off x="0" y="0"/>
          <a:ext cx="0" cy="0"/>
          <a:chOff x="0" y="0"/>
          <a:chExt cx="0" cy="0"/>
        </a:xfrm>
      </p:grpSpPr>
      <p:sp>
        <p:nvSpPr>
          <p:cNvPr id="1048760" name=""/>
          <p:cNvSpPr/>
          <p:nvPr>
            <p:ph type="sldImg" sz="full" idx="0"/>
          </p:nvPr>
        </p:nvSpPr>
        <p:spPr>
          <a:xfrm rot="0">
            <a:off x="1189037" y="703262"/>
            <a:ext cx="4625975" cy="3470275"/>
          </a:xfrm>
          <a:prstGeom prst="rect"/>
        </p:spPr>
        <p:txBody>
          <a:bodyPr anchor="ctr" bIns="45720" lIns="91440" rIns="91440" tIns="45720"/>
          <a:p/>
        </p:txBody>
      </p:sp>
      <p:sp>
        <p:nvSpPr>
          <p:cNvPr id="1048761"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16" name=""/>
        <p:cNvGrpSpPr/>
        <p:nvPr/>
      </p:nvGrpSpPr>
      <p:grpSpPr>
        <a:xfrm rot="0">
          <a:off x="0" y="0"/>
          <a:ext cx="0" cy="0"/>
          <a:chOff x="0" y="0"/>
          <a:chExt cx="0" cy="0"/>
        </a:xfrm>
      </p:grpSpPr>
      <p:sp>
        <p:nvSpPr>
          <p:cNvPr id="1048767" name=""/>
          <p:cNvSpPr/>
          <p:nvPr>
            <p:ph type="sldImg" sz="full" idx="0"/>
          </p:nvPr>
        </p:nvSpPr>
        <p:spPr>
          <a:xfrm rot="0">
            <a:off x="1189037" y="703262"/>
            <a:ext cx="4627562" cy="3470275"/>
          </a:xfrm>
          <a:prstGeom prst="rect"/>
        </p:spPr>
        <p:txBody>
          <a:bodyPr anchor="ctr" bIns="45720" lIns="91440" rIns="91440" tIns="45720"/>
          <a:p/>
        </p:txBody>
      </p:sp>
      <p:sp>
        <p:nvSpPr>
          <p:cNvPr id="1048768" name=""/>
          <p:cNvSpPr/>
          <p:nvPr>
            <p:ph type="body" sz="full" idx="1"/>
          </p:nvPr>
        </p:nvSpPr>
        <p:spPr>
          <a:xfrm rot="0">
            <a:off x="388937" y="4413250"/>
            <a:ext cx="6303962" cy="4179887"/>
          </a:xfrm>
          <a:prstGeom prst="rect"/>
          <a:noFill/>
        </p:spPr>
        <p:txBody>
          <a:bodyPr anchor="t" bIns="45130" lIns="91871" rIns="91871" tIns="45130"/>
          <a:p>
            <a:pPr indent="-346075" lvl="0" marL="346075">
              <a:lnSpc>
                <a:spcPct val="125000"/>
              </a:lnSpc>
            </a:pPr>
            <a:r>
              <a:rPr altLang="en-US" b="1" sz="1600" lang="en-US">
                <a:latin typeface="Comic Sans MS" pitchFamily="66" charset="0"/>
              </a:rPr>
              <a:t>Question 4-2 (textbook)</a:t>
            </a:r>
          </a:p>
          <a:p>
            <a:pPr indent="-346075" lvl="0" marL="346075">
              <a:lnSpc>
                <a:spcPct val="125000"/>
              </a:lnSpc>
            </a:pPr>
            <a:r>
              <a:rPr altLang="en-US" b="1" sz="1600" lang="en-US">
                <a:latin typeface="Comic Sans MS" pitchFamily="66" charset="0"/>
              </a:rPr>
              <a:t>2. </a:t>
            </a:r>
            <a:r>
              <a:rPr altLang="en-US" sz="1600" lang="en-US">
                <a:latin typeface="Comic Sans MS" pitchFamily="66" charset="0"/>
              </a:rPr>
              <a:t>The work sheet is merely a device used to make it easier to prepare adjusting entries and the financial statements.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19" name=""/>
        <p:cNvGrpSpPr/>
        <p:nvPr/>
      </p:nvGrpSpPr>
      <p:grpSpPr>
        <a:xfrm rot="0">
          <a:off x="0" y="0"/>
          <a:ext cx="0" cy="0"/>
          <a:chOff x="0" y="0"/>
          <a:chExt cx="0" cy="0"/>
        </a:xfrm>
      </p:grpSpPr>
      <p:sp>
        <p:nvSpPr>
          <p:cNvPr id="1048774" name=""/>
          <p:cNvSpPr/>
          <p:nvPr>
            <p:ph type="sldImg" sz="full" idx="0"/>
          </p:nvPr>
        </p:nvSpPr>
        <p:spPr>
          <a:xfrm rot="0">
            <a:off x="1189037" y="703262"/>
            <a:ext cx="4627562" cy="3470275"/>
          </a:xfrm>
          <a:prstGeom prst="rect"/>
        </p:spPr>
        <p:txBody>
          <a:bodyPr anchor="ctr" bIns="45720" lIns="91440" rIns="91440" tIns="45720"/>
          <a:p/>
        </p:txBody>
      </p:sp>
      <p:sp>
        <p:nvSpPr>
          <p:cNvPr id="1048775"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22" name=""/>
        <p:cNvGrpSpPr/>
        <p:nvPr/>
      </p:nvGrpSpPr>
      <p:grpSpPr>
        <a:xfrm rot="0">
          <a:off x="0" y="0"/>
          <a:ext cx="0" cy="0"/>
          <a:chOff x="0" y="0"/>
          <a:chExt cx="0" cy="0"/>
        </a:xfrm>
      </p:grpSpPr>
      <p:sp>
        <p:nvSpPr>
          <p:cNvPr id="1048780" name=""/>
          <p:cNvSpPr/>
          <p:nvPr>
            <p:ph type="sldImg" sz="full" idx="0"/>
          </p:nvPr>
        </p:nvSpPr>
        <p:spPr>
          <a:xfrm rot="0">
            <a:off x="1189037" y="703262"/>
            <a:ext cx="4625975" cy="3470275"/>
          </a:xfrm>
          <a:prstGeom prst="rect"/>
        </p:spPr>
        <p:txBody>
          <a:bodyPr anchor="ctr" bIns="45720" lIns="91440" rIns="91440" tIns="45720"/>
          <a:p/>
        </p:txBody>
      </p:sp>
      <p:sp>
        <p:nvSpPr>
          <p:cNvPr id="1048781"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25" name=""/>
        <p:cNvGrpSpPr/>
        <p:nvPr/>
      </p:nvGrpSpPr>
      <p:grpSpPr>
        <a:xfrm rot="0">
          <a:off x="0" y="0"/>
          <a:ext cx="0" cy="0"/>
          <a:chOff x="0" y="0"/>
          <a:chExt cx="0" cy="0"/>
        </a:xfrm>
      </p:grpSpPr>
      <p:sp>
        <p:nvSpPr>
          <p:cNvPr id="1048788" name=""/>
          <p:cNvSpPr/>
          <p:nvPr>
            <p:ph type="sldImg" sz="full" idx="0"/>
          </p:nvPr>
        </p:nvSpPr>
        <p:spPr>
          <a:xfrm rot="0">
            <a:off x="1189037" y="703262"/>
            <a:ext cx="4625975" cy="3470275"/>
          </a:xfrm>
          <a:prstGeom prst="rect"/>
        </p:spPr>
        <p:txBody>
          <a:bodyPr anchor="ctr" bIns="45720" lIns="91440" rIns="91440" tIns="45720"/>
          <a:p/>
        </p:txBody>
      </p:sp>
      <p:sp>
        <p:nvSpPr>
          <p:cNvPr id="1048789"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28" name=""/>
        <p:cNvGrpSpPr/>
        <p:nvPr/>
      </p:nvGrpSpPr>
      <p:grpSpPr>
        <a:xfrm rot="0">
          <a:off x="0" y="0"/>
          <a:ext cx="0" cy="0"/>
          <a:chOff x="0" y="0"/>
          <a:chExt cx="0" cy="0"/>
        </a:xfrm>
      </p:grpSpPr>
      <p:sp>
        <p:nvSpPr>
          <p:cNvPr id="1048805" name=""/>
          <p:cNvSpPr/>
          <p:nvPr>
            <p:ph type="sldImg" sz="full" idx="0"/>
          </p:nvPr>
        </p:nvSpPr>
        <p:spPr>
          <a:xfrm rot="0">
            <a:off x="1189037" y="703262"/>
            <a:ext cx="4627562" cy="3470275"/>
          </a:xfrm>
          <a:prstGeom prst="rect"/>
        </p:spPr>
        <p:txBody>
          <a:bodyPr anchor="ctr" bIns="45720" lIns="91440" rIns="91440" tIns="45720"/>
          <a:p/>
        </p:txBody>
      </p:sp>
      <p:sp>
        <p:nvSpPr>
          <p:cNvPr id="1048806"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31" name=""/>
        <p:cNvGrpSpPr/>
        <p:nvPr/>
      </p:nvGrpSpPr>
      <p:grpSpPr>
        <a:xfrm rot="0">
          <a:off x="0" y="0"/>
          <a:ext cx="0" cy="0"/>
          <a:chOff x="0" y="0"/>
          <a:chExt cx="0" cy="0"/>
        </a:xfrm>
      </p:grpSpPr>
      <p:sp>
        <p:nvSpPr>
          <p:cNvPr id="1048811" name=""/>
          <p:cNvSpPr/>
          <p:nvPr>
            <p:ph type="sldImg" sz="full" idx="0"/>
          </p:nvPr>
        </p:nvSpPr>
        <p:spPr>
          <a:xfrm rot="0">
            <a:off x="1189037" y="703262"/>
            <a:ext cx="4625975" cy="3470275"/>
          </a:xfrm>
          <a:prstGeom prst="rect"/>
        </p:spPr>
        <p:txBody>
          <a:bodyPr anchor="ctr" bIns="45720" lIns="91440" rIns="91440" tIns="45720"/>
          <a:p/>
        </p:txBody>
      </p:sp>
      <p:sp>
        <p:nvSpPr>
          <p:cNvPr id="1048812"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34" name=""/>
        <p:cNvGrpSpPr/>
        <p:nvPr/>
      </p:nvGrpSpPr>
      <p:grpSpPr>
        <a:xfrm rot="0">
          <a:off x="0" y="0"/>
          <a:ext cx="0" cy="0"/>
          <a:chOff x="0" y="0"/>
          <a:chExt cx="0" cy="0"/>
        </a:xfrm>
      </p:grpSpPr>
      <p:sp>
        <p:nvSpPr>
          <p:cNvPr id="1048839" name=""/>
          <p:cNvSpPr/>
          <p:nvPr>
            <p:ph type="sldImg" sz="full" idx="0"/>
          </p:nvPr>
        </p:nvSpPr>
        <p:spPr>
          <a:xfrm rot="0">
            <a:off x="1189037" y="703262"/>
            <a:ext cx="4625975" cy="3470275"/>
          </a:xfrm>
          <a:prstGeom prst="rect"/>
        </p:spPr>
        <p:txBody>
          <a:bodyPr anchor="ctr" bIns="45720" lIns="91440" rIns="91440" tIns="45720"/>
          <a:p/>
        </p:txBody>
      </p:sp>
      <p:sp>
        <p:nvSpPr>
          <p:cNvPr id="1048840"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37" name=""/>
        <p:cNvGrpSpPr/>
        <p:nvPr/>
      </p:nvGrpSpPr>
      <p:grpSpPr>
        <a:xfrm rot="0">
          <a:off x="0" y="0"/>
          <a:ext cx="0" cy="0"/>
          <a:chOff x="0" y="0"/>
          <a:chExt cx="0" cy="0"/>
        </a:xfrm>
      </p:grpSpPr>
      <p:sp>
        <p:nvSpPr>
          <p:cNvPr id="1048844" name=""/>
          <p:cNvSpPr/>
          <p:nvPr>
            <p:ph type="sldImg" sz="full" idx="0"/>
          </p:nvPr>
        </p:nvSpPr>
        <p:spPr>
          <a:xfrm rot="0">
            <a:off x="1189037" y="703262"/>
            <a:ext cx="4625975" cy="3470275"/>
          </a:xfrm>
          <a:prstGeom prst="rect"/>
        </p:spPr>
        <p:txBody>
          <a:bodyPr anchor="ctr" bIns="45720" lIns="91440" rIns="91440" tIns="45720"/>
          <a:p/>
        </p:txBody>
      </p:sp>
      <p:sp>
        <p:nvSpPr>
          <p:cNvPr id="1048845"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40" name=""/>
        <p:cNvGrpSpPr/>
        <p:nvPr/>
      </p:nvGrpSpPr>
      <p:grpSpPr>
        <a:xfrm rot="0">
          <a:off x="0" y="0"/>
          <a:ext cx="0" cy="0"/>
          <a:chOff x="0" y="0"/>
          <a:chExt cx="0" cy="0"/>
        </a:xfrm>
      </p:grpSpPr>
      <p:sp>
        <p:nvSpPr>
          <p:cNvPr id="1048858" name=""/>
          <p:cNvSpPr/>
          <p:nvPr>
            <p:ph type="sldImg" sz="full" idx="0"/>
          </p:nvPr>
        </p:nvSpPr>
        <p:spPr>
          <a:xfrm rot="0">
            <a:off x="1189037" y="703262"/>
            <a:ext cx="4627562" cy="3470275"/>
          </a:xfrm>
          <a:prstGeom prst="rect"/>
        </p:spPr>
        <p:txBody>
          <a:bodyPr anchor="ctr" bIns="45720" lIns="91440" rIns="91440" tIns="45720"/>
          <a:p/>
        </p:txBody>
      </p:sp>
      <p:sp>
        <p:nvSpPr>
          <p:cNvPr id="1048859"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43" name=""/>
        <p:cNvGrpSpPr/>
        <p:nvPr/>
      </p:nvGrpSpPr>
      <p:grpSpPr>
        <a:xfrm rot="0">
          <a:off x="0" y="0"/>
          <a:ext cx="0" cy="0"/>
          <a:chOff x="0" y="0"/>
          <a:chExt cx="0" cy="0"/>
        </a:xfrm>
      </p:grpSpPr>
      <p:sp>
        <p:nvSpPr>
          <p:cNvPr id="1048872" name=""/>
          <p:cNvSpPr/>
          <p:nvPr>
            <p:ph type="sldImg" sz="full" idx="0"/>
          </p:nvPr>
        </p:nvSpPr>
        <p:spPr>
          <a:xfrm rot="0">
            <a:off x="1189037" y="703262"/>
            <a:ext cx="4627562" cy="3470275"/>
          </a:xfrm>
          <a:prstGeom prst="rect"/>
        </p:spPr>
        <p:txBody>
          <a:bodyPr anchor="ctr" bIns="45720" lIns="91440" rIns="91440" tIns="45720"/>
          <a:p/>
        </p:txBody>
      </p:sp>
      <p:sp>
        <p:nvSpPr>
          <p:cNvPr id="1048873"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46" name=""/>
        <p:cNvGrpSpPr/>
        <p:nvPr/>
      </p:nvGrpSpPr>
      <p:grpSpPr>
        <a:xfrm rot="0">
          <a:off x="0" y="0"/>
          <a:ext cx="0" cy="0"/>
          <a:chOff x="0" y="0"/>
          <a:chExt cx="0" cy="0"/>
        </a:xfrm>
      </p:grpSpPr>
      <p:sp>
        <p:nvSpPr>
          <p:cNvPr id="1048882" name=""/>
          <p:cNvSpPr/>
          <p:nvPr>
            <p:ph type="sldImg" sz="full" idx="0"/>
          </p:nvPr>
        </p:nvSpPr>
        <p:spPr>
          <a:xfrm rot="0">
            <a:off x="1189037" y="703262"/>
            <a:ext cx="4625975" cy="3470275"/>
          </a:xfrm>
          <a:prstGeom prst="rect"/>
        </p:spPr>
        <p:txBody>
          <a:bodyPr anchor="ctr" bIns="45720" lIns="91440" rIns="91440" tIns="45720"/>
          <a:p/>
        </p:txBody>
      </p:sp>
      <p:sp>
        <p:nvSpPr>
          <p:cNvPr id="1048883"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49" name=""/>
        <p:cNvGrpSpPr/>
        <p:nvPr/>
      </p:nvGrpSpPr>
      <p:grpSpPr>
        <a:xfrm rot="0">
          <a:off x="0" y="0"/>
          <a:ext cx="0" cy="0"/>
          <a:chOff x="0" y="0"/>
          <a:chExt cx="0" cy="0"/>
        </a:xfrm>
      </p:grpSpPr>
      <p:sp>
        <p:nvSpPr>
          <p:cNvPr id="1048888" name=""/>
          <p:cNvSpPr/>
          <p:nvPr>
            <p:ph type="sldImg" sz="full" idx="0"/>
          </p:nvPr>
        </p:nvSpPr>
        <p:spPr>
          <a:xfrm rot="0">
            <a:off x="1189037" y="703262"/>
            <a:ext cx="4625975" cy="3470275"/>
          </a:xfrm>
          <a:prstGeom prst="rect"/>
        </p:spPr>
        <p:txBody>
          <a:bodyPr anchor="ctr" bIns="45720" lIns="91440" rIns="91440" tIns="45720"/>
          <a:p/>
        </p:txBody>
      </p:sp>
      <p:sp>
        <p:nvSpPr>
          <p:cNvPr id="1048889"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52" name=""/>
        <p:cNvGrpSpPr/>
        <p:nvPr/>
      </p:nvGrpSpPr>
      <p:grpSpPr>
        <a:xfrm rot="0">
          <a:off x="0" y="0"/>
          <a:ext cx="0" cy="0"/>
          <a:chOff x="0" y="0"/>
          <a:chExt cx="0" cy="0"/>
        </a:xfrm>
      </p:grpSpPr>
      <p:sp>
        <p:nvSpPr>
          <p:cNvPr id="1048895" name=""/>
          <p:cNvSpPr/>
          <p:nvPr>
            <p:ph type="sldImg" sz="full" idx="0"/>
          </p:nvPr>
        </p:nvSpPr>
        <p:spPr>
          <a:xfrm rot="0">
            <a:off x="1189037" y="703262"/>
            <a:ext cx="4625975" cy="3470275"/>
          </a:xfrm>
          <a:prstGeom prst="rect"/>
        </p:spPr>
        <p:txBody>
          <a:bodyPr anchor="ctr" bIns="45720" lIns="91440" rIns="91440" tIns="45720"/>
          <a:p/>
        </p:txBody>
      </p:sp>
      <p:sp>
        <p:nvSpPr>
          <p:cNvPr id="1048896"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55" name=""/>
        <p:cNvGrpSpPr/>
        <p:nvPr/>
      </p:nvGrpSpPr>
      <p:grpSpPr>
        <a:xfrm rot="0">
          <a:off x="0" y="0"/>
          <a:ext cx="0" cy="0"/>
          <a:chOff x="0" y="0"/>
          <a:chExt cx="0" cy="0"/>
        </a:xfrm>
      </p:grpSpPr>
      <p:sp>
        <p:nvSpPr>
          <p:cNvPr id="1048902" name=""/>
          <p:cNvSpPr/>
          <p:nvPr>
            <p:ph type="sldImg" sz="full" idx="0"/>
          </p:nvPr>
        </p:nvSpPr>
        <p:spPr>
          <a:xfrm rot="0">
            <a:off x="1189037" y="703262"/>
            <a:ext cx="4627562" cy="3470275"/>
          </a:xfrm>
          <a:prstGeom prst="rect"/>
        </p:spPr>
        <p:txBody>
          <a:bodyPr anchor="ctr" bIns="45720" lIns="91440" rIns="91440" tIns="45720"/>
          <a:p/>
        </p:txBody>
      </p:sp>
      <p:sp>
        <p:nvSpPr>
          <p:cNvPr id="1048903"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58" name=""/>
        <p:cNvGrpSpPr/>
        <p:nvPr/>
      </p:nvGrpSpPr>
      <p:grpSpPr>
        <a:xfrm rot="0">
          <a:off x="0" y="0"/>
          <a:ext cx="0" cy="0"/>
          <a:chOff x="0" y="0"/>
          <a:chExt cx="0" cy="0"/>
        </a:xfrm>
      </p:grpSpPr>
      <p:sp>
        <p:nvSpPr>
          <p:cNvPr id="1048909" name=""/>
          <p:cNvSpPr/>
          <p:nvPr>
            <p:ph type="sldImg" sz="full" idx="0"/>
          </p:nvPr>
        </p:nvSpPr>
        <p:spPr>
          <a:xfrm rot="0">
            <a:off x="1189037" y="703262"/>
            <a:ext cx="4625975" cy="3470275"/>
          </a:xfrm>
          <a:prstGeom prst="rect"/>
        </p:spPr>
        <p:txBody>
          <a:bodyPr anchor="ctr" bIns="45720" lIns="91440" rIns="91440" tIns="45720"/>
          <a:p/>
        </p:txBody>
      </p:sp>
      <p:sp>
        <p:nvSpPr>
          <p:cNvPr id="1048910"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61" name=""/>
        <p:cNvGrpSpPr/>
        <p:nvPr/>
      </p:nvGrpSpPr>
      <p:grpSpPr>
        <a:xfrm rot="0">
          <a:off x="0" y="0"/>
          <a:ext cx="0" cy="0"/>
          <a:chOff x="0" y="0"/>
          <a:chExt cx="0" cy="0"/>
        </a:xfrm>
      </p:grpSpPr>
      <p:sp>
        <p:nvSpPr>
          <p:cNvPr id="1048915" name=""/>
          <p:cNvSpPr/>
          <p:nvPr>
            <p:ph type="sldImg" sz="full" idx="0"/>
          </p:nvPr>
        </p:nvSpPr>
        <p:spPr>
          <a:xfrm rot="0">
            <a:off x="1189037" y="703262"/>
            <a:ext cx="4625975" cy="3470275"/>
          </a:xfrm>
          <a:prstGeom prst="rect"/>
        </p:spPr>
        <p:txBody>
          <a:bodyPr anchor="ctr" bIns="45720" lIns="91440" rIns="91440" tIns="45720"/>
          <a:p/>
        </p:txBody>
      </p:sp>
      <p:sp>
        <p:nvSpPr>
          <p:cNvPr id="1048916"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64" name=""/>
        <p:cNvGrpSpPr/>
        <p:nvPr/>
      </p:nvGrpSpPr>
      <p:grpSpPr>
        <a:xfrm rot="0">
          <a:off x="0" y="0"/>
          <a:ext cx="0" cy="0"/>
          <a:chOff x="0" y="0"/>
          <a:chExt cx="0" cy="0"/>
        </a:xfrm>
      </p:grpSpPr>
      <p:sp>
        <p:nvSpPr>
          <p:cNvPr id="1048921" name=""/>
          <p:cNvSpPr/>
          <p:nvPr>
            <p:ph type="sldImg" sz="full" idx="0"/>
          </p:nvPr>
        </p:nvSpPr>
        <p:spPr>
          <a:xfrm rot="0">
            <a:off x="1189037" y="703262"/>
            <a:ext cx="4625975" cy="3470275"/>
          </a:xfrm>
          <a:prstGeom prst="rect"/>
        </p:spPr>
        <p:txBody>
          <a:bodyPr anchor="ctr" bIns="45720" lIns="91440" rIns="91440" tIns="45720"/>
          <a:p/>
        </p:txBody>
      </p:sp>
      <p:sp>
        <p:nvSpPr>
          <p:cNvPr id="1048922"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67" name=""/>
        <p:cNvGrpSpPr/>
        <p:nvPr/>
      </p:nvGrpSpPr>
      <p:grpSpPr>
        <a:xfrm rot="0">
          <a:off x="0" y="0"/>
          <a:ext cx="0" cy="0"/>
          <a:chOff x="0" y="0"/>
          <a:chExt cx="0" cy="0"/>
        </a:xfrm>
      </p:grpSpPr>
      <p:sp>
        <p:nvSpPr>
          <p:cNvPr id="1048928" name=""/>
          <p:cNvSpPr/>
          <p:nvPr>
            <p:ph type="sldImg" sz="full" idx="0"/>
          </p:nvPr>
        </p:nvSpPr>
        <p:spPr>
          <a:xfrm rot="0">
            <a:off x="1189037" y="703262"/>
            <a:ext cx="4625975" cy="3470275"/>
          </a:xfrm>
          <a:prstGeom prst="rect"/>
        </p:spPr>
        <p:txBody>
          <a:bodyPr anchor="ctr" bIns="45720" lIns="91440" rIns="91440" tIns="45720"/>
          <a:p/>
        </p:txBody>
      </p:sp>
      <p:sp>
        <p:nvSpPr>
          <p:cNvPr id="1048929"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70" name=""/>
        <p:cNvGrpSpPr/>
        <p:nvPr/>
      </p:nvGrpSpPr>
      <p:grpSpPr>
        <a:xfrm rot="0">
          <a:off x="0" y="0"/>
          <a:ext cx="0" cy="0"/>
          <a:chOff x="0" y="0"/>
          <a:chExt cx="0" cy="0"/>
        </a:xfrm>
      </p:grpSpPr>
      <p:sp>
        <p:nvSpPr>
          <p:cNvPr id="1048935" name=""/>
          <p:cNvSpPr/>
          <p:nvPr>
            <p:ph type="sldImg" sz="full" idx="0"/>
          </p:nvPr>
        </p:nvSpPr>
        <p:spPr>
          <a:xfrm rot="0">
            <a:off x="1189037" y="703262"/>
            <a:ext cx="4627562" cy="3470275"/>
          </a:xfrm>
          <a:prstGeom prst="rect"/>
        </p:spPr>
        <p:txBody>
          <a:bodyPr anchor="ctr" bIns="45720" lIns="91440" rIns="91440" tIns="45720"/>
          <a:p/>
        </p:txBody>
      </p:sp>
      <p:sp>
        <p:nvSpPr>
          <p:cNvPr id="1048936"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73" name=""/>
        <p:cNvGrpSpPr/>
        <p:nvPr/>
      </p:nvGrpSpPr>
      <p:grpSpPr>
        <a:xfrm rot="0">
          <a:off x="0" y="0"/>
          <a:ext cx="0" cy="0"/>
          <a:chOff x="0" y="0"/>
          <a:chExt cx="0" cy="0"/>
        </a:xfrm>
      </p:grpSpPr>
      <p:sp>
        <p:nvSpPr>
          <p:cNvPr id="1048941" name=""/>
          <p:cNvSpPr/>
          <p:nvPr>
            <p:ph type="sldImg" sz="full" idx="0"/>
          </p:nvPr>
        </p:nvSpPr>
        <p:spPr>
          <a:xfrm rot="0">
            <a:off x="1189037" y="703262"/>
            <a:ext cx="4625975" cy="3470275"/>
          </a:xfrm>
          <a:prstGeom prst="rect"/>
        </p:spPr>
        <p:txBody>
          <a:bodyPr anchor="ctr" bIns="45720" lIns="91440" rIns="91440" tIns="45720"/>
          <a:p/>
        </p:txBody>
      </p:sp>
      <p:sp>
        <p:nvSpPr>
          <p:cNvPr id="1048942"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76" name=""/>
        <p:cNvGrpSpPr/>
        <p:nvPr/>
      </p:nvGrpSpPr>
      <p:grpSpPr>
        <a:xfrm rot="0">
          <a:off x="0" y="0"/>
          <a:ext cx="0" cy="0"/>
          <a:chOff x="0" y="0"/>
          <a:chExt cx="0" cy="0"/>
        </a:xfrm>
      </p:grpSpPr>
      <p:sp>
        <p:nvSpPr>
          <p:cNvPr id="1048947" name=""/>
          <p:cNvSpPr/>
          <p:nvPr>
            <p:ph type="sldImg" sz="full" idx="0"/>
          </p:nvPr>
        </p:nvSpPr>
        <p:spPr>
          <a:xfrm rot="0">
            <a:off x="1189037" y="703262"/>
            <a:ext cx="4625975" cy="3470275"/>
          </a:xfrm>
          <a:prstGeom prst="rect"/>
        </p:spPr>
        <p:txBody>
          <a:bodyPr anchor="ctr" bIns="45720" lIns="91440" rIns="91440" tIns="45720"/>
          <a:p/>
        </p:txBody>
      </p:sp>
      <p:sp>
        <p:nvSpPr>
          <p:cNvPr id="1048948"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79" name=""/>
        <p:cNvGrpSpPr/>
        <p:nvPr/>
      </p:nvGrpSpPr>
      <p:grpSpPr>
        <a:xfrm rot="0">
          <a:off x="0" y="0"/>
          <a:ext cx="0" cy="0"/>
          <a:chOff x="0" y="0"/>
          <a:chExt cx="0" cy="0"/>
        </a:xfrm>
      </p:grpSpPr>
      <p:sp>
        <p:nvSpPr>
          <p:cNvPr id="1048954" name=""/>
          <p:cNvSpPr/>
          <p:nvPr>
            <p:ph type="sldImg" sz="full" idx="0"/>
          </p:nvPr>
        </p:nvSpPr>
        <p:spPr>
          <a:xfrm rot="0">
            <a:off x="1189037" y="703262"/>
            <a:ext cx="4625975" cy="3470275"/>
          </a:xfrm>
          <a:prstGeom prst="rect"/>
        </p:spPr>
        <p:txBody>
          <a:bodyPr anchor="ctr" bIns="45720" lIns="91440" rIns="91440" tIns="45720"/>
          <a:p/>
        </p:txBody>
      </p:sp>
      <p:sp>
        <p:nvSpPr>
          <p:cNvPr id="1048955"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82" name=""/>
        <p:cNvGrpSpPr/>
        <p:nvPr/>
      </p:nvGrpSpPr>
      <p:grpSpPr>
        <a:xfrm rot="0">
          <a:off x="0" y="0"/>
          <a:ext cx="0" cy="0"/>
          <a:chOff x="0" y="0"/>
          <a:chExt cx="0" cy="0"/>
        </a:xfrm>
      </p:grpSpPr>
      <p:sp>
        <p:nvSpPr>
          <p:cNvPr id="1048961" name=""/>
          <p:cNvSpPr/>
          <p:nvPr>
            <p:ph type="sldImg" sz="full" idx="0"/>
          </p:nvPr>
        </p:nvSpPr>
        <p:spPr>
          <a:xfrm rot="0">
            <a:off x="1189037" y="703262"/>
            <a:ext cx="4627562" cy="3470275"/>
          </a:xfrm>
          <a:prstGeom prst="rect"/>
        </p:spPr>
        <p:txBody>
          <a:bodyPr anchor="ctr" bIns="45720" lIns="91440" rIns="91440" tIns="45720"/>
          <a:p/>
        </p:txBody>
      </p:sp>
      <p:sp>
        <p:nvSpPr>
          <p:cNvPr id="1048962"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85" name=""/>
        <p:cNvGrpSpPr/>
        <p:nvPr/>
      </p:nvGrpSpPr>
      <p:grpSpPr>
        <a:xfrm rot="0">
          <a:off x="0" y="0"/>
          <a:ext cx="0" cy="0"/>
          <a:chOff x="0" y="0"/>
          <a:chExt cx="0" cy="0"/>
        </a:xfrm>
      </p:grpSpPr>
      <p:sp>
        <p:nvSpPr>
          <p:cNvPr id="1048968" name=""/>
          <p:cNvSpPr/>
          <p:nvPr>
            <p:ph type="sldImg" sz="full" idx="0"/>
          </p:nvPr>
        </p:nvSpPr>
        <p:spPr>
          <a:xfrm rot="0">
            <a:off x="1189037" y="703262"/>
            <a:ext cx="4625975" cy="3470275"/>
          </a:xfrm>
          <a:prstGeom prst="rect"/>
        </p:spPr>
        <p:txBody>
          <a:bodyPr anchor="ctr" bIns="45720" lIns="91440" rIns="91440" tIns="45720"/>
          <a:p/>
        </p:txBody>
      </p:sp>
      <p:sp>
        <p:nvSpPr>
          <p:cNvPr id="1048969"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88" name=""/>
        <p:cNvGrpSpPr/>
        <p:nvPr/>
      </p:nvGrpSpPr>
      <p:grpSpPr>
        <a:xfrm rot="0">
          <a:off x="0" y="0"/>
          <a:ext cx="0" cy="0"/>
          <a:chOff x="0" y="0"/>
          <a:chExt cx="0" cy="0"/>
        </a:xfrm>
      </p:grpSpPr>
      <p:sp>
        <p:nvSpPr>
          <p:cNvPr id="1048975" name=""/>
          <p:cNvSpPr/>
          <p:nvPr>
            <p:ph type="sldImg" sz="full" idx="0"/>
          </p:nvPr>
        </p:nvSpPr>
        <p:spPr>
          <a:xfrm rot="0">
            <a:off x="1189037" y="703262"/>
            <a:ext cx="4627562" cy="3470275"/>
          </a:xfrm>
          <a:prstGeom prst="rect"/>
        </p:spPr>
        <p:txBody>
          <a:bodyPr anchor="ctr" bIns="45720" lIns="91440" rIns="91440" tIns="45720"/>
          <a:p/>
        </p:txBody>
      </p:sp>
      <p:sp>
        <p:nvSpPr>
          <p:cNvPr id="1048976" name=""/>
          <p:cNvSpPr/>
          <p:nvPr>
            <p:ph type="body" sz="full" idx="1"/>
          </p:nvPr>
        </p:nvSpPr>
        <p:spPr>
          <a:xfrm rot="0">
            <a:off x="388937" y="4413250"/>
            <a:ext cx="6303962" cy="4179887"/>
          </a:xfrm>
          <a:prstGeom prst="rect"/>
          <a:noFill/>
        </p:spPr>
        <p:txBody>
          <a:bodyPr anchor="t" bIns="45130" lIns="91871" rIns="91871" tIns="45130"/>
          <a:p>
            <a:pPr indent="-346075" lvl="0" marL="346075">
              <a:lnSpc>
                <a:spcPct val="125000"/>
              </a:lnSpc>
            </a:pPr>
            <a:r>
              <a:rPr altLang="en-US" b="1" sz="1600" lang="en-US">
                <a:latin typeface="Comic Sans MS" pitchFamily="66" charset="0"/>
              </a:rPr>
              <a:t>Question 4-18 (textbook)</a:t>
            </a:r>
          </a:p>
          <a:p>
            <a:pPr indent="-346075" lvl="0" marL="346075">
              <a:lnSpc>
                <a:spcPct val="125000"/>
              </a:lnSpc>
            </a:pPr>
            <a:r>
              <a:rPr altLang="en-US" sz="1600" lang="en-US">
                <a:latin typeface="Comic Sans MS" pitchFamily="66" charset="0"/>
              </a:rPr>
              <a:t>(a) The owner’s equity section for a corporation is called </a:t>
            </a:r>
            <a:r>
              <a:rPr altLang="en-US" b="1" sz="1600" lang="en-US">
                <a:latin typeface="Comic Sans MS" pitchFamily="66" charset="0"/>
              </a:rPr>
              <a:t>stockholders’ equity</a:t>
            </a:r>
            <a:r>
              <a:rPr altLang="en-US" sz="1600" lang="en-US">
                <a:latin typeface="Comic Sans MS" pitchFamily="66" charset="0"/>
              </a:rPr>
              <a:t>.</a:t>
            </a:r>
          </a:p>
          <a:p>
            <a:pPr indent="-346075" lvl="0" marL="346075">
              <a:lnSpc>
                <a:spcPct val="125000"/>
              </a:lnSpc>
            </a:pPr>
            <a:r>
              <a:rPr altLang="en-US" sz="1600" lang="en-US">
                <a:latin typeface="Comic Sans MS" pitchFamily="66" charset="0"/>
              </a:rPr>
              <a:t>(b) The two accounts and the purpose of each are: </a:t>
            </a:r>
          </a:p>
          <a:p>
            <a:pPr indent="-334962" lvl="1" marL="795337">
              <a:lnSpc>
                <a:spcPct val="125000"/>
              </a:lnSpc>
              <a:buFontTx/>
              <a:buAutoNum type="arabicPeriod" startAt="1"/>
            </a:pPr>
            <a:r>
              <a:rPr altLang="en-US" b="1" sz="1600" lang="en-US">
                <a:latin typeface="Comic Sans MS" pitchFamily="66" charset="0"/>
              </a:rPr>
              <a:t>Capital stock </a:t>
            </a:r>
            <a:r>
              <a:rPr altLang="en-US" sz="1600" lang="en-US">
                <a:latin typeface="Comic Sans MS" pitchFamily="66" charset="0"/>
              </a:rPr>
              <a:t>is used to record investments of assets in the business by the owners (stockholders). </a:t>
            </a:r>
          </a:p>
          <a:p>
            <a:pPr indent="-334962" lvl="1" marL="795337">
              <a:lnSpc>
                <a:spcPct val="125000"/>
              </a:lnSpc>
              <a:buFontTx/>
              <a:buAutoNum type="arabicPeriod" startAt="1"/>
            </a:pPr>
            <a:r>
              <a:rPr altLang="en-US" b="1" sz="1600" lang="en-US">
                <a:latin typeface="Comic Sans MS" pitchFamily="66" charset="0"/>
              </a:rPr>
              <a:t>Retained earnings </a:t>
            </a:r>
            <a:r>
              <a:rPr altLang="en-US" sz="1600" lang="en-US">
                <a:latin typeface="Comic Sans MS" pitchFamily="66" charset="0"/>
              </a:rPr>
              <a:t>is used to record net income retained in the business.</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92" name=""/>
        <p:cNvGrpSpPr/>
        <p:nvPr/>
      </p:nvGrpSpPr>
      <p:grpSpPr>
        <a:xfrm rot="0">
          <a:off x="0" y="0"/>
          <a:ext cx="0" cy="0"/>
          <a:chOff x="0" y="0"/>
          <a:chExt cx="0" cy="0"/>
        </a:xfrm>
      </p:grpSpPr>
      <p:sp>
        <p:nvSpPr>
          <p:cNvPr id="1048981" name=""/>
          <p:cNvSpPr/>
          <p:nvPr>
            <p:ph type="sldImg" sz="full" idx="0"/>
          </p:nvPr>
        </p:nvSpPr>
        <p:spPr>
          <a:xfrm rot="0">
            <a:off x="1189037" y="703262"/>
            <a:ext cx="4625975" cy="3470275"/>
          </a:xfrm>
          <a:prstGeom prst="rect"/>
        </p:spPr>
        <p:txBody>
          <a:bodyPr anchor="ctr" bIns="45720" lIns="91440" rIns="91440" tIns="45720"/>
          <a:p/>
        </p:txBody>
      </p:sp>
      <p:sp>
        <p:nvSpPr>
          <p:cNvPr id="1048982" name=""/>
          <p:cNvSpPr/>
          <p:nvPr>
            <p:ph type="body" sz="full" idx="1"/>
          </p:nvPr>
        </p:nvSpPr>
        <p:spPr>
          <a:xfrm rot="0">
            <a:off x="388937" y="4413250"/>
            <a:ext cx="6303962" cy="4179887"/>
          </a:xfrm>
          <a:prstGeom prst="rect"/>
          <a:noFill/>
        </p:spPr>
        <p:txBody>
          <a:bodyPr anchor="t" bIns="45130" lIns="91871" rIns="91871" tIns="45130"/>
          <a:p>
            <a:endParaRPr altLang="en-US"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97" name=""/>
        <p:cNvGrpSpPr/>
        <p:nvPr/>
      </p:nvGrpSpPr>
      <p:grpSpPr>
        <a:xfrm rot="0">
          <a:off x="0" y="0"/>
          <a:ext cx="0" cy="0"/>
          <a:chOff x="0" y="0"/>
          <a:chExt cx="0" cy="0"/>
        </a:xfrm>
      </p:grpSpPr>
      <p:sp>
        <p:nvSpPr>
          <p:cNvPr id="1048989" name=""/>
          <p:cNvSpPr/>
          <p:nvPr>
            <p:ph type="sldImg" sz="full" idx="0"/>
          </p:nvPr>
        </p:nvSpPr>
        <p:spPr>
          <a:xfrm rot="0">
            <a:off x="1182687" y="698500"/>
            <a:ext cx="4638675" cy="3479800"/>
          </a:xfrm>
          <a:prstGeom prst="rect"/>
        </p:spPr>
        <p:txBody>
          <a:bodyPr anchor="ctr" bIns="45720" lIns="91440" rIns="91440" tIns="45720"/>
          <a:p/>
        </p:txBody>
      </p:sp>
      <p:sp>
        <p:nvSpPr>
          <p:cNvPr id="1048990" name=""/>
          <p:cNvSpPr/>
          <p:nvPr>
            <p:ph type="body" sz="full" idx="1"/>
          </p:nvPr>
        </p:nvSpPr>
        <p:spPr>
          <a:xfrm rot="0">
            <a:off x="933450" y="4413250"/>
            <a:ext cx="5137150" cy="4179887"/>
          </a:xfrm>
          <a:prstGeom prst="rect"/>
          <a:noFill/>
        </p:spPr>
        <p:txBody>
          <a:bodyPr anchor="t" bIns="46742" lIns="93482" rIns="93482" tIns="46742"/>
          <a:p>
            <a:endParaRPr altLang="en-US"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04" name=""/>
        <p:cNvGrpSpPr/>
        <p:nvPr/>
      </p:nvGrpSpPr>
      <p:grpSpPr>
        <a:xfrm>
          <a:off x="0" y="0"/>
          <a:ext cx="0" cy="0"/>
          <a:chOff x="0" y="0"/>
          <a:chExt cx="0" cy="0"/>
        </a:xfrm>
      </p:grpSpPr>
      <p:sp>
        <p:nvSpPr>
          <p:cNvPr id="1049009" name="Title 1"/>
          <p:cNvSpPr>
            <a:spLocks noGrp="1"/>
          </p:cNvSpPr>
          <p:nvPr>
            <p:ph type="ctrTitle"/>
          </p:nvPr>
        </p:nvSpPr>
        <p:spPr>
          <a:xfrm>
            <a:off x="685800" y="2130425"/>
            <a:ext cx="7772400" cy="1470025"/>
          </a:xfrm>
        </p:spPr>
        <p:txBody>
          <a:bodyPr/>
          <a:p>
            <a:r>
              <a:rPr lang="en-US" smtClean="0"/>
              <a:t>Click to edit Master title style</a:t>
            </a:r>
            <a:endParaRPr lang="en-US"/>
          </a:p>
        </p:txBody>
      </p:sp>
      <p:sp>
        <p:nvSpPr>
          <p:cNvPr id="1049010" name="Subtitle 2"/>
          <p:cNvSpPr>
            <a:spLocks noGrp="1"/>
          </p:cNvSpPr>
          <p:nvPr>
            <p:ph type="subTitle" idx="1"/>
          </p:nvPr>
        </p:nvSpPr>
        <p:spPr>
          <a:xfrm>
            <a:off x="1371600" y="3886200"/>
            <a:ext cx="6400800" cy="1752600"/>
          </a:xfrm>
        </p:spPr>
        <p:txBody>
          <a:bodyPr/>
          <a:lstStyle>
            <a:lvl1pPr algn="ctr" indent="0" marL="0">
              <a:buNone/>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lang="en-US" smtClean="0"/>
              <a:t>Click to edit Master subtitle style</a:t>
            </a:r>
            <a:endParaRPr lang="en-US"/>
          </a:p>
        </p:txBody>
      </p:sp>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24" name=""/>
        <p:cNvGrpSpPr/>
        <p:nvPr/>
      </p:nvGrpSpPr>
      <p:grpSpPr>
        <a:xfrm>
          <a:off x="0" y="0"/>
          <a:ext cx="0" cy="0"/>
          <a:chOff x="0" y="0"/>
          <a:chExt cx="0" cy="0"/>
        </a:xfrm>
      </p:grpSpPr>
      <p:sp>
        <p:nvSpPr>
          <p:cNvPr id="1048582" name="Title 1"/>
          <p:cNvSpPr>
            <a:spLocks noGrp="1"/>
          </p:cNvSpPr>
          <p:nvPr>
            <p:ph type="title"/>
          </p:nvPr>
        </p:nvSpPr>
        <p:spPr/>
        <p:txBody>
          <a:bodyPr/>
          <a:p>
            <a:r>
              <a:rPr lang="en-US" smtClean="0"/>
              <a:t>Click to edit Master title style</a:t>
            </a:r>
            <a:endParaRPr lang="en-US"/>
          </a:p>
        </p:txBody>
      </p:sp>
      <p:sp>
        <p:nvSpPr>
          <p:cNvPr id="1048583"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202" name=""/>
        <p:cNvGrpSpPr/>
        <p:nvPr/>
      </p:nvGrpSpPr>
      <p:grpSpPr>
        <a:xfrm>
          <a:off x="0" y="0"/>
          <a:ext cx="0" cy="0"/>
          <a:chOff x="0" y="0"/>
          <a:chExt cx="0" cy="0"/>
        </a:xfrm>
      </p:grpSpPr>
      <p:sp>
        <p:nvSpPr>
          <p:cNvPr id="1049004"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US"/>
          </a:p>
        </p:txBody>
      </p:sp>
      <p:sp>
        <p:nvSpPr>
          <p:cNvPr id="1049005" name="Text Placeholder 2"/>
          <p:cNvSpPr>
            <a:spLocks noGrp="1"/>
          </p:cNvSpPr>
          <p:nvPr>
            <p:ph type="body" idx="1"/>
          </p:nvPr>
        </p:nvSpPr>
        <p:spPr>
          <a:xfrm>
            <a:off x="722313" y="2906713"/>
            <a:ext cx="7772400" cy="1500187"/>
          </a:xfrm>
        </p:spPr>
        <p:txBody>
          <a:bodyPr anchor="b"/>
          <a:lstStyle>
            <a:lvl1pPr indent="0" marL="0">
              <a:buNone/>
              <a:defRPr sz="2000"/>
            </a:lvl1pPr>
            <a:lvl2pPr indent="0" marL="457200">
              <a:buNone/>
              <a:defRPr sz="1800"/>
            </a:lvl2pPr>
            <a:lvl3pPr indent="0" marL="914400">
              <a:buNone/>
              <a:defRPr sz="1600"/>
            </a:lvl3pPr>
            <a:lvl4pPr indent="0" marL="1371600">
              <a:buNone/>
              <a:defRPr sz="1400"/>
            </a:lvl4pPr>
            <a:lvl5pPr indent="0" marL="1828800">
              <a:buNone/>
              <a:defRPr sz="1400"/>
            </a:lvl5pPr>
            <a:lvl6pPr indent="0" marL="2286000">
              <a:buNone/>
              <a:defRPr sz="1400"/>
            </a:lvl6pPr>
            <a:lvl7pPr indent="0" marL="2743200">
              <a:buNone/>
              <a:defRPr sz="1400"/>
            </a:lvl7pPr>
            <a:lvl8pPr indent="0" marL="3200400">
              <a:buNone/>
              <a:defRPr sz="1400"/>
            </a:lvl8pPr>
            <a:lvl9pPr indent="0" marL="3657600">
              <a:buNone/>
              <a:defRPr sz="1400"/>
            </a:lvl9pPr>
          </a:lstStyle>
          <a:p>
            <a:pPr lvl="0"/>
            <a:r>
              <a:rPr lang="en-US" smtClean="0"/>
              <a:t>Click to edit Master text styles</a:t>
            </a:r>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203" name=""/>
        <p:cNvGrpSpPr/>
        <p:nvPr/>
      </p:nvGrpSpPr>
      <p:grpSpPr>
        <a:xfrm>
          <a:off x="0" y="0"/>
          <a:ext cx="0" cy="0"/>
          <a:chOff x="0" y="0"/>
          <a:chExt cx="0" cy="0"/>
        </a:xfrm>
      </p:grpSpPr>
      <p:sp>
        <p:nvSpPr>
          <p:cNvPr id="1049006" name="Title 1"/>
          <p:cNvSpPr>
            <a:spLocks noGrp="1"/>
          </p:cNvSpPr>
          <p:nvPr>
            <p:ph type="title"/>
          </p:nvPr>
        </p:nvSpPr>
        <p:spPr/>
        <p:txBody>
          <a:bodyPr/>
          <a:p>
            <a:r>
              <a:rPr lang="en-US" smtClean="0"/>
              <a:t>Click to edit Master title style</a:t>
            </a:r>
            <a:endParaRPr lang="en-US"/>
          </a:p>
        </p:txBody>
      </p:sp>
      <p:sp>
        <p:nvSpPr>
          <p:cNvPr id="1049007" name="Content Placeholder 2"/>
          <p:cNvSpPr>
            <a:spLocks noGrp="1"/>
          </p:cNvSpPr>
          <p:nvPr>
            <p:ph sz="half" idx="1"/>
          </p:nvPr>
        </p:nvSpPr>
        <p:spPr>
          <a:xfrm>
            <a:off x="381000" y="1143000"/>
            <a:ext cx="41148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008" name="Content Placeholder 3"/>
          <p:cNvSpPr>
            <a:spLocks noGrp="1"/>
          </p:cNvSpPr>
          <p:nvPr>
            <p:ph sz="half" idx="2"/>
          </p:nvPr>
        </p:nvSpPr>
        <p:spPr>
          <a:xfrm>
            <a:off x="4648200" y="1143000"/>
            <a:ext cx="41148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201" name=""/>
        <p:cNvGrpSpPr/>
        <p:nvPr/>
      </p:nvGrpSpPr>
      <p:grpSpPr>
        <a:xfrm>
          <a:off x="0" y="0"/>
          <a:ext cx="0" cy="0"/>
          <a:chOff x="0" y="0"/>
          <a:chExt cx="0" cy="0"/>
        </a:xfrm>
      </p:grpSpPr>
      <p:sp>
        <p:nvSpPr>
          <p:cNvPr id="1048999" name="Title 1"/>
          <p:cNvSpPr>
            <a:spLocks noGrp="1"/>
          </p:cNvSpPr>
          <p:nvPr>
            <p:ph type="title"/>
          </p:nvPr>
        </p:nvSpPr>
        <p:spPr>
          <a:xfrm>
            <a:off x="457200" y="274638"/>
            <a:ext cx="8229600" cy="1143000"/>
          </a:xfrm>
        </p:spPr>
        <p:txBody>
          <a:bodyPr/>
          <a:p>
            <a:r>
              <a:rPr lang="en-US" smtClean="0"/>
              <a:t>Click to edit Master title style</a:t>
            </a:r>
            <a:endParaRPr lang="en-US"/>
          </a:p>
        </p:txBody>
      </p:sp>
      <p:sp>
        <p:nvSpPr>
          <p:cNvPr id="1049000"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9001"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9002"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9003"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94" name=""/>
        <p:cNvGrpSpPr/>
        <p:nvPr/>
      </p:nvGrpSpPr>
      <p:grpSpPr>
        <a:xfrm>
          <a:off x="0" y="0"/>
          <a:ext cx="0" cy="0"/>
          <a:chOff x="0" y="0"/>
          <a:chExt cx="0" cy="0"/>
        </a:xfrm>
      </p:grpSpPr>
      <p:sp>
        <p:nvSpPr>
          <p:cNvPr id="1048986" name="Title 1"/>
          <p:cNvSpPr>
            <a:spLocks noGrp="1"/>
          </p:cNvSpPr>
          <p:nvPr>
            <p:ph type="title"/>
          </p:nvPr>
        </p:nvSpPr>
        <p:spPr/>
        <p:txBody>
          <a:bodyPr/>
          <a:p>
            <a:r>
              <a:rPr lang="en-US" smtClean="0"/>
              <a:t>Click to edit Master title style</a:t>
            </a:r>
            <a:endParaRPr lang="en-US"/>
          </a:p>
        </p:txBody>
      </p:sp>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90" name=""/>
        <p:cNvGrpSpPr/>
        <p:nvPr/>
      </p:nvGrpSpPr>
      <p:grpSpPr>
        <a:xfrm>
          <a:off x="0" y="0"/>
          <a:ext cx="0" cy="0"/>
          <a:chOff x="0" y="0"/>
          <a:chExt cx="0" cy="0"/>
        </a:xfrm>
      </p:grpSpPr>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98" name=""/>
        <p:cNvGrpSpPr/>
        <p:nvPr/>
      </p:nvGrpSpPr>
      <p:grpSpPr>
        <a:xfrm>
          <a:off x="0" y="0"/>
          <a:ext cx="0" cy="0"/>
          <a:chOff x="0" y="0"/>
          <a:chExt cx="0" cy="0"/>
        </a:xfrm>
      </p:grpSpPr>
      <p:sp>
        <p:nvSpPr>
          <p:cNvPr id="1048991"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US"/>
          </a:p>
        </p:txBody>
      </p:sp>
      <p:sp>
        <p:nvSpPr>
          <p:cNvPr id="1048992"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993"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200" name=""/>
        <p:cNvGrpSpPr/>
        <p:nvPr/>
      </p:nvGrpSpPr>
      <p:grpSpPr>
        <a:xfrm>
          <a:off x="0" y="0"/>
          <a:ext cx="0" cy="0"/>
          <a:chOff x="0" y="0"/>
          <a:chExt cx="0" cy="0"/>
        </a:xfrm>
      </p:grpSpPr>
      <p:sp>
        <p:nvSpPr>
          <p:cNvPr id="1048996"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US"/>
          </a:p>
        </p:txBody>
      </p:sp>
      <p:sp>
        <p:nvSpPr>
          <p:cNvPr id="1048997" name="Picture Placeholder 2"/>
          <p:cNvSpPr>
            <a:spLocks noGrp="1"/>
          </p:cNvSpPr>
          <p:nvPr>
            <p:ph type="pic" idx="1"/>
          </p:nvPr>
        </p:nvSpPr>
        <p:spPr>
          <a:xfrm>
            <a:off x="1792288" y="612775"/>
            <a:ext cx="5486400" cy="4114800"/>
          </a:xfrm>
        </p:spPr>
        <p:txBody>
          <a:bodyPr anchor="t" anchorCtr="0" bIns="46038" compatLnSpc="1" lIns="182562" numCol="1" rIns="182562" tIns="46038" vert="horz" wrap="square">
            <a:prstTxWarp prst="textNoShape"/>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algn="l" defTabSz="914400" eaLnBrk="0" fontAlgn="base" hangingPunct="0" indent="0" latinLnBrk="0" lvl="0" marL="0" marR="0" rtl="0">
              <a:lnSpc>
                <a:spcPct val="100000"/>
              </a:lnSpc>
              <a:spcBef>
                <a:spcPct val="20000"/>
              </a:spcBef>
              <a:spcAft>
                <a:spcPct val="0"/>
              </a:spcAft>
              <a:buClr>
                <a:schemeClr val="accent2"/>
              </a:buClr>
              <a:buSzPct val="75000"/>
              <a:buFont typeface="Wingdings" pitchFamily="2" charset="2"/>
              <a:buNone/>
            </a:pPr>
            <a:endParaRPr baseline="0" b="1" cap="none" sz="3200" i="0" kern="0" kumimoji="0" lang="en-US" noProof="0" normalizeH="0" spc="0" strike="noStrike" u="none" smtClean="0">
              <a:ln>
                <a:noFill/>
              </a:ln>
              <a:solidFill>
                <a:schemeClr val="bg2"/>
              </a:solidFill>
              <a:effectLst>
                <a:outerShdw algn="tl" blurRad="38100" dir="2700000" dist="38100">
                  <a:srgbClr val="C0C0C0"/>
                </a:outerShdw>
              </a:effectLst>
              <a:uLnTx/>
              <a:uFillTx/>
              <a:latin typeface="+mn-lt"/>
              <a:ea typeface="+mn-ea"/>
              <a:cs typeface="+mn-cs"/>
            </a:endParaRPr>
          </a:p>
        </p:txBody>
      </p:sp>
      <p:sp>
        <p:nvSpPr>
          <p:cNvPr id="1048998"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205" name=""/>
        <p:cNvGrpSpPr/>
        <p:nvPr/>
      </p:nvGrpSpPr>
      <p:grpSpPr>
        <a:xfrm>
          <a:off x="0" y="0"/>
          <a:ext cx="0" cy="0"/>
          <a:chOff x="0" y="0"/>
          <a:chExt cx="0" cy="0"/>
        </a:xfrm>
      </p:grpSpPr>
      <p:sp>
        <p:nvSpPr>
          <p:cNvPr id="1049011" name="Title 1"/>
          <p:cNvSpPr>
            <a:spLocks noGrp="1"/>
          </p:cNvSpPr>
          <p:nvPr>
            <p:ph type="title"/>
          </p:nvPr>
        </p:nvSpPr>
        <p:spPr/>
        <p:txBody>
          <a:bodyPr/>
          <a:p>
            <a:r>
              <a:rPr lang="en-US" smtClean="0"/>
              <a:t>Click to edit Master title style</a:t>
            </a:r>
            <a:endParaRPr lang="en-US"/>
          </a:p>
        </p:txBody>
      </p:sp>
      <p:sp>
        <p:nvSpPr>
          <p:cNvPr id="1049012"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99" name=""/>
        <p:cNvGrpSpPr/>
        <p:nvPr/>
      </p:nvGrpSpPr>
      <p:grpSpPr>
        <a:xfrm>
          <a:off x="0" y="0"/>
          <a:ext cx="0" cy="0"/>
          <a:chOff x="0" y="0"/>
          <a:chExt cx="0" cy="0"/>
        </a:xfrm>
      </p:grpSpPr>
      <p:sp>
        <p:nvSpPr>
          <p:cNvPr id="1048994" name="Vertical Title 1"/>
          <p:cNvSpPr>
            <a:spLocks noGrp="1"/>
          </p:cNvSpPr>
          <p:nvPr>
            <p:ph type="title" orient="vert"/>
          </p:nvPr>
        </p:nvSpPr>
        <p:spPr>
          <a:xfrm>
            <a:off x="6667500" y="354013"/>
            <a:ext cx="2095500" cy="5589587"/>
          </a:xfrm>
        </p:spPr>
        <p:txBody>
          <a:bodyPr vert="eaVert"/>
          <a:p>
            <a:r>
              <a:rPr lang="en-US" smtClean="0"/>
              <a:t>Click to edit Master title style</a:t>
            </a:r>
            <a:endParaRPr lang="en-US"/>
          </a:p>
        </p:txBody>
      </p:sp>
      <p:sp>
        <p:nvSpPr>
          <p:cNvPr id="1048995" name="Vertical Text Placeholder 2"/>
          <p:cNvSpPr>
            <a:spLocks noGrp="1"/>
          </p:cNvSpPr>
          <p:nvPr>
            <p:ph type="body" orient="vert" idx="1"/>
          </p:nvPr>
        </p:nvSpPr>
        <p:spPr>
          <a:xfrm>
            <a:off x="381000" y="354013"/>
            <a:ext cx="6134100" cy="5589587"/>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Pr>
        <a:solidFill>
          <a:schemeClr val="lt1"/>
        </a:solidFill>
      </p:bgPr>
    </p:bg>
    <p:spTree>
      <p:nvGrpSpPr>
        <p:cNvPr id="22" name=""/>
        <p:cNvGrpSpPr/>
        <p:nvPr/>
      </p:nvGrpSpPr>
      <p:grpSpPr>
        <a:xfrm rot="0">
          <a:off x="0" y="0"/>
          <a:ext cx="0" cy="0"/>
          <a:chOff x="0" y="0"/>
          <a:chExt cx="0" cy="0"/>
        </a:xfrm>
      </p:grpSpPr>
      <p:sp>
        <p:nvSpPr>
          <p:cNvPr id="1048576" name=""/>
          <p:cNvSpPr/>
          <p:nvPr>
            <p:ph type="title" sz="full" idx="0"/>
          </p:nvPr>
        </p:nvSpPr>
        <p:spPr>
          <a:xfrm rot="0">
            <a:off x="1149350" y="354012"/>
            <a:ext cx="7607300" cy="560387"/>
          </a:xfrm>
          <a:prstGeom prst="rect"/>
          <a:solidFill>
            <a:srgbClr val="003399"/>
          </a:solidFill>
          <a:ln w="63500" cap="flat" cmpd="sng">
            <a:solidFill>
              <a:srgbClr val="54385C">
                <a:alpha val="100000"/>
              </a:srgbClr>
            </a:solidFill>
            <a:prstDash val="solid"/>
            <a:round/>
          </a:ln>
        </p:spPr>
        <p:txBody>
          <a:bodyPr anchor="ctr" bIns="46038" lIns="92075" rIns="92075" tIns="46038"/>
          <a:p>
            <a:pPr lvl="0"/>
            <a:r>
              <a:rPr altLang="en-US" lang="en-US"/>
              <a:t>Click to edit Master title style</a:t>
            </a:r>
          </a:p>
        </p:txBody>
      </p:sp>
      <p:sp>
        <p:nvSpPr>
          <p:cNvPr id="1048577" name=""/>
          <p:cNvSpPr/>
          <p:nvPr>
            <p:ph type="body" sz="full" idx="1"/>
          </p:nvPr>
        </p:nvSpPr>
        <p:spPr>
          <a:xfrm rot="0">
            <a:off x="381000" y="1143000"/>
            <a:ext cx="8382000" cy="4800600"/>
          </a:xfrm>
          <a:prstGeom prst="rect"/>
          <a:noFill/>
          <a:ln>
            <a:noFill/>
          </a:ln>
        </p:spPr>
        <p:txBody>
          <a:bodyPr bIns="46038" lIns="182562" rIns="182562" tIns="46038"/>
          <a:p>
            <a:pPr lvl="0"/>
            <a:r>
              <a:rPr altLang="en-US" lang="en-US"/>
              <a:t>Click to edit Master text styles</a:t>
            </a:r>
          </a:p>
          <a:p>
            <a:pPr lvl="1"/>
            <a:r>
              <a:rPr altLang="en-US" lang="en-US"/>
              <a:t>Second Level</a:t>
            </a:r>
          </a:p>
          <a:p>
            <a:pPr lvl="2"/>
            <a:r>
              <a:rPr altLang="en-US" lang="en-US"/>
              <a:t>Third Level</a:t>
            </a:r>
          </a:p>
          <a:p>
            <a:pPr lvl="3"/>
            <a:r>
              <a:rPr altLang="en-US" lang="en-US"/>
              <a:t>Fourth Level</a:t>
            </a:r>
          </a:p>
          <a:p>
            <a:pPr lvl="4"/>
            <a:r>
              <a:rPr altLang="en-US" lang="en-US"/>
              <a:t>Fifth Level</a:t>
            </a:r>
          </a:p>
        </p:txBody>
      </p:sp>
      <p:sp>
        <p:nvSpPr>
          <p:cNvPr id="1048578" name=""/>
          <p:cNvSpPr txBox="1"/>
          <p:nvPr/>
        </p:nvSpPr>
        <p:spPr>
          <a:xfrm rot="0">
            <a:off x="152400" y="6248400"/>
            <a:ext cx="838200" cy="457200"/>
          </a:xfrm>
          <a:prstGeom prst="rect"/>
          <a:noFill/>
          <a:ln>
            <a:noFill/>
          </a:ln>
        </p:spPr>
        <p:txBody>
          <a:bodyPr bIns="45720" lIns="91440" rIns="91440" tIns="45720">
            <a:spAutoFit/>
          </a:bodyPr>
          <a:lstStyle>
            <a:lvl1pPr algn="l" eaLnBrk="1" fontAlgn="base" hangingPunct="1" indent="0" latinLnBrk="1" marL="0" rtl="0">
              <a:lnSpc>
                <a:spcPct val="100000"/>
              </a:lnSpc>
              <a:spcBef>
                <a:spcPct val="0"/>
              </a:spcBef>
              <a:spcAft>
                <a:spcPct val="0"/>
              </a:spcAft>
              <a:buFontTx/>
              <a:buNone/>
              <a:defRPr baseline="0" b="0" sz="1800" i="0">
                <a:solidFill>
                  <a:schemeClr val="dk1"/>
                </a:solidFill>
                <a:latin typeface="Arial" pitchFamily="0" charset="0"/>
                <a:sym typeface="Comic Sans MS" pitchFamily="66" charset="0"/>
              </a:defRPr>
            </a:lvl1pPr>
            <a:lvl2pPr algn="l" eaLnBrk="1" fontAlgn="base" hangingPunct="1" indent="0" latinLnBrk="1" marL="457200" rtl="0">
              <a:lnSpc>
                <a:spcPct val="100000"/>
              </a:lnSpc>
              <a:spcBef>
                <a:spcPct val="0"/>
              </a:spcBef>
              <a:spcAft>
                <a:spcPct val="0"/>
              </a:spcAft>
              <a:buFontTx/>
              <a:buNone/>
              <a:defRPr baseline="0" b="0" sz="1800" i="0">
                <a:solidFill>
                  <a:schemeClr val="dk1"/>
                </a:solidFill>
                <a:latin typeface="Arial" pitchFamily="0" charset="0"/>
                <a:sym typeface="Comic Sans MS" pitchFamily="66" charset="0"/>
              </a:defRPr>
            </a:lvl2pPr>
            <a:lvl3pPr algn="l" eaLnBrk="1" fontAlgn="base" hangingPunct="1" indent="0" latinLnBrk="1" marL="914400" rtl="0">
              <a:lnSpc>
                <a:spcPct val="100000"/>
              </a:lnSpc>
              <a:spcBef>
                <a:spcPct val="0"/>
              </a:spcBef>
              <a:spcAft>
                <a:spcPct val="0"/>
              </a:spcAft>
              <a:buFontTx/>
              <a:buNone/>
              <a:defRPr baseline="0" b="0" sz="1800" i="0">
                <a:solidFill>
                  <a:schemeClr val="dk1"/>
                </a:solidFill>
                <a:latin typeface="Arial" pitchFamily="0" charset="0"/>
                <a:sym typeface="Comic Sans MS" pitchFamily="66" charset="0"/>
              </a:defRPr>
            </a:lvl3pPr>
            <a:lvl4pPr algn="l" eaLnBrk="1" fontAlgn="base" hangingPunct="1" indent="0" latinLnBrk="1" marL="1371600" rtl="0">
              <a:lnSpc>
                <a:spcPct val="100000"/>
              </a:lnSpc>
              <a:spcBef>
                <a:spcPct val="0"/>
              </a:spcBef>
              <a:spcAft>
                <a:spcPct val="0"/>
              </a:spcAft>
              <a:buFontTx/>
              <a:buNone/>
              <a:defRPr baseline="0" b="0" sz="1800" i="0">
                <a:solidFill>
                  <a:schemeClr val="dk1"/>
                </a:solidFill>
                <a:latin typeface="Arial" pitchFamily="0" charset="0"/>
                <a:sym typeface="Comic Sans MS" pitchFamily="66" charset="0"/>
              </a:defRPr>
            </a:lvl4pPr>
            <a:lvl5pPr algn="l" eaLnBrk="1" fontAlgn="base" hangingPunct="1" indent="0" latinLnBrk="1" marL="1828800" rtl="0">
              <a:lnSpc>
                <a:spcPct val="100000"/>
              </a:lnSpc>
              <a:spcBef>
                <a:spcPct val="0"/>
              </a:spcBef>
              <a:spcAft>
                <a:spcPct val="0"/>
              </a:spcAft>
              <a:buFontTx/>
              <a:buNone/>
              <a:defRPr baseline="0" b="0" sz="1800" i="0">
                <a:solidFill>
                  <a:schemeClr val="dk1"/>
                </a:solidFill>
                <a:latin typeface="Arial" pitchFamily="0" charset="0"/>
                <a:sym typeface="Comic Sans MS" pitchFamily="66" charset="0"/>
              </a:defRPr>
            </a:lvl5pPr>
          </a:lstStyle>
          <a:p>
            <a:pPr lvl="0">
              <a:spcBef>
                <a:spcPct val="50000"/>
              </a:spcBef>
            </a:pPr>
            <a:r>
              <a:rPr altLang="en-US" b="1" sz="1200" lang="en-US">
                <a:latin typeface="Arial" pitchFamily="0" charset="0"/>
              </a:rPr>
              <a:t>Chapter 4-</a:t>
            </a:r>
            <a:fld id="{566ABCEB-ACFC-4714-9973-3DA970169C29}" type="slidenum">
              <a:rPr altLang="en-US" b="1" sz="1200" lang="en-US">
                <a:latin typeface="Arial" pitchFamily="0" charset="0"/>
              </a:rPr>
              <a:pPr lvl="0">
                <a:spcBef>
                  <a:spcPct val="50000"/>
                </a:spcBef>
              </a:pPr>
            </a:fld>
            <a:endParaRPr altLang="en-US" b="1" sz="1200" lang="en-US">
              <a:latin typeface="Arial" pitchFamily="0" charset="0"/>
            </a:endParaRPr>
          </a:p>
        </p:txBody>
      </p:sp>
    </p:spTree>
  </p:cSld>
  <p:clrMap accent1="accent1" accent2="accent2" accent3="accent3" accent4="accent4" accent5="accent5" accent6="accent6" bg1="lt1" bg2="dk2" tx1="dk1" tx2="lt2"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sldNum="0"/>
  <p:txStyles>
    <p:titleStyle>
      <a:lvl1pPr algn="ctr" eaLnBrk="0" fontAlgn="base" hangingPunct="0" rtl="0">
        <a:spcBef>
          <a:spcPct val="0"/>
        </a:spcBef>
        <a:spcAft>
          <a:spcPct val="0"/>
        </a:spcAft>
        <a:defRPr b="1" sz="3000" i="1">
          <a:solidFill>
            <a:schemeClr val="tx1"/>
          </a:solidFill>
          <a:effectLst>
            <a:outerShdw algn="tl" blurRad="38100" dir="2700000" dist="38100">
              <a:srgbClr val="FFFFFF"/>
            </a:outerShdw>
          </a:effectLst>
          <a:latin typeface="+mj-lt"/>
          <a:ea typeface="+mj-ea"/>
          <a:cs typeface="+mj-cs"/>
        </a:defRPr>
      </a:lvl1pPr>
      <a:lvl2pPr algn="ctr" eaLnBrk="0" fontAlgn="base" hangingPunct="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2pPr>
      <a:lvl3pPr algn="ctr" eaLnBrk="0" fontAlgn="base" hangingPunct="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3pPr>
      <a:lvl4pPr algn="ctr" eaLnBrk="0" fontAlgn="base" hangingPunct="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4pPr>
      <a:lvl5pPr algn="ctr" eaLnBrk="0" fontAlgn="base" hangingPunct="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5pPr>
      <a:lvl6pPr algn="ctr" eaLnBrk="0" fontAlgn="base" hangingPunct="0" marL="45720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6pPr>
      <a:lvl7pPr algn="ctr" eaLnBrk="0" fontAlgn="base" hangingPunct="0" marL="91440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7pPr>
      <a:lvl8pPr algn="ctr" eaLnBrk="0" fontAlgn="base" hangingPunct="0" marL="137160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8pPr>
      <a:lvl9pPr algn="ctr" eaLnBrk="0" fontAlgn="base" hangingPunct="0" marL="1828800" rtl="0">
        <a:spcBef>
          <a:spcPct val="0"/>
        </a:spcBef>
        <a:spcAft>
          <a:spcPct val="0"/>
        </a:spcAft>
        <a:defRPr b="1" sz="3000" i="1">
          <a:solidFill>
            <a:schemeClr val="tx1"/>
          </a:solidFill>
          <a:effectLst>
            <a:outerShdw algn="tl" blurRad="38100" dir="2700000" dist="38100">
              <a:srgbClr val="FFFFFF"/>
            </a:outerShdw>
          </a:effectLst>
          <a:latin typeface="Comic Sans MS" pitchFamily="66" charset="0"/>
        </a:defRPr>
      </a:lvl9pPr>
    </p:titleStyle>
    <p:bodyStyle>
      <a:lvl1pPr algn="l" eaLnBrk="0" fontAlgn="base" hangingPunct="0" indent="-342900" marL="342900" rtl="0">
        <a:spcBef>
          <a:spcPct val="20000"/>
        </a:spcBef>
        <a:spcAft>
          <a:spcPct val="0"/>
        </a:spcAft>
        <a:buClr>
          <a:schemeClr val="accent2"/>
        </a:buClr>
        <a:buSzPct val="75000"/>
        <a:buFont typeface="Wingdings" pitchFamily="2" charset="2"/>
        <a:buChar char="l"/>
        <a:defRPr b="1" sz="2800">
          <a:solidFill>
            <a:schemeClr val="bg2"/>
          </a:solidFill>
          <a:effectLst>
            <a:outerShdw algn="tl" blurRad="38100" dir="2700000" dist="38100">
              <a:srgbClr val="C0C0C0"/>
            </a:outerShdw>
          </a:effectLst>
          <a:latin typeface="+mn-lt"/>
          <a:ea typeface="+mn-ea"/>
          <a:cs typeface="+mn-cs"/>
        </a:defRPr>
      </a:lvl1pPr>
      <a:lvl2pPr algn="l" eaLnBrk="0" fontAlgn="base" hangingPunct="0" indent="-285750" marL="742950" rtl="0">
        <a:spcBef>
          <a:spcPct val="20000"/>
        </a:spcBef>
        <a:spcAft>
          <a:spcPct val="0"/>
        </a:spcAft>
        <a:buClr>
          <a:schemeClr val="accent2"/>
        </a:buClr>
        <a:buSzPct val="75000"/>
        <a:buFont typeface="Wingdings" pitchFamily="2" charset="2"/>
        <a:buChar char="l"/>
        <a:defRPr b="1" sz="2400">
          <a:solidFill>
            <a:schemeClr val="bg2"/>
          </a:solidFill>
          <a:effectLst>
            <a:outerShdw algn="tl" blurRad="38100" dir="2700000" dist="38100">
              <a:srgbClr val="C0C0C0"/>
            </a:outerShdw>
          </a:effectLst>
          <a:latin typeface="+mn-lt"/>
        </a:defRPr>
      </a:lvl2pPr>
      <a:lvl3pPr algn="l" eaLnBrk="0" fontAlgn="base" hangingPunct="0" indent="-228600" marL="1143000" rtl="0">
        <a:spcBef>
          <a:spcPct val="20000"/>
        </a:spcBef>
        <a:spcAft>
          <a:spcPct val="0"/>
        </a:spcAft>
        <a:buClr>
          <a:schemeClr val="accent2"/>
        </a:buClr>
        <a:buSzPct val="75000"/>
        <a:buFont typeface="Wingdings" pitchFamily="2" charset="2"/>
        <a:buChar char="l"/>
        <a:defRPr b="1" sz="2000">
          <a:solidFill>
            <a:schemeClr val="bg2"/>
          </a:solidFill>
          <a:effectLst>
            <a:outerShdw algn="tl" blurRad="38100" dir="2700000" dist="38100">
              <a:srgbClr val="C0C0C0"/>
            </a:outerShdw>
          </a:effectLst>
          <a:latin typeface="+mn-lt"/>
        </a:defRPr>
      </a:lvl3pPr>
      <a:lvl4pPr algn="l" eaLnBrk="0" fontAlgn="base" hangingPunct="0" indent="-228600" marL="1600200" rtl="0">
        <a:spcBef>
          <a:spcPct val="20000"/>
        </a:spcBef>
        <a:spcAft>
          <a:spcPct val="0"/>
        </a:spcAft>
        <a:buClr>
          <a:schemeClr val="accent2"/>
        </a:buClr>
        <a:buSzPct val="75000"/>
        <a:buFont typeface="Wingdings" pitchFamily="2" charset="2"/>
        <a:buChar char="l"/>
        <a:defRPr b="1" sz="2000">
          <a:solidFill>
            <a:schemeClr val="bg2"/>
          </a:solidFill>
          <a:effectLst>
            <a:outerShdw algn="tl" blurRad="38100" dir="2700000" dist="38100">
              <a:srgbClr val="C0C0C0"/>
            </a:outerShdw>
          </a:effectLst>
          <a:latin typeface="+mn-lt"/>
        </a:defRPr>
      </a:lvl4pPr>
      <a:lvl5pPr algn="l" eaLnBrk="0" fontAlgn="base" hangingPunct="0" indent="-228600" marL="2057400" rtl="0">
        <a:spcBef>
          <a:spcPct val="20000"/>
        </a:spcBef>
        <a:spcAft>
          <a:spcPct val="0"/>
        </a:spcAft>
        <a:buClr>
          <a:schemeClr val="accent2"/>
        </a:buClr>
        <a:buSzPct val="75000"/>
        <a:buFont typeface="Wingdings" pitchFamily="2" charset="2"/>
        <a:buChar char="l"/>
        <a:defRPr b="1" sz="2000">
          <a:solidFill>
            <a:schemeClr val="bg2"/>
          </a:solidFill>
          <a:effectLst>
            <a:outerShdw algn="tl" blurRad="38100" dir="2700000" dist="38100">
              <a:srgbClr val="C0C0C0"/>
            </a:outerShdw>
          </a:effectLst>
          <a:latin typeface="+mn-lt"/>
        </a:defRPr>
      </a:lvl5pPr>
      <a:lvl6pPr algn="l" eaLnBrk="0" fontAlgn="base" hangingPunct="0" indent="-228600" marL="2514600" rtl="0">
        <a:spcBef>
          <a:spcPct val="20000"/>
        </a:spcBef>
        <a:spcAft>
          <a:spcPct val="0"/>
        </a:spcAft>
        <a:buClr>
          <a:schemeClr val="accent2"/>
        </a:buClr>
        <a:buSzPct val="75000"/>
        <a:buFont typeface="Wingdings" pitchFamily="2" charset="2"/>
        <a:buChar char="l"/>
        <a:defRPr b="1" sz="2000">
          <a:solidFill>
            <a:schemeClr val="bg2"/>
          </a:solidFill>
          <a:effectLst>
            <a:outerShdw algn="tl" blurRad="38100" dir="2700000" dist="38100">
              <a:srgbClr val="C0C0C0"/>
            </a:outerShdw>
          </a:effectLst>
          <a:latin typeface="+mn-lt"/>
        </a:defRPr>
      </a:lvl6pPr>
      <a:lvl7pPr algn="l" eaLnBrk="0" fontAlgn="base" hangingPunct="0" indent="-228600" marL="2971800" rtl="0">
        <a:spcBef>
          <a:spcPct val="20000"/>
        </a:spcBef>
        <a:spcAft>
          <a:spcPct val="0"/>
        </a:spcAft>
        <a:buClr>
          <a:schemeClr val="accent2"/>
        </a:buClr>
        <a:buSzPct val="75000"/>
        <a:buFont typeface="Wingdings" pitchFamily="2" charset="2"/>
        <a:buChar char="l"/>
        <a:defRPr b="1" sz="2000">
          <a:solidFill>
            <a:schemeClr val="bg2"/>
          </a:solidFill>
          <a:effectLst>
            <a:outerShdw algn="tl" blurRad="38100" dir="2700000" dist="38100">
              <a:srgbClr val="C0C0C0"/>
            </a:outerShdw>
          </a:effectLst>
          <a:latin typeface="+mn-lt"/>
        </a:defRPr>
      </a:lvl7pPr>
      <a:lvl8pPr algn="l" eaLnBrk="0" fontAlgn="base" hangingPunct="0" indent="-228600" marL="3429000" rtl="0">
        <a:spcBef>
          <a:spcPct val="20000"/>
        </a:spcBef>
        <a:spcAft>
          <a:spcPct val="0"/>
        </a:spcAft>
        <a:buClr>
          <a:schemeClr val="accent2"/>
        </a:buClr>
        <a:buSzPct val="75000"/>
        <a:buFont typeface="Wingdings" pitchFamily="2" charset="2"/>
        <a:buChar char="l"/>
        <a:defRPr b="1" sz="2000">
          <a:solidFill>
            <a:schemeClr val="bg2"/>
          </a:solidFill>
          <a:effectLst>
            <a:outerShdw algn="tl" blurRad="38100" dir="2700000" dist="38100">
              <a:srgbClr val="C0C0C0"/>
            </a:outerShdw>
          </a:effectLst>
          <a:latin typeface="+mn-lt"/>
        </a:defRPr>
      </a:lvl8pPr>
      <a:lvl9pPr algn="l" eaLnBrk="0" fontAlgn="base" hangingPunct="0" indent="-228600" marL="3886200" rtl="0">
        <a:spcBef>
          <a:spcPct val="20000"/>
        </a:spcBef>
        <a:spcAft>
          <a:spcPct val="0"/>
        </a:spcAft>
        <a:buClr>
          <a:schemeClr val="accent2"/>
        </a:buClr>
        <a:buSzPct val="75000"/>
        <a:buFont typeface="Wingdings" pitchFamily="2" charset="2"/>
        <a:buChar char="l"/>
        <a:defRPr b="1" sz="2000">
          <a:solidFill>
            <a:schemeClr val="bg2"/>
          </a:solidFill>
          <a:effectLst>
            <a:outerShdw algn="tl" blurRad="38100" dir="2700000" dist="38100">
              <a:srgbClr val="C0C0C0"/>
            </a:outerShdw>
          </a:effectLst>
          <a:latin typeface="+mn-lt"/>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7.emf"/><Relationship Id="rId2" Type="http://schemas.openxmlformats.org/officeDocument/2006/relationships/themeOverride" Target="../theme/themeOverride1.xml"/><Relationship Id="rId3"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image" Target="../media/image8.emf"/><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image" Target="../media/image9.emf"/><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image" Target="../media/image10.emf"/><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image" Target="../media/image11.emf"/><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image" Target="../media/image12.emf"/><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image" Target="../media/image13.emf"/><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image" Target="../media/image14.emf"/><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image" Target="../media/image15.emf"/><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image" Target="../media/image16.emf"/><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image" Target="../media/image17.emf"/><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image" Target="../media/image22.emf"/><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slideLayout" Target="../slideLayouts/slideLayout2.xml"/><Relationship Id="rId5"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slideLayout" Target="../slideLayouts/slideLayout2.xml"/><Relationship Id="rId4"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slideLayout" Target="../slideLayouts/slideLayout2.xml"/><Relationship Id="rId5"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slideLayout" Target="../slideLayouts/slideLayout2.xml"/><Relationship Id="rId5"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7.xml"/><Relationship Id="rId3"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showMasterSp="1">
  <p:cSld>
    <p:spTree>
      <p:nvGrpSpPr>
        <p:cNvPr id="23" name=""/>
        <p:cNvGrpSpPr/>
        <p:nvPr/>
      </p:nvGrpSpPr>
      <p:grpSpPr>
        <a:xfrm rot="0">
          <a:off x="0" y="0"/>
          <a:ext cx="0" cy="0"/>
          <a:chOff x="0" y="0"/>
          <a:chExt cx="0" cy="0"/>
        </a:xfrm>
      </p:grpSpPr>
      <p:sp>
        <p:nvSpPr>
          <p:cNvPr id="1048579" name=""/>
          <p:cNvSpPr/>
          <p:nvPr>
            <p:ph type="title" sz="full" idx="0"/>
          </p:nvPr>
        </p:nvSpPr>
        <p:spPr>
          <a:xfrm rot="0">
            <a:off x="768350" y="381000"/>
            <a:ext cx="7607300" cy="838200"/>
          </a:xfrm>
          <a:prstGeom prst="rect"/>
          <a:solidFill>
            <a:srgbClr val="003399"/>
          </a:solidFill>
          <a:ln w="63500" cap="flat" cmpd="sng">
            <a:solidFill>
              <a:srgbClr val="54385C">
                <a:alpha val="100000"/>
              </a:srgbClr>
            </a:solidFill>
            <a:prstDash val="solid"/>
            <a:round/>
          </a:ln>
        </p:spPr>
        <p:txBody>
          <a:bodyPr anchor="ctr" bIns="46038" lIns="92075" rIns="92075" tIns="46038"/>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lvl="0"/>
            <a:r>
              <a:rPr altLang="en-US" sz="4000" lang="en-US">
                <a:solidFill>
                  <a:schemeClr val="lt1"/>
                </a:solidFill>
                <a:effectLst>
                  <a:outerShdw algn="tl" blurRad="38100" dir="2700000" dist="38100">
                    <a:srgbClr val="C0C0C0"/>
                  </a:outerShdw>
                </a:effectLst>
              </a:rPr>
              <a:t>CHAPTER </a:t>
            </a:r>
            <a:r>
              <a:rPr altLang="en-US" sz="4000" lang="en-US">
                <a:solidFill>
                  <a:srgbClr val="FFFF00"/>
                </a:solidFill>
                <a:effectLst>
                  <a:outerShdw algn="tl" blurRad="38100" dir="2700000" dist="38100">
                    <a:srgbClr val="C0C0C0"/>
                  </a:outerShdw>
                </a:effectLst>
              </a:rPr>
              <a:t>4</a:t>
            </a:r>
          </a:p>
        </p:txBody>
      </p:sp>
      <p:sp>
        <p:nvSpPr>
          <p:cNvPr id="1048580" name=""/>
          <p:cNvSpPr/>
          <p:nvPr>
            <p:ph type="body" sz="full" idx="1"/>
          </p:nvPr>
        </p:nvSpPr>
        <p:spPr>
          <a:xfrm rot="0">
            <a:off x="381000" y="1981200"/>
            <a:ext cx="8382000" cy="4267200"/>
          </a:xfrm>
          <a:prstGeom prst="rect"/>
          <a:noFill/>
          <a:ln>
            <a:noFill/>
          </a:ln>
        </p:spPr>
        <p:txBody>
          <a:bodyPr anchor="t" bIns="46038" lIns="182562" rIns="182562" tIns="46038"/>
          <a:lstStyle>
            <a:lvl1pPr algn="l" fontAlgn="base" indent="-342900" latinLnBrk="1" marL="342900" rtl="0">
              <a:lnSpc>
                <a:spcPct val="100000"/>
              </a:lnSpc>
              <a:spcBef>
                <a:spcPct val="20000"/>
              </a:spcBef>
              <a:spcAft>
                <a:spcPct val="0"/>
              </a:spcAft>
              <a:buClr>
                <a:schemeClr val="accent2"/>
              </a:buClr>
              <a:buSzPct val="75000"/>
              <a:buFont typeface="Wingdings" pitchFamily="2" charset="2"/>
              <a:buChar char="l"/>
              <a:defRPr baseline="0" b="1" sz="2800" i="0">
                <a:solidFill>
                  <a:schemeClr val="dk2"/>
                </a:solidFill>
                <a:latin typeface="Arial" pitchFamily="0" charset="0"/>
                <a:sym typeface="Comic Sans MS" pitchFamily="66" charset="0"/>
              </a:defRPr>
            </a:lvl1pPr>
            <a:lvl2pPr algn="l" fontAlgn="base" indent="-285750" latinLnBrk="1" marL="742950" rtl="0">
              <a:lnSpc>
                <a:spcPct val="100000"/>
              </a:lnSpc>
              <a:spcBef>
                <a:spcPct val="20000"/>
              </a:spcBef>
              <a:spcAft>
                <a:spcPct val="0"/>
              </a:spcAft>
              <a:buClr>
                <a:schemeClr val="accent2"/>
              </a:buClr>
              <a:buSzPct val="75000"/>
              <a:buFont typeface="Wingdings" pitchFamily="2" charset="2"/>
              <a:buChar char="l"/>
              <a:defRPr baseline="0" b="1" sz="2400" i="0">
                <a:solidFill>
                  <a:schemeClr val="dk2"/>
                </a:solidFill>
                <a:latin typeface="Arial" pitchFamily="0" charset="0"/>
                <a:sym typeface="Comic Sans MS" pitchFamily="66" charset="0"/>
              </a:defRPr>
            </a:lvl2pPr>
            <a:lvl3pPr algn="l" fontAlgn="base" indent="-228600" latinLnBrk="1" marL="11430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0" charset="0"/>
                <a:sym typeface="Comic Sans MS" pitchFamily="66" charset="0"/>
              </a:defRPr>
            </a:lvl3pPr>
            <a:lvl4pPr algn="l" fontAlgn="base" indent="-228600" latinLnBrk="1" marL="16002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0" charset="0"/>
                <a:sym typeface="Comic Sans MS" pitchFamily="66" charset="0"/>
              </a:defRPr>
            </a:lvl4pPr>
            <a:lvl5pPr algn="l" fontAlgn="base" indent="-228600" latinLnBrk="1" marL="20574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0" charset="0"/>
                <a:sym typeface="Comic Sans MS" pitchFamily="66" charset="0"/>
              </a:defRPr>
            </a:lvl5pPr>
          </a:lstStyle>
          <a:p>
            <a:pPr algn="ctr" lvl="0">
              <a:buNone/>
            </a:pPr>
            <a:r>
              <a:rPr altLang="en-US" sz="6600" lang="en-US">
                <a:solidFill>
                  <a:srgbClr val="800000"/>
                </a:solidFill>
                <a:effectLst>
                  <a:outerShdw algn="tl" blurRad="38100" dir="2700000" dist="38100">
                    <a:srgbClr val="C0C0C0"/>
                  </a:outerShdw>
                </a:effectLst>
              </a:rPr>
              <a:t>COMPLETING THE</a:t>
            </a:r>
            <a:br/>
            <a:r>
              <a:rPr altLang="en-US" sz="6600" lang="en-US">
                <a:solidFill>
                  <a:srgbClr val="800000"/>
                </a:solidFill>
                <a:effectLst>
                  <a:outerShdw algn="tl" blurRad="38100" dir="2700000" dist="38100">
                    <a:srgbClr val="C0C0C0"/>
                  </a:outerShdw>
                </a:effectLst>
              </a:rPr>
              <a:t>ACCOUNTING CYCLE</a:t>
            </a:r>
          </a:p>
        </p:txBody>
      </p:sp>
      <p:sp>
        <p:nvSpPr>
          <p:cNvPr id="1048581" name=""/>
          <p:cNvSpPr txBox="1"/>
          <p:nvPr/>
        </p:nvSpPr>
        <p:spPr>
          <a:xfrm rot="0">
            <a:off x="1371600" y="5638800"/>
            <a:ext cx="6400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2000" lang="en-US">
                <a:latin typeface="Times New Roman" pitchFamily="18" charset="0"/>
              </a:rPr>
              <a:t>Accounting Principles,  Eighth Edition</a:t>
            </a:r>
          </a:p>
        </p:txBody>
      </p:sp>
    </p:spTree>
  </p:cSld>
  <p:clrMapOvr>
    <a:masterClrMapping/>
  </p:clrMapOvr>
  <p:transition spd="fast" advClick="1">
    <p:wipe dir="r"/>
  </p:transition>
  <p:timing/>
</p:sld>
</file>

<file path=ppt/slides/slide2.xml><?xml version="1.0" encoding="utf-8"?>
<p:sld xmlns:a="http://schemas.openxmlformats.org/drawingml/2006/main" xmlns:r="http://schemas.openxmlformats.org/officeDocument/2006/relationships" xmlns:p="http://schemas.openxmlformats.org/presentationml/2006/main" showMasterSp="1">
  <p:cSld>
    <p:spTree>
      <p:nvGrpSpPr>
        <p:cNvPr id="62" name=""/>
        <p:cNvGrpSpPr/>
        <p:nvPr/>
      </p:nvGrpSpPr>
      <p:grpSpPr>
        <a:xfrm rot="0">
          <a:off x="0" y="0"/>
          <a:ext cx="0" cy="0"/>
          <a:chOff x="0" y="0"/>
          <a:chExt cx="0" cy="0"/>
        </a:xfrm>
      </p:grpSpPr>
      <p:sp>
        <p:nvSpPr>
          <p:cNvPr id="1048584" name=""/>
          <p:cNvSpPr/>
          <p:nvPr>
            <p:ph type="body" sz="full" idx="1"/>
          </p:nvPr>
        </p:nvSpPr>
        <p:spPr>
          <a:xfrm rot="0">
            <a:off x="622300" y="1371600"/>
            <a:ext cx="8216900" cy="3886200"/>
          </a:xfrm>
          <a:prstGeom prst="rect"/>
          <a:noFill/>
          <a:ln>
            <a:noFill/>
          </a:ln>
        </p:spPr>
        <p:txBody>
          <a:bodyPr anchor="t" bIns="44450" lIns="90488" rIns="90488" tIns="44450"/>
          <a:lstStyle>
            <a:lvl1pPr algn="l" fontAlgn="base" indent="-342900" latinLnBrk="1" marL="342900" rtl="0">
              <a:lnSpc>
                <a:spcPct val="100000"/>
              </a:lnSpc>
              <a:spcBef>
                <a:spcPct val="20000"/>
              </a:spcBef>
              <a:spcAft>
                <a:spcPct val="0"/>
              </a:spcAft>
              <a:buClr>
                <a:schemeClr val="accent2"/>
              </a:buClr>
              <a:buSzPct val="75000"/>
              <a:buFont typeface="Wingdings" pitchFamily="2" charset="2"/>
              <a:buChar char="l"/>
              <a:defRPr baseline="0" b="1" sz="2800" i="0">
                <a:solidFill>
                  <a:schemeClr val="dk2"/>
                </a:solidFill>
                <a:latin typeface="Arial" pitchFamily="0" charset="0"/>
                <a:sym typeface="Comic Sans MS" pitchFamily="66" charset="0"/>
              </a:defRPr>
            </a:lvl1pPr>
            <a:lvl2pPr algn="l" fontAlgn="base" indent="-285750" latinLnBrk="1" marL="742950" rtl="0">
              <a:lnSpc>
                <a:spcPct val="100000"/>
              </a:lnSpc>
              <a:spcBef>
                <a:spcPct val="20000"/>
              </a:spcBef>
              <a:spcAft>
                <a:spcPct val="0"/>
              </a:spcAft>
              <a:buClr>
                <a:schemeClr val="accent2"/>
              </a:buClr>
              <a:buSzPct val="75000"/>
              <a:buFont typeface="Wingdings" pitchFamily="2" charset="2"/>
              <a:buChar char="l"/>
              <a:defRPr baseline="0" b="1" sz="2400" i="0">
                <a:solidFill>
                  <a:schemeClr val="dk2"/>
                </a:solidFill>
                <a:latin typeface="Arial" pitchFamily="0" charset="0"/>
                <a:sym typeface="Comic Sans MS" pitchFamily="66" charset="0"/>
              </a:defRPr>
            </a:lvl2pPr>
            <a:lvl3pPr algn="l" fontAlgn="base" indent="-228600" latinLnBrk="1" marL="11430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0" charset="0"/>
                <a:sym typeface="Comic Sans MS" pitchFamily="66" charset="0"/>
              </a:defRPr>
            </a:lvl3pPr>
            <a:lvl4pPr algn="l" fontAlgn="base" indent="-228600" latinLnBrk="1" marL="16002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0" charset="0"/>
                <a:sym typeface="Comic Sans MS" pitchFamily="66" charset="0"/>
              </a:defRPr>
            </a:lvl4pPr>
            <a:lvl5pPr algn="l" fontAlgn="base" indent="-228600" latinLnBrk="1" marL="2057400" rtl="0">
              <a:lnSpc>
                <a:spcPct val="100000"/>
              </a:lnSpc>
              <a:spcBef>
                <a:spcPct val="20000"/>
              </a:spcBef>
              <a:spcAft>
                <a:spcPct val="0"/>
              </a:spcAft>
              <a:buClr>
                <a:schemeClr val="accent2"/>
              </a:buClr>
              <a:buSzPct val="75000"/>
              <a:buFont typeface="Wingdings" pitchFamily="2" charset="2"/>
              <a:buChar char="l"/>
              <a:defRPr baseline="0" b="1" sz="2000" i="0">
                <a:solidFill>
                  <a:schemeClr val="dk2"/>
                </a:solidFill>
                <a:latin typeface="Arial" pitchFamily="0" charset="0"/>
                <a:sym typeface="Comic Sans MS" pitchFamily="66" charset="0"/>
              </a:defRPr>
            </a:lvl5pPr>
          </a:lstStyle>
          <a:p>
            <a:pPr indent="-533400" lvl="0" marL="533400">
              <a:spcBef>
                <a:spcPct val="40000"/>
              </a:spcBef>
              <a:buClr>
                <a:srgbClr val="000066"/>
              </a:buClr>
              <a:buFont typeface="Wingdings" pitchFamily="2" charset="2"/>
              <a:buAutoNum type="arabicPeriod" startAt="1"/>
            </a:pPr>
            <a:r>
              <a:rPr altLang="en-US" b="0" sz="2400" lang="en-US">
                <a:solidFill>
                  <a:srgbClr val="000000"/>
                </a:solidFill>
                <a:latin typeface="Comic Sans MS" pitchFamily="66" charset="0"/>
              </a:rPr>
              <a:t>Prepare a worksheet.</a:t>
            </a:r>
          </a:p>
          <a:p>
            <a:pPr indent="-533400" lvl="0" marL="533400">
              <a:spcBef>
                <a:spcPct val="40000"/>
              </a:spcBef>
              <a:buClr>
                <a:srgbClr val="000066"/>
              </a:buClr>
              <a:buFont typeface="Wingdings" pitchFamily="2" charset="2"/>
              <a:buAutoNum type="arabicPeriod" startAt="1"/>
            </a:pPr>
            <a:r>
              <a:rPr altLang="en-US" b="0" sz="2400" lang="en-US">
                <a:solidFill>
                  <a:srgbClr val="000000"/>
                </a:solidFill>
                <a:latin typeface="Comic Sans MS" pitchFamily="66" charset="0"/>
              </a:rPr>
              <a:t>Explain the process of closing the books.</a:t>
            </a:r>
          </a:p>
          <a:p>
            <a:pPr indent="-533400" lvl="0" marL="533400">
              <a:spcBef>
                <a:spcPct val="40000"/>
              </a:spcBef>
              <a:buClr>
                <a:srgbClr val="000066"/>
              </a:buClr>
              <a:buFont typeface="Wingdings" pitchFamily="2" charset="2"/>
              <a:buAutoNum type="arabicPeriod" startAt="1"/>
            </a:pPr>
            <a:r>
              <a:rPr altLang="en-US" b="0" sz="2400" lang="en-US">
                <a:solidFill>
                  <a:srgbClr val="000000"/>
                </a:solidFill>
                <a:latin typeface="Comic Sans MS" pitchFamily="66" charset="0"/>
              </a:rPr>
              <a:t>Describe the content and purpose of a post-closing trial balance.</a:t>
            </a:r>
          </a:p>
          <a:p>
            <a:pPr indent="-533400" lvl="0" marL="533400">
              <a:spcBef>
                <a:spcPct val="40000"/>
              </a:spcBef>
              <a:buClr>
                <a:srgbClr val="000066"/>
              </a:buClr>
              <a:buFont typeface="Wingdings" pitchFamily="2" charset="2"/>
              <a:buAutoNum type="arabicPeriod" startAt="1"/>
            </a:pPr>
            <a:r>
              <a:rPr altLang="en-US" b="0" sz="2400" lang="en-US">
                <a:solidFill>
                  <a:srgbClr val="000000"/>
                </a:solidFill>
                <a:latin typeface="Comic Sans MS" pitchFamily="66" charset="0"/>
              </a:rPr>
              <a:t>State the required steps in the accounting cycle.</a:t>
            </a:r>
          </a:p>
          <a:p>
            <a:pPr indent="-533400" lvl="0" marL="533400">
              <a:spcBef>
                <a:spcPct val="40000"/>
              </a:spcBef>
              <a:buClr>
                <a:srgbClr val="000066"/>
              </a:buClr>
              <a:buFont typeface="Wingdings" pitchFamily="2" charset="2"/>
              <a:buAutoNum type="arabicPeriod" startAt="1"/>
            </a:pPr>
            <a:r>
              <a:rPr altLang="en-US" b="0" sz="2400" lang="en-US">
                <a:solidFill>
                  <a:srgbClr val="000000"/>
                </a:solidFill>
                <a:latin typeface="Comic Sans MS" pitchFamily="66" charset="0"/>
              </a:rPr>
              <a:t>Explain the approaches to preparing correcting entries.</a:t>
            </a:r>
          </a:p>
          <a:p>
            <a:pPr indent="-533400" lvl="0" marL="533400">
              <a:spcBef>
                <a:spcPct val="40000"/>
              </a:spcBef>
              <a:buClr>
                <a:srgbClr val="000066"/>
              </a:buClr>
              <a:buFont typeface="Wingdings" pitchFamily="2" charset="2"/>
              <a:buAutoNum type="arabicPeriod" startAt="1"/>
            </a:pPr>
            <a:r>
              <a:rPr altLang="en-US" b="0" sz="2400" lang="en-US">
                <a:solidFill>
                  <a:srgbClr val="000000"/>
                </a:solidFill>
                <a:latin typeface="Comic Sans MS" pitchFamily="66" charset="0"/>
              </a:rPr>
              <a:t>Identify the sections of a classified balance sheet.</a:t>
            </a:r>
          </a:p>
        </p:txBody>
      </p:sp>
      <p:sp>
        <p:nvSpPr>
          <p:cNvPr id="1048585"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indent="0" lvl="0" marL="109537"/>
            <a:r>
              <a:rPr altLang="en-US" lang="en-US">
                <a:solidFill>
                  <a:srgbClr val="FFCC00"/>
                </a:solidFill>
                <a:effectLst>
                  <a:outerShdw algn="tl" blurRad="38100" dir="2700000" dist="38100">
                    <a:srgbClr val="C0C0C0"/>
                  </a:outerShdw>
                </a:effectLst>
              </a:rPr>
              <a:t>Study Objectives</a:t>
            </a:r>
          </a:p>
        </p:txBody>
      </p:sp>
    </p:spTree>
  </p:cSld>
  <p:clrMapOvr>
    <a:masterClrMapping/>
  </p:clrMapOvr>
  <p:transition spd="fast" advClick="1">
    <p:wipe dir="r"/>
  </p:transition>
</p:sld>
</file>

<file path=ppt/slides/slide3.xml><?xml version="1.0" encoding="utf-8"?>
<p:sld xmlns:a="http://schemas.openxmlformats.org/drawingml/2006/main" xmlns:r="http://schemas.openxmlformats.org/officeDocument/2006/relationships" xmlns:p="http://schemas.openxmlformats.org/presentationml/2006/main" showMasterSp="1">
  <p:cSld>
    <p:spTree>
      <p:nvGrpSpPr>
        <p:cNvPr id="65" name=""/>
        <p:cNvGrpSpPr/>
        <p:nvPr/>
      </p:nvGrpSpPr>
      <p:grpSpPr>
        <a:xfrm rot="0">
          <a:off x="0" y="0"/>
          <a:ext cx="0" cy="0"/>
          <a:chOff x="0" y="0"/>
          <a:chExt cx="0" cy="0"/>
        </a:xfrm>
      </p:grpSpPr>
      <p:sp>
        <p:nvSpPr>
          <p:cNvPr id="1048588" name=""/>
          <p:cNvSpPr/>
          <p:nvPr/>
        </p:nvSpPr>
        <p:spPr>
          <a:xfrm rot="0">
            <a:off x="304800" y="1885950"/>
            <a:ext cx="1981200" cy="1162050"/>
          </a:xfrm>
          <a:prstGeom prst="rect"/>
          <a:solidFill>
            <a:srgbClr val="0035A0"/>
          </a:solidFill>
          <a:ln w="57150" cap="flat" cmpd="sng">
            <a:solidFill>
              <a:schemeClr val="dk1">
                <a:alpha val="100000"/>
              </a:schemeClr>
            </a:solidFill>
            <a:prstDash val="solid"/>
            <a:round/>
          </a:ln>
          <a:effectLst>
            <a:outerShdw algn="ctr" dir="5400000" dist="12700" kx="0" sx="100000" sy="100000">
              <a:schemeClr val="dk2">
                <a:alpha val="100000"/>
              </a:schemeClr>
            </a:outerShdw>
          </a:effectLst>
        </p:spPr>
        <p:txBody>
          <a:bodyPr anchor="ctr" bIns="44450" lIns="90488" rIns="90488" tIns="4445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15000"/>
              </a:lnSpc>
              <a:spcBef>
                <a:spcPct val="35000"/>
              </a:spcBef>
              <a:buClr>
                <a:schemeClr val="accent2"/>
              </a:buClr>
              <a:buSzPct val="75000"/>
              <a:buFont typeface="Wingdings" pitchFamily="2" charset="2"/>
              <a:buNone/>
            </a:pPr>
            <a:r>
              <a:rPr altLang="en-US" b="1" sz="1800" lang="en-US">
                <a:solidFill>
                  <a:schemeClr val="lt1"/>
                </a:solidFill>
                <a:effectLst>
                  <a:outerShdw algn="tl" blurRad="38100" dir="2700000" dist="38100">
                    <a:srgbClr val="C0C0C0"/>
                  </a:outerShdw>
                </a:effectLst>
                <a:latin typeface="Arial" pitchFamily="0" charset="0"/>
              </a:rPr>
              <a:t>Using a Worksheet</a:t>
            </a:r>
          </a:p>
        </p:txBody>
      </p:sp>
      <p:sp>
        <p:nvSpPr>
          <p:cNvPr id="1048589" name=""/>
          <p:cNvSpPr/>
          <p:nvPr/>
        </p:nvSpPr>
        <p:spPr>
          <a:xfrm rot="0">
            <a:off x="228600" y="3124200"/>
            <a:ext cx="2133600" cy="2667000"/>
          </a:xfrm>
          <a:prstGeom prst="rect"/>
          <a:noFill/>
          <a:ln>
            <a:noFill/>
          </a:ln>
        </p:spPr>
        <p:txBody>
          <a:bodyPr bIns="44450" lIns="90488" rIns="90488" tIns="10972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800" lang="en-US">
                <a:effectLst>
                  <a:outerShdw algn="tl" blurRad="38100" dir="2700000" dist="38100">
                    <a:srgbClr val="C0C0C0"/>
                  </a:outerShdw>
                </a:effectLst>
                <a:latin typeface="Arial" pitchFamily="0" charset="0"/>
              </a:rPr>
              <a:t>Steps in preparation</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800" lang="en-US">
                <a:effectLst>
                  <a:outerShdw algn="tl" blurRad="38100" dir="2700000" dist="38100">
                    <a:srgbClr val="C0C0C0"/>
                  </a:outerShdw>
                </a:effectLst>
                <a:latin typeface="Arial" pitchFamily="0" charset="0"/>
              </a:rPr>
              <a:t>Preparing financial statements</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800" lang="en-US">
                <a:effectLst>
                  <a:outerShdw algn="tl" blurRad="38100" dir="2700000" dist="38100">
                    <a:srgbClr val="C0C0C0"/>
                  </a:outerShdw>
                </a:effectLst>
                <a:latin typeface="Arial" pitchFamily="0" charset="0"/>
              </a:rPr>
              <a:t>Preparing adjusting entries</a:t>
            </a:r>
          </a:p>
        </p:txBody>
      </p:sp>
      <p:sp>
        <p:nvSpPr>
          <p:cNvPr id="1048590" name=""/>
          <p:cNvSpPr/>
          <p:nvPr/>
        </p:nvSpPr>
        <p:spPr>
          <a:xfrm rot="0" flipH="1">
            <a:off x="4495800" y="1066800"/>
            <a:ext cx="76200" cy="430212"/>
          </a:xfrm>
          <a:custGeom>
            <a:avLst/>
            <a:gdLst>
              <a:gd name="l" fmla="*/ 0 w 1"/>
              <a:gd name="t" fmla="*/ 0 h 175"/>
              <a:gd name="r" fmla="*/ 1 w 1"/>
              <a:gd name="b" fmla="*/ 175 h 175"/>
            </a:gdLst>
            <a:ahLst/>
            <a:rect l="l" t="t" r="r" b="b"/>
            <a:pathLst>
              <a:path w="1" h="175">
                <a:moveTo>
                  <a:pt x="0" y="0"/>
                </a:moveTo>
                <a:lnTo>
                  <a:pt x="0" y="175"/>
                </a:lnTo>
              </a:path>
            </a:pathLst>
          </a:custGeom>
          <a:noFill/>
          <a:ln w="57150" cap="flat"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591" name=""/>
          <p:cNvSpPr/>
          <p:nvPr/>
        </p:nvSpPr>
        <p:spPr>
          <a:xfrm rot="0">
            <a:off x="1295400" y="1504950"/>
            <a:ext cx="1587" cy="392112"/>
          </a:xfrm>
          <a:custGeom>
            <a:avLst/>
            <a:gdLst>
              <a:gd name="l" fmla="*/ 0 w 1"/>
              <a:gd name="t" fmla="*/ 0 h 247"/>
              <a:gd name="r" fmla="*/ 1 w 1"/>
              <a:gd name="b" fmla="*/ 247 h 247"/>
            </a:gdLst>
            <a:ahLst/>
            <a:rect l="l" t="t" r="r" b="b"/>
            <a:pathLst>
              <a:path w="1" h="247">
                <a:moveTo>
                  <a:pt x="0" y="247"/>
                </a:moveTo>
                <a:lnTo>
                  <a:pt x="0" y="0"/>
                </a:lnTo>
              </a:path>
            </a:pathLst>
          </a:custGeom>
          <a:noFill/>
          <a:ln w="57150" cap="flat"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592" name=""/>
          <p:cNvSpPr/>
          <p:nvPr/>
        </p:nvSpPr>
        <p:spPr>
          <a:xfrm rot="0">
            <a:off x="2514600" y="1885950"/>
            <a:ext cx="1981200" cy="1162050"/>
          </a:xfrm>
          <a:prstGeom prst="rect"/>
          <a:solidFill>
            <a:srgbClr val="0035A0"/>
          </a:solidFill>
          <a:ln w="57150" cap="flat" cmpd="sng">
            <a:solidFill>
              <a:schemeClr val="dk1">
                <a:alpha val="100000"/>
              </a:schemeClr>
            </a:solidFill>
            <a:prstDash val="solid"/>
            <a:round/>
          </a:ln>
          <a:effectLst>
            <a:outerShdw algn="ctr" dir="5400000" dist="12700" kx="0" sx="100000" sy="100000">
              <a:schemeClr val="dk2">
                <a:alpha val="100000"/>
              </a:schemeClr>
            </a:outerShdw>
          </a:effectLst>
        </p:spPr>
        <p:txBody>
          <a:bodyPr anchor="ctr" bIns="44450" lIns="90488" rIns="90488" tIns="4445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15000"/>
              </a:lnSpc>
              <a:spcBef>
                <a:spcPct val="35000"/>
              </a:spcBef>
              <a:buClr>
                <a:schemeClr val="accent2"/>
              </a:buClr>
              <a:buSzPct val="75000"/>
              <a:buFont typeface="Wingdings" pitchFamily="2" charset="2"/>
              <a:buNone/>
            </a:pPr>
            <a:r>
              <a:rPr altLang="en-US" b="1" sz="1800" lang="en-US">
                <a:solidFill>
                  <a:schemeClr val="lt1"/>
                </a:solidFill>
                <a:effectLst>
                  <a:outerShdw algn="tl" blurRad="38100" dir="2700000" dist="38100">
                    <a:srgbClr val="C0C0C0"/>
                  </a:outerShdw>
                </a:effectLst>
                <a:latin typeface="Arial" pitchFamily="0" charset="0"/>
              </a:rPr>
              <a:t>Closing the Books</a:t>
            </a:r>
          </a:p>
        </p:txBody>
      </p:sp>
      <p:sp>
        <p:nvSpPr>
          <p:cNvPr id="1048593" name=""/>
          <p:cNvSpPr/>
          <p:nvPr/>
        </p:nvSpPr>
        <p:spPr>
          <a:xfrm rot="0">
            <a:off x="4724400" y="1885950"/>
            <a:ext cx="1981200" cy="1162050"/>
          </a:xfrm>
          <a:prstGeom prst="rect"/>
          <a:solidFill>
            <a:srgbClr val="0035A0"/>
          </a:solidFill>
          <a:ln w="57150" cap="flat" cmpd="sng">
            <a:solidFill>
              <a:schemeClr val="dk1">
                <a:alpha val="100000"/>
              </a:schemeClr>
            </a:solidFill>
            <a:prstDash val="solid"/>
            <a:round/>
          </a:ln>
          <a:effectLst>
            <a:outerShdw algn="ctr" dir="5400000" dist="12700" kx="0" sx="100000" sy="100000">
              <a:schemeClr val="dk2">
                <a:alpha val="100000"/>
              </a:schemeClr>
            </a:outerShdw>
          </a:effectLst>
        </p:spPr>
        <p:txBody>
          <a:bodyPr anchor="ctr" bIns="44450" lIns="90488" rIns="90488" tIns="4445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15000"/>
              </a:lnSpc>
              <a:spcBef>
                <a:spcPct val="35000"/>
              </a:spcBef>
              <a:buClr>
                <a:schemeClr val="accent2"/>
              </a:buClr>
              <a:buSzPct val="75000"/>
              <a:buFont typeface="Wingdings" pitchFamily="2" charset="2"/>
              <a:buNone/>
            </a:pPr>
            <a:r>
              <a:rPr altLang="en-US" b="1" sz="1800" lang="en-US">
                <a:solidFill>
                  <a:schemeClr val="lt1"/>
                </a:solidFill>
                <a:effectLst>
                  <a:outerShdw algn="tl" blurRad="38100" dir="2700000" dist="38100">
                    <a:srgbClr val="C0C0C0"/>
                  </a:outerShdw>
                </a:effectLst>
                <a:latin typeface="Arial" pitchFamily="0" charset="0"/>
              </a:rPr>
              <a:t>Summary of Accounting Cycle</a:t>
            </a:r>
          </a:p>
        </p:txBody>
      </p:sp>
      <p:sp>
        <p:nvSpPr>
          <p:cNvPr id="1048594" name=""/>
          <p:cNvSpPr/>
          <p:nvPr/>
        </p:nvSpPr>
        <p:spPr>
          <a:xfrm rot="0">
            <a:off x="6934200" y="1885950"/>
            <a:ext cx="1981200" cy="1162050"/>
          </a:xfrm>
          <a:prstGeom prst="rect"/>
          <a:solidFill>
            <a:srgbClr val="0035A0"/>
          </a:solidFill>
          <a:ln w="57150" cap="flat" cmpd="sng">
            <a:solidFill>
              <a:schemeClr val="dk1">
                <a:alpha val="100000"/>
              </a:schemeClr>
            </a:solidFill>
            <a:prstDash val="solid"/>
            <a:round/>
          </a:ln>
          <a:effectLst>
            <a:outerShdw algn="ctr" dir="5400000" dist="12700" kx="0" sx="100000" sy="100000">
              <a:schemeClr val="dk2">
                <a:alpha val="100000"/>
              </a:schemeClr>
            </a:outerShdw>
          </a:effectLst>
        </p:spPr>
        <p:txBody>
          <a:bodyPr anchor="ctr" bIns="44450" lIns="90488" rIns="90488" tIns="4445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15000"/>
              </a:lnSpc>
              <a:spcBef>
                <a:spcPct val="35000"/>
              </a:spcBef>
              <a:buClr>
                <a:schemeClr val="accent2"/>
              </a:buClr>
              <a:buSzPct val="75000"/>
              <a:buFont typeface="Wingdings" pitchFamily="2" charset="2"/>
              <a:buNone/>
            </a:pPr>
            <a:r>
              <a:rPr altLang="en-US" b="1" sz="1800" lang="en-US">
                <a:solidFill>
                  <a:schemeClr val="lt1"/>
                </a:solidFill>
                <a:effectLst>
                  <a:outerShdw algn="tl" blurRad="38100" dir="2700000" dist="38100">
                    <a:srgbClr val="C0C0C0"/>
                  </a:outerShdw>
                </a:effectLst>
                <a:latin typeface="Arial" pitchFamily="0" charset="0"/>
              </a:rPr>
              <a:t>Classified Balance Sheet</a:t>
            </a:r>
          </a:p>
        </p:txBody>
      </p:sp>
      <p:sp>
        <p:nvSpPr>
          <p:cNvPr id="1048595" name=""/>
          <p:cNvSpPr/>
          <p:nvPr/>
        </p:nvSpPr>
        <p:spPr>
          <a:xfrm rot="0">
            <a:off x="6858000" y="3124200"/>
            <a:ext cx="2209800" cy="3429000"/>
          </a:xfrm>
          <a:prstGeom prst="rect"/>
          <a:noFill/>
          <a:ln>
            <a:noFill/>
          </a:ln>
        </p:spPr>
        <p:txBody>
          <a:bodyPr bIns="44450" lIns="90488" rIns="90488" tIns="10972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800" lang="en-US">
                <a:effectLst>
                  <a:outerShdw algn="tl" blurRad="38100" dir="2700000" dist="38100">
                    <a:srgbClr val="C0C0C0"/>
                  </a:outerShdw>
                </a:effectLst>
                <a:latin typeface="Arial" pitchFamily="0" charset="0"/>
              </a:rPr>
              <a:t>Current assets</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800" lang="en-US">
                <a:effectLst>
                  <a:outerShdw algn="tl" blurRad="38100" dir="2700000" dist="38100">
                    <a:srgbClr val="C0C0C0"/>
                  </a:outerShdw>
                </a:effectLst>
                <a:latin typeface="Arial" pitchFamily="0" charset="0"/>
              </a:rPr>
              <a:t>Long-term investments</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800" lang="en-US">
                <a:effectLst>
                  <a:outerShdw algn="tl" blurRad="38100" dir="2700000" dist="38100">
                    <a:srgbClr val="C0C0C0"/>
                  </a:outerShdw>
                </a:effectLst>
                <a:latin typeface="Arial" pitchFamily="0" charset="0"/>
              </a:rPr>
              <a:t>Property, plant, and equipment</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800" lang="en-US">
                <a:effectLst>
                  <a:outerShdw algn="tl" blurRad="38100" dir="2700000" dist="38100">
                    <a:srgbClr val="C0C0C0"/>
                  </a:outerShdw>
                </a:effectLst>
                <a:latin typeface="Arial" pitchFamily="0" charset="0"/>
              </a:rPr>
              <a:t>Intangible assets</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800" lang="en-US">
                <a:effectLst>
                  <a:outerShdw algn="tl" blurRad="38100" dir="2700000" dist="38100">
                    <a:srgbClr val="C0C0C0"/>
                  </a:outerShdw>
                </a:effectLst>
                <a:latin typeface="Arial" pitchFamily="0" charset="0"/>
              </a:rPr>
              <a:t>Current liabilities</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800" lang="en-US">
                <a:effectLst>
                  <a:outerShdw algn="tl" blurRad="38100" dir="2700000" dist="38100">
                    <a:srgbClr val="C0C0C0"/>
                  </a:outerShdw>
                </a:effectLst>
                <a:latin typeface="Arial" pitchFamily="0" charset="0"/>
              </a:rPr>
              <a:t>Long-term liabilities</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800" lang="en-US">
                <a:effectLst>
                  <a:outerShdw algn="tl" blurRad="38100" dir="2700000" dist="38100">
                    <a:srgbClr val="C0C0C0"/>
                  </a:outerShdw>
                </a:effectLst>
                <a:latin typeface="Arial" pitchFamily="0" charset="0"/>
              </a:rPr>
              <a:t>Owner’s equity</a:t>
            </a:r>
          </a:p>
        </p:txBody>
      </p:sp>
      <p:sp>
        <p:nvSpPr>
          <p:cNvPr id="1048596" name=""/>
          <p:cNvSpPr/>
          <p:nvPr/>
        </p:nvSpPr>
        <p:spPr>
          <a:xfrm rot="0">
            <a:off x="7923212" y="1504950"/>
            <a:ext cx="1587" cy="392112"/>
          </a:xfrm>
          <a:custGeom>
            <a:avLst/>
            <a:gdLst>
              <a:gd name="l" fmla="*/ 0 w 1"/>
              <a:gd name="t" fmla="*/ 0 h 247"/>
              <a:gd name="r" fmla="*/ 1 w 1"/>
              <a:gd name="b" fmla="*/ 247 h 247"/>
            </a:gdLst>
            <a:ahLst/>
            <a:rect l="l" t="t" r="r" b="b"/>
            <a:pathLst>
              <a:path w="1" h="247">
                <a:moveTo>
                  <a:pt x="0" y="247"/>
                </a:moveTo>
                <a:lnTo>
                  <a:pt x="0" y="0"/>
                </a:lnTo>
              </a:path>
            </a:pathLst>
          </a:custGeom>
          <a:noFill/>
          <a:ln w="57150" cap="flat"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597" name=""/>
          <p:cNvSpPr/>
          <p:nvPr/>
        </p:nvSpPr>
        <p:spPr>
          <a:xfrm rot="0">
            <a:off x="5713412" y="1504950"/>
            <a:ext cx="1587" cy="392112"/>
          </a:xfrm>
          <a:custGeom>
            <a:avLst/>
            <a:gdLst>
              <a:gd name="l" fmla="*/ 0 w 1"/>
              <a:gd name="t" fmla="*/ 0 h 247"/>
              <a:gd name="r" fmla="*/ 1 w 1"/>
              <a:gd name="b" fmla="*/ 247 h 247"/>
            </a:gdLst>
            <a:ahLst/>
            <a:rect l="l" t="t" r="r" b="b"/>
            <a:pathLst>
              <a:path w="1" h="247">
                <a:moveTo>
                  <a:pt x="0" y="247"/>
                </a:moveTo>
                <a:lnTo>
                  <a:pt x="0" y="0"/>
                </a:lnTo>
              </a:path>
            </a:pathLst>
          </a:custGeom>
          <a:noFill/>
          <a:ln w="57150" cap="flat"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598" name=""/>
          <p:cNvSpPr/>
          <p:nvPr/>
        </p:nvSpPr>
        <p:spPr>
          <a:xfrm rot="0">
            <a:off x="3429000" y="1504950"/>
            <a:ext cx="1587" cy="392112"/>
          </a:xfrm>
          <a:custGeom>
            <a:avLst/>
            <a:gdLst>
              <a:gd name="l" fmla="*/ 0 w 1"/>
              <a:gd name="t" fmla="*/ 0 h 247"/>
              <a:gd name="r" fmla="*/ 1 w 1"/>
              <a:gd name="b" fmla="*/ 247 h 247"/>
            </a:gdLst>
            <a:ahLst/>
            <a:rect l="l" t="t" r="r" b="b"/>
            <a:pathLst>
              <a:path w="1" h="247">
                <a:moveTo>
                  <a:pt x="0" y="247"/>
                </a:moveTo>
                <a:lnTo>
                  <a:pt x="0" y="0"/>
                </a:lnTo>
              </a:path>
            </a:pathLst>
          </a:custGeom>
          <a:noFill/>
          <a:ln w="57150" cap="flat"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599" name=""/>
          <p:cNvSpPr/>
          <p:nvPr/>
        </p:nvSpPr>
        <p:spPr>
          <a:xfrm rot="0">
            <a:off x="1273175" y="1508125"/>
            <a:ext cx="6673850" cy="4762"/>
          </a:xfrm>
          <a:custGeom>
            <a:avLst/>
            <a:gdLst>
              <a:gd name="l" fmla="*/ 0 w 4204"/>
              <a:gd name="t" fmla="*/ 0 h 3"/>
              <a:gd name="r" fmla="*/ 4204 w 4204"/>
              <a:gd name="b" fmla="*/ 3 h 3"/>
            </a:gdLst>
            <a:ahLst/>
            <a:rect l="l" t="t" r="r" b="b"/>
            <a:pathLst>
              <a:path w="4204" h="3">
                <a:moveTo>
                  <a:pt x="0" y="0"/>
                </a:moveTo>
                <a:lnTo>
                  <a:pt x="4204" y="3"/>
                </a:lnTo>
              </a:path>
            </a:pathLst>
          </a:custGeom>
          <a:noFill/>
          <a:ln w="57150" cap="flat" cmpd="sng">
            <a:solidFill>
              <a:schemeClr val="dk1">
                <a:alpha val="100000"/>
              </a:scheme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00" name=""/>
          <p:cNvSpPr/>
          <p:nvPr/>
        </p:nvSpPr>
        <p:spPr>
          <a:xfrm rot="0">
            <a:off x="4648200" y="3124200"/>
            <a:ext cx="2133600" cy="1981200"/>
          </a:xfrm>
          <a:prstGeom prst="rect"/>
          <a:noFill/>
          <a:ln>
            <a:noFill/>
          </a:ln>
        </p:spPr>
        <p:txBody>
          <a:bodyPr bIns="44450" lIns="90488" rIns="90488" tIns="10972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800" lang="en-US">
                <a:effectLst>
                  <a:outerShdw algn="tl" blurRad="38100" dir="2700000" dist="38100">
                    <a:srgbClr val="C0C0C0"/>
                  </a:outerShdw>
                </a:effectLst>
                <a:latin typeface="Arial" pitchFamily="0" charset="0"/>
              </a:rPr>
              <a:t>Reversing entries—An optional step</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800" lang="en-US">
                <a:effectLst>
                  <a:outerShdw algn="tl" blurRad="38100" dir="2700000" dist="38100">
                    <a:srgbClr val="C0C0C0"/>
                  </a:outerShdw>
                </a:effectLst>
                <a:latin typeface="Arial" pitchFamily="0" charset="0"/>
              </a:rPr>
              <a:t>Correcting entries—An avoidable step</a:t>
            </a:r>
          </a:p>
        </p:txBody>
      </p:sp>
      <p:sp>
        <p:nvSpPr>
          <p:cNvPr id="1048601" name=""/>
          <p:cNvSpPr/>
          <p:nvPr/>
        </p:nvSpPr>
        <p:spPr>
          <a:xfrm rot="0">
            <a:off x="381000" y="457200"/>
            <a:ext cx="83820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bIns="44450" lIns="90488" rIns="90488" tIns="4445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indent="0" lvl="0" marL="109537"/>
            <a:r>
              <a:rPr altLang="en-US" b="1" sz="3000" i="1" lang="en-US">
                <a:solidFill>
                  <a:schemeClr val="lt1"/>
                </a:solidFill>
                <a:effectLst>
                  <a:outerShdw algn="tl" blurRad="38100" dir="2700000" dist="38100">
                    <a:srgbClr val="C0C0C0"/>
                  </a:outerShdw>
                </a:effectLst>
              </a:rPr>
              <a:t>Completing the Accounting Cycle</a:t>
            </a:r>
          </a:p>
        </p:txBody>
      </p:sp>
      <p:sp>
        <p:nvSpPr>
          <p:cNvPr id="1048602" name=""/>
          <p:cNvSpPr/>
          <p:nvPr/>
        </p:nvSpPr>
        <p:spPr>
          <a:xfrm rot="0">
            <a:off x="2438400" y="3124200"/>
            <a:ext cx="2133600" cy="2362200"/>
          </a:xfrm>
          <a:prstGeom prst="rect"/>
          <a:noFill/>
          <a:ln>
            <a:noFill/>
          </a:ln>
        </p:spPr>
        <p:txBody>
          <a:bodyPr bIns="44450" lIns="90488" rIns="90488" tIns="10972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800" lang="en-US">
                <a:effectLst>
                  <a:outerShdw algn="tl" blurRad="38100" dir="2700000" dist="38100">
                    <a:srgbClr val="C0C0C0"/>
                  </a:outerShdw>
                </a:effectLst>
                <a:latin typeface="Arial" pitchFamily="0" charset="0"/>
              </a:rPr>
              <a:t>Preparing closing entries</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800" lang="en-US">
                <a:effectLst>
                  <a:outerShdw algn="tl" blurRad="38100" dir="2700000" dist="38100">
                    <a:srgbClr val="C0C0C0"/>
                  </a:outerShdw>
                </a:effectLst>
                <a:latin typeface="Arial" pitchFamily="0" charset="0"/>
              </a:rPr>
              <a:t>Posting closing entries</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r>
              <a:rPr altLang="en-US" sz="1800" lang="en-US">
                <a:effectLst>
                  <a:outerShdw algn="tl" blurRad="38100" dir="2700000" dist="38100">
                    <a:srgbClr val="C0C0C0"/>
                  </a:outerShdw>
                </a:effectLst>
                <a:latin typeface="Arial" pitchFamily="0" charset="0"/>
              </a:rPr>
              <a:t>Preparing a post-closing trial balance</a:t>
            </a:r>
          </a:p>
          <a:p>
            <a:pPr algn="l" indent="-228600" lvl="0" marL="228600">
              <a:spcBef>
                <a:spcPct val="25000"/>
              </a:spcBef>
              <a:buClr>
                <a:srgbClr val="CC0000"/>
              </a:buClr>
              <a:buSzPct val="75000"/>
              <a:buFont typeface="Wingdings" pitchFamily="2" charset="2"/>
              <a:buBlip>
                <a:blip xmlns:r="http://schemas.openxmlformats.org/officeDocument/2006/relationships" r:embed="rId1"/>
              </a:buBlip>
            </a:pPr>
            <a:endParaRPr altLang="en-US" sz="1800" lang="en-US">
              <a:effectLst>
                <a:outerShdw algn="tl" blurRad="38100" dir="2700000" dist="38100">
                  <a:srgbClr val="C0C0C0"/>
                </a:outerShdw>
              </a:effectLst>
              <a:latin typeface="Arial" pitchFamily="0" charset="0"/>
            </a:endParaRPr>
          </a:p>
        </p:txBody>
      </p:sp>
    </p:spTree>
  </p:cSld>
  <p:clrMapOvr>
    <a:masterClrMapping/>
  </p:clrMapOvr>
  <p:transition spd="fast" advClick="1">
    <p:wipe dir="r"/>
  </p:transition>
</p:sld>
</file>

<file path=ppt/slides/slide4.xml><?xml version="1.0" encoding="utf-8"?>
<p:sld xmlns:a="http://schemas.openxmlformats.org/drawingml/2006/main" xmlns:r="http://schemas.openxmlformats.org/officeDocument/2006/relationships" xmlns:p="http://schemas.openxmlformats.org/presentationml/2006/main" showMasterSp="1">
  <p:cSld>
    <p:spTree>
      <p:nvGrpSpPr>
        <p:cNvPr id="68" name=""/>
        <p:cNvGrpSpPr/>
        <p:nvPr/>
      </p:nvGrpSpPr>
      <p:grpSpPr>
        <a:xfrm rot="0">
          <a:off x="0" y="0"/>
          <a:ext cx="0" cy="0"/>
          <a:chOff x="0" y="0"/>
          <a:chExt cx="0" cy="0"/>
        </a:xfrm>
      </p:grpSpPr>
      <p:sp>
        <p:nvSpPr>
          <p:cNvPr id="1048605" name=""/>
          <p:cNvSpPr txBox="1"/>
          <p:nvPr/>
        </p:nvSpPr>
        <p:spPr>
          <a:xfrm rot="0">
            <a:off x="685800" y="1979612"/>
            <a:ext cx="7543800" cy="377576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457200" lvl="0" marL="457200">
              <a:lnSpc>
                <a:spcPct val="115000"/>
              </a:lnSpc>
              <a:spcAft>
                <a:spcPct val="50000"/>
              </a:spcAft>
              <a:buSzPct val="80000"/>
              <a:buFontTx/>
              <a:buBlip>
                <a:blip xmlns:r="http://schemas.openxmlformats.org/officeDocument/2006/relationships" r:embed="rId1"/>
              </a:buBlip>
            </a:pPr>
            <a:r>
              <a:rPr altLang="en-US" sz="2600" lang="en-US">
                <a:solidFill>
                  <a:srgbClr val="000000"/>
                </a:solidFill>
              </a:rPr>
              <a:t>A multiple-column form used in preparing financial statements. </a:t>
            </a:r>
          </a:p>
          <a:p>
            <a:pPr algn="l" indent="-457200" lvl="0" marL="457200">
              <a:lnSpc>
                <a:spcPct val="115000"/>
              </a:lnSpc>
              <a:spcAft>
                <a:spcPct val="50000"/>
              </a:spcAft>
              <a:buSzPct val="80000"/>
              <a:buFontTx/>
              <a:buBlip>
                <a:blip xmlns:r="http://schemas.openxmlformats.org/officeDocument/2006/relationships" r:embed="rId1"/>
              </a:buBlip>
            </a:pPr>
            <a:r>
              <a:rPr altLang="en-US" sz="2600" lang="en-US">
                <a:solidFill>
                  <a:srgbClr val="000000"/>
                </a:solidFill>
              </a:rPr>
              <a:t>Not a permanent accounting record.</a:t>
            </a:r>
          </a:p>
          <a:p>
            <a:pPr algn="l" indent="-457200" lvl="0" marL="457200">
              <a:lnSpc>
                <a:spcPct val="115000"/>
              </a:lnSpc>
              <a:spcAft>
                <a:spcPct val="50000"/>
              </a:spcAft>
              <a:buSzPct val="80000"/>
              <a:buFontTx/>
              <a:buBlip>
                <a:blip xmlns:r="http://schemas.openxmlformats.org/officeDocument/2006/relationships" r:embed="rId1"/>
              </a:buBlip>
            </a:pPr>
            <a:r>
              <a:rPr altLang="en-US" sz="2600" lang="en-US">
                <a:solidFill>
                  <a:srgbClr val="000000"/>
                </a:solidFill>
              </a:rPr>
              <a:t>Five step process.</a:t>
            </a:r>
          </a:p>
          <a:p>
            <a:pPr algn="l" indent="-457200" lvl="0" marL="457200">
              <a:lnSpc>
                <a:spcPct val="115000"/>
              </a:lnSpc>
              <a:spcAft>
                <a:spcPct val="50000"/>
              </a:spcAft>
              <a:buSzPct val="80000"/>
              <a:buFontTx/>
              <a:buBlip>
                <a:blip xmlns:r="http://schemas.openxmlformats.org/officeDocument/2006/relationships" r:embed="rId1"/>
              </a:buBlip>
            </a:pPr>
            <a:r>
              <a:rPr altLang="en-US" sz="2600" lang="en-US">
                <a:solidFill>
                  <a:srgbClr val="000000"/>
                </a:solidFill>
              </a:rPr>
              <a:t>Use of worksheet is optional.</a:t>
            </a:r>
          </a:p>
        </p:txBody>
      </p:sp>
      <p:sp>
        <p:nvSpPr>
          <p:cNvPr id="1048606"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Using A Worksheet</a:t>
            </a:r>
          </a:p>
        </p:txBody>
      </p:sp>
      <p:sp>
        <p:nvSpPr>
          <p:cNvPr id="1048607" name=""/>
          <p:cNvSpPr txBox="1"/>
          <p:nvPr/>
        </p:nvSpPr>
        <p:spPr>
          <a:xfrm rot="0">
            <a:off x="1066800" y="6369050"/>
            <a:ext cx="7924800" cy="423545"/>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1  Prepare a worksheet.</a:t>
            </a:r>
          </a:p>
        </p:txBody>
      </p:sp>
      <p:sp>
        <p:nvSpPr>
          <p:cNvPr id="1048608" name=""/>
          <p:cNvSpPr/>
          <p:nvPr/>
        </p:nvSpPr>
        <p:spPr>
          <a:xfrm rot="0">
            <a:off x="533400" y="1371600"/>
            <a:ext cx="63246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200" lang="en-US">
                <a:solidFill>
                  <a:srgbClr val="800000"/>
                </a:solidFill>
                <a:effectLst>
                  <a:outerShdw algn="tl" blurRad="38100" dir="2700000" dist="38100">
                    <a:srgbClr val="C0C0C0"/>
                  </a:outerShdw>
                </a:effectLst>
              </a:rPr>
              <a:t>Worksheet</a:t>
            </a:r>
          </a:p>
        </p:txBody>
      </p:sp>
    </p:spTree>
  </p:cSld>
  <p:clrMapOvr>
    <a:masterClrMapping/>
  </p:clrMapOvr>
  <p:transition spd="fast" advClick="1">
    <p:wipe dir="r"/>
  </p:transition>
</p:sld>
</file>

<file path=ppt/slides/slide5.xml><?xml version="1.0" encoding="utf-8"?>
<p:sld xmlns:a="http://schemas.openxmlformats.org/drawingml/2006/main" xmlns:r="http://schemas.openxmlformats.org/officeDocument/2006/relationships" xmlns:p="http://schemas.openxmlformats.org/presentationml/2006/main" showMasterSp="1">
  <p:cSld>
    <p:spTree>
      <p:nvGrpSpPr>
        <p:cNvPr id="71" name=""/>
        <p:cNvGrpSpPr/>
        <p:nvPr/>
      </p:nvGrpSpPr>
      <p:grpSpPr>
        <a:xfrm rot="0">
          <a:off x="0" y="0"/>
          <a:ext cx="0" cy="0"/>
          <a:chOff x="0" y="0"/>
          <a:chExt cx="0" cy="0"/>
        </a:xfrm>
      </p:grpSpPr>
      <p:sp>
        <p:nvSpPr>
          <p:cNvPr id="1048611"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Steps in Preparing a Worksheet</a:t>
            </a:r>
          </a:p>
        </p:txBody>
      </p:sp>
      <p:pic>
        <p:nvPicPr>
          <p:cNvPr id="2097152" name=""/>
          <p:cNvPicPr>
            <a:picLocks/>
          </p:cNvPicPr>
          <p:nvPr/>
        </p:nvPicPr>
        <p:blipFill>
          <a:blip xmlns:r="http://schemas.openxmlformats.org/officeDocument/2006/relationships" r:embed="rId1"/>
          <a:srcRect l="0" t="0" r="0" b="0"/>
          <a:stretch>
            <a:fillRect/>
          </a:stretch>
        </p:blipFill>
        <p:spPr>
          <a:xfrm rot="0">
            <a:off x="381000" y="1371600"/>
            <a:ext cx="8458200" cy="3397250"/>
          </a:xfrm>
          <a:prstGeom prst="rect"/>
          <a:noFill/>
          <a:ln>
            <a:noFill/>
          </a:ln>
        </p:spPr>
      </p:pic>
      <p:sp>
        <p:nvSpPr>
          <p:cNvPr id="1048612" name=""/>
          <p:cNvSpPr/>
          <p:nvPr/>
        </p:nvSpPr>
        <p:spPr>
          <a:xfrm rot="0">
            <a:off x="3146425" y="4191000"/>
            <a:ext cx="228600" cy="609600"/>
          </a:xfrm>
          <a:prstGeom prst="upArrow">
            <a:avLst>
              <a:gd name="adj1" fmla="val 50000"/>
              <a:gd name="adj2" fmla="val 66666"/>
            </a:avLst>
          </a:prstGeom>
          <a:solidFill>
            <a:srgbClr val="800000"/>
          </a:solidFill>
          <a:ln w="12700" cap="sq"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13" name=""/>
          <p:cNvSpPr/>
          <p:nvPr/>
        </p:nvSpPr>
        <p:spPr>
          <a:xfrm rot="0">
            <a:off x="4419600" y="4191000"/>
            <a:ext cx="228600" cy="609600"/>
          </a:xfrm>
          <a:prstGeom prst="upArrow">
            <a:avLst>
              <a:gd name="adj1" fmla="val 50000"/>
              <a:gd name="adj2" fmla="val 66666"/>
            </a:avLst>
          </a:prstGeom>
          <a:solidFill>
            <a:srgbClr val="800000"/>
          </a:solidFill>
          <a:ln w="12700" cap="sq"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14" name=""/>
          <p:cNvSpPr/>
          <p:nvPr/>
        </p:nvSpPr>
        <p:spPr>
          <a:xfrm rot="0">
            <a:off x="5638800" y="4191000"/>
            <a:ext cx="228600" cy="609600"/>
          </a:xfrm>
          <a:prstGeom prst="upArrow">
            <a:avLst>
              <a:gd name="adj1" fmla="val 50000"/>
              <a:gd name="adj2" fmla="val 66666"/>
            </a:avLst>
          </a:prstGeom>
          <a:solidFill>
            <a:srgbClr val="800000"/>
          </a:solidFill>
          <a:ln w="12700" cap="sq"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15" name=""/>
          <p:cNvSpPr/>
          <p:nvPr/>
        </p:nvSpPr>
        <p:spPr>
          <a:xfrm rot="0">
            <a:off x="6705600" y="4191000"/>
            <a:ext cx="228600" cy="609600"/>
          </a:xfrm>
          <a:prstGeom prst="upArrow">
            <a:avLst>
              <a:gd name="adj1" fmla="val 50000"/>
              <a:gd name="adj2" fmla="val 66666"/>
            </a:avLst>
          </a:prstGeom>
          <a:solidFill>
            <a:srgbClr val="800000"/>
          </a:solidFill>
          <a:ln w="12700" cap="sq"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16" name=""/>
          <p:cNvSpPr txBox="1"/>
          <p:nvPr/>
        </p:nvSpPr>
        <p:spPr>
          <a:xfrm rot="0">
            <a:off x="1600200" y="6369050"/>
            <a:ext cx="35052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1  Prepare a worksheet.</a:t>
            </a:r>
          </a:p>
        </p:txBody>
      </p:sp>
      <p:pic>
        <p:nvPicPr>
          <p:cNvPr id="2097153" name=""/>
          <p:cNvPicPr>
            <a:picLocks/>
          </p:cNvPicPr>
          <p:nvPr/>
        </p:nvPicPr>
        <p:blipFill>
          <a:blip xmlns:r="http://schemas.openxmlformats.org/officeDocument/2006/relationships" r:embed="rId2"/>
          <a:srcRect l="0" t="0" r="0" b="0"/>
          <a:stretch>
            <a:fillRect/>
          </a:stretch>
        </p:blipFill>
        <p:spPr>
          <a:xfrm rot="0">
            <a:off x="6400800" y="4876800"/>
            <a:ext cx="2057400" cy="1703387"/>
          </a:xfrm>
          <a:prstGeom prst="rect"/>
          <a:noFill/>
          <a:ln w="12700" cap="sq" cmpd="sng">
            <a:solidFill>
              <a:schemeClr val="dk1">
                <a:alpha val="100000"/>
              </a:schemeClr>
            </a:solidFill>
            <a:prstDash val="solid"/>
            <a:round/>
          </a:ln>
        </p:spPr>
      </p:pic>
      <p:sp>
        <p:nvSpPr>
          <p:cNvPr id="1048617" name=""/>
          <p:cNvSpPr/>
          <p:nvPr/>
        </p:nvSpPr>
        <p:spPr>
          <a:xfrm rot="0">
            <a:off x="7772400" y="4191000"/>
            <a:ext cx="228600" cy="609600"/>
          </a:xfrm>
          <a:prstGeom prst="upArrow">
            <a:avLst>
              <a:gd name="adj1" fmla="val 50000"/>
              <a:gd name="adj2" fmla="val 66666"/>
            </a:avLst>
          </a:prstGeom>
          <a:solidFill>
            <a:srgbClr val="800000"/>
          </a:solidFill>
          <a:ln w="12700" cap="sq"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pic>
        <p:nvPicPr>
          <p:cNvPr id="2097154" name=""/>
          <p:cNvPicPr>
            <a:picLocks/>
          </p:cNvPicPr>
          <p:nvPr/>
        </p:nvPicPr>
        <p:blipFill>
          <a:blip xmlns:r="http://schemas.openxmlformats.org/officeDocument/2006/relationships" r:embed="rId3"/>
          <a:srcRect l="0" t="0" r="0" b="0"/>
          <a:stretch>
            <a:fillRect/>
          </a:stretch>
        </p:blipFill>
        <p:spPr>
          <a:xfrm rot="0">
            <a:off x="5303837" y="4876800"/>
            <a:ext cx="944562" cy="1203325"/>
          </a:xfrm>
          <a:prstGeom prst="rect"/>
          <a:noFill/>
          <a:ln w="12700" cap="sq" cmpd="sng">
            <a:solidFill>
              <a:schemeClr val="dk1">
                <a:alpha val="100000"/>
              </a:schemeClr>
            </a:solidFill>
            <a:prstDash val="solid"/>
            <a:round/>
          </a:ln>
        </p:spPr>
      </p:pic>
      <p:pic>
        <p:nvPicPr>
          <p:cNvPr id="2097155" name=""/>
          <p:cNvPicPr>
            <a:picLocks/>
          </p:cNvPicPr>
          <p:nvPr/>
        </p:nvPicPr>
        <p:blipFill>
          <a:blip xmlns:r="http://schemas.openxmlformats.org/officeDocument/2006/relationships" r:embed="rId4"/>
          <a:srcRect l="0" t="0" r="0" b="0"/>
          <a:stretch>
            <a:fillRect/>
          </a:stretch>
        </p:blipFill>
        <p:spPr>
          <a:xfrm rot="0">
            <a:off x="3973512" y="4876800"/>
            <a:ext cx="1196975" cy="1211262"/>
          </a:xfrm>
          <a:prstGeom prst="rect"/>
          <a:noFill/>
          <a:ln w="12700" cap="sq" cmpd="sng">
            <a:solidFill>
              <a:schemeClr val="dk1">
                <a:alpha val="100000"/>
              </a:schemeClr>
            </a:solidFill>
            <a:prstDash val="solid"/>
            <a:round/>
          </a:ln>
        </p:spPr>
      </p:pic>
      <p:pic>
        <p:nvPicPr>
          <p:cNvPr id="2097156" name=""/>
          <p:cNvPicPr>
            <a:picLocks/>
          </p:cNvPicPr>
          <p:nvPr/>
        </p:nvPicPr>
        <p:blipFill>
          <a:blip xmlns:r="http://schemas.openxmlformats.org/officeDocument/2006/relationships" r:embed="rId5"/>
          <a:srcRect l="0" t="0" r="0" b="0"/>
          <a:stretch>
            <a:fillRect/>
          </a:stretch>
        </p:blipFill>
        <p:spPr>
          <a:xfrm rot="0">
            <a:off x="2590800" y="4876800"/>
            <a:ext cx="1257300" cy="1203325"/>
          </a:xfrm>
          <a:prstGeom prst="rect"/>
          <a:noFill/>
          <a:ln w="12700" cap="sq" cmpd="sng">
            <a:solidFill>
              <a:schemeClr val="dk1">
                <a:alpha val="100000"/>
              </a:schemeClr>
            </a:solidFill>
            <a:prstDash val="solid"/>
            <a:round/>
          </a:ln>
        </p:spPr>
      </p:pic>
      <p:sp>
        <p:nvSpPr>
          <p:cNvPr id="1048618" name=""/>
          <p:cNvSpPr txBox="1"/>
          <p:nvPr/>
        </p:nvSpPr>
        <p:spPr>
          <a:xfrm rot="0">
            <a:off x="6477000" y="1295400"/>
            <a:ext cx="1371600" cy="303212"/>
          </a:xfrm>
          <a:prstGeom prst="rect"/>
          <a:solidFill>
            <a:srgbClr val="FFFFCC"/>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r>
              <a:rPr altLang="en-US" sz="1200" lang="en-US"/>
              <a:t>Illustration 4-2</a:t>
            </a:r>
          </a:p>
        </p:txBody>
      </p:sp>
    </p:spTree>
  </p:cSld>
  <p:clrMapOvr>
    <a:masterClrMapping/>
  </p:clrMapOvr>
  <p:transition spd="fast" advClick="1">
    <p:wipe dir="r"/>
  </p:transition>
</p:sld>
</file>

<file path=ppt/slides/slide6.xml><?xml version="1.0" encoding="utf-8"?>
<p:sld xmlns:a="http://schemas.openxmlformats.org/drawingml/2006/main" xmlns:r="http://schemas.openxmlformats.org/officeDocument/2006/relationships" xmlns:p="http://schemas.openxmlformats.org/presentationml/2006/main" showMasterSp="1">
  <p:cSld>
    <p:spTree>
      <p:nvGrpSpPr>
        <p:cNvPr id="74" name=""/>
        <p:cNvGrpSpPr/>
        <p:nvPr/>
      </p:nvGrpSpPr>
      <p:grpSpPr>
        <a:xfrm rot="0">
          <a:off x="0" y="0"/>
          <a:ext cx="0" cy="0"/>
          <a:chOff x="0" y="0"/>
          <a:chExt cx="0" cy="0"/>
        </a:xfrm>
      </p:grpSpPr>
      <p:sp>
        <p:nvSpPr>
          <p:cNvPr id="1048621" name=""/>
          <p:cNvSpPr txBox="1"/>
          <p:nvPr/>
        </p:nvSpPr>
        <p:spPr>
          <a:xfrm rot="0">
            <a:off x="457200" y="1066800"/>
            <a:ext cx="8458200" cy="1158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b="1" sz="2000" lang="en-US">
                <a:solidFill>
                  <a:srgbClr val="800000"/>
                </a:solidFill>
                <a:ea typeface="Arial" pitchFamily="0" charset="0"/>
              </a:rPr>
              <a:t>Example</a:t>
            </a:r>
          </a:p>
          <a:p>
            <a:pPr algn="l" lvl="0">
              <a:spcBef>
                <a:spcPct val="50000"/>
              </a:spcBef>
            </a:pPr>
            <a:r>
              <a:rPr altLang="en-US" sz="2000" lang="en-US">
                <a:solidFill>
                  <a:srgbClr val="000000"/>
                </a:solidFill>
                <a:ea typeface="Arial" pitchFamily="0" charset="0"/>
              </a:rPr>
              <a:t>The trial balance for Undercover Roofing for the month ended March 31, 2008, is as follows.</a:t>
            </a:r>
          </a:p>
        </p:txBody>
      </p:sp>
      <p:sp>
        <p:nvSpPr>
          <p:cNvPr id="1048622"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Steps in Preparing a Worksheet</a:t>
            </a:r>
          </a:p>
        </p:txBody>
      </p:sp>
      <p:pic>
        <p:nvPicPr>
          <p:cNvPr id="2097157" name=""/>
          <p:cNvPicPr>
            <a:picLocks/>
          </p:cNvPicPr>
          <p:nvPr/>
        </p:nvPicPr>
        <p:blipFill>
          <a:blip xmlns:r="http://schemas.openxmlformats.org/officeDocument/2006/relationships" r:embed="rId1"/>
          <a:srcRect l="0" t="0" r="0" b="0"/>
          <a:stretch>
            <a:fillRect/>
          </a:stretch>
        </p:blipFill>
        <p:spPr>
          <a:xfrm rot="0">
            <a:off x="368300" y="2292350"/>
            <a:ext cx="4291012" cy="3587750"/>
          </a:xfrm>
          <a:prstGeom prst="rect"/>
          <a:noFill/>
          <a:ln w="28575" cap="sq" cmpd="sng">
            <a:solidFill>
              <a:schemeClr val="dk1">
                <a:alpha val="100000"/>
              </a:schemeClr>
            </a:solidFill>
            <a:prstDash val="solid"/>
            <a:round/>
          </a:ln>
        </p:spPr>
      </p:pic>
      <p:sp>
        <p:nvSpPr>
          <p:cNvPr id="1048623" name=""/>
          <p:cNvSpPr txBox="1"/>
          <p:nvPr/>
        </p:nvSpPr>
        <p:spPr>
          <a:xfrm rot="0">
            <a:off x="4953000" y="2133600"/>
            <a:ext cx="3962400" cy="38052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401637" lvl="0" marL="401637">
              <a:lnSpc>
                <a:spcPct val="110000"/>
              </a:lnSpc>
              <a:spcBef>
                <a:spcPct val="10000"/>
              </a:spcBef>
              <a:buSzPct val="80000"/>
              <a:buFontTx/>
              <a:buNone/>
            </a:pPr>
            <a:r>
              <a:rPr altLang="en-US" b="1" sz="2000" lang="en-US">
                <a:solidFill>
                  <a:srgbClr val="800000"/>
                </a:solidFill>
              </a:rPr>
              <a:t>Other data:</a:t>
            </a:r>
          </a:p>
          <a:p>
            <a:pPr algn="l" indent="-401637" lvl="0" marL="401637">
              <a:lnSpc>
                <a:spcPct val="110000"/>
              </a:lnSpc>
              <a:spcBef>
                <a:spcPct val="10000"/>
              </a:spcBef>
              <a:buSzPct val="80000"/>
              <a:buFontTx/>
              <a:buNone/>
            </a:pPr>
            <a:r>
              <a:rPr altLang="en-US" b="1" sz="2000" lang="en-US">
                <a:solidFill>
                  <a:srgbClr val="000000"/>
                </a:solidFill>
              </a:rPr>
              <a:t>1. </a:t>
            </a:r>
            <a:r>
              <a:rPr altLang="en-US" sz="2000" lang="en-US">
                <a:solidFill>
                  <a:srgbClr val="000000"/>
                </a:solidFill>
              </a:rPr>
              <a:t>Supplies on hand total $140.</a:t>
            </a:r>
          </a:p>
          <a:p>
            <a:pPr algn="l" indent="-401637" lvl="0" marL="401637">
              <a:lnSpc>
                <a:spcPct val="110000"/>
              </a:lnSpc>
              <a:spcBef>
                <a:spcPct val="10000"/>
              </a:spcBef>
              <a:buSzPct val="80000"/>
              <a:buFontTx/>
              <a:buNone/>
            </a:pPr>
            <a:r>
              <a:rPr altLang="en-US" b="1" sz="2000" lang="en-US">
                <a:solidFill>
                  <a:srgbClr val="000000"/>
                </a:solidFill>
              </a:rPr>
              <a:t>2. </a:t>
            </a:r>
            <a:r>
              <a:rPr altLang="en-US" sz="2000" lang="en-US">
                <a:solidFill>
                  <a:srgbClr val="000000"/>
                </a:solidFill>
              </a:rPr>
              <a:t>Depreciation for March is $200.</a:t>
            </a:r>
          </a:p>
          <a:p>
            <a:pPr algn="l" indent="-401637" lvl="0" marL="401637">
              <a:lnSpc>
                <a:spcPct val="110000"/>
              </a:lnSpc>
              <a:spcBef>
                <a:spcPct val="10000"/>
              </a:spcBef>
              <a:buSzPct val="80000"/>
              <a:buFontTx/>
              <a:buNone/>
            </a:pPr>
            <a:r>
              <a:rPr altLang="en-US" b="1" sz="2000" lang="en-US">
                <a:solidFill>
                  <a:srgbClr val="000000"/>
                </a:solidFill>
              </a:rPr>
              <a:t>3. </a:t>
            </a:r>
            <a:r>
              <a:rPr altLang="en-US" sz="2000" lang="en-US">
                <a:solidFill>
                  <a:srgbClr val="000000"/>
                </a:solidFill>
              </a:rPr>
              <a:t>Unearned revenue amounted to $130 on March 31.</a:t>
            </a:r>
          </a:p>
          <a:p>
            <a:pPr algn="l" indent="-401637" lvl="0" marL="401637">
              <a:lnSpc>
                <a:spcPct val="110000"/>
              </a:lnSpc>
              <a:spcBef>
                <a:spcPct val="10000"/>
              </a:spcBef>
              <a:buSzPct val="80000"/>
              <a:buFontTx/>
              <a:buNone/>
            </a:pPr>
            <a:r>
              <a:rPr altLang="en-US" b="1" sz="2000" lang="en-US">
                <a:solidFill>
                  <a:srgbClr val="000000"/>
                </a:solidFill>
              </a:rPr>
              <a:t>4. </a:t>
            </a:r>
            <a:r>
              <a:rPr altLang="en-US" sz="2000" lang="en-US">
                <a:solidFill>
                  <a:srgbClr val="000000"/>
                </a:solidFill>
              </a:rPr>
              <a:t>Accrued salaries are $350.</a:t>
            </a:r>
          </a:p>
          <a:p>
            <a:pPr algn="l" indent="-401637" lvl="0" marL="401637">
              <a:lnSpc>
                <a:spcPct val="110000"/>
              </a:lnSpc>
              <a:spcBef>
                <a:spcPct val="70000"/>
              </a:spcBef>
              <a:buSzPct val="80000"/>
              <a:buFontTx/>
              <a:buNone/>
            </a:pPr>
            <a:r>
              <a:rPr altLang="en-US" b="1" sz="2000" lang="en-US">
                <a:solidFill>
                  <a:srgbClr val="800000"/>
                </a:solidFill>
              </a:rPr>
              <a:t>Instructions</a:t>
            </a:r>
          </a:p>
          <a:p>
            <a:pPr algn="l" indent="-401637" lvl="0" marL="401637">
              <a:lnSpc>
                <a:spcPct val="110000"/>
              </a:lnSpc>
              <a:spcBef>
                <a:spcPct val="10000"/>
              </a:spcBef>
              <a:buSzPct val="80000"/>
              <a:buFontTx/>
              <a:buNone/>
            </a:pPr>
            <a:r>
              <a:rPr altLang="en-US" sz="2000" lang="en-US">
                <a:solidFill>
                  <a:srgbClr val="000000"/>
                </a:solidFill>
              </a:rPr>
              <a:t>a. 	Prepare and complete the worksheet.</a:t>
            </a:r>
          </a:p>
        </p:txBody>
      </p:sp>
      <p:sp>
        <p:nvSpPr>
          <p:cNvPr id="1048624"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1  Prepare a worksheet.</a:t>
            </a:r>
          </a:p>
        </p:txBody>
      </p:sp>
    </p:spTree>
  </p:cSld>
  <p:clrMapOvr>
    <a:masterClrMapping/>
  </p:clrMapOvr>
  <p:transition spd="fast" advClick="1">
    <p:wipe dir="r"/>
  </p:transition>
</p:sld>
</file>

<file path=ppt/slides/slide7.xml><?xml version="1.0" encoding="utf-8"?>
<p:sld xmlns:a="http://schemas.openxmlformats.org/drawingml/2006/main" xmlns:r="http://schemas.openxmlformats.org/officeDocument/2006/relationships" xmlns:p="http://schemas.openxmlformats.org/presentationml/2006/main" showMasterSp="1">
  <p:cSld>
    <p:spTree>
      <p:nvGrpSpPr>
        <p:cNvPr id="75" name=""/>
        <p:cNvGrpSpPr/>
        <p:nvPr/>
      </p:nvGrpSpPr>
      <p:grpSpPr>
        <a:xfrm rot="0">
          <a:off x="0" y="0"/>
          <a:ext cx="0" cy="0"/>
          <a:chOff x="0" y="0"/>
          <a:chExt cx="0" cy="0"/>
        </a:xfrm>
      </p:grpSpPr>
      <p:pic>
        <p:nvPicPr>
          <p:cNvPr id="2097158" name=""/>
          <p:cNvPicPr>
            <a:picLocks/>
          </p:cNvPicPr>
          <p:nvPr/>
        </p:nvPicPr>
        <p:blipFill>
          <a:blip xmlns:r="http://schemas.openxmlformats.org/officeDocument/2006/relationships" r:embed="rId1"/>
          <a:srcRect l="0" t="0" r="0" b="0"/>
          <a:stretch>
            <a:fillRect/>
          </a:stretch>
        </p:blipFill>
        <p:spPr>
          <a:xfrm rot="0">
            <a:off x="152400" y="1676400"/>
            <a:ext cx="8915400" cy="4108450"/>
          </a:xfrm>
          <a:prstGeom prst="rect"/>
          <a:noFill/>
          <a:ln>
            <a:noFill/>
          </a:ln>
        </p:spPr>
      </p:pic>
      <p:sp>
        <p:nvSpPr>
          <p:cNvPr id="1048625"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Steps in Preparing a Worksheet</a:t>
            </a:r>
          </a:p>
        </p:txBody>
      </p:sp>
      <p:sp>
        <p:nvSpPr>
          <p:cNvPr id="1048626" name=""/>
          <p:cNvSpPr/>
          <p:nvPr/>
        </p:nvSpPr>
        <p:spPr>
          <a:xfrm rot="0">
            <a:off x="228600" y="1295400"/>
            <a:ext cx="89154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2600" lang="en-US">
                <a:solidFill>
                  <a:srgbClr val="800000"/>
                </a:solidFill>
                <a:effectLst>
                  <a:outerShdw algn="tl" blurRad="38100" dir="2700000" dist="38100">
                    <a:srgbClr val="C0C0C0"/>
                  </a:outerShdw>
                </a:effectLst>
              </a:rPr>
              <a:t>1. Prepare a Trial Balance on the Worksheet</a:t>
            </a:r>
          </a:p>
        </p:txBody>
      </p:sp>
      <p:sp>
        <p:nvSpPr>
          <p:cNvPr id="1048627" name=""/>
          <p:cNvSpPr/>
          <p:nvPr/>
        </p:nvSpPr>
        <p:spPr>
          <a:xfrm rot="0">
            <a:off x="3924300" y="4419600"/>
            <a:ext cx="2933700" cy="1035050"/>
          </a:xfrm>
          <a:prstGeom prst="rect"/>
          <a:solidFill>
            <a:srgbClr val="FFFF99"/>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r>
              <a:rPr altLang="en-US" sz="2000" lang="en-US"/>
              <a:t>Trial balance amounts come directly from ledger accounts.</a:t>
            </a:r>
          </a:p>
        </p:txBody>
      </p:sp>
      <p:sp>
        <p:nvSpPr>
          <p:cNvPr id="1048628" name=""/>
          <p:cNvSpPr/>
          <p:nvPr/>
        </p:nvSpPr>
        <p:spPr>
          <a:xfrm rot="0">
            <a:off x="2667000" y="5029200"/>
            <a:ext cx="1257300" cy="1587"/>
          </a:xfrm>
          <a:custGeom>
            <a:avLst/>
            <a:gdLst>
              <a:gd name="l" fmla="*/ 0 w 792"/>
              <a:gd name="t" fmla="*/ 0 h 1"/>
              <a:gd name="r" fmla="*/ 792 w 792"/>
              <a:gd name="b" fmla="*/ 1 h 1"/>
            </a:gdLst>
            <a:ahLst/>
            <a:rect l="l" t="t" r="r" b="b"/>
            <a:pathLst>
              <a:path w="792" h="1">
                <a:moveTo>
                  <a:pt x="792" y="0"/>
                </a:moveTo>
                <a:lnTo>
                  <a:pt x="0" y="0"/>
                </a:lnTo>
              </a:path>
            </a:pathLst>
          </a:custGeom>
          <a:noFill/>
          <a:ln w="28575" cap="sq" cmpd="sng">
            <a:solidFill>
              <a:srgbClr val="800000">
                <a:alpha val="100000"/>
              </a:srgb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29" name=""/>
          <p:cNvSpPr/>
          <p:nvPr/>
        </p:nvSpPr>
        <p:spPr>
          <a:xfrm rot="0">
            <a:off x="2667000" y="4724400"/>
            <a:ext cx="1587" cy="304800"/>
          </a:xfrm>
          <a:custGeom>
            <a:avLst/>
            <a:gdLst>
              <a:gd name="l" fmla="*/ 0 w 1"/>
              <a:gd name="t" fmla="*/ 0 h 192"/>
              <a:gd name="r" fmla="*/ 1 w 1"/>
              <a:gd name="b" fmla="*/ 192 h 192"/>
            </a:gdLst>
            <a:ahLst/>
            <a:rect l="l" t="t" r="r" b="b"/>
            <a:pathLst>
              <a:path w="1" h="192">
                <a:moveTo>
                  <a:pt x="0" y="192"/>
                </a:moveTo>
                <a:lnTo>
                  <a:pt x="0" y="0"/>
                </a:lnTo>
              </a:path>
            </a:pathLst>
          </a:custGeom>
          <a:noFill/>
          <a:ln w="28575" cap="sq" cmpd="sng">
            <a:solidFill>
              <a:srgbClr val="800000">
                <a:alpha val="100000"/>
              </a:srgbClr>
            </a:solidFill>
            <a:prstDash val="solid"/>
            <a:round/>
            <a:tailEnd type="triangle" w="sm" len="sm"/>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30" name=""/>
          <p:cNvSpPr/>
          <p:nvPr/>
        </p:nvSpPr>
        <p:spPr>
          <a:xfrm rot="0">
            <a:off x="304800" y="5060950"/>
            <a:ext cx="2057400" cy="1035050"/>
          </a:xfrm>
          <a:prstGeom prst="rect"/>
          <a:solidFill>
            <a:srgbClr val="FFFF99"/>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r>
              <a:rPr altLang="en-US" sz="2000" lang="en-US"/>
              <a:t>Include all accounts with balances.</a:t>
            </a:r>
          </a:p>
        </p:txBody>
      </p:sp>
      <p:sp>
        <p:nvSpPr>
          <p:cNvPr id="1048631" name=""/>
          <p:cNvSpPr/>
          <p:nvPr/>
        </p:nvSpPr>
        <p:spPr>
          <a:xfrm rot="0">
            <a:off x="677862" y="4724400"/>
            <a:ext cx="1587" cy="334962"/>
          </a:xfrm>
          <a:custGeom>
            <a:avLst/>
            <a:gdLst>
              <a:gd name="l" fmla="*/ 0 w 1"/>
              <a:gd name="t" fmla="*/ 0 h 211"/>
              <a:gd name="r" fmla="*/ 1 w 1"/>
              <a:gd name="b" fmla="*/ 211 h 211"/>
            </a:gdLst>
            <a:ahLst/>
            <a:rect l="l" t="t" r="r" b="b"/>
            <a:pathLst>
              <a:path w="1" h="211">
                <a:moveTo>
                  <a:pt x="0" y="211"/>
                </a:moveTo>
                <a:lnTo>
                  <a:pt x="0" y="0"/>
                </a:lnTo>
              </a:path>
            </a:pathLst>
          </a:custGeom>
          <a:noFill/>
          <a:ln w="28575" cap="sq" cmpd="sng">
            <a:solidFill>
              <a:srgbClr val="800000">
                <a:alpha val="100000"/>
              </a:srgbClr>
            </a:solidFill>
            <a:prstDash val="solid"/>
            <a:round/>
            <a:tailEnd type="triangle" w="sm" len="sm"/>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32" name=""/>
          <p:cNvSpPr txBox="1"/>
          <p:nvPr/>
        </p:nvSpPr>
        <p:spPr>
          <a:xfrm rot="0">
            <a:off x="5715000" y="6369050"/>
            <a:ext cx="32766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1  Prepare a worksheet.</a:t>
            </a:r>
          </a:p>
        </p:txBody>
      </p:sp>
    </p:spTree>
  </p:cSld>
  <p:clrMapOvr>
    <a:masterClrMapping/>
  </p:clrMapOvr>
  <p:transition spd="fast" advClick="1">
    <p:wipe dir="r"/>
  </p:transition>
</p:sld>
</file>

<file path=ppt/slides/slide8.xml><?xml version="1.0" encoding="utf-8"?>
<p:sld xmlns:a="http://schemas.openxmlformats.org/drawingml/2006/main" xmlns:r="http://schemas.openxmlformats.org/officeDocument/2006/relationships" xmlns:p="http://schemas.openxmlformats.org/presentationml/2006/main" showMasterSp="1">
  <p:cSld>
    <p:spTree>
      <p:nvGrpSpPr>
        <p:cNvPr id="78" name=""/>
        <p:cNvGrpSpPr/>
        <p:nvPr/>
      </p:nvGrpSpPr>
      <p:grpSpPr>
        <a:xfrm rot="0">
          <a:off x="0" y="0"/>
          <a:ext cx="0" cy="0"/>
          <a:chOff x="0" y="0"/>
          <a:chExt cx="0" cy="0"/>
        </a:xfrm>
      </p:grpSpPr>
      <p:pic>
        <p:nvPicPr>
          <p:cNvPr id="2097159" name=""/>
          <p:cNvPicPr>
            <a:picLocks/>
          </p:cNvPicPr>
          <p:nvPr/>
        </p:nvPicPr>
        <p:blipFill>
          <a:blip xmlns:r="http://schemas.openxmlformats.org/officeDocument/2006/relationships" r:embed="rId1"/>
          <a:srcRect l="0" t="0" r="0" b="0"/>
          <a:stretch>
            <a:fillRect/>
          </a:stretch>
        </p:blipFill>
        <p:spPr>
          <a:xfrm rot="0">
            <a:off x="152400" y="1676400"/>
            <a:ext cx="8915400" cy="4108450"/>
          </a:xfrm>
          <a:prstGeom prst="rect"/>
          <a:noFill/>
          <a:ln>
            <a:noFill/>
          </a:ln>
        </p:spPr>
      </p:pic>
      <p:sp>
        <p:nvSpPr>
          <p:cNvPr id="1048635"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Steps in Preparing a Worksheet</a:t>
            </a:r>
          </a:p>
        </p:txBody>
      </p:sp>
      <p:sp>
        <p:nvSpPr>
          <p:cNvPr id="1048636" name=""/>
          <p:cNvSpPr/>
          <p:nvPr/>
        </p:nvSpPr>
        <p:spPr>
          <a:xfrm rot="0">
            <a:off x="228600" y="1295400"/>
            <a:ext cx="89154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2500" lang="en-US">
                <a:solidFill>
                  <a:srgbClr val="800000"/>
                </a:solidFill>
                <a:effectLst>
                  <a:outerShdw algn="tl" blurRad="38100" dir="2700000" dist="38100">
                    <a:srgbClr val="C0C0C0"/>
                  </a:outerShdw>
                </a:effectLst>
              </a:rPr>
              <a:t>2. Enter the Adjustments in the Adjustments Columns</a:t>
            </a:r>
          </a:p>
        </p:txBody>
      </p:sp>
      <p:sp>
        <p:nvSpPr>
          <p:cNvPr id="1048637" name=""/>
          <p:cNvSpPr/>
          <p:nvPr/>
        </p:nvSpPr>
        <p:spPr>
          <a:xfrm rot="0">
            <a:off x="5524500" y="4953000"/>
            <a:ext cx="2933700" cy="1339850"/>
          </a:xfrm>
          <a:prstGeom prst="rect"/>
          <a:solidFill>
            <a:srgbClr val="FFFF99"/>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r>
              <a:rPr altLang="en-US" sz="2000" lang="en-US"/>
              <a:t>Enter adjustment amounts, total adjustments columns,</a:t>
            </a:r>
          </a:p>
          <a:p>
            <a:pPr algn="l" lvl="0"/>
            <a:r>
              <a:rPr altLang="en-US" sz="2000" lang="en-US"/>
              <a:t>and check for equality.</a:t>
            </a:r>
          </a:p>
        </p:txBody>
      </p:sp>
      <p:sp>
        <p:nvSpPr>
          <p:cNvPr id="1048638" name=""/>
          <p:cNvSpPr/>
          <p:nvPr/>
        </p:nvSpPr>
        <p:spPr>
          <a:xfrm rot="0">
            <a:off x="4038600" y="5715000"/>
            <a:ext cx="1485900" cy="1587"/>
          </a:xfrm>
          <a:custGeom>
            <a:avLst/>
            <a:gdLst>
              <a:gd name="l" fmla="*/ 0 w 936"/>
              <a:gd name="t" fmla="*/ 0 h 1"/>
              <a:gd name="r" fmla="*/ 936 w 936"/>
              <a:gd name="b" fmla="*/ 1 h 1"/>
            </a:gdLst>
            <a:ahLst/>
            <a:rect l="l" t="t" r="r" b="b"/>
            <a:pathLst>
              <a:path w="936" h="1">
                <a:moveTo>
                  <a:pt x="936" y="0"/>
                </a:moveTo>
                <a:lnTo>
                  <a:pt x="0" y="0"/>
                </a:lnTo>
              </a:path>
            </a:pathLst>
          </a:custGeom>
          <a:noFill/>
          <a:ln w="28575" cap="sq" cmpd="sng">
            <a:solidFill>
              <a:srgbClr val="800000">
                <a:alpha val="100000"/>
              </a:srgb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39" name=""/>
          <p:cNvSpPr/>
          <p:nvPr/>
        </p:nvSpPr>
        <p:spPr>
          <a:xfrm rot="0">
            <a:off x="4038600" y="5410200"/>
            <a:ext cx="1587" cy="304800"/>
          </a:xfrm>
          <a:custGeom>
            <a:avLst/>
            <a:gdLst>
              <a:gd name="l" fmla="*/ 0 w 1"/>
              <a:gd name="t" fmla="*/ 0 h 192"/>
              <a:gd name="r" fmla="*/ 1 w 1"/>
              <a:gd name="b" fmla="*/ 192 h 192"/>
            </a:gdLst>
            <a:ahLst/>
            <a:rect l="l" t="t" r="r" b="b"/>
            <a:pathLst>
              <a:path w="1" h="192">
                <a:moveTo>
                  <a:pt x="0" y="192"/>
                </a:moveTo>
                <a:lnTo>
                  <a:pt x="0" y="0"/>
                </a:lnTo>
              </a:path>
            </a:pathLst>
          </a:custGeom>
          <a:noFill/>
          <a:ln w="28575" cap="sq" cmpd="sng">
            <a:solidFill>
              <a:srgbClr val="800000">
                <a:alpha val="100000"/>
              </a:srgbClr>
            </a:solidFill>
            <a:prstDash val="solid"/>
            <a:round/>
            <a:tailEnd type="triangle" w="sm" len="sm"/>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40" name=""/>
          <p:cNvSpPr txBox="1"/>
          <p:nvPr/>
        </p:nvSpPr>
        <p:spPr>
          <a:xfrm rot="0">
            <a:off x="3886200" y="2651125"/>
            <a:ext cx="381000" cy="2444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000" lang="en-US"/>
              <a:t>(a)</a:t>
            </a:r>
          </a:p>
        </p:txBody>
      </p:sp>
      <p:sp>
        <p:nvSpPr>
          <p:cNvPr id="1048641" name=""/>
          <p:cNvSpPr txBox="1"/>
          <p:nvPr/>
        </p:nvSpPr>
        <p:spPr>
          <a:xfrm rot="0">
            <a:off x="3352800" y="4556125"/>
            <a:ext cx="381000" cy="260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10000"/>
              </a:lnSpc>
              <a:spcBef>
                <a:spcPct val="50000"/>
              </a:spcBef>
            </a:pPr>
            <a:r>
              <a:rPr altLang="en-US" b="1" sz="1000" lang="en-US"/>
              <a:t>(a)</a:t>
            </a:r>
          </a:p>
        </p:txBody>
      </p:sp>
      <p:sp>
        <p:nvSpPr>
          <p:cNvPr id="1048642" name=""/>
          <p:cNvSpPr txBox="1"/>
          <p:nvPr/>
        </p:nvSpPr>
        <p:spPr>
          <a:xfrm rot="0">
            <a:off x="3886200" y="2971800"/>
            <a:ext cx="381000" cy="260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10000"/>
              </a:lnSpc>
              <a:spcBef>
                <a:spcPct val="50000"/>
              </a:spcBef>
            </a:pPr>
            <a:r>
              <a:rPr altLang="en-US" b="1" sz="1000" lang="en-US"/>
              <a:t>(b)</a:t>
            </a:r>
          </a:p>
        </p:txBody>
      </p:sp>
      <p:sp>
        <p:nvSpPr>
          <p:cNvPr id="1048643" name=""/>
          <p:cNvSpPr txBox="1"/>
          <p:nvPr/>
        </p:nvSpPr>
        <p:spPr>
          <a:xfrm rot="0">
            <a:off x="3352800" y="4724400"/>
            <a:ext cx="381000" cy="2825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25000"/>
              </a:lnSpc>
              <a:spcBef>
                <a:spcPct val="50000"/>
              </a:spcBef>
            </a:pPr>
            <a:r>
              <a:rPr altLang="en-US" b="1" sz="1000" lang="en-US"/>
              <a:t>(b)</a:t>
            </a:r>
          </a:p>
        </p:txBody>
      </p:sp>
      <p:sp>
        <p:nvSpPr>
          <p:cNvPr id="1048644" name=""/>
          <p:cNvSpPr txBox="1"/>
          <p:nvPr/>
        </p:nvSpPr>
        <p:spPr>
          <a:xfrm rot="0">
            <a:off x="3352800" y="4006850"/>
            <a:ext cx="381000" cy="2825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25000"/>
              </a:lnSpc>
              <a:spcBef>
                <a:spcPct val="50000"/>
              </a:spcBef>
            </a:pPr>
            <a:r>
              <a:rPr altLang="en-US" b="1" sz="1000" lang="en-US"/>
              <a:t>(d)</a:t>
            </a:r>
          </a:p>
        </p:txBody>
      </p:sp>
      <p:sp>
        <p:nvSpPr>
          <p:cNvPr id="1048645" name=""/>
          <p:cNvSpPr txBox="1"/>
          <p:nvPr/>
        </p:nvSpPr>
        <p:spPr>
          <a:xfrm rot="0">
            <a:off x="3886200" y="4921250"/>
            <a:ext cx="381000" cy="2444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000" lang="en-US"/>
              <a:t>(d)</a:t>
            </a:r>
          </a:p>
        </p:txBody>
      </p:sp>
      <p:sp>
        <p:nvSpPr>
          <p:cNvPr id="1048646" name=""/>
          <p:cNvSpPr txBox="1"/>
          <p:nvPr/>
        </p:nvSpPr>
        <p:spPr>
          <a:xfrm rot="0">
            <a:off x="3886200" y="3854450"/>
            <a:ext cx="381000" cy="2444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000" lang="en-US"/>
              <a:t>(c)</a:t>
            </a:r>
          </a:p>
        </p:txBody>
      </p:sp>
      <p:sp>
        <p:nvSpPr>
          <p:cNvPr id="1048647" name=""/>
          <p:cNvSpPr txBox="1"/>
          <p:nvPr/>
        </p:nvSpPr>
        <p:spPr>
          <a:xfrm rot="0">
            <a:off x="3352800" y="3298825"/>
            <a:ext cx="381000" cy="2825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25000"/>
              </a:lnSpc>
              <a:spcBef>
                <a:spcPct val="50000"/>
              </a:spcBef>
            </a:pPr>
            <a:r>
              <a:rPr altLang="en-US" b="1" sz="1000" lang="en-US"/>
              <a:t>(c)</a:t>
            </a:r>
          </a:p>
        </p:txBody>
      </p:sp>
      <p:sp>
        <p:nvSpPr>
          <p:cNvPr id="1048648" name=""/>
          <p:cNvSpPr txBox="1"/>
          <p:nvPr/>
        </p:nvSpPr>
        <p:spPr>
          <a:xfrm rot="0">
            <a:off x="5715000" y="6369050"/>
            <a:ext cx="32766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1  Prepare a worksheet.</a:t>
            </a:r>
          </a:p>
        </p:txBody>
      </p:sp>
      <p:sp>
        <p:nvSpPr>
          <p:cNvPr id="1048649" name=""/>
          <p:cNvSpPr/>
          <p:nvPr/>
        </p:nvSpPr>
        <p:spPr>
          <a:xfrm rot="0">
            <a:off x="1295400" y="5486400"/>
            <a:ext cx="2057400" cy="1035050"/>
          </a:xfrm>
          <a:prstGeom prst="rect"/>
          <a:solidFill>
            <a:srgbClr val="FFFF99"/>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r>
              <a:rPr altLang="en-US" sz="2000" lang="en-US"/>
              <a:t>Add additional accounts as needed.</a:t>
            </a:r>
          </a:p>
        </p:txBody>
      </p:sp>
      <p:sp>
        <p:nvSpPr>
          <p:cNvPr id="1048650" name=""/>
          <p:cNvSpPr txBox="1"/>
          <p:nvPr/>
        </p:nvSpPr>
        <p:spPr>
          <a:xfrm rot="0">
            <a:off x="5410200" y="2743200"/>
            <a:ext cx="3048000" cy="1557337"/>
          </a:xfrm>
          <a:prstGeom prst="rect"/>
          <a:noFill/>
          <a:ln w="28575" cap="sq" cmpd="sng">
            <a:solidFill>
              <a:schemeClr val="dk1">
                <a:alpha val="100000"/>
              </a:scheme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401637" lvl="0" marL="401637">
              <a:lnSpc>
                <a:spcPct val="110000"/>
              </a:lnSpc>
              <a:spcBef>
                <a:spcPct val="10000"/>
              </a:spcBef>
              <a:buSzPct val="80000"/>
              <a:buFontTx/>
              <a:buNone/>
            </a:pPr>
            <a:r>
              <a:rPr altLang="en-US" b="1" sz="1600" lang="en-US">
                <a:solidFill>
                  <a:srgbClr val="800000"/>
                </a:solidFill>
              </a:rPr>
              <a:t>Adjustments Key:</a:t>
            </a:r>
          </a:p>
          <a:p>
            <a:pPr algn="l" indent="-401637" lvl="0" marL="401637">
              <a:lnSpc>
                <a:spcPct val="110000"/>
              </a:lnSpc>
              <a:spcBef>
                <a:spcPct val="10000"/>
              </a:spcBef>
              <a:buSzPct val="80000"/>
              <a:buFontTx/>
              <a:buNone/>
            </a:pPr>
            <a:r>
              <a:rPr altLang="en-US" sz="1600" lang="en-US">
                <a:solidFill>
                  <a:srgbClr val="000000"/>
                </a:solidFill>
              </a:rPr>
              <a:t>(a)  Supplies used.</a:t>
            </a:r>
          </a:p>
          <a:p>
            <a:pPr algn="l" indent="-401637" lvl="0" marL="401637">
              <a:lnSpc>
                <a:spcPct val="110000"/>
              </a:lnSpc>
              <a:spcBef>
                <a:spcPct val="10000"/>
              </a:spcBef>
              <a:buSzPct val="80000"/>
              <a:buFontTx/>
              <a:buNone/>
            </a:pPr>
            <a:r>
              <a:rPr altLang="en-US" sz="1600" lang="en-US">
                <a:solidFill>
                  <a:srgbClr val="000000"/>
                </a:solidFill>
              </a:rPr>
              <a:t>(b)  Depreciation expense.</a:t>
            </a:r>
          </a:p>
          <a:p>
            <a:pPr algn="l" indent="-401637" lvl="0" marL="401637">
              <a:lnSpc>
                <a:spcPct val="110000"/>
              </a:lnSpc>
              <a:spcBef>
                <a:spcPct val="10000"/>
              </a:spcBef>
              <a:buSzPct val="80000"/>
              <a:buFontTx/>
              <a:buNone/>
            </a:pPr>
            <a:r>
              <a:rPr altLang="en-US" sz="1600" lang="en-US">
                <a:solidFill>
                  <a:srgbClr val="000000"/>
                </a:solidFill>
              </a:rPr>
              <a:t>(c)  Service revenue earned.</a:t>
            </a:r>
          </a:p>
          <a:p>
            <a:pPr algn="l" indent="-401637" lvl="0" marL="401637">
              <a:lnSpc>
                <a:spcPct val="110000"/>
              </a:lnSpc>
              <a:spcBef>
                <a:spcPct val="10000"/>
              </a:spcBef>
              <a:buSzPct val="80000"/>
              <a:buFontTx/>
              <a:buNone/>
            </a:pPr>
            <a:r>
              <a:rPr altLang="en-US" sz="1600" lang="en-US">
                <a:solidFill>
                  <a:srgbClr val="000000"/>
                </a:solidFill>
              </a:rPr>
              <a:t>(d)  Salaries accrued.</a:t>
            </a:r>
          </a:p>
        </p:txBody>
      </p:sp>
      <p:sp>
        <p:nvSpPr>
          <p:cNvPr id="1048651" name=""/>
          <p:cNvSpPr/>
          <p:nvPr/>
        </p:nvSpPr>
        <p:spPr>
          <a:xfrm rot="0">
            <a:off x="1676400" y="4648200"/>
            <a:ext cx="152400" cy="533400"/>
          </a:xfrm>
          <a:prstGeom prst="rightBrace"/>
          <a:noFill/>
          <a:ln w="28575" cap="sq" cmpd="sng">
            <a:solidFill>
              <a:srgbClr val="800000">
                <a:alpha val="100000"/>
              </a:srgb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52" name=""/>
          <p:cNvSpPr/>
          <p:nvPr/>
        </p:nvSpPr>
        <p:spPr>
          <a:xfrm rot="0">
            <a:off x="1927225" y="4922837"/>
            <a:ext cx="342900" cy="1587"/>
          </a:xfrm>
          <a:custGeom>
            <a:avLst/>
            <a:gdLst>
              <a:gd name="l" fmla="*/ 0 w 216"/>
              <a:gd name="t" fmla="*/ 0 h 1"/>
              <a:gd name="r" fmla="*/ 216 w 216"/>
              <a:gd name="b" fmla="*/ 1 h 1"/>
            </a:gdLst>
            <a:ahLst/>
            <a:rect l="l" t="t" r="r" b="b"/>
            <a:pathLst>
              <a:path w="216" h="1">
                <a:moveTo>
                  <a:pt x="216" y="0"/>
                </a:moveTo>
                <a:lnTo>
                  <a:pt x="0" y="0"/>
                </a:lnTo>
              </a:path>
            </a:pathLst>
          </a:custGeom>
          <a:noFill/>
          <a:ln w="28575" cap="sq" cmpd="sng">
            <a:solidFill>
              <a:srgbClr val="800000">
                <a:alpha val="100000"/>
              </a:srgbClr>
            </a:solidFill>
            <a:prstDash val="solid"/>
            <a:round/>
            <a:tailEnd type="triangle" w="sm" len="sm"/>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53" name=""/>
          <p:cNvSpPr/>
          <p:nvPr/>
        </p:nvSpPr>
        <p:spPr>
          <a:xfrm rot="0">
            <a:off x="2278062" y="4922837"/>
            <a:ext cx="3175" cy="561975"/>
          </a:xfrm>
          <a:custGeom>
            <a:avLst/>
            <a:gdLst>
              <a:gd name="l" fmla="*/ 0 w 2"/>
              <a:gd name="t" fmla="*/ 0 h 354"/>
              <a:gd name="r" fmla="*/ 2 w 2"/>
              <a:gd name="b" fmla="*/ 354 h 354"/>
            </a:gdLst>
            <a:ahLst/>
            <a:rect l="l" t="t" r="r" b="b"/>
            <a:pathLst>
              <a:path w="2" h="354">
                <a:moveTo>
                  <a:pt x="2" y="354"/>
                </a:moveTo>
                <a:lnTo>
                  <a:pt x="0" y="0"/>
                </a:lnTo>
              </a:path>
            </a:pathLst>
          </a:custGeom>
          <a:noFill/>
          <a:ln w="28575" cap="sq" cmpd="sng">
            <a:solidFill>
              <a:srgbClr val="800000">
                <a:alpha val="100000"/>
              </a:srgb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Tree>
  </p:cSld>
  <p:clrMapOvr>
    <a:masterClrMapping/>
  </p:clrMapOvr>
  <p:transition spd="fast" advClick="1">
    <p:wipe dir="r"/>
  </p:transition>
</p:sld>
</file>

<file path=ppt/slides/slide9.xml><?xml version="1.0" encoding="utf-8"?>
<p:sld xmlns:a="http://schemas.openxmlformats.org/drawingml/2006/main" xmlns:r="http://schemas.openxmlformats.org/officeDocument/2006/relationships" xmlns:p="http://schemas.openxmlformats.org/presentationml/2006/main" showMasterSp="1">
  <p:cSld>
    <p:spTree>
      <p:nvGrpSpPr>
        <p:cNvPr id="81" name=""/>
        <p:cNvGrpSpPr/>
        <p:nvPr/>
      </p:nvGrpSpPr>
      <p:grpSpPr>
        <a:xfrm rot="0">
          <a:off x="0" y="0"/>
          <a:ext cx="0" cy="0"/>
          <a:chOff x="0" y="0"/>
          <a:chExt cx="0" cy="0"/>
        </a:xfrm>
      </p:grpSpPr>
      <p:pic>
        <p:nvPicPr>
          <p:cNvPr id="2097160" name=""/>
          <p:cNvPicPr>
            <a:picLocks/>
          </p:cNvPicPr>
          <p:nvPr/>
        </p:nvPicPr>
        <p:blipFill>
          <a:blip xmlns:r="http://schemas.openxmlformats.org/officeDocument/2006/relationships" r:embed="rId1"/>
          <a:srcRect l="0" t="0" r="0" b="0"/>
          <a:stretch>
            <a:fillRect/>
          </a:stretch>
        </p:blipFill>
        <p:spPr>
          <a:xfrm rot="0">
            <a:off x="152400" y="1676400"/>
            <a:ext cx="8915400" cy="4108450"/>
          </a:xfrm>
          <a:prstGeom prst="rect"/>
          <a:noFill/>
          <a:ln>
            <a:noFill/>
          </a:ln>
        </p:spPr>
      </p:pic>
      <p:sp>
        <p:nvSpPr>
          <p:cNvPr id="1048656"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Steps in Preparing a Worksheet</a:t>
            </a:r>
          </a:p>
        </p:txBody>
      </p:sp>
      <p:sp>
        <p:nvSpPr>
          <p:cNvPr id="1048657" name=""/>
          <p:cNvSpPr txBox="1"/>
          <p:nvPr/>
        </p:nvSpPr>
        <p:spPr>
          <a:xfrm rot="0">
            <a:off x="5486400" y="6369050"/>
            <a:ext cx="35052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1  Prepare a worksheet.</a:t>
            </a:r>
          </a:p>
        </p:txBody>
      </p:sp>
      <p:sp>
        <p:nvSpPr>
          <p:cNvPr id="1048658" name=""/>
          <p:cNvSpPr/>
          <p:nvPr/>
        </p:nvSpPr>
        <p:spPr>
          <a:xfrm rot="0">
            <a:off x="228600" y="1295400"/>
            <a:ext cx="87630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2600" lang="en-US">
                <a:solidFill>
                  <a:srgbClr val="800000"/>
                </a:solidFill>
                <a:effectLst>
                  <a:outerShdw algn="tl" blurRad="38100" dir="2700000" dist="38100">
                    <a:srgbClr val="C0C0C0"/>
                  </a:outerShdw>
                </a:effectLst>
              </a:rPr>
              <a:t>3. Complete the Adjusted Trial Balance Columns</a:t>
            </a:r>
          </a:p>
        </p:txBody>
      </p:sp>
      <p:sp>
        <p:nvSpPr>
          <p:cNvPr id="1048659" name=""/>
          <p:cNvSpPr/>
          <p:nvPr/>
        </p:nvSpPr>
        <p:spPr>
          <a:xfrm rot="0">
            <a:off x="1409700" y="5486400"/>
            <a:ext cx="2933700" cy="1035050"/>
          </a:xfrm>
          <a:prstGeom prst="rect"/>
          <a:solidFill>
            <a:srgbClr val="FFFF99"/>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r>
              <a:rPr altLang="en-US" sz="2000" lang="en-US"/>
              <a:t>Total the adjusted trial balance columns and check for equality.</a:t>
            </a:r>
          </a:p>
        </p:txBody>
      </p:sp>
      <p:sp>
        <p:nvSpPr>
          <p:cNvPr id="1048660" name=""/>
          <p:cNvSpPr/>
          <p:nvPr/>
        </p:nvSpPr>
        <p:spPr>
          <a:xfrm rot="0">
            <a:off x="4343400" y="6010275"/>
            <a:ext cx="990600" cy="1587"/>
          </a:xfrm>
          <a:custGeom>
            <a:avLst/>
            <a:gdLst>
              <a:gd name="l" fmla="*/ 0 w 624"/>
              <a:gd name="t" fmla="*/ 0 h 1"/>
              <a:gd name="r" fmla="*/ 624 w 624"/>
              <a:gd name="b" fmla="*/ 1 h 1"/>
            </a:gdLst>
            <a:ahLst/>
            <a:rect l="l" t="t" r="r" b="b"/>
            <a:pathLst>
              <a:path w="624" h="1">
                <a:moveTo>
                  <a:pt x="624" y="1"/>
                </a:moveTo>
                <a:lnTo>
                  <a:pt x="0" y="0"/>
                </a:lnTo>
              </a:path>
            </a:pathLst>
          </a:custGeom>
          <a:noFill/>
          <a:ln w="28575" cap="sq" cmpd="sng">
            <a:solidFill>
              <a:srgbClr val="800000">
                <a:alpha val="100000"/>
              </a:srgb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61" name=""/>
          <p:cNvSpPr/>
          <p:nvPr/>
        </p:nvSpPr>
        <p:spPr>
          <a:xfrm rot="0">
            <a:off x="5334000" y="5470525"/>
            <a:ext cx="1587" cy="541337"/>
          </a:xfrm>
          <a:custGeom>
            <a:avLst/>
            <a:gdLst>
              <a:gd name="l" fmla="*/ 0 w 1"/>
              <a:gd name="t" fmla="*/ 0 h 341"/>
              <a:gd name="r" fmla="*/ 1 w 1"/>
              <a:gd name="b" fmla="*/ 341 h 341"/>
            </a:gdLst>
            <a:ahLst/>
            <a:rect l="l" t="t" r="r" b="b"/>
            <a:pathLst>
              <a:path w="1" h="341">
                <a:moveTo>
                  <a:pt x="0" y="341"/>
                </a:moveTo>
                <a:lnTo>
                  <a:pt x="0" y="0"/>
                </a:lnTo>
              </a:path>
            </a:pathLst>
          </a:custGeom>
          <a:noFill/>
          <a:ln w="28575" cap="sq" cmpd="sng">
            <a:solidFill>
              <a:srgbClr val="800000">
                <a:alpha val="100000"/>
              </a:srgbClr>
            </a:solidFill>
            <a:prstDash val="solid"/>
            <a:round/>
            <a:tailEnd type="triangle" w="sm" len="sm"/>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62" name=""/>
          <p:cNvSpPr txBox="1"/>
          <p:nvPr/>
        </p:nvSpPr>
        <p:spPr>
          <a:xfrm rot="0">
            <a:off x="3886200" y="2651125"/>
            <a:ext cx="381000" cy="2444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000" lang="en-US"/>
              <a:t>(a)</a:t>
            </a:r>
          </a:p>
        </p:txBody>
      </p:sp>
      <p:sp>
        <p:nvSpPr>
          <p:cNvPr id="1048663" name=""/>
          <p:cNvSpPr txBox="1"/>
          <p:nvPr/>
        </p:nvSpPr>
        <p:spPr>
          <a:xfrm rot="0">
            <a:off x="3352800" y="4556125"/>
            <a:ext cx="381000" cy="260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10000"/>
              </a:lnSpc>
              <a:spcBef>
                <a:spcPct val="50000"/>
              </a:spcBef>
            </a:pPr>
            <a:r>
              <a:rPr altLang="en-US" b="1" sz="1000" lang="en-US"/>
              <a:t>(a)</a:t>
            </a:r>
          </a:p>
        </p:txBody>
      </p:sp>
      <p:sp>
        <p:nvSpPr>
          <p:cNvPr id="1048664" name=""/>
          <p:cNvSpPr txBox="1"/>
          <p:nvPr/>
        </p:nvSpPr>
        <p:spPr>
          <a:xfrm rot="0">
            <a:off x="3886200" y="2971800"/>
            <a:ext cx="381000" cy="260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10000"/>
              </a:lnSpc>
              <a:spcBef>
                <a:spcPct val="50000"/>
              </a:spcBef>
            </a:pPr>
            <a:r>
              <a:rPr altLang="en-US" b="1" sz="1000" lang="en-US"/>
              <a:t>(b)</a:t>
            </a:r>
          </a:p>
        </p:txBody>
      </p:sp>
      <p:sp>
        <p:nvSpPr>
          <p:cNvPr id="1048665" name=""/>
          <p:cNvSpPr txBox="1"/>
          <p:nvPr/>
        </p:nvSpPr>
        <p:spPr>
          <a:xfrm rot="0">
            <a:off x="3352800" y="4724400"/>
            <a:ext cx="381000" cy="2825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25000"/>
              </a:lnSpc>
              <a:spcBef>
                <a:spcPct val="50000"/>
              </a:spcBef>
            </a:pPr>
            <a:r>
              <a:rPr altLang="en-US" b="1" sz="1000" lang="en-US"/>
              <a:t>(b)</a:t>
            </a:r>
          </a:p>
        </p:txBody>
      </p:sp>
      <p:sp>
        <p:nvSpPr>
          <p:cNvPr id="1048666" name=""/>
          <p:cNvSpPr txBox="1"/>
          <p:nvPr/>
        </p:nvSpPr>
        <p:spPr>
          <a:xfrm rot="0">
            <a:off x="3352800" y="4006850"/>
            <a:ext cx="381000" cy="2825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25000"/>
              </a:lnSpc>
              <a:spcBef>
                <a:spcPct val="50000"/>
              </a:spcBef>
            </a:pPr>
            <a:r>
              <a:rPr altLang="en-US" b="1" sz="1000" lang="en-US"/>
              <a:t>(d)</a:t>
            </a:r>
          </a:p>
        </p:txBody>
      </p:sp>
      <p:sp>
        <p:nvSpPr>
          <p:cNvPr id="1048667" name=""/>
          <p:cNvSpPr txBox="1"/>
          <p:nvPr/>
        </p:nvSpPr>
        <p:spPr>
          <a:xfrm rot="0">
            <a:off x="3886200" y="4921250"/>
            <a:ext cx="381000" cy="2444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000" lang="en-US"/>
              <a:t>(d)</a:t>
            </a:r>
          </a:p>
        </p:txBody>
      </p:sp>
      <p:sp>
        <p:nvSpPr>
          <p:cNvPr id="1048668" name=""/>
          <p:cNvSpPr txBox="1"/>
          <p:nvPr/>
        </p:nvSpPr>
        <p:spPr>
          <a:xfrm rot="0">
            <a:off x="3886200" y="3854450"/>
            <a:ext cx="381000" cy="2444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000" lang="en-US"/>
              <a:t>(c)</a:t>
            </a:r>
          </a:p>
        </p:txBody>
      </p:sp>
      <p:sp>
        <p:nvSpPr>
          <p:cNvPr id="1048669" name=""/>
          <p:cNvSpPr txBox="1"/>
          <p:nvPr/>
        </p:nvSpPr>
        <p:spPr>
          <a:xfrm rot="0">
            <a:off x="3352800" y="3298825"/>
            <a:ext cx="381000" cy="2825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25000"/>
              </a:lnSpc>
              <a:spcBef>
                <a:spcPct val="50000"/>
              </a:spcBef>
            </a:pPr>
            <a:r>
              <a:rPr altLang="en-US" b="1" sz="1000" lang="en-US"/>
              <a:t>(c)</a:t>
            </a:r>
          </a:p>
        </p:txBody>
      </p:sp>
    </p:spTree>
  </p:cSld>
  <p:clrMapOvr>
    <a:masterClrMapping/>
  </p:clrMapOvr>
  <p:transition spd="fast" advClick="1">
    <p:wipe dir="r"/>
  </p:transition>
</p:sld>
</file>

<file path=ppt/slides/slide10.xml><?xml version="1.0" encoding="utf-8"?>
<p:sld xmlns:a="http://schemas.openxmlformats.org/drawingml/2006/main" xmlns:r="http://schemas.openxmlformats.org/officeDocument/2006/relationships" xmlns:p="http://schemas.openxmlformats.org/presentationml/2006/main" showMasterSp="1">
  <p:cSld>
    <p:spTree>
      <p:nvGrpSpPr>
        <p:cNvPr id="84" name=""/>
        <p:cNvGrpSpPr/>
        <p:nvPr/>
      </p:nvGrpSpPr>
      <p:grpSpPr>
        <a:xfrm rot="0">
          <a:off x="0" y="0"/>
          <a:ext cx="0" cy="0"/>
          <a:chOff x="0" y="0"/>
          <a:chExt cx="0" cy="0"/>
        </a:xfrm>
      </p:grpSpPr>
      <p:pic>
        <p:nvPicPr>
          <p:cNvPr id="2097161" name=""/>
          <p:cNvPicPr>
            <a:picLocks/>
          </p:cNvPicPr>
          <p:nvPr/>
        </p:nvPicPr>
        <p:blipFill>
          <a:blip xmlns:r="http://schemas.openxmlformats.org/officeDocument/2006/relationships" r:embed="rId1"/>
          <a:srcRect l="0" t="0" r="0" b="0"/>
          <a:stretch>
            <a:fillRect/>
          </a:stretch>
        </p:blipFill>
        <p:spPr>
          <a:xfrm rot="0">
            <a:off x="152400" y="1676400"/>
            <a:ext cx="8915400" cy="4108450"/>
          </a:xfrm>
          <a:prstGeom prst="rect"/>
          <a:noFill/>
          <a:ln>
            <a:noFill/>
          </a:ln>
        </p:spPr>
      </p:pic>
      <p:sp>
        <p:nvSpPr>
          <p:cNvPr id="1048672"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Steps in Preparing a Worksheet</a:t>
            </a:r>
          </a:p>
        </p:txBody>
      </p:sp>
      <p:sp>
        <p:nvSpPr>
          <p:cNvPr id="1048673" name=""/>
          <p:cNvSpPr txBox="1"/>
          <p:nvPr/>
        </p:nvSpPr>
        <p:spPr>
          <a:xfrm rot="0">
            <a:off x="5486400" y="6369050"/>
            <a:ext cx="35052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1  Prepare a worksheet.</a:t>
            </a:r>
          </a:p>
        </p:txBody>
      </p:sp>
      <p:sp>
        <p:nvSpPr>
          <p:cNvPr id="1048674" name=""/>
          <p:cNvSpPr/>
          <p:nvPr/>
        </p:nvSpPr>
        <p:spPr>
          <a:xfrm rot="0">
            <a:off x="228600" y="1295400"/>
            <a:ext cx="87630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2600" lang="en-US">
                <a:solidFill>
                  <a:srgbClr val="800000"/>
                </a:solidFill>
                <a:effectLst>
                  <a:outerShdw algn="tl" blurRad="38100" dir="2700000" dist="38100">
                    <a:srgbClr val="C0C0C0"/>
                  </a:outerShdw>
                </a:effectLst>
              </a:rPr>
              <a:t>4. Extend Amounts to Financial Statement Columns</a:t>
            </a:r>
          </a:p>
        </p:txBody>
      </p:sp>
      <p:sp>
        <p:nvSpPr>
          <p:cNvPr id="1048675" name=""/>
          <p:cNvSpPr/>
          <p:nvPr/>
        </p:nvSpPr>
        <p:spPr>
          <a:xfrm rot="0">
            <a:off x="1409700" y="5518150"/>
            <a:ext cx="4000500" cy="1035050"/>
          </a:xfrm>
          <a:prstGeom prst="rect"/>
          <a:solidFill>
            <a:srgbClr val="FFFF99"/>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r>
              <a:rPr altLang="en-US" sz="2000" lang="en-US"/>
              <a:t>Extend all revenue and expense account balances to the income statement columns.</a:t>
            </a:r>
          </a:p>
        </p:txBody>
      </p:sp>
      <p:sp>
        <p:nvSpPr>
          <p:cNvPr id="1048676" name=""/>
          <p:cNvSpPr/>
          <p:nvPr/>
        </p:nvSpPr>
        <p:spPr>
          <a:xfrm rot="0">
            <a:off x="5410200" y="6010275"/>
            <a:ext cx="1447800" cy="1587"/>
          </a:xfrm>
          <a:custGeom>
            <a:avLst/>
            <a:gdLst>
              <a:gd name="l" fmla="*/ 0 w 912"/>
              <a:gd name="t" fmla="*/ 0 h 1"/>
              <a:gd name="r" fmla="*/ 912 w 912"/>
              <a:gd name="b" fmla="*/ 1 h 1"/>
            </a:gdLst>
            <a:ahLst/>
            <a:rect l="l" t="t" r="r" b="b"/>
            <a:pathLst>
              <a:path w="912" h="1">
                <a:moveTo>
                  <a:pt x="912" y="1"/>
                </a:moveTo>
                <a:lnTo>
                  <a:pt x="0" y="0"/>
                </a:lnTo>
              </a:path>
            </a:pathLst>
          </a:custGeom>
          <a:noFill/>
          <a:ln w="28575" cap="sq" cmpd="sng">
            <a:solidFill>
              <a:srgbClr val="800000">
                <a:alpha val="100000"/>
              </a:srgb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77" name=""/>
          <p:cNvSpPr/>
          <p:nvPr/>
        </p:nvSpPr>
        <p:spPr>
          <a:xfrm rot="0">
            <a:off x="6858000" y="5403850"/>
            <a:ext cx="1587" cy="608012"/>
          </a:xfrm>
          <a:custGeom>
            <a:avLst/>
            <a:gdLst>
              <a:gd name="l" fmla="*/ 0 w 1"/>
              <a:gd name="t" fmla="*/ 0 h 383"/>
              <a:gd name="r" fmla="*/ 1 w 1"/>
              <a:gd name="b" fmla="*/ 383 h 383"/>
            </a:gdLst>
            <a:ahLst/>
            <a:rect l="l" t="t" r="r" b="b"/>
            <a:pathLst>
              <a:path w="1" h="383">
                <a:moveTo>
                  <a:pt x="0" y="383"/>
                </a:moveTo>
                <a:lnTo>
                  <a:pt x="0" y="0"/>
                </a:lnTo>
              </a:path>
            </a:pathLst>
          </a:custGeom>
          <a:noFill/>
          <a:ln w="28575" cap="sq" cmpd="sng">
            <a:solidFill>
              <a:srgbClr val="800000">
                <a:alpha val="100000"/>
              </a:srgbClr>
            </a:solidFill>
            <a:prstDash val="solid"/>
            <a:round/>
            <a:tailEnd type="triangle" w="sm" len="sm"/>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78" name=""/>
          <p:cNvSpPr txBox="1"/>
          <p:nvPr/>
        </p:nvSpPr>
        <p:spPr>
          <a:xfrm rot="0">
            <a:off x="3886200" y="2651125"/>
            <a:ext cx="381000" cy="2444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000" lang="en-US"/>
              <a:t>(a)</a:t>
            </a:r>
          </a:p>
        </p:txBody>
      </p:sp>
      <p:sp>
        <p:nvSpPr>
          <p:cNvPr id="1048679" name=""/>
          <p:cNvSpPr txBox="1"/>
          <p:nvPr/>
        </p:nvSpPr>
        <p:spPr>
          <a:xfrm rot="0">
            <a:off x="3352800" y="4556125"/>
            <a:ext cx="381000" cy="260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10000"/>
              </a:lnSpc>
              <a:spcBef>
                <a:spcPct val="50000"/>
              </a:spcBef>
            </a:pPr>
            <a:r>
              <a:rPr altLang="en-US" b="1" sz="1000" lang="en-US"/>
              <a:t>(a)</a:t>
            </a:r>
          </a:p>
        </p:txBody>
      </p:sp>
      <p:sp>
        <p:nvSpPr>
          <p:cNvPr id="1048680" name=""/>
          <p:cNvSpPr txBox="1"/>
          <p:nvPr/>
        </p:nvSpPr>
        <p:spPr>
          <a:xfrm rot="0">
            <a:off x="3886200" y="2971800"/>
            <a:ext cx="381000" cy="260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10000"/>
              </a:lnSpc>
              <a:spcBef>
                <a:spcPct val="50000"/>
              </a:spcBef>
            </a:pPr>
            <a:r>
              <a:rPr altLang="en-US" b="1" sz="1000" lang="en-US"/>
              <a:t>(b)</a:t>
            </a:r>
          </a:p>
        </p:txBody>
      </p:sp>
      <p:sp>
        <p:nvSpPr>
          <p:cNvPr id="1048681" name=""/>
          <p:cNvSpPr txBox="1"/>
          <p:nvPr/>
        </p:nvSpPr>
        <p:spPr>
          <a:xfrm rot="0">
            <a:off x="3352800" y="4724400"/>
            <a:ext cx="381000" cy="2825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25000"/>
              </a:lnSpc>
              <a:spcBef>
                <a:spcPct val="50000"/>
              </a:spcBef>
            </a:pPr>
            <a:r>
              <a:rPr altLang="en-US" b="1" sz="1000" lang="en-US"/>
              <a:t>(b)</a:t>
            </a:r>
          </a:p>
        </p:txBody>
      </p:sp>
      <p:sp>
        <p:nvSpPr>
          <p:cNvPr id="1048682" name=""/>
          <p:cNvSpPr txBox="1"/>
          <p:nvPr/>
        </p:nvSpPr>
        <p:spPr>
          <a:xfrm rot="0">
            <a:off x="3352800" y="4006850"/>
            <a:ext cx="381000" cy="2825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25000"/>
              </a:lnSpc>
              <a:spcBef>
                <a:spcPct val="50000"/>
              </a:spcBef>
            </a:pPr>
            <a:r>
              <a:rPr altLang="en-US" b="1" sz="1000" lang="en-US"/>
              <a:t>(d)</a:t>
            </a:r>
          </a:p>
        </p:txBody>
      </p:sp>
      <p:sp>
        <p:nvSpPr>
          <p:cNvPr id="1048683" name=""/>
          <p:cNvSpPr txBox="1"/>
          <p:nvPr/>
        </p:nvSpPr>
        <p:spPr>
          <a:xfrm rot="0">
            <a:off x="3886200" y="4921250"/>
            <a:ext cx="381000" cy="2444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000" lang="en-US"/>
              <a:t>(d)</a:t>
            </a:r>
          </a:p>
        </p:txBody>
      </p:sp>
      <p:sp>
        <p:nvSpPr>
          <p:cNvPr id="1048684" name=""/>
          <p:cNvSpPr txBox="1"/>
          <p:nvPr/>
        </p:nvSpPr>
        <p:spPr>
          <a:xfrm rot="0">
            <a:off x="3886200" y="3854450"/>
            <a:ext cx="381000" cy="2444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000" lang="en-US"/>
              <a:t>(c)</a:t>
            </a:r>
          </a:p>
        </p:txBody>
      </p:sp>
      <p:sp>
        <p:nvSpPr>
          <p:cNvPr id="1048685" name=""/>
          <p:cNvSpPr txBox="1"/>
          <p:nvPr/>
        </p:nvSpPr>
        <p:spPr>
          <a:xfrm rot="0">
            <a:off x="3352800" y="3298825"/>
            <a:ext cx="381000" cy="2825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25000"/>
              </a:lnSpc>
              <a:spcBef>
                <a:spcPct val="50000"/>
              </a:spcBef>
            </a:pPr>
            <a:r>
              <a:rPr altLang="en-US" b="1" sz="1000" lang="en-US"/>
              <a:t>(c)</a:t>
            </a:r>
          </a:p>
        </p:txBody>
      </p:sp>
    </p:spTree>
  </p:cSld>
  <p:clrMapOvr>
    <a:masterClrMapping/>
  </p:clrMapOvr>
  <p:transition spd="fast" advClick="1">
    <p:wipe dir="r"/>
  </p:transition>
</p:sld>
</file>

<file path=ppt/slides/slide11.xml><?xml version="1.0" encoding="utf-8"?>
<p:sld xmlns:a="http://schemas.openxmlformats.org/drawingml/2006/main" xmlns:r="http://schemas.openxmlformats.org/officeDocument/2006/relationships" xmlns:p="http://schemas.openxmlformats.org/presentationml/2006/main" showMasterSp="1">
  <p:cSld>
    <p:spTree>
      <p:nvGrpSpPr>
        <p:cNvPr id="87" name=""/>
        <p:cNvGrpSpPr/>
        <p:nvPr/>
      </p:nvGrpSpPr>
      <p:grpSpPr>
        <a:xfrm rot="0">
          <a:off x="0" y="0"/>
          <a:ext cx="0" cy="0"/>
          <a:chOff x="0" y="0"/>
          <a:chExt cx="0" cy="0"/>
        </a:xfrm>
      </p:grpSpPr>
      <p:pic>
        <p:nvPicPr>
          <p:cNvPr id="2097162" name=""/>
          <p:cNvPicPr>
            <a:picLocks/>
          </p:cNvPicPr>
          <p:nvPr/>
        </p:nvPicPr>
        <p:blipFill>
          <a:blip xmlns:r="http://schemas.openxmlformats.org/officeDocument/2006/relationships" r:embed="rId1"/>
          <a:srcRect l="0" t="0" r="0" b="0"/>
          <a:stretch>
            <a:fillRect/>
          </a:stretch>
        </p:blipFill>
        <p:spPr>
          <a:xfrm rot="0">
            <a:off x="152400" y="1676400"/>
            <a:ext cx="8915400" cy="4108450"/>
          </a:xfrm>
          <a:prstGeom prst="rect"/>
          <a:noFill/>
          <a:ln>
            <a:noFill/>
          </a:ln>
        </p:spPr>
      </p:pic>
      <p:sp>
        <p:nvSpPr>
          <p:cNvPr id="1048688"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Steps in Preparing a Worksheet</a:t>
            </a:r>
          </a:p>
        </p:txBody>
      </p:sp>
      <p:sp>
        <p:nvSpPr>
          <p:cNvPr id="1048689"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1  Prepare a worksheet.</a:t>
            </a:r>
          </a:p>
        </p:txBody>
      </p:sp>
      <p:sp>
        <p:nvSpPr>
          <p:cNvPr id="1048690" name=""/>
          <p:cNvSpPr/>
          <p:nvPr/>
        </p:nvSpPr>
        <p:spPr>
          <a:xfrm rot="0">
            <a:off x="228600" y="1295400"/>
            <a:ext cx="87630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2600" lang="en-US">
                <a:solidFill>
                  <a:srgbClr val="800000"/>
                </a:solidFill>
                <a:effectLst>
                  <a:outerShdw algn="tl" blurRad="38100" dir="2700000" dist="38100">
                    <a:srgbClr val="C0C0C0"/>
                  </a:outerShdw>
                </a:effectLst>
              </a:rPr>
              <a:t>4. Extend Amounts to Financial Statement Columns</a:t>
            </a:r>
          </a:p>
        </p:txBody>
      </p:sp>
      <p:sp>
        <p:nvSpPr>
          <p:cNvPr id="1048691" name=""/>
          <p:cNvSpPr/>
          <p:nvPr/>
        </p:nvSpPr>
        <p:spPr>
          <a:xfrm rot="0">
            <a:off x="1409700" y="5518150"/>
            <a:ext cx="4000500" cy="1035050"/>
          </a:xfrm>
          <a:prstGeom prst="rect"/>
          <a:solidFill>
            <a:srgbClr val="FFFF99"/>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r>
              <a:rPr altLang="en-US" sz="2000" lang="en-US"/>
              <a:t>Extend all asset, liability, and equity account balances to the balance sheet columns.</a:t>
            </a:r>
          </a:p>
        </p:txBody>
      </p:sp>
      <p:sp>
        <p:nvSpPr>
          <p:cNvPr id="1048692" name=""/>
          <p:cNvSpPr/>
          <p:nvPr/>
        </p:nvSpPr>
        <p:spPr>
          <a:xfrm rot="0">
            <a:off x="5410200" y="6010275"/>
            <a:ext cx="2797175" cy="1587"/>
          </a:xfrm>
          <a:custGeom>
            <a:avLst/>
            <a:gdLst>
              <a:gd name="l" fmla="*/ 0 w 1762"/>
              <a:gd name="t" fmla="*/ 0 h 1"/>
              <a:gd name="r" fmla="*/ 1762 w 1762"/>
              <a:gd name="b" fmla="*/ 1 h 1"/>
            </a:gdLst>
            <a:ahLst/>
            <a:rect l="l" t="t" r="r" b="b"/>
            <a:pathLst>
              <a:path w="1762" h="1">
                <a:moveTo>
                  <a:pt x="1762" y="1"/>
                </a:moveTo>
                <a:lnTo>
                  <a:pt x="0" y="0"/>
                </a:lnTo>
              </a:path>
            </a:pathLst>
          </a:custGeom>
          <a:noFill/>
          <a:ln w="28575" cap="sq" cmpd="sng">
            <a:solidFill>
              <a:srgbClr val="800000">
                <a:alpha val="100000"/>
              </a:srgbClr>
            </a:solidFill>
            <a:prstDash val="solid"/>
            <a:round/>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693" name=""/>
          <p:cNvSpPr txBox="1"/>
          <p:nvPr/>
        </p:nvSpPr>
        <p:spPr>
          <a:xfrm rot="0">
            <a:off x="3886200" y="2651125"/>
            <a:ext cx="381000" cy="2444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000" lang="en-US"/>
              <a:t>(a)</a:t>
            </a:r>
          </a:p>
        </p:txBody>
      </p:sp>
      <p:sp>
        <p:nvSpPr>
          <p:cNvPr id="1048694" name=""/>
          <p:cNvSpPr txBox="1"/>
          <p:nvPr/>
        </p:nvSpPr>
        <p:spPr>
          <a:xfrm rot="0">
            <a:off x="3352800" y="4556125"/>
            <a:ext cx="381000" cy="260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10000"/>
              </a:lnSpc>
              <a:spcBef>
                <a:spcPct val="50000"/>
              </a:spcBef>
            </a:pPr>
            <a:r>
              <a:rPr altLang="en-US" b="1" sz="1000" lang="en-US"/>
              <a:t>(a)</a:t>
            </a:r>
          </a:p>
        </p:txBody>
      </p:sp>
      <p:sp>
        <p:nvSpPr>
          <p:cNvPr id="1048695" name=""/>
          <p:cNvSpPr txBox="1"/>
          <p:nvPr/>
        </p:nvSpPr>
        <p:spPr>
          <a:xfrm rot="0">
            <a:off x="3886200" y="2971800"/>
            <a:ext cx="381000" cy="260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10000"/>
              </a:lnSpc>
              <a:spcBef>
                <a:spcPct val="50000"/>
              </a:spcBef>
            </a:pPr>
            <a:r>
              <a:rPr altLang="en-US" b="1" sz="1000" lang="en-US"/>
              <a:t>(b)</a:t>
            </a:r>
          </a:p>
        </p:txBody>
      </p:sp>
      <p:sp>
        <p:nvSpPr>
          <p:cNvPr id="1048696" name=""/>
          <p:cNvSpPr txBox="1"/>
          <p:nvPr/>
        </p:nvSpPr>
        <p:spPr>
          <a:xfrm rot="0">
            <a:off x="3352800" y="4724400"/>
            <a:ext cx="381000" cy="2825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25000"/>
              </a:lnSpc>
              <a:spcBef>
                <a:spcPct val="50000"/>
              </a:spcBef>
            </a:pPr>
            <a:r>
              <a:rPr altLang="en-US" b="1" sz="1000" lang="en-US"/>
              <a:t>(b)</a:t>
            </a:r>
          </a:p>
        </p:txBody>
      </p:sp>
      <p:sp>
        <p:nvSpPr>
          <p:cNvPr id="1048697" name=""/>
          <p:cNvSpPr txBox="1"/>
          <p:nvPr/>
        </p:nvSpPr>
        <p:spPr>
          <a:xfrm rot="0">
            <a:off x="3352800" y="4006850"/>
            <a:ext cx="381000" cy="2825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25000"/>
              </a:lnSpc>
              <a:spcBef>
                <a:spcPct val="50000"/>
              </a:spcBef>
            </a:pPr>
            <a:r>
              <a:rPr altLang="en-US" b="1" sz="1000" lang="en-US"/>
              <a:t>(d)</a:t>
            </a:r>
          </a:p>
        </p:txBody>
      </p:sp>
      <p:sp>
        <p:nvSpPr>
          <p:cNvPr id="1048698" name=""/>
          <p:cNvSpPr txBox="1"/>
          <p:nvPr/>
        </p:nvSpPr>
        <p:spPr>
          <a:xfrm rot="0">
            <a:off x="3886200" y="4921250"/>
            <a:ext cx="381000" cy="2444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000" lang="en-US"/>
              <a:t>(d)</a:t>
            </a:r>
          </a:p>
        </p:txBody>
      </p:sp>
      <p:sp>
        <p:nvSpPr>
          <p:cNvPr id="1048699" name=""/>
          <p:cNvSpPr txBox="1"/>
          <p:nvPr/>
        </p:nvSpPr>
        <p:spPr>
          <a:xfrm rot="0">
            <a:off x="3886200" y="3854450"/>
            <a:ext cx="381000" cy="2444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000" lang="en-US"/>
              <a:t>(c)</a:t>
            </a:r>
          </a:p>
        </p:txBody>
      </p:sp>
      <p:sp>
        <p:nvSpPr>
          <p:cNvPr id="1048700" name=""/>
          <p:cNvSpPr txBox="1"/>
          <p:nvPr/>
        </p:nvSpPr>
        <p:spPr>
          <a:xfrm rot="0">
            <a:off x="3352800" y="3298825"/>
            <a:ext cx="381000" cy="2825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25000"/>
              </a:lnSpc>
              <a:spcBef>
                <a:spcPct val="50000"/>
              </a:spcBef>
            </a:pPr>
            <a:r>
              <a:rPr altLang="en-US" b="1" sz="1000" lang="en-US"/>
              <a:t>(c)</a:t>
            </a:r>
          </a:p>
        </p:txBody>
      </p:sp>
      <p:sp>
        <p:nvSpPr>
          <p:cNvPr id="1048701" name=""/>
          <p:cNvSpPr/>
          <p:nvPr/>
        </p:nvSpPr>
        <p:spPr>
          <a:xfrm rot="0">
            <a:off x="8228012" y="5403850"/>
            <a:ext cx="1587" cy="608012"/>
          </a:xfrm>
          <a:custGeom>
            <a:avLst/>
            <a:gdLst>
              <a:gd name="l" fmla="*/ 0 w 1"/>
              <a:gd name="t" fmla="*/ 0 h 383"/>
              <a:gd name="r" fmla="*/ 1 w 1"/>
              <a:gd name="b" fmla="*/ 383 h 383"/>
            </a:gdLst>
            <a:ahLst/>
            <a:rect l="l" t="t" r="r" b="b"/>
            <a:pathLst>
              <a:path w="1" h="383">
                <a:moveTo>
                  <a:pt x="0" y="383"/>
                </a:moveTo>
                <a:lnTo>
                  <a:pt x="0" y="0"/>
                </a:lnTo>
              </a:path>
            </a:pathLst>
          </a:custGeom>
          <a:noFill/>
          <a:ln w="28575" cap="sq" cmpd="sng">
            <a:solidFill>
              <a:srgbClr val="800000">
                <a:alpha val="100000"/>
              </a:srgbClr>
            </a:solidFill>
            <a:prstDash val="solid"/>
            <a:round/>
            <a:tailEnd type="triangle" w="sm" len="sm"/>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Tree>
  </p:cSld>
  <p:clrMapOvr>
    <a:masterClrMapping/>
  </p:clrMapOvr>
  <p:transition spd="fast" advClick="1">
    <p:wipe dir="r"/>
  </p:transition>
</p:sld>
</file>

<file path=ppt/slides/slide12.xml><?xml version="1.0" encoding="utf-8"?>
<p:sld xmlns:a="http://schemas.openxmlformats.org/drawingml/2006/main" xmlns:r="http://schemas.openxmlformats.org/officeDocument/2006/relationships" xmlns:p="http://schemas.openxmlformats.org/presentationml/2006/main" showMasterSp="1">
  <p:cSld>
    <p:spTree>
      <p:nvGrpSpPr>
        <p:cNvPr id="90" name=""/>
        <p:cNvGrpSpPr/>
        <p:nvPr/>
      </p:nvGrpSpPr>
      <p:grpSpPr>
        <a:xfrm rot="0">
          <a:off x="0" y="0"/>
          <a:ext cx="0" cy="0"/>
          <a:chOff x="0" y="0"/>
          <a:chExt cx="0" cy="0"/>
        </a:xfrm>
      </p:grpSpPr>
      <p:pic>
        <p:nvPicPr>
          <p:cNvPr id="2097163" name=""/>
          <p:cNvPicPr>
            <a:picLocks/>
          </p:cNvPicPr>
          <p:nvPr/>
        </p:nvPicPr>
        <p:blipFill>
          <a:blip xmlns:r="http://schemas.openxmlformats.org/officeDocument/2006/relationships" r:embed="rId1"/>
          <a:srcRect l="0" t="0" r="0" b="0"/>
          <a:stretch>
            <a:fillRect/>
          </a:stretch>
        </p:blipFill>
        <p:spPr>
          <a:xfrm rot="0">
            <a:off x="152400" y="1676400"/>
            <a:ext cx="8915400" cy="4108450"/>
          </a:xfrm>
          <a:prstGeom prst="rect"/>
          <a:noFill/>
          <a:ln>
            <a:noFill/>
          </a:ln>
        </p:spPr>
      </p:pic>
      <p:sp>
        <p:nvSpPr>
          <p:cNvPr id="1048704"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Steps in Preparing a Worksheet</a:t>
            </a:r>
          </a:p>
        </p:txBody>
      </p:sp>
      <p:sp>
        <p:nvSpPr>
          <p:cNvPr id="1048705" name=""/>
          <p:cNvSpPr txBox="1"/>
          <p:nvPr/>
        </p:nvSpPr>
        <p:spPr>
          <a:xfrm rot="0">
            <a:off x="5715000" y="6369050"/>
            <a:ext cx="32766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1  Prepare a worksheet.</a:t>
            </a:r>
          </a:p>
        </p:txBody>
      </p:sp>
      <p:sp>
        <p:nvSpPr>
          <p:cNvPr id="1048706" name=""/>
          <p:cNvSpPr/>
          <p:nvPr/>
        </p:nvSpPr>
        <p:spPr>
          <a:xfrm rot="0">
            <a:off x="228600" y="1295400"/>
            <a:ext cx="87630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2600" lang="en-US">
                <a:solidFill>
                  <a:srgbClr val="800000"/>
                </a:solidFill>
                <a:effectLst>
                  <a:outerShdw algn="tl" blurRad="38100" dir="2700000" dist="38100">
                    <a:srgbClr val="C0C0C0"/>
                  </a:outerShdw>
                </a:effectLst>
              </a:rPr>
              <a:t>5. Total Columns, Compute Net Income (Loss)</a:t>
            </a:r>
          </a:p>
        </p:txBody>
      </p:sp>
      <p:sp>
        <p:nvSpPr>
          <p:cNvPr id="1048707" name=""/>
          <p:cNvSpPr/>
          <p:nvPr/>
        </p:nvSpPr>
        <p:spPr>
          <a:xfrm rot="0">
            <a:off x="1227137" y="5746750"/>
            <a:ext cx="4238625" cy="425450"/>
          </a:xfrm>
          <a:prstGeom prst="rect"/>
          <a:solidFill>
            <a:srgbClr val="FFFF99"/>
          </a:solidFill>
          <a:ln w="28575" cap="sq" cmpd="sng">
            <a:solidFill>
              <a:srgbClr val="800000">
                <a:alpha val="100000"/>
              </a:srgbClr>
            </a:solidFill>
            <a:prstDash val="solid"/>
            <a:round/>
          </a:ln>
        </p:spPr>
        <p:txBody>
          <a:bodyPr bIns="45720" lIns="91440" rIns="91440" tIns="45720" wrap="none">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r>
              <a:rPr altLang="en-US" sz="2000" lang="en-US"/>
              <a:t>Compute Net Income or Net Loss.</a:t>
            </a:r>
          </a:p>
        </p:txBody>
      </p:sp>
      <p:sp>
        <p:nvSpPr>
          <p:cNvPr id="1048708" name=""/>
          <p:cNvSpPr/>
          <p:nvPr/>
        </p:nvSpPr>
        <p:spPr>
          <a:xfrm rot="0">
            <a:off x="5791200" y="5410200"/>
            <a:ext cx="457200" cy="0"/>
          </a:xfrm>
          <a:prstGeom prst="line"/>
          <a:noFill/>
          <a:ln w="28575" cap="sq" cmpd="sng">
            <a:solidFill>
              <a:srgbClr val="800000">
                <a:alpha val="100000"/>
              </a:srgbClr>
            </a:solidFill>
            <a:prstDash val="solid"/>
            <a:round/>
            <a:tailEnd type="triangle" w="sm" len="sm"/>
          </a:ln>
        </p:spPr>
      </p:sp>
      <p:sp>
        <p:nvSpPr>
          <p:cNvPr id="1048709" name=""/>
          <p:cNvSpPr/>
          <p:nvPr/>
        </p:nvSpPr>
        <p:spPr>
          <a:xfrm rot="0">
            <a:off x="5791200" y="5410200"/>
            <a:ext cx="0" cy="533400"/>
          </a:xfrm>
          <a:prstGeom prst="line"/>
          <a:noFill/>
          <a:ln w="28575" cap="sq" cmpd="sng">
            <a:solidFill>
              <a:srgbClr val="800000">
                <a:alpha val="100000"/>
              </a:srgbClr>
            </a:solidFill>
            <a:prstDash val="solid"/>
            <a:round/>
          </a:ln>
        </p:spPr>
      </p:sp>
      <p:sp>
        <p:nvSpPr>
          <p:cNvPr id="1048710" name=""/>
          <p:cNvSpPr/>
          <p:nvPr/>
        </p:nvSpPr>
        <p:spPr>
          <a:xfrm rot="0" flipH="1">
            <a:off x="5410200" y="5943600"/>
            <a:ext cx="381000" cy="0"/>
          </a:xfrm>
          <a:prstGeom prst="line"/>
          <a:noFill/>
          <a:ln w="28575" cap="sq" cmpd="sng">
            <a:solidFill>
              <a:srgbClr val="800000">
                <a:alpha val="100000"/>
              </a:srgbClr>
            </a:solidFill>
            <a:prstDash val="solid"/>
            <a:round/>
          </a:ln>
        </p:spPr>
      </p:sp>
      <p:sp>
        <p:nvSpPr>
          <p:cNvPr id="1048711" name=""/>
          <p:cNvSpPr/>
          <p:nvPr/>
        </p:nvSpPr>
        <p:spPr>
          <a:xfrm rot="0">
            <a:off x="6934200" y="5410200"/>
            <a:ext cx="1524000" cy="0"/>
          </a:xfrm>
          <a:prstGeom prst="line"/>
          <a:noFill/>
          <a:ln w="28575" cap="sq" cmpd="sng">
            <a:solidFill>
              <a:srgbClr val="800000">
                <a:alpha val="100000"/>
              </a:srgbClr>
            </a:solidFill>
            <a:prstDash val="solid"/>
            <a:round/>
            <a:tailEnd type="triangle" w="sm" len="sm"/>
          </a:ln>
        </p:spPr>
      </p:sp>
      <p:sp>
        <p:nvSpPr>
          <p:cNvPr id="1048712" name=""/>
          <p:cNvSpPr txBox="1"/>
          <p:nvPr/>
        </p:nvSpPr>
        <p:spPr>
          <a:xfrm rot="0">
            <a:off x="3886200" y="2651125"/>
            <a:ext cx="381000" cy="2444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000" lang="en-US"/>
              <a:t>(a)</a:t>
            </a:r>
          </a:p>
        </p:txBody>
      </p:sp>
      <p:sp>
        <p:nvSpPr>
          <p:cNvPr id="1048713" name=""/>
          <p:cNvSpPr txBox="1"/>
          <p:nvPr/>
        </p:nvSpPr>
        <p:spPr>
          <a:xfrm rot="0">
            <a:off x="3352800" y="4556125"/>
            <a:ext cx="381000" cy="260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10000"/>
              </a:lnSpc>
              <a:spcBef>
                <a:spcPct val="50000"/>
              </a:spcBef>
            </a:pPr>
            <a:r>
              <a:rPr altLang="en-US" b="1" sz="1000" lang="en-US"/>
              <a:t>(a)</a:t>
            </a:r>
          </a:p>
        </p:txBody>
      </p:sp>
      <p:sp>
        <p:nvSpPr>
          <p:cNvPr id="1048714" name=""/>
          <p:cNvSpPr txBox="1"/>
          <p:nvPr/>
        </p:nvSpPr>
        <p:spPr>
          <a:xfrm rot="0">
            <a:off x="3886200" y="2971800"/>
            <a:ext cx="381000" cy="260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10000"/>
              </a:lnSpc>
              <a:spcBef>
                <a:spcPct val="50000"/>
              </a:spcBef>
            </a:pPr>
            <a:r>
              <a:rPr altLang="en-US" b="1" sz="1000" lang="en-US"/>
              <a:t>(b)</a:t>
            </a:r>
          </a:p>
        </p:txBody>
      </p:sp>
      <p:sp>
        <p:nvSpPr>
          <p:cNvPr id="1048715" name=""/>
          <p:cNvSpPr txBox="1"/>
          <p:nvPr/>
        </p:nvSpPr>
        <p:spPr>
          <a:xfrm rot="0">
            <a:off x="3352800" y="4724400"/>
            <a:ext cx="381000" cy="2825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25000"/>
              </a:lnSpc>
              <a:spcBef>
                <a:spcPct val="50000"/>
              </a:spcBef>
            </a:pPr>
            <a:r>
              <a:rPr altLang="en-US" b="1" sz="1000" lang="en-US"/>
              <a:t>(b)</a:t>
            </a:r>
          </a:p>
        </p:txBody>
      </p:sp>
      <p:sp>
        <p:nvSpPr>
          <p:cNvPr id="1048716" name=""/>
          <p:cNvSpPr txBox="1"/>
          <p:nvPr/>
        </p:nvSpPr>
        <p:spPr>
          <a:xfrm rot="0">
            <a:off x="3352800" y="4006850"/>
            <a:ext cx="381000" cy="2825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25000"/>
              </a:lnSpc>
              <a:spcBef>
                <a:spcPct val="50000"/>
              </a:spcBef>
            </a:pPr>
            <a:r>
              <a:rPr altLang="en-US" b="1" sz="1000" lang="en-US"/>
              <a:t>(d)</a:t>
            </a:r>
          </a:p>
        </p:txBody>
      </p:sp>
      <p:sp>
        <p:nvSpPr>
          <p:cNvPr id="1048717" name=""/>
          <p:cNvSpPr txBox="1"/>
          <p:nvPr/>
        </p:nvSpPr>
        <p:spPr>
          <a:xfrm rot="0">
            <a:off x="3886200" y="4921250"/>
            <a:ext cx="381000" cy="2444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000" lang="en-US"/>
              <a:t>(d)</a:t>
            </a:r>
          </a:p>
        </p:txBody>
      </p:sp>
      <p:sp>
        <p:nvSpPr>
          <p:cNvPr id="1048718" name=""/>
          <p:cNvSpPr txBox="1"/>
          <p:nvPr/>
        </p:nvSpPr>
        <p:spPr>
          <a:xfrm rot="0">
            <a:off x="3886200" y="3854450"/>
            <a:ext cx="381000" cy="2444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000" lang="en-US"/>
              <a:t>(c)</a:t>
            </a:r>
          </a:p>
        </p:txBody>
      </p:sp>
      <p:sp>
        <p:nvSpPr>
          <p:cNvPr id="1048719" name=""/>
          <p:cNvSpPr txBox="1"/>
          <p:nvPr/>
        </p:nvSpPr>
        <p:spPr>
          <a:xfrm rot="0">
            <a:off x="3352800" y="3298825"/>
            <a:ext cx="381000" cy="2825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25000"/>
              </a:lnSpc>
              <a:spcBef>
                <a:spcPct val="50000"/>
              </a:spcBef>
            </a:pPr>
            <a:r>
              <a:rPr altLang="en-US" b="1" sz="1000" lang="en-US"/>
              <a:t>(c)</a:t>
            </a:r>
          </a:p>
        </p:txBody>
      </p:sp>
    </p:spTree>
  </p:cSld>
  <p:clrMapOvr>
    <a:masterClrMapping/>
  </p:clrMapOvr>
  <p:transition spd="fast" advClick="1">
    <p:wipe dir="r"/>
  </p:transition>
</p:sld>
</file>

<file path=ppt/slides/slide13.xml><?xml version="1.0" encoding="utf-8"?>
<p:sld xmlns:a="http://schemas.openxmlformats.org/drawingml/2006/main" xmlns:r="http://schemas.openxmlformats.org/officeDocument/2006/relationships" xmlns:p="http://schemas.openxmlformats.org/presentationml/2006/main" showMasterSp="1">
  <p:cSld>
    <p:spTree>
      <p:nvGrpSpPr>
        <p:cNvPr id="93" name=""/>
        <p:cNvGrpSpPr/>
        <p:nvPr/>
      </p:nvGrpSpPr>
      <p:grpSpPr>
        <a:xfrm rot="0">
          <a:off x="0" y="0"/>
          <a:ext cx="0" cy="0"/>
          <a:chOff x="0" y="0"/>
          <a:chExt cx="0" cy="0"/>
        </a:xfrm>
      </p:grpSpPr>
      <p:sp>
        <p:nvSpPr>
          <p:cNvPr id="1048722" name=""/>
          <p:cNvSpPr/>
          <p:nvPr/>
        </p:nvSpPr>
        <p:spPr>
          <a:xfrm rot="0">
            <a:off x="838200" y="1981200"/>
            <a:ext cx="8001000" cy="3657600"/>
          </a:xfrm>
          <a:prstGeom prst="rect"/>
          <a:solidFill>
            <a:schemeClr val="lt1"/>
          </a:solid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0000"/>
              </a:spcBef>
              <a:buClr>
                <a:schemeClr val="dk1"/>
              </a:buClr>
              <a:buFont typeface="Wingdings" pitchFamily="2" charset="2"/>
              <a:buNone/>
            </a:pPr>
            <a:r>
              <a:rPr altLang="en-US" sz="2600" lang="en-US">
                <a:ea typeface="Times New Roman" pitchFamily="18" charset="0"/>
              </a:rPr>
              <a:t>Net income is shown on a work sheet in the:</a:t>
            </a:r>
          </a:p>
          <a:p>
            <a:pPr algn="l" indent="-457200" lvl="1" marL="692150">
              <a:spcBef>
                <a:spcPct val="40000"/>
              </a:spcBef>
              <a:buClr>
                <a:schemeClr val="dk1"/>
              </a:buClr>
              <a:buFont typeface="Wingdings" pitchFamily="2" charset="2"/>
              <a:buAutoNum type="alphaLcPeriod" startAt="1"/>
            </a:pPr>
            <a:r>
              <a:rPr altLang="en-US" sz="2600" lang="en-US">
                <a:ea typeface="Times New Roman" pitchFamily="18" charset="0"/>
              </a:rPr>
              <a:t>income statement debit column only.</a:t>
            </a:r>
          </a:p>
          <a:p>
            <a:pPr algn="l" indent="-457200" lvl="1" marL="692150">
              <a:spcBef>
                <a:spcPct val="40000"/>
              </a:spcBef>
              <a:buClr>
                <a:schemeClr val="dk1"/>
              </a:buClr>
              <a:buFont typeface="Wingdings" pitchFamily="2" charset="2"/>
              <a:buAutoNum type="alphaLcPeriod" startAt="1"/>
            </a:pPr>
            <a:r>
              <a:rPr altLang="en-US" sz="2600" lang="en-US">
                <a:ea typeface="Times New Roman" pitchFamily="18" charset="0"/>
              </a:rPr>
              <a:t>balance sheet debit column only.</a:t>
            </a:r>
          </a:p>
          <a:p>
            <a:pPr algn="l" indent="-457200" lvl="1" marL="692150">
              <a:spcBef>
                <a:spcPct val="40000"/>
              </a:spcBef>
              <a:buClr>
                <a:schemeClr val="dk1"/>
              </a:buClr>
              <a:buFont typeface="Wingdings" pitchFamily="2" charset="2"/>
              <a:buAutoNum type="alphaLcPeriod" startAt="1"/>
            </a:pPr>
            <a:r>
              <a:rPr altLang="en-US" sz="2600" lang="en-US">
                <a:ea typeface="Times New Roman" pitchFamily="18" charset="0"/>
              </a:rPr>
              <a:t>income statement credit column and balance sheet debit column.</a:t>
            </a:r>
          </a:p>
          <a:p>
            <a:pPr algn="l" indent="-457200" lvl="1" marL="692150">
              <a:spcBef>
                <a:spcPct val="40000"/>
              </a:spcBef>
              <a:buClr>
                <a:schemeClr val="dk1"/>
              </a:buClr>
              <a:buFont typeface="Wingdings" pitchFamily="2" charset="2"/>
              <a:buAutoNum type="alphaLcPeriod" startAt="1"/>
            </a:pPr>
            <a:r>
              <a:rPr altLang="en-US" sz="2600" lang="en-US">
                <a:ea typeface="Times New Roman" pitchFamily="18" charset="0"/>
              </a:rPr>
              <a:t>income statement debit column and balance sheet credit column.</a:t>
            </a:r>
          </a:p>
        </p:txBody>
      </p:sp>
      <p:sp>
        <p:nvSpPr>
          <p:cNvPr id="1048723" name=""/>
          <p:cNvSpPr/>
          <p:nvPr/>
        </p:nvSpPr>
        <p:spPr>
          <a:xfrm rot="0">
            <a:off x="1143000" y="4648200"/>
            <a:ext cx="381000" cy="381000"/>
          </a:xfrm>
          <a:prstGeom prst="ellipse"/>
          <a:noFill/>
          <a:ln w="57150" cap="sq" cmpd="sng">
            <a:solidFill>
              <a:srgbClr val="800000">
                <a:alpha val="100000"/>
              </a:srgb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724" name=""/>
          <p:cNvSpPr/>
          <p:nvPr/>
        </p:nvSpPr>
        <p:spPr>
          <a:xfrm rot="0">
            <a:off x="533400" y="1371600"/>
            <a:ext cx="53340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200" lang="en-US">
                <a:solidFill>
                  <a:srgbClr val="800000"/>
                </a:solidFill>
                <a:effectLst>
                  <a:outerShdw algn="tl" blurRad="38100" dir="2700000" dist="38100">
                    <a:srgbClr val="C0C0C0"/>
                  </a:outerShdw>
                </a:effectLst>
              </a:rPr>
              <a:t>Review Question</a:t>
            </a:r>
          </a:p>
        </p:txBody>
      </p:sp>
      <p:sp>
        <p:nvSpPr>
          <p:cNvPr id="1048725"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Steps in Preparing a Worksheet</a:t>
            </a:r>
          </a:p>
        </p:txBody>
      </p:sp>
      <p:sp>
        <p:nvSpPr>
          <p:cNvPr id="1048726" name=""/>
          <p:cNvSpPr txBox="1"/>
          <p:nvPr/>
        </p:nvSpPr>
        <p:spPr>
          <a:xfrm rot="0">
            <a:off x="5715000" y="6369050"/>
            <a:ext cx="32766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1  Prepare a worksheet.</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8723"/>
                                        </p:tgtEl>
                                        <p:attrNameLst>
                                          <p:attrName>style.visibility</p:attrName>
                                        </p:attrNameLst>
                                      </p:cBhvr>
                                      <p:to>
                                        <p:strVal val="visible"/>
                                      </p:to>
                                    </p:set>
                                    <p:animEffect transition="in" filter="wipe(left)">
                                      <p:cBhvr>
                                        <p:cTn dur="500" id="7"/>
                                        <p:tgtEl>
                                          <p:spTgt spid="10487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23" grpId="0" uiExpand="0" build="whole"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Sp="1">
  <p:cSld>
    <p:spTree>
      <p:nvGrpSpPr>
        <p:cNvPr id="96" name=""/>
        <p:cNvGrpSpPr/>
        <p:nvPr/>
      </p:nvGrpSpPr>
      <p:grpSpPr>
        <a:xfrm rot="0">
          <a:off x="0" y="0"/>
          <a:ext cx="0" cy="0"/>
          <a:chOff x="0" y="0"/>
          <a:chExt cx="0" cy="0"/>
        </a:xfrm>
      </p:grpSpPr>
      <p:sp>
        <p:nvSpPr>
          <p:cNvPr id="1048729" name=""/>
          <p:cNvSpPr txBox="1"/>
          <p:nvPr/>
        </p:nvSpPr>
        <p:spPr>
          <a:xfrm rot="0">
            <a:off x="685800" y="1974850"/>
            <a:ext cx="8001000" cy="27749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388937" lvl="1" marL="623887">
              <a:lnSpc>
                <a:spcPct val="115000"/>
              </a:lnSpc>
              <a:spcAft>
                <a:spcPct val="50000"/>
              </a:spcAft>
              <a:buSzPct val="80000"/>
              <a:buFontTx/>
              <a:buBlip>
                <a:blip xmlns:r="http://schemas.openxmlformats.org/officeDocument/2006/relationships" r:embed="rId1"/>
              </a:buBlip>
            </a:pPr>
            <a:r>
              <a:rPr altLang="en-US" sz="2600" lang="en-US">
                <a:solidFill>
                  <a:srgbClr val="000000"/>
                </a:solidFill>
              </a:rPr>
              <a:t>Income statement is prepared from the income statement columns. </a:t>
            </a:r>
          </a:p>
          <a:p>
            <a:pPr algn="l" indent="-388937" lvl="1" marL="623887">
              <a:lnSpc>
                <a:spcPct val="115000"/>
              </a:lnSpc>
              <a:spcAft>
                <a:spcPct val="50000"/>
              </a:spcAft>
              <a:buSzPct val="80000"/>
              <a:buFontTx/>
              <a:buBlip>
                <a:blip xmlns:r="http://schemas.openxmlformats.org/officeDocument/2006/relationships" r:embed="rId1"/>
              </a:buBlip>
            </a:pPr>
            <a:r>
              <a:rPr altLang="en-US" sz="2600" lang="en-US">
                <a:solidFill>
                  <a:srgbClr val="000000"/>
                </a:solidFill>
              </a:rPr>
              <a:t>Balance sheet and owner’s equity statement are prepared from the balance sheet columns.</a:t>
            </a:r>
          </a:p>
          <a:p>
            <a:pPr algn="l" lvl="0">
              <a:lnSpc>
                <a:spcPct val="115000"/>
              </a:lnSpc>
              <a:spcAft>
                <a:spcPct val="50000"/>
              </a:spcAft>
              <a:buSzPct val="80000"/>
              <a:buFontTx/>
              <a:buNone/>
            </a:pPr>
            <a:r>
              <a:rPr altLang="en-US" sz="2600" lang="en-US">
                <a:solidFill>
                  <a:srgbClr val="000000"/>
                </a:solidFill>
              </a:rPr>
              <a:t>Companies journalize and post adjusting entries.</a:t>
            </a:r>
          </a:p>
        </p:txBody>
      </p:sp>
      <p:sp>
        <p:nvSpPr>
          <p:cNvPr id="1048730" name=""/>
          <p:cNvSpPr/>
          <p:nvPr>
            <p:ph type="title" sz="full" idx="0"/>
          </p:nvPr>
        </p:nvSpPr>
        <p:spPr>
          <a:xfrm rot="0">
            <a:off x="152400" y="457200"/>
            <a:ext cx="88392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sz="2700" lang="en-US">
                <a:solidFill>
                  <a:schemeClr val="lt1"/>
                </a:solidFill>
                <a:effectLst>
                  <a:outerShdw algn="tl" blurRad="38100" dir="2700000" dist="38100">
                    <a:srgbClr val="C0C0C0"/>
                  </a:outerShdw>
                </a:effectLst>
              </a:rPr>
              <a:t>Preparing Financial Statements from a Worksheet</a:t>
            </a:r>
          </a:p>
        </p:txBody>
      </p:sp>
      <p:sp>
        <p:nvSpPr>
          <p:cNvPr id="1048731"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1  Prepare a worksheet.</a:t>
            </a:r>
          </a:p>
        </p:txBody>
      </p:sp>
      <p:sp>
        <p:nvSpPr>
          <p:cNvPr id="1048732" name=""/>
          <p:cNvSpPr/>
          <p:nvPr/>
        </p:nvSpPr>
        <p:spPr>
          <a:xfrm rot="0">
            <a:off x="533400" y="1371600"/>
            <a:ext cx="63246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200" lang="en-US">
                <a:solidFill>
                  <a:srgbClr val="800000"/>
                </a:solidFill>
                <a:effectLst>
                  <a:outerShdw algn="tl" blurRad="38100" dir="2700000" dist="38100">
                    <a:srgbClr val="C0C0C0"/>
                  </a:outerShdw>
                </a:effectLst>
              </a:rPr>
              <a:t>Worksheet</a:t>
            </a:r>
          </a:p>
        </p:txBody>
      </p:sp>
    </p:spTree>
  </p:cSld>
  <p:clrMapOvr>
    <a:masterClrMapping/>
  </p:clrMapOvr>
  <p:transition spd="fast" advClick="1">
    <p:wipe dir="r"/>
  </p:transition>
</p:sld>
</file>

<file path=ppt/slides/slide15.xml><?xml version="1.0" encoding="utf-8"?>
<p:sld xmlns:a="http://schemas.openxmlformats.org/drawingml/2006/main" xmlns:r="http://schemas.openxmlformats.org/officeDocument/2006/relationships" xmlns:p="http://schemas.openxmlformats.org/presentationml/2006/main" showMasterSp="1">
  <p:cSld>
    <p:spTree>
      <p:nvGrpSpPr>
        <p:cNvPr id="99" name=""/>
        <p:cNvGrpSpPr/>
        <p:nvPr/>
      </p:nvGrpSpPr>
      <p:grpSpPr>
        <a:xfrm rot="0">
          <a:off x="0" y="0"/>
          <a:ext cx="0" cy="0"/>
          <a:chOff x="0" y="0"/>
          <a:chExt cx="0" cy="0"/>
        </a:xfrm>
      </p:grpSpPr>
      <p:sp>
        <p:nvSpPr>
          <p:cNvPr id="1048735" name=""/>
          <p:cNvSpPr/>
          <p:nvPr>
            <p:ph type="title" sz="full" idx="0"/>
          </p:nvPr>
        </p:nvSpPr>
        <p:spPr>
          <a:xfrm rot="0">
            <a:off x="152400" y="457200"/>
            <a:ext cx="88392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sz="2700" lang="en-US">
                <a:solidFill>
                  <a:schemeClr val="lt1"/>
                </a:solidFill>
                <a:effectLst>
                  <a:outerShdw algn="tl" blurRad="38100" dir="2700000" dist="38100">
                    <a:srgbClr val="C0C0C0"/>
                  </a:outerShdw>
                </a:effectLst>
              </a:rPr>
              <a:t>Preparing Financial Statements from a Worksheet</a:t>
            </a:r>
          </a:p>
        </p:txBody>
      </p:sp>
      <p:sp>
        <p:nvSpPr>
          <p:cNvPr id="1048736"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1  Prepare a worksheet.</a:t>
            </a:r>
          </a:p>
        </p:txBody>
      </p:sp>
      <p:pic>
        <p:nvPicPr>
          <p:cNvPr id="2097164" name=""/>
          <p:cNvPicPr>
            <a:picLocks/>
          </p:cNvPicPr>
          <p:nvPr/>
        </p:nvPicPr>
        <p:blipFill>
          <a:blip xmlns:r="http://schemas.openxmlformats.org/officeDocument/2006/relationships" r:embed="rId1"/>
          <a:srcRect l="0" t="0" r="0" b="0"/>
          <a:stretch>
            <a:fillRect/>
          </a:stretch>
        </p:blipFill>
        <p:spPr>
          <a:xfrm rot="0">
            <a:off x="1295400" y="2063750"/>
            <a:ext cx="6553200" cy="4249737"/>
          </a:xfrm>
          <a:prstGeom prst="rect"/>
          <a:noFill/>
          <a:ln w="28575" cap="sq" cmpd="sng">
            <a:solidFill>
              <a:schemeClr val="dk1">
                <a:alpha val="100000"/>
              </a:schemeClr>
            </a:solidFill>
            <a:prstDash val="solid"/>
            <a:round/>
          </a:ln>
        </p:spPr>
      </p:pic>
      <p:sp>
        <p:nvSpPr>
          <p:cNvPr id="1048737" name=""/>
          <p:cNvSpPr txBox="1"/>
          <p:nvPr/>
        </p:nvSpPr>
        <p:spPr>
          <a:xfrm rot="0">
            <a:off x="762000" y="1295400"/>
            <a:ext cx="7848600" cy="7620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457200" lvl="0" marL="457200">
              <a:spcBef>
                <a:spcPct val="50000"/>
              </a:spcBef>
            </a:pPr>
            <a:r>
              <a:rPr altLang="en-US" b="1" sz="2200" lang="en-US">
                <a:ea typeface="Arial" pitchFamily="0" charset="0"/>
              </a:rPr>
              <a:t>b.</a:t>
            </a:r>
            <a:r>
              <a:rPr altLang="en-US" sz="2200" lang="en-US">
                <a:solidFill>
                  <a:srgbClr val="000000"/>
                </a:solidFill>
                <a:ea typeface="Arial" pitchFamily="0" charset="0"/>
              </a:rPr>
              <a:t>  Prepare an income statement for the month ended March 31, 2008.  </a:t>
            </a:r>
          </a:p>
        </p:txBody>
      </p:sp>
    </p:spTree>
  </p:cSld>
  <p:clrMapOvr>
    <a:masterClrMapping/>
  </p:clrMapOvr>
  <p:transition spd="fast" advClick="1">
    <p:wipe dir="r"/>
  </p:transition>
</p:sld>
</file>

<file path=ppt/slides/slide16.xml><?xml version="1.0" encoding="utf-8"?>
<p:sld xmlns:a="http://schemas.openxmlformats.org/drawingml/2006/main" xmlns:r="http://schemas.openxmlformats.org/officeDocument/2006/relationships" xmlns:p="http://schemas.openxmlformats.org/presentationml/2006/main" showMasterSp="1">
  <p:cSld>
    <p:spTree>
      <p:nvGrpSpPr>
        <p:cNvPr id="102" name=""/>
        <p:cNvGrpSpPr/>
        <p:nvPr/>
      </p:nvGrpSpPr>
      <p:grpSpPr>
        <a:xfrm rot="0">
          <a:off x="0" y="0"/>
          <a:ext cx="0" cy="0"/>
          <a:chOff x="0" y="0"/>
          <a:chExt cx="0" cy="0"/>
        </a:xfrm>
      </p:grpSpPr>
      <p:sp>
        <p:nvSpPr>
          <p:cNvPr id="1048740" name=""/>
          <p:cNvSpPr/>
          <p:nvPr>
            <p:ph type="title" sz="full" idx="0"/>
          </p:nvPr>
        </p:nvSpPr>
        <p:spPr>
          <a:xfrm rot="0">
            <a:off x="152400" y="457200"/>
            <a:ext cx="88392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sz="2700" lang="en-US">
                <a:solidFill>
                  <a:schemeClr val="lt1"/>
                </a:solidFill>
                <a:effectLst>
                  <a:outerShdw algn="tl" blurRad="38100" dir="2700000" dist="38100">
                    <a:srgbClr val="C0C0C0"/>
                  </a:outerShdw>
                </a:effectLst>
              </a:rPr>
              <a:t>Preparing Financial Statements from a Worksheet</a:t>
            </a:r>
          </a:p>
        </p:txBody>
      </p:sp>
      <p:sp>
        <p:nvSpPr>
          <p:cNvPr id="1048741"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1  Prepare a worksheet.</a:t>
            </a:r>
          </a:p>
        </p:txBody>
      </p:sp>
      <p:sp>
        <p:nvSpPr>
          <p:cNvPr id="1048742" name=""/>
          <p:cNvSpPr txBox="1"/>
          <p:nvPr/>
        </p:nvSpPr>
        <p:spPr>
          <a:xfrm rot="0">
            <a:off x="762000" y="1295400"/>
            <a:ext cx="7848600" cy="7620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457200" lvl="0" marL="457200">
              <a:spcBef>
                <a:spcPct val="50000"/>
              </a:spcBef>
            </a:pPr>
            <a:r>
              <a:rPr altLang="en-US" b="1" sz="2200" lang="en-US">
                <a:ea typeface="Arial" pitchFamily="0" charset="0"/>
              </a:rPr>
              <a:t>b.</a:t>
            </a:r>
            <a:r>
              <a:rPr altLang="en-US" sz="2200" lang="en-US">
                <a:solidFill>
                  <a:srgbClr val="000000"/>
                </a:solidFill>
                <a:ea typeface="Arial" pitchFamily="0" charset="0"/>
              </a:rPr>
              <a:t>  Prepare an owner’s equity statement for the month ended March 31, 2008.  </a:t>
            </a:r>
          </a:p>
        </p:txBody>
      </p:sp>
      <p:pic>
        <p:nvPicPr>
          <p:cNvPr id="2097165" name=""/>
          <p:cNvPicPr>
            <a:picLocks/>
          </p:cNvPicPr>
          <p:nvPr/>
        </p:nvPicPr>
        <p:blipFill>
          <a:blip xmlns:r="http://schemas.openxmlformats.org/officeDocument/2006/relationships" r:embed="rId1"/>
          <a:srcRect l="0" t="0" r="0" b="0"/>
          <a:stretch>
            <a:fillRect/>
          </a:stretch>
        </p:blipFill>
        <p:spPr>
          <a:xfrm rot="0">
            <a:off x="928687" y="2362200"/>
            <a:ext cx="7224712" cy="3048000"/>
          </a:xfrm>
          <a:prstGeom prst="rect"/>
          <a:noFill/>
          <a:ln w="28575" cap="sq" cmpd="sng">
            <a:solidFill>
              <a:schemeClr val="dk1">
                <a:alpha val="100000"/>
              </a:schemeClr>
            </a:solidFill>
            <a:prstDash val="solid"/>
            <a:round/>
          </a:ln>
        </p:spPr>
      </p:pic>
    </p:spTree>
  </p:cSld>
  <p:clrMapOvr>
    <a:masterClrMapping/>
  </p:clrMapOvr>
  <p:transition spd="fast" advClick="1">
    <p:wipe dir="r"/>
  </p:transition>
</p:sld>
</file>

<file path=ppt/slides/slide17.xml><?xml version="1.0" encoding="utf-8"?>
<p:sld xmlns:a="http://schemas.openxmlformats.org/drawingml/2006/main" xmlns:r="http://schemas.openxmlformats.org/officeDocument/2006/relationships" xmlns:p="http://schemas.openxmlformats.org/presentationml/2006/main" showMasterSp="1">
  <p:cSld>
    <p:spTree>
      <p:nvGrpSpPr>
        <p:cNvPr id="105" name=""/>
        <p:cNvGrpSpPr/>
        <p:nvPr/>
      </p:nvGrpSpPr>
      <p:grpSpPr>
        <a:xfrm rot="0">
          <a:off x="0" y="0"/>
          <a:ext cx="0" cy="0"/>
          <a:chOff x="0" y="0"/>
          <a:chExt cx="0" cy="0"/>
        </a:xfrm>
      </p:grpSpPr>
      <p:sp>
        <p:nvSpPr>
          <p:cNvPr id="1048745" name=""/>
          <p:cNvSpPr/>
          <p:nvPr>
            <p:ph type="title" sz="full" idx="0"/>
          </p:nvPr>
        </p:nvSpPr>
        <p:spPr>
          <a:xfrm rot="0">
            <a:off x="152400" y="457200"/>
            <a:ext cx="88392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sz="2700" lang="en-US">
                <a:solidFill>
                  <a:schemeClr val="lt1"/>
                </a:solidFill>
                <a:effectLst>
                  <a:outerShdw algn="tl" blurRad="38100" dir="2700000" dist="38100">
                    <a:srgbClr val="C0C0C0"/>
                  </a:outerShdw>
                </a:effectLst>
              </a:rPr>
              <a:t>Preparing Financial Statements from a Worksheet</a:t>
            </a:r>
          </a:p>
        </p:txBody>
      </p:sp>
      <p:sp>
        <p:nvSpPr>
          <p:cNvPr id="1048746"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1  Prepare a worksheet.</a:t>
            </a:r>
          </a:p>
        </p:txBody>
      </p:sp>
      <p:sp>
        <p:nvSpPr>
          <p:cNvPr id="1048747" name=""/>
          <p:cNvSpPr txBox="1"/>
          <p:nvPr/>
        </p:nvSpPr>
        <p:spPr>
          <a:xfrm rot="0">
            <a:off x="762000" y="1295400"/>
            <a:ext cx="7848600" cy="4270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457200" lvl="0" marL="457200">
              <a:spcBef>
                <a:spcPct val="50000"/>
              </a:spcBef>
            </a:pPr>
            <a:r>
              <a:rPr altLang="en-US" b="1" sz="2200" lang="en-US">
                <a:ea typeface="Arial" pitchFamily="0" charset="0"/>
              </a:rPr>
              <a:t>b.</a:t>
            </a:r>
            <a:r>
              <a:rPr altLang="en-US" sz="2200" lang="en-US">
                <a:solidFill>
                  <a:srgbClr val="000000"/>
                </a:solidFill>
                <a:ea typeface="Arial" pitchFamily="0" charset="0"/>
              </a:rPr>
              <a:t>  Prepare a balance sheet as of March 31, 2008.  </a:t>
            </a:r>
          </a:p>
        </p:txBody>
      </p:sp>
      <p:pic>
        <p:nvPicPr>
          <p:cNvPr id="2097166" name=""/>
          <p:cNvPicPr>
            <a:picLocks/>
          </p:cNvPicPr>
          <p:nvPr/>
        </p:nvPicPr>
        <p:blipFill>
          <a:blip xmlns:r="http://schemas.openxmlformats.org/officeDocument/2006/relationships" r:embed="rId1"/>
          <a:srcRect l="0" t="0" r="0" b="0"/>
          <a:stretch>
            <a:fillRect/>
          </a:stretch>
        </p:blipFill>
        <p:spPr>
          <a:xfrm rot="0">
            <a:off x="2667000" y="1787525"/>
            <a:ext cx="6303962" cy="4627562"/>
          </a:xfrm>
          <a:prstGeom prst="rect"/>
          <a:noFill/>
          <a:ln w="12700" cap="sq" cmpd="sng">
            <a:solidFill>
              <a:schemeClr val="dk1">
                <a:alpha val="100000"/>
              </a:schemeClr>
            </a:solidFill>
            <a:prstDash val="solid"/>
            <a:round/>
          </a:ln>
        </p:spPr>
      </p:pic>
      <p:sp>
        <p:nvSpPr>
          <p:cNvPr id="1048748" name=""/>
          <p:cNvSpPr txBox="1"/>
          <p:nvPr/>
        </p:nvSpPr>
        <p:spPr>
          <a:xfrm rot="0">
            <a:off x="304800" y="1784350"/>
            <a:ext cx="2133600" cy="1644650"/>
          </a:xfrm>
          <a:prstGeom prst="rect"/>
          <a:solidFill>
            <a:srgbClr val="FFFF99"/>
          </a:solidFill>
          <a:ln w="28575" cap="sq" cmpd="sng">
            <a:solidFill>
              <a:schemeClr val="dk1">
                <a:alpha val="100000"/>
              </a:scheme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fontAlgn="b" lvl="0">
              <a:spcBef>
                <a:spcPct val="50000"/>
              </a:spcBef>
            </a:pPr>
            <a:r>
              <a:rPr altLang="en-US" b="1" sz="2000" lang="en-US">
                <a:latin typeface="Arial" pitchFamily="0" charset="0"/>
                <a:ea typeface="Arial" pitchFamily="0" charset="0"/>
              </a:rPr>
              <a:t>Undercover Roofing</a:t>
            </a:r>
          </a:p>
          <a:p>
            <a:pPr fontAlgn="b" lvl="0">
              <a:spcBef>
                <a:spcPct val="50000"/>
              </a:spcBef>
            </a:pPr>
            <a:r>
              <a:rPr altLang="en-US" b="1" sz="2000" lang="en-US">
                <a:latin typeface="Arial" pitchFamily="0" charset="0"/>
                <a:ea typeface="Arial" pitchFamily="0" charset="0"/>
              </a:rPr>
              <a:t>Balance Sheet</a:t>
            </a:r>
          </a:p>
          <a:p>
            <a:pPr fontAlgn="b" lvl="0">
              <a:spcBef>
                <a:spcPct val="50000"/>
              </a:spcBef>
            </a:pPr>
            <a:r>
              <a:rPr altLang="en-US" b="1" sz="2000" lang="en-US">
                <a:latin typeface="Arial" pitchFamily="0" charset="0"/>
                <a:ea typeface="Arial" pitchFamily="0" charset="0"/>
              </a:rPr>
              <a:t>March 31, 2008</a:t>
            </a:r>
          </a:p>
        </p:txBody>
      </p:sp>
    </p:spTree>
  </p:cSld>
  <p:clrMapOvr>
    <a:masterClrMapping/>
  </p:clrMapOvr>
  <p:transition spd="fast" advClick="1">
    <p:wipe dir="r"/>
  </p:transition>
</p:sld>
</file>

<file path=ppt/slides/slide18.xml><?xml version="1.0" encoding="utf-8"?>
<p:sld xmlns:a="http://schemas.openxmlformats.org/drawingml/2006/main" xmlns:r="http://schemas.openxmlformats.org/officeDocument/2006/relationships" xmlns:p="http://schemas.openxmlformats.org/presentationml/2006/main" showMasterSp="1">
  <p:cSld>
    <p:spTree>
      <p:nvGrpSpPr>
        <p:cNvPr id="108" name=""/>
        <p:cNvGrpSpPr/>
        <p:nvPr/>
      </p:nvGrpSpPr>
      <p:grpSpPr>
        <a:xfrm rot="0">
          <a:off x="0" y="0"/>
          <a:ext cx="0" cy="0"/>
          <a:chOff x="0" y="0"/>
          <a:chExt cx="0" cy="0"/>
        </a:xfrm>
      </p:grpSpPr>
      <p:sp>
        <p:nvSpPr>
          <p:cNvPr id="1048751" name=""/>
          <p:cNvSpPr txBox="1"/>
          <p:nvPr/>
        </p:nvSpPr>
        <p:spPr>
          <a:xfrm rot="0">
            <a:off x="685800" y="1974850"/>
            <a:ext cx="8001000" cy="27749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388937" lvl="1" marL="623887">
              <a:lnSpc>
                <a:spcPct val="115000"/>
              </a:lnSpc>
              <a:spcAft>
                <a:spcPct val="50000"/>
              </a:spcAft>
              <a:buSzPct val="80000"/>
              <a:buFontTx/>
              <a:buBlip>
                <a:blip xmlns:r="http://schemas.openxmlformats.org/officeDocument/2006/relationships" r:embed="rId1"/>
              </a:buBlip>
            </a:pPr>
            <a:r>
              <a:rPr altLang="en-US" sz="2600" lang="en-US">
                <a:solidFill>
                  <a:srgbClr val="000000"/>
                </a:solidFill>
              </a:rPr>
              <a:t>The adjusting entries are prepared from the adjustments columns of the worksheet.</a:t>
            </a:r>
          </a:p>
          <a:p>
            <a:pPr algn="l" indent="-388937" lvl="1" marL="623887">
              <a:lnSpc>
                <a:spcPct val="115000"/>
              </a:lnSpc>
              <a:spcAft>
                <a:spcPct val="50000"/>
              </a:spcAft>
              <a:buSzPct val="80000"/>
              <a:buFontTx/>
              <a:buBlip>
                <a:blip xmlns:r="http://schemas.openxmlformats.org/officeDocument/2006/relationships" r:embed="rId1"/>
              </a:buBlip>
            </a:pPr>
            <a:r>
              <a:rPr altLang="en-US" sz="2600" lang="en-US">
                <a:solidFill>
                  <a:srgbClr val="000000"/>
                </a:solidFill>
              </a:rPr>
              <a:t>Journalizing and posting of adjusting entries follows the preparation of financial statements when a worksheet is used.</a:t>
            </a:r>
          </a:p>
        </p:txBody>
      </p:sp>
      <p:sp>
        <p:nvSpPr>
          <p:cNvPr id="1048752" name=""/>
          <p:cNvSpPr/>
          <p:nvPr>
            <p:ph type="title" sz="full" idx="0"/>
          </p:nvPr>
        </p:nvSpPr>
        <p:spPr>
          <a:xfrm rot="0">
            <a:off x="152400" y="457200"/>
            <a:ext cx="88392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sz="2700" lang="en-US">
                <a:solidFill>
                  <a:schemeClr val="lt1"/>
                </a:solidFill>
                <a:effectLst>
                  <a:outerShdw algn="tl" blurRad="38100" dir="2700000" dist="38100">
                    <a:srgbClr val="C0C0C0"/>
                  </a:outerShdw>
                </a:effectLst>
              </a:rPr>
              <a:t>Preparing Adjusting Entries from a Worksheet</a:t>
            </a:r>
          </a:p>
        </p:txBody>
      </p:sp>
      <p:sp>
        <p:nvSpPr>
          <p:cNvPr id="1048753"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1  Prepare a worksheet.</a:t>
            </a:r>
          </a:p>
        </p:txBody>
      </p:sp>
      <p:sp>
        <p:nvSpPr>
          <p:cNvPr id="1048754" name=""/>
          <p:cNvSpPr/>
          <p:nvPr/>
        </p:nvSpPr>
        <p:spPr>
          <a:xfrm rot="0">
            <a:off x="533400" y="1371600"/>
            <a:ext cx="63246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200" lang="en-US">
                <a:solidFill>
                  <a:srgbClr val="800000"/>
                </a:solidFill>
                <a:effectLst>
                  <a:outerShdw algn="tl" blurRad="38100" dir="2700000" dist="38100">
                    <a:srgbClr val="C0C0C0"/>
                  </a:outerShdw>
                </a:effectLst>
              </a:rPr>
              <a:t>Adjusting Entries</a:t>
            </a:r>
          </a:p>
        </p:txBody>
      </p:sp>
    </p:spTree>
  </p:cSld>
  <p:clrMapOvr>
    <a:masterClrMapping/>
  </p:clrMapOvr>
  <p:transition spd="fast" advClick="1">
    <p:wipe dir="r"/>
  </p:transition>
</p:sld>
</file>

<file path=ppt/slides/slide19.xml><?xml version="1.0" encoding="utf-8"?>
<p:sld xmlns:a="http://schemas.openxmlformats.org/drawingml/2006/main" xmlns:r="http://schemas.openxmlformats.org/officeDocument/2006/relationships" xmlns:p="http://schemas.openxmlformats.org/presentationml/2006/main" showMasterSp="1">
  <p:cSld>
    <p:spTree>
      <p:nvGrpSpPr>
        <p:cNvPr id="111" name=""/>
        <p:cNvGrpSpPr/>
        <p:nvPr/>
      </p:nvGrpSpPr>
      <p:grpSpPr>
        <a:xfrm rot="0">
          <a:off x="0" y="0"/>
          <a:ext cx="0" cy="0"/>
          <a:chOff x="0" y="0"/>
          <a:chExt cx="0" cy="0"/>
        </a:xfrm>
      </p:grpSpPr>
      <p:sp>
        <p:nvSpPr>
          <p:cNvPr id="1048757" name=""/>
          <p:cNvSpPr/>
          <p:nvPr>
            <p:ph type="title" sz="full" idx="0"/>
          </p:nvPr>
        </p:nvSpPr>
        <p:spPr>
          <a:xfrm rot="0">
            <a:off x="152400" y="457200"/>
            <a:ext cx="88392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sz="2700" lang="en-US">
                <a:solidFill>
                  <a:schemeClr val="lt1"/>
                </a:solidFill>
                <a:effectLst>
                  <a:outerShdw algn="tl" blurRad="38100" dir="2700000" dist="38100">
                    <a:srgbClr val="C0C0C0"/>
                  </a:outerShdw>
                </a:effectLst>
              </a:rPr>
              <a:t>Preparing Financial Statements from a Worksheet</a:t>
            </a:r>
          </a:p>
        </p:txBody>
      </p:sp>
      <p:sp>
        <p:nvSpPr>
          <p:cNvPr id="1048758"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1  Prepare a worksheet.</a:t>
            </a:r>
          </a:p>
        </p:txBody>
      </p:sp>
      <p:sp>
        <p:nvSpPr>
          <p:cNvPr id="1048759" name=""/>
          <p:cNvSpPr txBox="1"/>
          <p:nvPr/>
        </p:nvSpPr>
        <p:spPr>
          <a:xfrm rot="0">
            <a:off x="609600" y="1219200"/>
            <a:ext cx="7848600" cy="8223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457200" lvl="0" marL="457200">
              <a:spcBef>
                <a:spcPct val="50000"/>
              </a:spcBef>
            </a:pPr>
            <a:r>
              <a:rPr altLang="en-US" b="1" sz="2200" lang="en-US">
                <a:ea typeface="Arial" pitchFamily="0" charset="0"/>
              </a:rPr>
              <a:t>c.</a:t>
            </a:r>
            <a:r>
              <a:rPr altLang="en-US" sz="2200" lang="en-US">
                <a:solidFill>
                  <a:srgbClr val="000000"/>
                </a:solidFill>
                <a:ea typeface="Arial" pitchFamily="0" charset="0"/>
              </a:rPr>
              <a:t> 	</a:t>
            </a:r>
            <a:r>
              <a:rPr altLang="en-US" lang="en-US"/>
              <a:t>Journalize the adjusting entries from the adjustments columns of the worksheet.</a:t>
            </a:r>
          </a:p>
        </p:txBody>
      </p:sp>
      <p:pic>
        <p:nvPicPr>
          <p:cNvPr id="2097167" name=""/>
          <p:cNvPicPr>
            <a:picLocks/>
          </p:cNvPicPr>
          <p:nvPr/>
        </p:nvPicPr>
        <p:blipFill>
          <a:blip xmlns:r="http://schemas.openxmlformats.org/officeDocument/2006/relationships" r:embed="rId1"/>
          <a:srcRect l="0" t="0" r="0" b="0"/>
          <a:stretch>
            <a:fillRect/>
          </a:stretch>
        </p:blipFill>
        <p:spPr>
          <a:xfrm rot="0">
            <a:off x="609600" y="2209800"/>
            <a:ext cx="8147050" cy="3959225"/>
          </a:xfrm>
          <a:prstGeom prst="rect"/>
          <a:solidFill>
            <a:srgbClr val="F8EB8E"/>
          </a:solidFill>
          <a:ln w="28575" cap="flat" cmpd="sng">
            <a:solidFill>
              <a:schemeClr val="dk1">
                <a:alpha val="100000"/>
              </a:schemeClr>
            </a:solidFill>
            <a:prstDash val="solid"/>
            <a:round/>
          </a:ln>
        </p:spPr>
      </p:pic>
    </p:spTree>
  </p:cSld>
  <p:clrMapOvr>
    <a:masterClrMapping/>
  </p:clrMapOvr>
  <p:transition spd="fast" advClick="1">
    <p:wipe dir="r"/>
  </p:transition>
</p:sld>
</file>

<file path=ppt/slides/slide20.xml><?xml version="1.0" encoding="utf-8"?>
<p:sld xmlns:a="http://schemas.openxmlformats.org/drawingml/2006/main" xmlns:r="http://schemas.openxmlformats.org/officeDocument/2006/relationships" xmlns:p="http://schemas.openxmlformats.org/presentationml/2006/main" showMasterSp="1">
  <p:cSld>
    <p:spTree>
      <p:nvGrpSpPr>
        <p:cNvPr id="114" name=""/>
        <p:cNvGrpSpPr/>
        <p:nvPr/>
      </p:nvGrpSpPr>
      <p:grpSpPr>
        <a:xfrm rot="0">
          <a:off x="0" y="0"/>
          <a:ext cx="0" cy="0"/>
          <a:chOff x="0" y="0"/>
          <a:chExt cx="0" cy="0"/>
        </a:xfrm>
      </p:grpSpPr>
      <p:sp>
        <p:nvSpPr>
          <p:cNvPr id="1048762" name=""/>
          <p:cNvSpPr txBox="1"/>
          <p:nvPr/>
        </p:nvSpPr>
        <p:spPr>
          <a:xfrm rot="0">
            <a:off x="685800" y="2074862"/>
            <a:ext cx="7772400" cy="5492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115000"/>
              </a:lnSpc>
              <a:spcBef>
                <a:spcPct val="30000"/>
              </a:spcBef>
              <a:buSzPct val="80000"/>
              <a:buFontTx/>
              <a:buNone/>
            </a:pPr>
            <a:r>
              <a:rPr altLang="en-US" b="1" sz="2600" lang="en-US">
                <a:solidFill>
                  <a:srgbClr val="800000"/>
                </a:solidFill>
              </a:rPr>
              <a:t>Q4-2</a:t>
            </a:r>
            <a:r>
              <a:rPr altLang="en-US" b="1" sz="2600" lang="en-US">
                <a:solidFill>
                  <a:srgbClr val="000000"/>
                </a:solidFill>
              </a:rPr>
              <a:t>. </a:t>
            </a:r>
            <a:r>
              <a:rPr altLang="en-US" sz="2600" lang="en-US">
                <a:solidFill>
                  <a:srgbClr val="000000"/>
                </a:solidFill>
              </a:rPr>
              <a:t>Explain the purpose of the worksheet.	</a:t>
            </a:r>
          </a:p>
        </p:txBody>
      </p:sp>
      <p:sp>
        <p:nvSpPr>
          <p:cNvPr id="1048763" name=""/>
          <p:cNvSpPr/>
          <p:nvPr/>
        </p:nvSpPr>
        <p:spPr>
          <a:xfrm rot="0">
            <a:off x="533400" y="1371600"/>
            <a:ext cx="53340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200" lang="en-US">
                <a:solidFill>
                  <a:srgbClr val="800000"/>
                </a:solidFill>
                <a:effectLst>
                  <a:outerShdw algn="tl" blurRad="38100" dir="2700000" dist="38100">
                    <a:srgbClr val="C0C0C0"/>
                  </a:outerShdw>
                </a:effectLst>
              </a:rPr>
              <a:t>Discussion Question</a:t>
            </a:r>
          </a:p>
        </p:txBody>
      </p:sp>
      <p:sp>
        <p:nvSpPr>
          <p:cNvPr id="1048764" name=""/>
          <p:cNvSpPr txBox="1"/>
          <p:nvPr/>
        </p:nvSpPr>
        <p:spPr>
          <a:xfrm rot="0">
            <a:off x="685800" y="5586412"/>
            <a:ext cx="4876800" cy="50958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105000"/>
              </a:lnSpc>
              <a:spcBef>
                <a:spcPct val="30000"/>
              </a:spcBef>
              <a:buSzPct val="80000"/>
              <a:buFontTx/>
              <a:buNone/>
            </a:pPr>
            <a:r>
              <a:rPr altLang="en-US" sz="2600" lang="en-US">
                <a:solidFill>
                  <a:srgbClr val="000000"/>
                </a:solidFill>
              </a:rPr>
              <a:t>See notes page for discussion</a:t>
            </a:r>
          </a:p>
        </p:txBody>
      </p:sp>
      <p:sp>
        <p:nvSpPr>
          <p:cNvPr id="1048765" name=""/>
          <p:cNvSpPr/>
          <p:nvPr>
            <p:ph type="title" sz="full" idx="0"/>
          </p:nvPr>
        </p:nvSpPr>
        <p:spPr>
          <a:xfrm rot="0">
            <a:off x="152400" y="457200"/>
            <a:ext cx="88392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sz="2700" lang="en-US">
                <a:solidFill>
                  <a:schemeClr val="lt1"/>
                </a:solidFill>
                <a:effectLst>
                  <a:outerShdw algn="tl" blurRad="38100" dir="2700000" dist="38100">
                    <a:srgbClr val="C0C0C0"/>
                  </a:outerShdw>
                </a:effectLst>
              </a:rPr>
              <a:t>Preparing Financial Statements from a Worksheet</a:t>
            </a:r>
          </a:p>
        </p:txBody>
      </p:sp>
      <p:sp>
        <p:nvSpPr>
          <p:cNvPr id="1048766"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1  Prepare a worksheet.</a:t>
            </a:r>
          </a:p>
        </p:txBody>
      </p:sp>
    </p:spTree>
  </p:cSld>
  <p:clrMapOvr>
    <a:masterClrMapping/>
  </p:clrMapOvr>
  <p:transition spd="fast" advClick="1">
    <p:wipe dir="r"/>
  </p:transition>
</p:sld>
</file>

<file path=ppt/slides/slide21.xml><?xml version="1.0" encoding="utf-8"?>
<p:sld xmlns:a="http://schemas.openxmlformats.org/drawingml/2006/main" xmlns:r="http://schemas.openxmlformats.org/officeDocument/2006/relationships" xmlns:p="http://schemas.openxmlformats.org/presentationml/2006/main" showMasterSp="1">
  <p:cSld>
    <p:spTree>
      <p:nvGrpSpPr>
        <p:cNvPr id="117" name=""/>
        <p:cNvGrpSpPr/>
        <p:nvPr/>
      </p:nvGrpSpPr>
      <p:grpSpPr>
        <a:xfrm rot="0">
          <a:off x="0" y="0"/>
          <a:ext cx="0" cy="0"/>
          <a:chOff x="0" y="0"/>
          <a:chExt cx="0" cy="0"/>
        </a:xfrm>
      </p:grpSpPr>
      <p:pic>
        <p:nvPicPr>
          <p:cNvPr id="2097168" name=""/>
          <p:cNvPicPr>
            <a:picLocks/>
          </p:cNvPicPr>
          <p:nvPr/>
        </p:nvPicPr>
        <p:blipFill>
          <a:blip xmlns:r="http://schemas.openxmlformats.org/officeDocument/2006/relationships" r:embed="rId1"/>
          <a:srcRect l="0" t="0" r="0" b="0"/>
          <a:stretch>
            <a:fillRect/>
          </a:stretch>
        </p:blipFill>
        <p:spPr>
          <a:xfrm rot="0">
            <a:off x="609600" y="2779712"/>
            <a:ext cx="3741737" cy="3316287"/>
          </a:xfrm>
          <a:prstGeom prst="rect"/>
          <a:noFill/>
          <a:ln>
            <a:noFill/>
          </a:ln>
        </p:spPr>
      </p:pic>
      <p:sp>
        <p:nvSpPr>
          <p:cNvPr id="1048769" name=""/>
          <p:cNvSpPr txBox="1"/>
          <p:nvPr/>
        </p:nvSpPr>
        <p:spPr>
          <a:xfrm rot="0">
            <a:off x="685800" y="1295400"/>
            <a:ext cx="7924800" cy="9652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110000"/>
              </a:lnSpc>
              <a:spcAft>
                <a:spcPct val="50000"/>
              </a:spcAft>
              <a:buSzPct val="80000"/>
              <a:buFontTx/>
              <a:buNone/>
            </a:pPr>
            <a:r>
              <a:rPr altLang="en-US" sz="2600" lang="en-US">
                <a:solidFill>
                  <a:schemeClr val="dk2"/>
                </a:solidFill>
              </a:rPr>
              <a:t>At the end of the accounting period, the company makes the accounts ready for the next period.</a:t>
            </a:r>
          </a:p>
        </p:txBody>
      </p:sp>
      <p:sp>
        <p:nvSpPr>
          <p:cNvPr id="1048770"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Closing the Books</a:t>
            </a:r>
          </a:p>
        </p:txBody>
      </p:sp>
      <p:sp>
        <p:nvSpPr>
          <p:cNvPr id="1048771"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2  Explain the process of closing the books.</a:t>
            </a:r>
          </a:p>
        </p:txBody>
      </p:sp>
      <p:pic>
        <p:nvPicPr>
          <p:cNvPr id="2097169" name=""/>
          <p:cNvPicPr>
            <a:picLocks/>
          </p:cNvPicPr>
          <p:nvPr/>
        </p:nvPicPr>
        <p:blipFill>
          <a:blip xmlns:r="http://schemas.openxmlformats.org/officeDocument/2006/relationships" r:embed="rId2"/>
          <a:srcRect l="0" t="0" r="0" b="0"/>
          <a:stretch>
            <a:fillRect/>
          </a:stretch>
        </p:blipFill>
        <p:spPr>
          <a:xfrm rot="0">
            <a:off x="4648200" y="2765425"/>
            <a:ext cx="3733800" cy="3330575"/>
          </a:xfrm>
          <a:prstGeom prst="rect"/>
          <a:noFill/>
          <a:ln>
            <a:noFill/>
          </a:ln>
        </p:spPr>
      </p:pic>
      <p:sp>
        <p:nvSpPr>
          <p:cNvPr id="1048772" name=""/>
          <p:cNvSpPr txBox="1"/>
          <p:nvPr/>
        </p:nvSpPr>
        <p:spPr>
          <a:xfrm rot="0">
            <a:off x="7239000" y="2209800"/>
            <a:ext cx="1371600" cy="485775"/>
          </a:xfrm>
          <a:prstGeom prst="rect"/>
          <a:solidFill>
            <a:srgbClr val="FFFFCC"/>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r>
              <a:rPr altLang="en-US" sz="1200" lang="en-US"/>
              <a:t>Illustration 4-5</a:t>
            </a:r>
          </a:p>
          <a:p>
            <a:pPr algn="l" lvl="0"/>
            <a:endParaRPr altLang="en-US" sz="1200" lang="en-US"/>
          </a:p>
        </p:txBody>
      </p:sp>
      <p:sp>
        <p:nvSpPr>
          <p:cNvPr id="1048773" name=""/>
          <p:cNvSpPr txBox="1"/>
          <p:nvPr/>
        </p:nvSpPr>
        <p:spPr>
          <a:xfrm rot="0">
            <a:off x="762000" y="2971800"/>
            <a:ext cx="304800" cy="45720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endParaRPr altLang="en-US" lang="en-US"/>
          </a:p>
        </p:txBody>
      </p:sp>
    </p:spTree>
  </p:cSld>
  <p:clrMapOvr>
    <a:masterClrMapping/>
  </p:clrMapOvr>
  <p:transition spd="fast" advClick="1">
    <p:wipe dir="r"/>
  </p:transition>
</p:sld>
</file>

<file path=ppt/slides/slide22.xml><?xml version="1.0" encoding="utf-8"?>
<p:sld xmlns:a="http://schemas.openxmlformats.org/drawingml/2006/main" xmlns:r="http://schemas.openxmlformats.org/officeDocument/2006/relationships" xmlns:p="http://schemas.openxmlformats.org/presentationml/2006/main" showMasterSp="1">
  <p:cSld>
    <p:spTree>
      <p:nvGrpSpPr>
        <p:cNvPr id="120" name=""/>
        <p:cNvGrpSpPr/>
        <p:nvPr/>
      </p:nvGrpSpPr>
      <p:grpSpPr>
        <a:xfrm rot="0">
          <a:off x="0" y="0"/>
          <a:ext cx="0" cy="0"/>
          <a:chOff x="0" y="0"/>
          <a:chExt cx="0" cy="0"/>
        </a:xfrm>
      </p:grpSpPr>
      <p:sp>
        <p:nvSpPr>
          <p:cNvPr id="1048776" name=""/>
          <p:cNvSpPr txBox="1"/>
          <p:nvPr/>
        </p:nvSpPr>
        <p:spPr>
          <a:xfrm rot="0">
            <a:off x="685800" y="1447800"/>
            <a:ext cx="7848600" cy="297338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115000"/>
              </a:lnSpc>
              <a:spcAft>
                <a:spcPct val="50000"/>
              </a:spcAft>
              <a:buSzPct val="80000"/>
              <a:buFontTx/>
              <a:buNone/>
            </a:pPr>
            <a:r>
              <a:rPr altLang="en-US" b="1" sz="2600" lang="en-US">
                <a:solidFill>
                  <a:srgbClr val="800000"/>
                </a:solidFill>
                <a:effectLst>
                  <a:outerShdw algn="tl" blurRad="38100" dir="2700000" dist="38100">
                    <a:srgbClr val="C0C0C0"/>
                  </a:outerShdw>
                </a:effectLst>
              </a:rPr>
              <a:t>Closing entries</a:t>
            </a:r>
            <a:r>
              <a:rPr altLang="en-US" b="1" sz="2600" lang="en-US">
                <a:solidFill>
                  <a:srgbClr val="00FFFF"/>
                </a:solidFill>
              </a:rPr>
              <a:t> </a:t>
            </a:r>
            <a:r>
              <a:rPr altLang="en-US" sz="2600" lang="en-US">
                <a:solidFill>
                  <a:srgbClr val="000000"/>
                </a:solidFill>
              </a:rPr>
              <a:t>formally recognize, in the general ledger, the transfer of </a:t>
            </a:r>
          </a:p>
          <a:p>
            <a:pPr algn="l" indent="-457200" lvl="1" marL="1028700">
              <a:lnSpc>
                <a:spcPct val="115000"/>
              </a:lnSpc>
              <a:spcAft>
                <a:spcPct val="50000"/>
              </a:spcAft>
              <a:buSzPct val="80000"/>
              <a:buFontTx/>
              <a:buBlip>
                <a:blip xmlns:r="http://schemas.openxmlformats.org/officeDocument/2006/relationships" r:embed="rId1"/>
              </a:buBlip>
            </a:pPr>
            <a:r>
              <a:rPr altLang="en-US" sz="2600" lang="en-US">
                <a:solidFill>
                  <a:srgbClr val="000000"/>
                </a:solidFill>
              </a:rPr>
              <a:t>net income (or net loss) and </a:t>
            </a:r>
          </a:p>
          <a:p>
            <a:pPr algn="l" indent="-457200" lvl="1" marL="1028700">
              <a:lnSpc>
                <a:spcPct val="115000"/>
              </a:lnSpc>
              <a:spcAft>
                <a:spcPct val="50000"/>
              </a:spcAft>
              <a:buSzPct val="80000"/>
              <a:buFontTx/>
              <a:buBlip>
                <a:blip xmlns:r="http://schemas.openxmlformats.org/officeDocument/2006/relationships" r:embed="rId1"/>
              </a:buBlip>
            </a:pPr>
            <a:r>
              <a:rPr altLang="en-US" sz="2600" lang="en-US">
                <a:solidFill>
                  <a:srgbClr val="000000"/>
                </a:solidFill>
              </a:rPr>
              <a:t>owner’s drawing </a:t>
            </a:r>
          </a:p>
          <a:p>
            <a:pPr algn="l" indent="-457200" lvl="1" marL="1028700">
              <a:lnSpc>
                <a:spcPct val="115000"/>
              </a:lnSpc>
              <a:spcAft>
                <a:spcPct val="50000"/>
              </a:spcAft>
              <a:buSzPct val="80000"/>
              <a:buFontTx/>
              <a:buNone/>
            </a:pPr>
            <a:r>
              <a:rPr altLang="en-US" sz="2600" lang="en-US">
                <a:solidFill>
                  <a:srgbClr val="000000"/>
                </a:solidFill>
              </a:rPr>
              <a:t>to owner’s capital.</a:t>
            </a:r>
          </a:p>
        </p:txBody>
      </p:sp>
      <p:sp>
        <p:nvSpPr>
          <p:cNvPr id="1048777"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Closing the Books</a:t>
            </a:r>
          </a:p>
        </p:txBody>
      </p:sp>
      <p:sp>
        <p:nvSpPr>
          <p:cNvPr id="1048778"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2  Explain the process of closing the books.</a:t>
            </a:r>
          </a:p>
        </p:txBody>
      </p:sp>
      <p:sp>
        <p:nvSpPr>
          <p:cNvPr id="1048779" name=""/>
          <p:cNvSpPr txBox="1"/>
          <p:nvPr/>
        </p:nvSpPr>
        <p:spPr>
          <a:xfrm rot="0">
            <a:off x="685800" y="4556125"/>
            <a:ext cx="7848600" cy="10064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115000"/>
              </a:lnSpc>
              <a:spcAft>
                <a:spcPct val="50000"/>
              </a:spcAft>
              <a:buSzPct val="80000"/>
              <a:buFontTx/>
              <a:buNone/>
            </a:pPr>
            <a:r>
              <a:rPr altLang="en-US" sz="2600" lang="en-US">
                <a:solidFill>
                  <a:srgbClr val="000000"/>
                </a:solidFill>
              </a:rPr>
              <a:t>Closing entries are only at the end of the annual accounting period.</a:t>
            </a:r>
          </a:p>
        </p:txBody>
      </p:sp>
    </p:spTree>
  </p:cSld>
  <p:clrMapOvr>
    <a:masterClrMapping/>
  </p:clrMapOvr>
  <p:transition spd="fast" advClick="1">
    <p:wipe dir="r"/>
  </p:transition>
</p:sld>
</file>

<file path=ppt/slides/slide23.xml><?xml version="1.0" encoding="utf-8"?>
<p:sld xmlns:a="http://schemas.openxmlformats.org/drawingml/2006/main" xmlns:r="http://schemas.openxmlformats.org/officeDocument/2006/relationships" xmlns:p="http://schemas.openxmlformats.org/presentationml/2006/main" showMasterSp="1">
  <p:cSld>
    <p:spTree>
      <p:nvGrpSpPr>
        <p:cNvPr id="123" name=""/>
        <p:cNvGrpSpPr/>
        <p:nvPr/>
      </p:nvGrpSpPr>
      <p:grpSpPr>
        <a:xfrm rot="0">
          <a:off x="0" y="0"/>
          <a:ext cx="0" cy="0"/>
          <a:chOff x="0" y="0"/>
          <a:chExt cx="0" cy="0"/>
        </a:xfrm>
      </p:grpSpPr>
      <p:sp>
        <p:nvSpPr>
          <p:cNvPr id="1048782"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Closing the Books</a:t>
            </a:r>
          </a:p>
        </p:txBody>
      </p:sp>
      <p:sp>
        <p:nvSpPr>
          <p:cNvPr id="1048783"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2  Explain the process of closing the books.</a:t>
            </a:r>
          </a:p>
        </p:txBody>
      </p:sp>
      <p:pic>
        <p:nvPicPr>
          <p:cNvPr id="2097170" name=""/>
          <p:cNvPicPr>
            <a:picLocks/>
          </p:cNvPicPr>
          <p:nvPr/>
        </p:nvPicPr>
        <p:blipFill>
          <a:blip xmlns:r="http://schemas.openxmlformats.org/officeDocument/2006/relationships" r:embed="rId1"/>
          <a:srcRect l="0" t="0" r="0" b="0"/>
          <a:stretch>
            <a:fillRect/>
          </a:stretch>
        </p:blipFill>
        <p:spPr>
          <a:xfrm rot="0">
            <a:off x="2617787" y="1292225"/>
            <a:ext cx="6221412" cy="4956175"/>
          </a:xfrm>
          <a:prstGeom prst="rect"/>
          <a:noFill/>
          <a:ln>
            <a:noFill/>
          </a:ln>
        </p:spPr>
      </p:pic>
      <p:sp>
        <p:nvSpPr>
          <p:cNvPr id="1048784" name=""/>
          <p:cNvSpPr txBox="1"/>
          <p:nvPr/>
        </p:nvSpPr>
        <p:spPr>
          <a:xfrm rot="0">
            <a:off x="7391400" y="2895600"/>
            <a:ext cx="1371600" cy="303212"/>
          </a:xfrm>
          <a:prstGeom prst="rect"/>
          <a:solidFill>
            <a:srgbClr val="FFFFCC"/>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r>
              <a:rPr altLang="en-US" sz="1200" lang="en-US"/>
              <a:t>Illustration 4-6</a:t>
            </a:r>
          </a:p>
        </p:txBody>
      </p:sp>
      <p:sp>
        <p:nvSpPr>
          <p:cNvPr id="1048785" name=""/>
          <p:cNvSpPr txBox="1"/>
          <p:nvPr/>
        </p:nvSpPr>
        <p:spPr>
          <a:xfrm rot="0">
            <a:off x="7086600" y="3810000"/>
            <a:ext cx="1905000" cy="841375"/>
          </a:xfrm>
          <a:prstGeom prst="rect"/>
          <a:solidFill>
            <a:schemeClr val="lt1"/>
          </a:solidFill>
          <a:ln w="19050" cap="sq" cmpd="sng">
            <a:solidFill>
              <a:schemeClr val="dk1">
                <a:alpha val="100000"/>
              </a:scheme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sz="1200" lang="en-US"/>
              <a:t>Owner’s Capital is a permanent account; all other accounts are temporary accounts.</a:t>
            </a:r>
          </a:p>
        </p:txBody>
      </p:sp>
      <p:pic>
        <p:nvPicPr>
          <p:cNvPr id="2097171" name=""/>
          <p:cNvPicPr>
            <a:picLocks/>
          </p:cNvPicPr>
          <p:nvPr/>
        </p:nvPicPr>
        <p:blipFill>
          <a:blip xmlns:r="http://schemas.openxmlformats.org/officeDocument/2006/relationships" r:embed="rId2"/>
          <a:srcRect l="0" t="0" r="0" b="0"/>
          <a:stretch>
            <a:fillRect/>
          </a:stretch>
        </p:blipFill>
        <p:spPr>
          <a:xfrm rot="0">
            <a:off x="1527175" y="5237162"/>
            <a:ext cx="3273425" cy="1011237"/>
          </a:xfrm>
          <a:prstGeom prst="rect"/>
          <a:noFill/>
          <a:ln w="12700" cap="sq" cmpd="sng">
            <a:solidFill>
              <a:srgbClr val="000000">
                <a:alpha val="100000"/>
              </a:srgbClr>
            </a:solidFill>
            <a:prstDash val="solid"/>
            <a:round/>
          </a:ln>
        </p:spPr>
      </p:pic>
      <p:sp>
        <p:nvSpPr>
          <p:cNvPr id="1048786" name=""/>
          <p:cNvSpPr txBox="1"/>
          <p:nvPr/>
        </p:nvSpPr>
        <p:spPr>
          <a:xfrm rot="0">
            <a:off x="457200" y="2819400"/>
            <a:ext cx="3429000" cy="1874837"/>
          </a:xfrm>
          <a:prstGeom prst="rect"/>
          <a:noFill/>
          <a:ln w="28575" cap="sq" cmpd="sng">
            <a:solidFill>
              <a:schemeClr val="dk1">
                <a:alpha val="100000"/>
              </a:scheme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lnSpc>
                <a:spcPct val="115000"/>
              </a:lnSpc>
              <a:spcAft>
                <a:spcPct val="50000"/>
              </a:spcAft>
              <a:buSzPct val="80000"/>
              <a:buFontTx/>
              <a:buNone/>
            </a:pPr>
            <a:r>
              <a:rPr altLang="en-US" sz="2000" lang="en-US"/>
              <a:t>Owner’s Drawing is closed directly to Capital and </a:t>
            </a:r>
            <a:r>
              <a:rPr altLang="en-US" sz="2000" i="1" lang="en-US"/>
              <a:t>not </a:t>
            </a:r>
            <a:r>
              <a:rPr altLang="en-US" sz="2000" lang="en-US"/>
              <a:t>to Income Summary because Owner’s Drawing is not an expense.</a:t>
            </a:r>
          </a:p>
        </p:txBody>
      </p:sp>
      <p:sp>
        <p:nvSpPr>
          <p:cNvPr id="1048787" name=""/>
          <p:cNvSpPr txBox="1"/>
          <p:nvPr/>
        </p:nvSpPr>
        <p:spPr>
          <a:xfrm rot="0">
            <a:off x="457200" y="2393950"/>
            <a:ext cx="1143000" cy="425450"/>
          </a:xfrm>
          <a:prstGeom prst="rect"/>
          <a:solidFill>
            <a:srgbClr val="FFFF99"/>
          </a:solidFill>
          <a:ln w="28575" cap="sq" cmpd="sng">
            <a:solidFill>
              <a:schemeClr val="dk1">
                <a:alpha val="100000"/>
              </a:scheme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sz="2000" lang="en-US"/>
              <a:t>Note:</a:t>
            </a:r>
          </a:p>
        </p:txBody>
      </p:sp>
    </p:spTree>
  </p:cSld>
  <p:clrMapOvr>
    <a:masterClrMapping/>
  </p:clrMapOvr>
  <p:transition spd="fast" advClick="1">
    <p:wipe dir="r"/>
  </p:transition>
</p:sld>
</file>

<file path=ppt/slides/slide24.xml><?xml version="1.0" encoding="utf-8"?>
<p:sld xmlns:a="http://schemas.openxmlformats.org/drawingml/2006/main" xmlns:r="http://schemas.openxmlformats.org/officeDocument/2006/relationships" xmlns:p="http://schemas.openxmlformats.org/presentationml/2006/main" showMasterSp="1">
  <p:cSld>
    <p:spTree>
      <p:nvGrpSpPr>
        <p:cNvPr id="126" name=""/>
        <p:cNvGrpSpPr/>
        <p:nvPr/>
      </p:nvGrpSpPr>
      <p:grpSpPr>
        <a:xfrm rot="0">
          <a:off x="0" y="0"/>
          <a:ext cx="0" cy="0"/>
          <a:chOff x="0" y="0"/>
          <a:chExt cx="0" cy="0"/>
        </a:xfrm>
      </p:grpSpPr>
      <p:sp>
        <p:nvSpPr>
          <p:cNvPr id="1048790" name=""/>
          <p:cNvSpPr txBox="1"/>
          <p:nvPr/>
        </p:nvSpPr>
        <p:spPr>
          <a:xfrm rot="0">
            <a:off x="1524000" y="2193925"/>
            <a:ext cx="6400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tabLst>
                <a:tab algn="l" pos="692150"/>
                <a:tab algn="r" pos="4627562"/>
                <a:tab algn="r" pos="5999162"/>
              </a:tabLst>
            </a:pPr>
            <a:r>
              <a:rPr altLang="en-US" sz="2000" lang="en-US">
                <a:ea typeface="Arial" pitchFamily="0" charset="0"/>
              </a:rPr>
              <a:t>Service revenue	3,170</a:t>
            </a:r>
          </a:p>
        </p:txBody>
      </p:sp>
      <p:sp>
        <p:nvSpPr>
          <p:cNvPr id="1048791" name=""/>
          <p:cNvSpPr txBox="1"/>
          <p:nvPr/>
        </p:nvSpPr>
        <p:spPr>
          <a:xfrm rot="0">
            <a:off x="1524000" y="2498725"/>
            <a:ext cx="6400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tabLst>
                <a:tab algn="l" pos="692150"/>
                <a:tab algn="r" pos="4572000"/>
                <a:tab algn="r" pos="5999162"/>
              </a:tabLst>
            </a:pPr>
            <a:r>
              <a:rPr altLang="en-US" sz="2000" lang="en-US">
                <a:ea typeface="Arial" pitchFamily="0" charset="0"/>
              </a:rPr>
              <a:t>	Income summary		3,170</a:t>
            </a:r>
          </a:p>
        </p:txBody>
      </p:sp>
      <p:sp>
        <p:nvSpPr>
          <p:cNvPr id="1048792" name=""/>
          <p:cNvSpPr txBox="1"/>
          <p:nvPr/>
        </p:nvSpPr>
        <p:spPr>
          <a:xfrm rot="0">
            <a:off x="1524000" y="2971800"/>
            <a:ext cx="6400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tabLst>
                <a:tab algn="l" pos="692150"/>
                <a:tab algn="r" pos="4627562"/>
                <a:tab algn="r" pos="5999162"/>
              </a:tabLst>
            </a:pPr>
            <a:r>
              <a:rPr altLang="en-US" sz="2000" lang="en-US">
                <a:ea typeface="Arial" pitchFamily="0" charset="0"/>
              </a:rPr>
              <a:t>Income summary	2,410</a:t>
            </a:r>
          </a:p>
        </p:txBody>
      </p:sp>
      <p:sp>
        <p:nvSpPr>
          <p:cNvPr id="1048793" name=""/>
          <p:cNvSpPr txBox="1"/>
          <p:nvPr/>
        </p:nvSpPr>
        <p:spPr>
          <a:xfrm rot="0">
            <a:off x="1524000" y="3276600"/>
            <a:ext cx="6400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tabLst>
                <a:tab algn="l" pos="692150"/>
                <a:tab algn="r" pos="4572000"/>
                <a:tab algn="r" pos="5999162"/>
              </a:tabLst>
            </a:pPr>
            <a:r>
              <a:rPr altLang="en-US" sz="2000" lang="en-US">
                <a:ea typeface="Arial" pitchFamily="0" charset="0"/>
              </a:rPr>
              <a:t>	Salary expense		1,050</a:t>
            </a:r>
          </a:p>
        </p:txBody>
      </p:sp>
      <p:sp>
        <p:nvSpPr>
          <p:cNvPr id="1048794" name=""/>
          <p:cNvSpPr txBox="1"/>
          <p:nvPr/>
        </p:nvSpPr>
        <p:spPr>
          <a:xfrm rot="0">
            <a:off x="1524000" y="3581400"/>
            <a:ext cx="6400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tabLst>
                <a:tab algn="l" pos="692150"/>
                <a:tab algn="r" pos="4572000"/>
                <a:tab algn="r" pos="5999162"/>
              </a:tabLst>
            </a:pPr>
            <a:r>
              <a:rPr altLang="en-US" sz="2000" lang="en-US">
                <a:ea typeface="Arial" pitchFamily="0" charset="0"/>
              </a:rPr>
              <a:t>	Supplies expense		960</a:t>
            </a:r>
          </a:p>
        </p:txBody>
      </p:sp>
      <p:sp>
        <p:nvSpPr>
          <p:cNvPr id="1048795" name=""/>
          <p:cNvSpPr txBox="1"/>
          <p:nvPr/>
        </p:nvSpPr>
        <p:spPr>
          <a:xfrm rot="0">
            <a:off x="1524000" y="3886200"/>
            <a:ext cx="6400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tabLst>
                <a:tab algn="l" pos="692150"/>
                <a:tab algn="r" pos="4572000"/>
                <a:tab algn="r" pos="5999162"/>
              </a:tabLst>
            </a:pPr>
            <a:r>
              <a:rPr altLang="en-US" sz="2000" lang="en-US">
                <a:ea typeface="Arial" pitchFamily="0" charset="0"/>
              </a:rPr>
              <a:t>	Depreciation expense		200</a:t>
            </a:r>
          </a:p>
        </p:txBody>
      </p:sp>
      <p:sp>
        <p:nvSpPr>
          <p:cNvPr id="1048796" name=""/>
          <p:cNvSpPr txBox="1"/>
          <p:nvPr/>
        </p:nvSpPr>
        <p:spPr>
          <a:xfrm rot="0">
            <a:off x="1524000" y="4724400"/>
            <a:ext cx="6400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tabLst>
                <a:tab algn="l" pos="692150"/>
                <a:tab algn="r" pos="4627562"/>
                <a:tab algn="r" pos="5999162"/>
              </a:tabLst>
            </a:pPr>
            <a:r>
              <a:rPr altLang="en-US" sz="2000" lang="en-US">
                <a:ea typeface="Arial" pitchFamily="0" charset="0"/>
              </a:rPr>
              <a:t>Income summary	760</a:t>
            </a:r>
          </a:p>
        </p:txBody>
      </p:sp>
      <p:sp>
        <p:nvSpPr>
          <p:cNvPr id="1048797" name=""/>
          <p:cNvSpPr txBox="1"/>
          <p:nvPr/>
        </p:nvSpPr>
        <p:spPr>
          <a:xfrm rot="0">
            <a:off x="1524000" y="5045075"/>
            <a:ext cx="6400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tabLst>
                <a:tab algn="l" pos="692150"/>
                <a:tab algn="r" pos="4572000"/>
                <a:tab algn="r" pos="5999162"/>
              </a:tabLst>
            </a:pPr>
            <a:r>
              <a:rPr altLang="en-US" sz="2000" lang="en-US">
                <a:ea typeface="Arial" pitchFamily="0" charset="0"/>
              </a:rPr>
              <a:t>	I. Spy, Capital		760</a:t>
            </a:r>
          </a:p>
        </p:txBody>
      </p:sp>
      <p:sp>
        <p:nvSpPr>
          <p:cNvPr id="1048798" name=""/>
          <p:cNvSpPr txBox="1"/>
          <p:nvPr/>
        </p:nvSpPr>
        <p:spPr>
          <a:xfrm rot="0">
            <a:off x="1524000" y="5562600"/>
            <a:ext cx="6400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tabLst>
                <a:tab algn="l" pos="692150"/>
                <a:tab algn="r" pos="4627562"/>
                <a:tab algn="r" pos="5999162"/>
              </a:tabLst>
            </a:pPr>
            <a:r>
              <a:rPr altLang="en-US" sz="2000" lang="en-US">
                <a:ea typeface="Arial" pitchFamily="0" charset="0"/>
              </a:rPr>
              <a:t>I. Spy, Capital 	600</a:t>
            </a:r>
          </a:p>
        </p:txBody>
      </p:sp>
      <p:sp>
        <p:nvSpPr>
          <p:cNvPr id="1048799" name=""/>
          <p:cNvSpPr txBox="1"/>
          <p:nvPr/>
        </p:nvSpPr>
        <p:spPr>
          <a:xfrm rot="0">
            <a:off x="1524000" y="5883275"/>
            <a:ext cx="6400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tabLst>
                <a:tab algn="l" pos="692150"/>
                <a:tab algn="r" pos="4572000"/>
                <a:tab algn="r" pos="5999162"/>
              </a:tabLst>
            </a:pPr>
            <a:r>
              <a:rPr altLang="en-US" sz="2000" lang="en-US">
                <a:ea typeface="Arial" pitchFamily="0" charset="0"/>
              </a:rPr>
              <a:t>	I. Spy, Drawing		600</a:t>
            </a:r>
          </a:p>
        </p:txBody>
      </p:sp>
      <p:sp>
        <p:nvSpPr>
          <p:cNvPr id="1048800" name=""/>
          <p:cNvSpPr txBox="1"/>
          <p:nvPr/>
        </p:nvSpPr>
        <p:spPr>
          <a:xfrm rot="0">
            <a:off x="1524000" y="4191000"/>
            <a:ext cx="6400800" cy="39687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tabLst>
                <a:tab algn="l" pos="692150"/>
                <a:tab algn="r" pos="4572000"/>
                <a:tab algn="r" pos="5999162"/>
              </a:tabLst>
            </a:pPr>
            <a:r>
              <a:rPr altLang="en-US" sz="2000" lang="en-US">
                <a:ea typeface="Arial" pitchFamily="0" charset="0"/>
              </a:rPr>
              <a:t>	Miscellaneous expense		200</a:t>
            </a:r>
          </a:p>
        </p:txBody>
      </p:sp>
      <p:sp>
        <p:nvSpPr>
          <p:cNvPr id="1048801" name=""/>
          <p:cNvSpPr txBox="1"/>
          <p:nvPr/>
        </p:nvSpPr>
        <p:spPr>
          <a:xfrm rot="0">
            <a:off x="609600" y="1219200"/>
            <a:ext cx="7848600" cy="8223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457200" lvl="0" marL="457200">
              <a:spcBef>
                <a:spcPct val="50000"/>
              </a:spcBef>
            </a:pPr>
            <a:r>
              <a:rPr altLang="en-US" b="1" lang="en-US">
                <a:ea typeface="Arial" pitchFamily="0" charset="0"/>
              </a:rPr>
              <a:t>d.</a:t>
            </a:r>
            <a:r>
              <a:rPr altLang="en-US" lang="en-US">
                <a:solidFill>
                  <a:srgbClr val="000000"/>
                </a:solidFill>
                <a:ea typeface="Arial" pitchFamily="0" charset="0"/>
              </a:rPr>
              <a:t> 	</a:t>
            </a:r>
            <a:r>
              <a:rPr altLang="en-US" lang="en-US">
                <a:solidFill>
                  <a:schemeClr val="dk2"/>
                </a:solidFill>
              </a:rPr>
              <a:t>Journalize the closing entries from the financial statement columns of the worksheet.</a:t>
            </a:r>
          </a:p>
        </p:txBody>
      </p:sp>
      <p:sp>
        <p:nvSpPr>
          <p:cNvPr id="1048802"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Closing the Books</a:t>
            </a:r>
          </a:p>
        </p:txBody>
      </p:sp>
      <p:sp>
        <p:nvSpPr>
          <p:cNvPr id="1048803"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2  Explain the process of closing the books.</a:t>
            </a:r>
          </a:p>
        </p:txBody>
      </p:sp>
      <p:sp>
        <p:nvSpPr>
          <p:cNvPr id="1048804" name=""/>
          <p:cNvSpPr txBox="1"/>
          <p:nvPr/>
        </p:nvSpPr>
        <p:spPr>
          <a:xfrm rot="0">
            <a:off x="228600" y="3124200"/>
            <a:ext cx="1143000" cy="1644650"/>
          </a:xfrm>
          <a:prstGeom prst="rect"/>
          <a:solidFill>
            <a:srgbClr val="FFFF99"/>
          </a:solidFill>
          <a:ln w="28575" cap="sq" cmpd="sng">
            <a:solidFill>
              <a:schemeClr val="dk1">
                <a:alpha val="100000"/>
              </a:scheme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sz="2000" lang="en-US"/>
              <a:t>Closing Entries need  to be Posted</a:t>
            </a:r>
          </a:p>
        </p:txBody>
      </p:sp>
    </p:spTree>
  </p:cSld>
  <p:clrMapOvr>
    <a:masterClrMapping/>
  </p:clrMapOvr>
  <p:transition spd="fast" advClick="1">
    <p:wipe dir="r"/>
  </p:transition>
</p:sld>
</file>

<file path=ppt/slides/slide25.xml><?xml version="1.0" encoding="utf-8"?>
<p:sld xmlns:a="http://schemas.openxmlformats.org/drawingml/2006/main" xmlns:r="http://schemas.openxmlformats.org/officeDocument/2006/relationships" xmlns:p="http://schemas.openxmlformats.org/presentationml/2006/main" showMasterSp="1">
  <p:cSld>
    <p:spTree>
      <p:nvGrpSpPr>
        <p:cNvPr id="129" name=""/>
        <p:cNvGrpSpPr/>
        <p:nvPr/>
      </p:nvGrpSpPr>
      <p:grpSpPr>
        <a:xfrm rot="0">
          <a:off x="0" y="0"/>
          <a:ext cx="0" cy="0"/>
          <a:chOff x="0" y="0"/>
          <a:chExt cx="0" cy="0"/>
        </a:xfrm>
      </p:grpSpPr>
      <p:sp>
        <p:nvSpPr>
          <p:cNvPr id="1048807" name=""/>
          <p:cNvSpPr txBox="1"/>
          <p:nvPr/>
        </p:nvSpPr>
        <p:spPr>
          <a:xfrm rot="0">
            <a:off x="685800" y="1447800"/>
            <a:ext cx="7848600" cy="15367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115000"/>
              </a:lnSpc>
              <a:spcAft>
                <a:spcPct val="50000"/>
              </a:spcAft>
              <a:buSzPct val="80000"/>
              <a:buFontTx/>
              <a:buNone/>
            </a:pPr>
            <a:r>
              <a:rPr altLang="en-US" b="1" lang="en-US">
                <a:solidFill>
                  <a:srgbClr val="800000"/>
                </a:solidFill>
              </a:rPr>
              <a:t>Purpose</a:t>
            </a:r>
            <a:r>
              <a:rPr altLang="en-US" lang="en-US">
                <a:solidFill>
                  <a:srgbClr val="000000"/>
                </a:solidFill>
              </a:rPr>
              <a:t> is to prove the equality of the permanent account balances after journalizing and posting of closing entries. </a:t>
            </a:r>
          </a:p>
        </p:txBody>
      </p:sp>
      <p:sp>
        <p:nvSpPr>
          <p:cNvPr id="1048808"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Preparing a Post-Closing Trial Balance</a:t>
            </a:r>
          </a:p>
        </p:txBody>
      </p:sp>
      <p:sp>
        <p:nvSpPr>
          <p:cNvPr id="1048809"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3  Describe the content and purpose of a post-closing trial balance.</a:t>
            </a:r>
          </a:p>
        </p:txBody>
      </p:sp>
      <p:pic>
        <p:nvPicPr>
          <p:cNvPr id="2097172" name=""/>
          <p:cNvPicPr>
            <a:picLocks/>
          </p:cNvPicPr>
          <p:nvPr/>
        </p:nvPicPr>
        <p:blipFill>
          <a:blip xmlns:r="http://schemas.openxmlformats.org/officeDocument/2006/relationships" r:embed="rId1"/>
          <a:srcRect l="0" t="0" r="0" b="0"/>
          <a:stretch>
            <a:fillRect/>
          </a:stretch>
        </p:blipFill>
        <p:spPr>
          <a:xfrm rot="0">
            <a:off x="4392612" y="2667000"/>
            <a:ext cx="4446587" cy="3408362"/>
          </a:xfrm>
          <a:prstGeom prst="rect"/>
          <a:noFill/>
          <a:ln w="28575" cap="sq" cmpd="sng">
            <a:solidFill>
              <a:schemeClr val="dk1">
                <a:alpha val="100000"/>
              </a:schemeClr>
            </a:solidFill>
            <a:prstDash val="solid"/>
            <a:round/>
          </a:ln>
        </p:spPr>
      </p:pic>
      <p:sp>
        <p:nvSpPr>
          <p:cNvPr id="1048810" name=""/>
          <p:cNvSpPr txBox="1"/>
          <p:nvPr/>
        </p:nvSpPr>
        <p:spPr>
          <a:xfrm rot="0">
            <a:off x="685800" y="2916237"/>
            <a:ext cx="3657600" cy="9334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115000"/>
              </a:lnSpc>
              <a:spcAft>
                <a:spcPct val="50000"/>
              </a:spcAft>
              <a:buSzPct val="80000"/>
              <a:buFontTx/>
              <a:buNone/>
            </a:pPr>
            <a:r>
              <a:rPr altLang="en-US" lang="en-US">
                <a:solidFill>
                  <a:srgbClr val="000000"/>
                </a:solidFill>
              </a:rPr>
              <a:t>All temporary accounts will have zero balances.</a:t>
            </a:r>
          </a:p>
        </p:txBody>
      </p:sp>
    </p:spTree>
  </p:cSld>
  <p:clrMapOvr>
    <a:masterClrMapping/>
  </p:clrMapOvr>
  <p:transition spd="fast" advClick="1">
    <p:wipe dir="r"/>
  </p:transition>
</p:sld>
</file>

<file path=ppt/slides/slide26.xml><?xml version="1.0" encoding="utf-8"?>
<p:sld xmlns:a="http://schemas.openxmlformats.org/drawingml/2006/main" xmlns:r="http://schemas.openxmlformats.org/officeDocument/2006/relationships" xmlns:p="http://schemas.openxmlformats.org/presentationml/2006/main" showMasterSp="1">
  <p:cSld>
    <p:spTree>
      <p:nvGrpSpPr>
        <p:cNvPr id="132" name=""/>
        <p:cNvGrpSpPr/>
        <p:nvPr/>
      </p:nvGrpSpPr>
      <p:grpSpPr>
        <a:xfrm rot="0">
          <a:off x="0" y="0"/>
          <a:ext cx="0" cy="0"/>
          <a:chOff x="0" y="0"/>
          <a:chExt cx="0" cy="0"/>
        </a:xfrm>
      </p:grpSpPr>
      <p:sp>
        <p:nvSpPr>
          <p:cNvPr id="1048813"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indent="0" lvl="0" marL="109537"/>
            <a:r>
              <a:rPr altLang="en-US" lang="en-US">
                <a:solidFill>
                  <a:schemeClr val="lt1"/>
                </a:solidFill>
                <a:effectLst>
                  <a:outerShdw algn="tl" blurRad="38100" dir="2700000" dist="38100">
                    <a:srgbClr val="C0C0C0"/>
                  </a:outerShdw>
                </a:effectLst>
              </a:rPr>
              <a:t>Summary of the Accounting Cycle</a:t>
            </a:r>
          </a:p>
        </p:txBody>
      </p:sp>
      <p:sp>
        <p:nvSpPr>
          <p:cNvPr id="1048814" name=""/>
          <p:cNvSpPr/>
          <p:nvPr/>
        </p:nvSpPr>
        <p:spPr>
          <a:xfrm rot="0">
            <a:off x="609600" y="1219200"/>
            <a:ext cx="8077200" cy="5029200"/>
          </a:xfrm>
          <a:prstGeom prst="rect"/>
          <a:solidFill>
            <a:srgbClr val="99CCFF"/>
          </a:solidFill>
          <a:ln w="12700" cap="sq" cmpd="sng">
            <a:solidFill>
              <a:schemeClr val="dk1">
                <a:alpha val="100000"/>
              </a:scheme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815" name=""/>
          <p:cNvSpPr/>
          <p:nvPr/>
        </p:nvSpPr>
        <p:spPr>
          <a:xfrm rot="0" flipV="1">
            <a:off x="6781800" y="5181600"/>
            <a:ext cx="0" cy="533400"/>
          </a:xfrm>
          <a:prstGeom prst="line"/>
          <a:noFill/>
          <a:ln w="38100" cap="sq" cmpd="sng">
            <a:solidFill>
              <a:srgbClr val="800000">
                <a:alpha val="100000"/>
              </a:srgbClr>
            </a:solidFill>
            <a:prstDash val="solid"/>
            <a:round/>
          </a:ln>
        </p:spPr>
      </p:sp>
      <p:sp>
        <p:nvSpPr>
          <p:cNvPr id="1048816" name=""/>
          <p:cNvSpPr/>
          <p:nvPr/>
        </p:nvSpPr>
        <p:spPr>
          <a:xfrm rot="5400000" flipV="1">
            <a:off x="2743200" y="1371600"/>
            <a:ext cx="0" cy="609600"/>
          </a:xfrm>
          <a:prstGeom prst="line"/>
          <a:noFill/>
          <a:ln w="38100" cap="sq" cmpd="sng">
            <a:solidFill>
              <a:srgbClr val="800000">
                <a:alpha val="100000"/>
              </a:srgbClr>
            </a:solidFill>
            <a:prstDash val="solid"/>
            <a:round/>
            <a:tailEnd type="triangle" w="sm" len="sm"/>
          </a:ln>
        </p:spPr>
      </p:sp>
      <p:sp>
        <p:nvSpPr>
          <p:cNvPr id="1048817" name=""/>
          <p:cNvSpPr/>
          <p:nvPr/>
        </p:nvSpPr>
        <p:spPr>
          <a:xfrm rot="0">
            <a:off x="6172200" y="1676400"/>
            <a:ext cx="609600" cy="0"/>
          </a:xfrm>
          <a:prstGeom prst="line"/>
          <a:noFill/>
          <a:ln w="38100" cap="sq" cmpd="sng">
            <a:solidFill>
              <a:srgbClr val="800000">
                <a:alpha val="100000"/>
              </a:srgbClr>
            </a:solidFill>
            <a:prstDash val="solid"/>
            <a:round/>
          </a:ln>
        </p:spPr>
      </p:sp>
      <p:sp>
        <p:nvSpPr>
          <p:cNvPr id="1048818" name=""/>
          <p:cNvSpPr/>
          <p:nvPr/>
        </p:nvSpPr>
        <p:spPr>
          <a:xfrm rot="0">
            <a:off x="2819400" y="1447800"/>
            <a:ext cx="3552825" cy="457200"/>
          </a:xfrm>
          <a:prstGeom prst="rect"/>
          <a:solidFill>
            <a:srgbClr val="FFFFCC"/>
          </a:solidFill>
          <a:ln w="12700" cap="sq" cmpd="sng">
            <a:solidFill>
              <a:schemeClr val="dk1">
                <a:alpha val="100000"/>
              </a:schemeClr>
            </a:solidFill>
            <a:prstDash val="solid"/>
            <a:round/>
          </a:ln>
          <a:effectLst>
            <a:outerShdw algn="ctr" dir="2699999" dist="35921" kx="0" sx="100000" sy="100000">
              <a:schemeClr val="dk2">
                <a:alpha val="100000"/>
              </a:schemeClr>
            </a:outerShdw>
          </a:effectLst>
        </p:spPr>
        <p:txBody>
          <a:bodyPr anchor="ct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290512" lvl="0" marL="346075"/>
            <a:r>
              <a:rPr altLang="en-US" b="1" sz="1600" lang="en-US"/>
              <a:t>1. Analyze business transactions</a:t>
            </a:r>
          </a:p>
        </p:txBody>
      </p:sp>
      <p:sp>
        <p:nvSpPr>
          <p:cNvPr id="1048819" name=""/>
          <p:cNvSpPr/>
          <p:nvPr/>
        </p:nvSpPr>
        <p:spPr>
          <a:xfrm rot="0">
            <a:off x="6781800" y="1676400"/>
            <a:ext cx="0" cy="533400"/>
          </a:xfrm>
          <a:prstGeom prst="line"/>
          <a:noFill/>
          <a:ln w="38100" cap="sq" cmpd="sng">
            <a:solidFill>
              <a:srgbClr val="800000">
                <a:alpha val="100000"/>
              </a:srgbClr>
            </a:solidFill>
            <a:prstDash val="solid"/>
            <a:round/>
            <a:tailEnd type="triangle" w="sm" len="sm"/>
          </a:ln>
        </p:spPr>
      </p:sp>
      <p:sp>
        <p:nvSpPr>
          <p:cNvPr id="1048820" name=""/>
          <p:cNvSpPr/>
          <p:nvPr/>
        </p:nvSpPr>
        <p:spPr>
          <a:xfrm rot="0">
            <a:off x="6781800" y="2667000"/>
            <a:ext cx="0" cy="381000"/>
          </a:xfrm>
          <a:prstGeom prst="line"/>
          <a:noFill/>
          <a:ln w="38100" cap="sq" cmpd="sng">
            <a:solidFill>
              <a:srgbClr val="800000">
                <a:alpha val="100000"/>
              </a:srgbClr>
            </a:solidFill>
            <a:prstDash val="solid"/>
            <a:round/>
            <a:tailEnd type="triangle" w="sm" len="sm"/>
          </a:ln>
        </p:spPr>
      </p:sp>
      <p:sp>
        <p:nvSpPr>
          <p:cNvPr id="1048821" name=""/>
          <p:cNvSpPr/>
          <p:nvPr/>
        </p:nvSpPr>
        <p:spPr>
          <a:xfrm rot="0">
            <a:off x="5257800" y="2209800"/>
            <a:ext cx="3124200" cy="609600"/>
          </a:xfrm>
          <a:prstGeom prst="rect"/>
          <a:solidFill>
            <a:srgbClr val="FFFFCC"/>
          </a:solidFill>
          <a:ln w="12700" cap="sq" cmpd="sng">
            <a:solidFill>
              <a:schemeClr val="dk1">
                <a:alpha val="100000"/>
              </a:schemeClr>
            </a:solidFill>
            <a:prstDash val="solid"/>
            <a:round/>
          </a:ln>
          <a:effectLst>
            <a:outerShdw algn="ctr" dir="2699999" dist="35921" kx="0" sx="100000" sy="100000">
              <a:schemeClr val="dk2">
                <a:alpha val="100000"/>
              </a:schemeClr>
            </a:outerShdw>
          </a:effectLst>
        </p:spPr>
        <p:txBody>
          <a:bodyPr anchor="ct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290512" lvl="0" marL="346075"/>
            <a:r>
              <a:rPr altLang="en-US" b="1" sz="1600" lang="en-US"/>
              <a:t>2. Journalize the transactions </a:t>
            </a:r>
          </a:p>
        </p:txBody>
      </p:sp>
      <p:sp>
        <p:nvSpPr>
          <p:cNvPr id="1048822" name=""/>
          <p:cNvSpPr/>
          <p:nvPr/>
        </p:nvSpPr>
        <p:spPr>
          <a:xfrm rot="0">
            <a:off x="6781800" y="3521075"/>
            <a:ext cx="6350" cy="344487"/>
          </a:xfrm>
          <a:custGeom>
            <a:avLst/>
            <a:gdLst>
              <a:gd name="l" fmla="*/ 0 w 4"/>
              <a:gd name="t" fmla="*/ 0 h 217"/>
              <a:gd name="r" fmla="*/ 4 w 4"/>
              <a:gd name="b" fmla="*/ 217 h 217"/>
            </a:gdLst>
            <a:ahLst/>
            <a:rect l="l" t="t" r="r" b="b"/>
            <a:pathLst>
              <a:path w="4" h="217">
                <a:moveTo>
                  <a:pt x="0" y="0"/>
                </a:moveTo>
                <a:lnTo>
                  <a:pt x="4" y="217"/>
                </a:lnTo>
              </a:path>
            </a:pathLst>
          </a:custGeom>
          <a:noFill/>
          <a:ln w="38100" cap="sq" cmpd="sng">
            <a:solidFill>
              <a:srgbClr val="800000">
                <a:alpha val="100000"/>
              </a:srgbClr>
            </a:solidFill>
            <a:prstDash val="solid"/>
            <a:round/>
            <a:tailEnd type="triangle" w="sm" len="sm"/>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823" name=""/>
          <p:cNvSpPr/>
          <p:nvPr/>
        </p:nvSpPr>
        <p:spPr>
          <a:xfrm rot="0">
            <a:off x="6781800" y="4359275"/>
            <a:ext cx="1587" cy="365125"/>
          </a:xfrm>
          <a:custGeom>
            <a:avLst/>
            <a:gdLst>
              <a:gd name="l" fmla="*/ 0 w 1"/>
              <a:gd name="t" fmla="*/ 0 h 230"/>
              <a:gd name="r" fmla="*/ 1 w 1"/>
              <a:gd name="b" fmla="*/ 230 h 230"/>
            </a:gdLst>
            <a:ahLst/>
            <a:rect l="l" t="t" r="r" b="b"/>
            <a:pathLst>
              <a:path w="1" h="230">
                <a:moveTo>
                  <a:pt x="0" y="0"/>
                </a:moveTo>
                <a:lnTo>
                  <a:pt x="1" y="230"/>
                </a:lnTo>
              </a:path>
            </a:pathLst>
          </a:custGeom>
          <a:noFill/>
          <a:ln w="38100" cap="sq" cmpd="sng">
            <a:solidFill>
              <a:srgbClr val="800000">
                <a:alpha val="100000"/>
              </a:srgbClr>
            </a:solidFill>
            <a:prstDash val="solid"/>
            <a:round/>
            <a:tailEnd type="triangle" w="sm" len="sm"/>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824" name=""/>
          <p:cNvSpPr/>
          <p:nvPr/>
        </p:nvSpPr>
        <p:spPr>
          <a:xfrm rot="10800000">
            <a:off x="2436812" y="4511675"/>
            <a:ext cx="1587" cy="365125"/>
          </a:xfrm>
          <a:custGeom>
            <a:avLst/>
            <a:gdLst>
              <a:gd name="l" fmla="*/ 0 w 1"/>
              <a:gd name="t" fmla="*/ 0 h 230"/>
              <a:gd name="r" fmla="*/ 1 w 1"/>
              <a:gd name="b" fmla="*/ 230 h 230"/>
            </a:gdLst>
            <a:ahLst/>
            <a:rect l="l" t="t" r="r" b="b"/>
            <a:pathLst>
              <a:path w="1" h="230">
                <a:moveTo>
                  <a:pt x="0" y="0"/>
                </a:moveTo>
                <a:lnTo>
                  <a:pt x="1" y="230"/>
                </a:lnTo>
              </a:path>
            </a:pathLst>
          </a:custGeom>
          <a:noFill/>
          <a:ln w="38100" cap="sq" cmpd="sng">
            <a:solidFill>
              <a:srgbClr val="800000">
                <a:alpha val="100000"/>
              </a:srgbClr>
            </a:solidFill>
            <a:prstDash val="solid"/>
            <a:round/>
            <a:tailEnd type="triangle" w="sm" len="sm"/>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825" name=""/>
          <p:cNvSpPr/>
          <p:nvPr/>
        </p:nvSpPr>
        <p:spPr>
          <a:xfrm rot="10800000">
            <a:off x="2436812" y="3673475"/>
            <a:ext cx="1587" cy="365125"/>
          </a:xfrm>
          <a:custGeom>
            <a:avLst/>
            <a:gdLst>
              <a:gd name="l" fmla="*/ 0 w 1"/>
              <a:gd name="t" fmla="*/ 0 h 230"/>
              <a:gd name="r" fmla="*/ 1 w 1"/>
              <a:gd name="b" fmla="*/ 230 h 230"/>
            </a:gdLst>
            <a:ahLst/>
            <a:rect l="l" t="t" r="r" b="b"/>
            <a:pathLst>
              <a:path w="1" h="230">
                <a:moveTo>
                  <a:pt x="0" y="0"/>
                </a:moveTo>
                <a:lnTo>
                  <a:pt x="1" y="230"/>
                </a:lnTo>
              </a:path>
            </a:pathLst>
          </a:custGeom>
          <a:noFill/>
          <a:ln w="38100" cap="sq" cmpd="sng">
            <a:solidFill>
              <a:srgbClr val="800000">
                <a:alpha val="100000"/>
              </a:srgbClr>
            </a:solidFill>
            <a:prstDash val="solid"/>
            <a:round/>
            <a:tailEnd type="triangle" w="sm" len="sm"/>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826" name=""/>
          <p:cNvSpPr/>
          <p:nvPr/>
        </p:nvSpPr>
        <p:spPr>
          <a:xfrm rot="10800000">
            <a:off x="2436812" y="2835275"/>
            <a:ext cx="1587" cy="365125"/>
          </a:xfrm>
          <a:custGeom>
            <a:avLst/>
            <a:gdLst>
              <a:gd name="l" fmla="*/ 0 w 1"/>
              <a:gd name="t" fmla="*/ 0 h 230"/>
              <a:gd name="r" fmla="*/ 1 w 1"/>
              <a:gd name="b" fmla="*/ 230 h 230"/>
            </a:gdLst>
            <a:ahLst/>
            <a:rect l="l" t="t" r="r" b="b"/>
            <a:pathLst>
              <a:path w="1" h="230">
                <a:moveTo>
                  <a:pt x="0" y="0"/>
                </a:moveTo>
                <a:lnTo>
                  <a:pt x="1" y="230"/>
                </a:lnTo>
              </a:path>
            </a:pathLst>
          </a:custGeom>
          <a:noFill/>
          <a:ln w="38100" cap="sq" cmpd="sng">
            <a:solidFill>
              <a:srgbClr val="800000">
                <a:alpha val="100000"/>
              </a:srgbClr>
            </a:solidFill>
            <a:prstDash val="solid"/>
            <a:round/>
            <a:tailEnd type="triangle" w="sm" len="sm"/>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827" name=""/>
          <p:cNvSpPr/>
          <p:nvPr/>
        </p:nvSpPr>
        <p:spPr>
          <a:xfrm rot="16200000">
            <a:off x="2171700" y="1943100"/>
            <a:ext cx="533400" cy="0"/>
          </a:xfrm>
          <a:prstGeom prst="line"/>
          <a:noFill/>
          <a:ln w="38100" cap="sq" cmpd="sng">
            <a:solidFill>
              <a:srgbClr val="800000">
                <a:alpha val="100000"/>
              </a:srgbClr>
            </a:solidFill>
            <a:prstDash val="solid"/>
            <a:round/>
          </a:ln>
        </p:spPr>
      </p:sp>
      <p:sp>
        <p:nvSpPr>
          <p:cNvPr id="1048828" name=""/>
          <p:cNvSpPr/>
          <p:nvPr/>
        </p:nvSpPr>
        <p:spPr>
          <a:xfrm rot="0">
            <a:off x="947737" y="4724400"/>
            <a:ext cx="3128962" cy="609600"/>
          </a:xfrm>
          <a:prstGeom prst="rect"/>
          <a:solidFill>
            <a:srgbClr val="FFFFCC"/>
          </a:solidFill>
          <a:ln w="12700" cap="sq" cmpd="sng">
            <a:solidFill>
              <a:schemeClr val="dk1">
                <a:alpha val="100000"/>
              </a:schemeClr>
            </a:solidFill>
            <a:prstDash val="solid"/>
            <a:round/>
          </a:ln>
          <a:effectLst>
            <a:outerShdw algn="ctr" dir="2699999" dist="35921" kx="0" sx="100000" sy="100000">
              <a:schemeClr val="dk2">
                <a:alpha val="100000"/>
              </a:schemeClr>
            </a:outerShdw>
          </a:effectLst>
        </p:spPr>
        <p:txBody>
          <a:bodyPr anchor="ct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290512" lvl="0" marL="346075"/>
            <a:r>
              <a:rPr altLang="en-US" b="1" sz="1600" lang="en-US"/>
              <a:t>6. Prepare an adjusted trial balance</a:t>
            </a:r>
          </a:p>
        </p:txBody>
      </p:sp>
      <p:sp>
        <p:nvSpPr>
          <p:cNvPr id="1048829" name=""/>
          <p:cNvSpPr/>
          <p:nvPr/>
        </p:nvSpPr>
        <p:spPr>
          <a:xfrm rot="0">
            <a:off x="947737" y="3886200"/>
            <a:ext cx="3128962" cy="609600"/>
          </a:xfrm>
          <a:prstGeom prst="rect"/>
          <a:solidFill>
            <a:srgbClr val="FFFFCC"/>
          </a:solidFill>
          <a:ln w="12700" cap="sq" cmpd="sng">
            <a:solidFill>
              <a:schemeClr val="dk1">
                <a:alpha val="100000"/>
              </a:schemeClr>
            </a:solidFill>
            <a:prstDash val="solid"/>
            <a:round/>
          </a:ln>
          <a:effectLst>
            <a:outerShdw algn="ctr" dir="2699999" dist="35921" kx="0" sx="100000" sy="100000">
              <a:schemeClr val="dk2">
                <a:alpha val="100000"/>
              </a:schemeClr>
            </a:outerShdw>
          </a:effectLst>
        </p:spPr>
        <p:txBody>
          <a:bodyPr anchor="ct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290512" lvl="0" marL="346075"/>
            <a:r>
              <a:rPr altLang="en-US" b="1" sz="1600" lang="en-US"/>
              <a:t>7. Prepare financial statements</a:t>
            </a:r>
          </a:p>
        </p:txBody>
      </p:sp>
      <p:sp>
        <p:nvSpPr>
          <p:cNvPr id="1048830" name=""/>
          <p:cNvSpPr/>
          <p:nvPr/>
        </p:nvSpPr>
        <p:spPr>
          <a:xfrm rot="0">
            <a:off x="947737" y="3048000"/>
            <a:ext cx="3128962" cy="609600"/>
          </a:xfrm>
          <a:prstGeom prst="rect"/>
          <a:solidFill>
            <a:srgbClr val="FFFFCC"/>
          </a:solidFill>
          <a:ln w="12700" cap="sq" cmpd="sng">
            <a:solidFill>
              <a:schemeClr val="dk1">
                <a:alpha val="100000"/>
              </a:schemeClr>
            </a:solidFill>
            <a:prstDash val="solid"/>
            <a:round/>
          </a:ln>
          <a:effectLst>
            <a:outerShdw algn="ctr" dir="2699999" dist="35921" kx="0" sx="100000" sy="100000">
              <a:schemeClr val="dk2">
                <a:alpha val="100000"/>
              </a:schemeClr>
            </a:outerShdw>
          </a:effectLst>
        </p:spPr>
        <p:txBody>
          <a:bodyPr anchor="ct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290512" lvl="0" marL="346075"/>
            <a:r>
              <a:rPr altLang="en-US" b="1" sz="1600" lang="en-US"/>
              <a:t>8. Journalize and post closing entries</a:t>
            </a:r>
          </a:p>
        </p:txBody>
      </p:sp>
      <p:sp>
        <p:nvSpPr>
          <p:cNvPr id="1048831" name=""/>
          <p:cNvSpPr/>
          <p:nvPr/>
        </p:nvSpPr>
        <p:spPr>
          <a:xfrm rot="0">
            <a:off x="947737" y="2209800"/>
            <a:ext cx="3128962" cy="609600"/>
          </a:xfrm>
          <a:prstGeom prst="rect"/>
          <a:solidFill>
            <a:srgbClr val="FFFFCC"/>
          </a:solidFill>
          <a:ln w="12700" cap="sq" cmpd="sng">
            <a:solidFill>
              <a:schemeClr val="dk1">
                <a:alpha val="100000"/>
              </a:schemeClr>
            </a:solidFill>
            <a:prstDash val="solid"/>
            <a:round/>
          </a:ln>
          <a:effectLst>
            <a:outerShdw algn="ctr" dir="2699999" dist="35921" kx="0" sx="100000" sy="100000">
              <a:schemeClr val="dk2">
                <a:alpha val="100000"/>
              </a:schemeClr>
            </a:outerShdw>
          </a:effectLst>
        </p:spPr>
        <p:txBody>
          <a:bodyPr anchor="ct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290512" lvl="0" marL="346075"/>
            <a:r>
              <a:rPr altLang="en-US" b="1" sz="1600" lang="en-US"/>
              <a:t>9. Prepare a post-closing trial balance</a:t>
            </a:r>
          </a:p>
        </p:txBody>
      </p:sp>
      <p:sp>
        <p:nvSpPr>
          <p:cNvPr id="1048832" name=""/>
          <p:cNvSpPr/>
          <p:nvPr/>
        </p:nvSpPr>
        <p:spPr>
          <a:xfrm rot="0">
            <a:off x="5257800" y="3886200"/>
            <a:ext cx="3086100" cy="609600"/>
          </a:xfrm>
          <a:prstGeom prst="rect"/>
          <a:solidFill>
            <a:srgbClr val="FFFFCC"/>
          </a:solidFill>
          <a:ln w="12700" cap="sq" cmpd="sng">
            <a:solidFill>
              <a:schemeClr val="dk1">
                <a:alpha val="100000"/>
              </a:schemeClr>
            </a:solidFill>
            <a:prstDash val="solid"/>
            <a:round/>
          </a:ln>
          <a:effectLst>
            <a:outerShdw algn="ctr" dir="2699999" dist="35921" kx="0" sx="100000" sy="100000">
              <a:schemeClr val="dk2">
                <a:alpha val="100000"/>
              </a:schemeClr>
            </a:outerShdw>
          </a:effectLst>
        </p:spPr>
        <p:txBody>
          <a:bodyPr anchor="ct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290512" lvl="0" marL="346075"/>
            <a:r>
              <a:rPr altLang="en-US" b="1" sz="1600" lang="en-US"/>
              <a:t>4. Prepare a trial balance</a:t>
            </a:r>
          </a:p>
        </p:txBody>
      </p:sp>
      <p:sp>
        <p:nvSpPr>
          <p:cNvPr id="1048833" name=""/>
          <p:cNvSpPr/>
          <p:nvPr/>
        </p:nvSpPr>
        <p:spPr>
          <a:xfrm rot="0">
            <a:off x="5257800" y="3048000"/>
            <a:ext cx="3086100" cy="609600"/>
          </a:xfrm>
          <a:prstGeom prst="rect"/>
          <a:solidFill>
            <a:srgbClr val="FFFFCC"/>
          </a:solidFill>
          <a:ln w="12700" cap="sq" cmpd="sng">
            <a:solidFill>
              <a:schemeClr val="dk1">
                <a:alpha val="100000"/>
              </a:schemeClr>
            </a:solidFill>
            <a:prstDash val="solid"/>
            <a:round/>
          </a:ln>
          <a:effectLst>
            <a:outerShdw algn="ctr" dir="2699999" dist="35921" kx="0" sx="100000" sy="100000">
              <a:schemeClr val="dk2">
                <a:alpha val="100000"/>
              </a:schemeClr>
            </a:outerShdw>
          </a:effectLst>
        </p:spPr>
        <p:txBody>
          <a:bodyPr anchor="ct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290512" lvl="0" marL="346075"/>
            <a:r>
              <a:rPr altLang="en-US" b="1" sz="1600" lang="en-US"/>
              <a:t>3. Post to ledger accounts</a:t>
            </a:r>
          </a:p>
        </p:txBody>
      </p:sp>
      <p:sp>
        <p:nvSpPr>
          <p:cNvPr id="1048834" name=""/>
          <p:cNvSpPr/>
          <p:nvPr/>
        </p:nvSpPr>
        <p:spPr>
          <a:xfrm rot="0">
            <a:off x="2438400" y="5715000"/>
            <a:ext cx="4343400" cy="0"/>
          </a:xfrm>
          <a:prstGeom prst="line"/>
          <a:noFill/>
          <a:ln w="38100" cap="sq" cmpd="sng">
            <a:solidFill>
              <a:srgbClr val="800000">
                <a:alpha val="100000"/>
              </a:srgbClr>
            </a:solidFill>
            <a:prstDash val="solid"/>
            <a:round/>
          </a:ln>
        </p:spPr>
      </p:sp>
      <p:sp>
        <p:nvSpPr>
          <p:cNvPr id="1048835" name=""/>
          <p:cNvSpPr/>
          <p:nvPr/>
        </p:nvSpPr>
        <p:spPr>
          <a:xfrm rot="0">
            <a:off x="5257800" y="4724400"/>
            <a:ext cx="3086100" cy="609600"/>
          </a:xfrm>
          <a:prstGeom prst="rect"/>
          <a:solidFill>
            <a:srgbClr val="FFFFCC"/>
          </a:solidFill>
          <a:ln w="12700" cap="sq" cmpd="sng">
            <a:solidFill>
              <a:schemeClr val="dk1">
                <a:alpha val="100000"/>
              </a:schemeClr>
            </a:solidFill>
            <a:prstDash val="solid"/>
            <a:round/>
          </a:ln>
          <a:effectLst>
            <a:outerShdw algn="ctr" dir="2699999" dist="35921" kx="0" sx="100000" sy="100000">
              <a:schemeClr val="dk2">
                <a:alpha val="100000"/>
              </a:schemeClr>
            </a:outerShdw>
          </a:effectLst>
        </p:spPr>
        <p:txBody>
          <a:bodyPr anchor="ct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290512" lvl="0" marL="346075"/>
            <a:r>
              <a:rPr altLang="en-US" b="1" sz="1600" lang="en-US"/>
              <a:t>5. Journalize and post adjusting entries</a:t>
            </a:r>
          </a:p>
        </p:txBody>
      </p:sp>
      <p:sp>
        <p:nvSpPr>
          <p:cNvPr id="1048836" name=""/>
          <p:cNvSpPr txBox="1"/>
          <p:nvPr/>
        </p:nvSpPr>
        <p:spPr>
          <a:xfrm rot="0">
            <a:off x="7162800" y="1304925"/>
            <a:ext cx="1447800" cy="303212"/>
          </a:xfrm>
          <a:prstGeom prst="rect"/>
          <a:solidFill>
            <a:srgbClr val="FFFFCC"/>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r>
              <a:rPr altLang="en-US" sz="1200" lang="en-US"/>
              <a:t>Illustration 4-12</a:t>
            </a:r>
          </a:p>
        </p:txBody>
      </p:sp>
      <p:sp>
        <p:nvSpPr>
          <p:cNvPr id="1048837" name=""/>
          <p:cNvSpPr/>
          <p:nvPr/>
        </p:nvSpPr>
        <p:spPr>
          <a:xfrm rot="10800000">
            <a:off x="2438400" y="5349875"/>
            <a:ext cx="1587" cy="365125"/>
          </a:xfrm>
          <a:custGeom>
            <a:avLst/>
            <a:gdLst>
              <a:gd name="l" fmla="*/ 0 w 1"/>
              <a:gd name="t" fmla="*/ 0 h 230"/>
              <a:gd name="r" fmla="*/ 1 w 1"/>
              <a:gd name="b" fmla="*/ 230 h 230"/>
            </a:gdLst>
            <a:ahLst/>
            <a:rect l="l" t="t" r="r" b="b"/>
            <a:pathLst>
              <a:path w="1" h="230">
                <a:moveTo>
                  <a:pt x="0" y="0"/>
                </a:moveTo>
                <a:lnTo>
                  <a:pt x="1" y="230"/>
                </a:lnTo>
              </a:path>
            </a:pathLst>
          </a:custGeom>
          <a:noFill/>
          <a:ln w="38100" cap="sq" cmpd="sng">
            <a:solidFill>
              <a:srgbClr val="800000">
                <a:alpha val="100000"/>
              </a:srgbClr>
            </a:solidFill>
            <a:prstDash val="solid"/>
            <a:round/>
            <a:tailEnd type="triangle" w="sm" len="sm"/>
          </a:ln>
        </p:spPr>
        <p:txBody>
          <a:bodyPr bIns="45720" lIns="91440" rIns="91440" tIns="4572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838"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4  State the required steps in the accounting cycle.</a:t>
            </a:r>
          </a:p>
        </p:txBody>
      </p:sp>
    </p:spTree>
  </p:cSld>
  <p:clrMapOvr>
    <a:masterClrMapping/>
  </p:clrMapOvr>
  <p:transition spd="fast" advClick="1">
    <p:wipe dir="r"/>
  </p:transition>
</p:sld>
</file>

<file path=ppt/slides/slide27.xml><?xml version="1.0" encoding="utf-8"?>
<p:sld xmlns:a="http://schemas.openxmlformats.org/drawingml/2006/main" xmlns:r="http://schemas.openxmlformats.org/officeDocument/2006/relationships" xmlns:p="http://schemas.openxmlformats.org/presentationml/2006/main" showMasterSp="1">
  <p:cSld>
    <p:spTree>
      <p:nvGrpSpPr>
        <p:cNvPr id="135" name=""/>
        <p:cNvGrpSpPr/>
        <p:nvPr/>
      </p:nvGrpSpPr>
      <p:grpSpPr>
        <a:xfrm rot="0">
          <a:off x="0" y="0"/>
          <a:ext cx="0" cy="0"/>
          <a:chOff x="0" y="0"/>
          <a:chExt cx="0" cy="0"/>
        </a:xfrm>
      </p:grpSpPr>
      <p:sp>
        <p:nvSpPr>
          <p:cNvPr id="1048841" name=""/>
          <p:cNvSpPr txBox="1"/>
          <p:nvPr/>
        </p:nvSpPr>
        <p:spPr>
          <a:xfrm rot="0">
            <a:off x="685800" y="1447800"/>
            <a:ext cx="7848600" cy="38687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115000"/>
              </a:lnSpc>
              <a:spcAft>
                <a:spcPct val="50000"/>
              </a:spcAft>
              <a:buSzPct val="80000"/>
              <a:buFontTx/>
              <a:buNone/>
            </a:pPr>
            <a:r>
              <a:rPr altLang="en-US" b="1" sz="2800" lang="en-US">
                <a:solidFill>
                  <a:srgbClr val="800000"/>
                </a:solidFill>
                <a:effectLst>
                  <a:outerShdw algn="tl" blurRad="38100" dir="2700000" dist="38100">
                    <a:srgbClr val="C0C0C0"/>
                  </a:outerShdw>
                </a:effectLst>
              </a:rPr>
              <a:t>Correcting entries</a:t>
            </a:r>
            <a:r>
              <a:rPr altLang="en-US" lang="en-US">
                <a:solidFill>
                  <a:srgbClr val="000000"/>
                </a:solidFill>
              </a:rPr>
              <a:t> </a:t>
            </a:r>
          </a:p>
          <a:p>
            <a:pPr algn="l" indent="-388937" lvl="1" marL="623887">
              <a:lnSpc>
                <a:spcPct val="115000"/>
              </a:lnSpc>
              <a:spcAft>
                <a:spcPct val="50000"/>
              </a:spcAft>
              <a:buSzPct val="80000"/>
              <a:buFontTx/>
              <a:buBlip>
                <a:blip xmlns:r="http://schemas.openxmlformats.org/officeDocument/2006/relationships" r:embed="rId1"/>
              </a:buBlip>
            </a:pPr>
            <a:r>
              <a:rPr altLang="en-US" lang="en-US">
                <a:solidFill>
                  <a:srgbClr val="000000"/>
                </a:solidFill>
              </a:rPr>
              <a:t>are unnecessary if the records are error-free.</a:t>
            </a:r>
          </a:p>
          <a:p>
            <a:pPr algn="l" indent="-388937" lvl="1" marL="623887">
              <a:lnSpc>
                <a:spcPct val="115000"/>
              </a:lnSpc>
              <a:spcAft>
                <a:spcPct val="50000"/>
              </a:spcAft>
              <a:buSzPct val="80000"/>
              <a:buFontTx/>
              <a:buBlip>
                <a:blip xmlns:r="http://schemas.openxmlformats.org/officeDocument/2006/relationships" r:embed="rId1"/>
              </a:buBlip>
            </a:pPr>
            <a:r>
              <a:rPr altLang="en-US" lang="en-US">
                <a:solidFill>
                  <a:srgbClr val="000000"/>
                </a:solidFill>
              </a:rPr>
              <a:t>are made whenever an error is discovered.</a:t>
            </a:r>
          </a:p>
          <a:p>
            <a:pPr algn="l" indent="-388937" lvl="1" marL="623887">
              <a:lnSpc>
                <a:spcPct val="115000"/>
              </a:lnSpc>
              <a:spcAft>
                <a:spcPct val="50000"/>
              </a:spcAft>
              <a:buSzPct val="80000"/>
              <a:buFontTx/>
              <a:buBlip>
                <a:blip xmlns:r="http://schemas.openxmlformats.org/officeDocument/2006/relationships" r:embed="rId1"/>
              </a:buBlip>
            </a:pPr>
            <a:r>
              <a:rPr altLang="en-US" lang="en-US">
                <a:solidFill>
                  <a:srgbClr val="000000"/>
                </a:solidFill>
              </a:rPr>
              <a:t>must be posted before closing entries.</a:t>
            </a:r>
          </a:p>
          <a:p>
            <a:pPr algn="l" lvl="0">
              <a:lnSpc>
                <a:spcPct val="115000"/>
              </a:lnSpc>
              <a:spcAft>
                <a:spcPct val="50000"/>
              </a:spcAft>
              <a:buSzPct val="80000"/>
              <a:buFontTx/>
              <a:buNone/>
            </a:pPr>
            <a:r>
              <a:rPr altLang="en-US" lang="en-US">
                <a:solidFill>
                  <a:srgbClr val="000000"/>
                </a:solidFill>
              </a:rPr>
              <a:t>Instead of preparing a correcting entry, it is possible to reverse the incorrect entry and then prepare the correct entry.</a:t>
            </a:r>
          </a:p>
        </p:txBody>
      </p:sp>
      <p:sp>
        <p:nvSpPr>
          <p:cNvPr id="1048842"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Correcting Entries—An Avoidable Step</a:t>
            </a:r>
          </a:p>
        </p:txBody>
      </p:sp>
      <p:sp>
        <p:nvSpPr>
          <p:cNvPr id="1048843"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5  Explain the approaches to preparing correcting entries.</a:t>
            </a:r>
          </a:p>
        </p:txBody>
      </p:sp>
    </p:spTree>
  </p:cSld>
  <p:clrMapOvr>
    <a:masterClrMapping/>
  </p:clrMapOvr>
  <p:transition spd="fast" advClick="1">
    <p:wipe dir="r"/>
  </p:transition>
</p:sld>
</file>

<file path=ppt/slides/slide28.xml><?xml version="1.0" encoding="utf-8"?>
<p:sld xmlns:a="http://schemas.openxmlformats.org/drawingml/2006/main" xmlns:r="http://schemas.openxmlformats.org/officeDocument/2006/relationships" xmlns:p="http://schemas.openxmlformats.org/presentationml/2006/main" showMasterSp="1">
  <p:cSld>
    <p:spTree>
      <p:nvGrpSpPr>
        <p:cNvPr id="138" name=""/>
        <p:cNvGrpSpPr/>
        <p:nvPr/>
      </p:nvGrpSpPr>
      <p:grpSpPr>
        <a:xfrm rot="0">
          <a:off x="0" y="0"/>
          <a:ext cx="0" cy="0"/>
          <a:chOff x="0" y="0"/>
          <a:chExt cx="0" cy="0"/>
        </a:xfrm>
      </p:grpSpPr>
      <p:sp>
        <p:nvSpPr>
          <p:cNvPr id="1048846" name=""/>
          <p:cNvSpPr txBox="1"/>
          <p:nvPr/>
        </p:nvSpPr>
        <p:spPr>
          <a:xfrm rot="0">
            <a:off x="533400" y="1295400"/>
            <a:ext cx="8610600" cy="186690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b="1" sz="2200" lang="en-US">
                <a:solidFill>
                  <a:srgbClr val="800000"/>
                </a:solidFill>
                <a:effectLst>
                  <a:outerShdw algn="tl" blurRad="38100" dir="2700000" dist="38100">
                    <a:srgbClr val="C0C0C0"/>
                  </a:outerShdw>
                </a:effectLst>
              </a:rPr>
              <a:t>BE4-9</a:t>
            </a:r>
            <a:r>
              <a:rPr altLang="en-US" sz="2200" lang="en-US">
                <a:solidFill>
                  <a:srgbClr val="FF0000"/>
                </a:solidFill>
              </a:rPr>
              <a:t>  </a:t>
            </a:r>
            <a:r>
              <a:rPr altLang="en-US" sz="2200" lang="en-US">
                <a:solidFill>
                  <a:srgbClr val="000000"/>
                </a:solidFill>
              </a:rPr>
              <a:t>At Batavia Company, the following errors were discovered after the transactions had been journalized and posted.  Prepare the correcting entries.</a:t>
            </a:r>
          </a:p>
          <a:p>
            <a:pPr algn="l" lvl="0">
              <a:spcBef>
                <a:spcPct val="30000"/>
              </a:spcBef>
            </a:pPr>
            <a:r>
              <a:rPr altLang="en-US" sz="2200" lang="en-US">
                <a:solidFill>
                  <a:srgbClr val="800000"/>
                </a:solidFill>
              </a:rPr>
              <a:t>1.</a:t>
            </a:r>
            <a:r>
              <a:rPr altLang="en-US" sz="2200" lang="en-US">
                <a:solidFill>
                  <a:srgbClr val="000000"/>
                </a:solidFill>
              </a:rPr>
              <a:t> A collection on account from a customer was recorded as a debit to Cash and a credit to Service Revenue for $780.</a:t>
            </a:r>
          </a:p>
        </p:txBody>
      </p:sp>
      <p:sp>
        <p:nvSpPr>
          <p:cNvPr id="1048847" name=""/>
          <p:cNvSpPr/>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bIns="44450" lIns="90488" rIns="90488" tIns="4445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0" lvl="0" marL="109537"/>
            <a:r>
              <a:rPr altLang="en-US" b="1" sz="3000" i="1" lang="en-US">
                <a:solidFill>
                  <a:schemeClr val="lt1"/>
                </a:solidFill>
                <a:effectLst>
                  <a:outerShdw algn="tl" blurRad="38100" dir="2700000" dist="38100">
                    <a:srgbClr val="C0C0C0"/>
                  </a:outerShdw>
                </a:effectLst>
              </a:rPr>
              <a:t>Correcting Entries—An Avoidable Step</a:t>
            </a:r>
          </a:p>
        </p:txBody>
      </p:sp>
      <p:sp>
        <p:nvSpPr>
          <p:cNvPr id="1048848"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5  Explain the approaches to preparing correcting entries.</a:t>
            </a:r>
          </a:p>
        </p:txBody>
      </p:sp>
      <p:sp>
        <p:nvSpPr>
          <p:cNvPr id="1048849" name=""/>
          <p:cNvSpPr txBox="1"/>
          <p:nvPr/>
        </p:nvSpPr>
        <p:spPr>
          <a:xfrm rot="0">
            <a:off x="2209800" y="3382962"/>
            <a:ext cx="6400800" cy="4270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tabLst>
                <a:tab algn="r" pos="4745037"/>
              </a:tabLst>
            </a:pPr>
            <a:r>
              <a:rPr altLang="en-US" sz="2200" lang="en-US">
                <a:ea typeface="Arial" pitchFamily="0" charset="0"/>
              </a:rPr>
              <a:t>Cash	780</a:t>
            </a:r>
          </a:p>
        </p:txBody>
      </p:sp>
      <p:sp>
        <p:nvSpPr>
          <p:cNvPr id="1048850" name=""/>
          <p:cNvSpPr txBox="1"/>
          <p:nvPr/>
        </p:nvSpPr>
        <p:spPr>
          <a:xfrm rot="0">
            <a:off x="381000" y="3382962"/>
            <a:ext cx="1524000" cy="790575"/>
          </a:xfrm>
          <a:prstGeom prst="rect"/>
          <a:solidFill>
            <a:srgbClr val="FFFF99"/>
          </a:solidFill>
          <a:ln w="28575" cap="flat" cmpd="sng">
            <a:solidFill>
              <a:schemeClr val="dk1">
                <a:alpha val="100000"/>
              </a:schemeClr>
            </a:solidFill>
            <a:prstDash val="solid"/>
            <a:round/>
          </a:ln>
        </p:spPr>
        <p:txBody>
          <a:bodyPr bIns="45720" lIns="0" rIns="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sz="2200" lang="en-US">
                <a:ea typeface="Arial" pitchFamily="0" charset="0"/>
              </a:rPr>
              <a:t>Incorrect entry</a:t>
            </a:r>
          </a:p>
        </p:txBody>
      </p:sp>
      <p:sp>
        <p:nvSpPr>
          <p:cNvPr id="1048851" name=""/>
          <p:cNvSpPr txBox="1"/>
          <p:nvPr/>
        </p:nvSpPr>
        <p:spPr>
          <a:xfrm rot="0">
            <a:off x="2209800" y="3840162"/>
            <a:ext cx="6400800" cy="4270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0" lvl="0" marL="460375">
              <a:spcBef>
                <a:spcPct val="50000"/>
              </a:spcBef>
              <a:tabLst>
                <a:tab algn="r" pos="4745037"/>
                <a:tab algn="r" pos="6110287"/>
              </a:tabLst>
            </a:pPr>
            <a:r>
              <a:rPr altLang="en-US" sz="2200" lang="en-US">
                <a:ea typeface="Arial" pitchFamily="0" charset="0"/>
              </a:rPr>
              <a:t>Service revenue  		780</a:t>
            </a:r>
          </a:p>
        </p:txBody>
      </p:sp>
      <p:sp>
        <p:nvSpPr>
          <p:cNvPr id="1048852" name=""/>
          <p:cNvSpPr txBox="1"/>
          <p:nvPr/>
        </p:nvSpPr>
        <p:spPr>
          <a:xfrm rot="0">
            <a:off x="2209800" y="4343400"/>
            <a:ext cx="6400800" cy="4270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tabLst>
                <a:tab algn="r" pos="4745037"/>
              </a:tabLst>
            </a:pPr>
            <a:r>
              <a:rPr altLang="en-US" sz="2200" lang="en-US">
                <a:ea typeface="Arial" pitchFamily="0" charset="0"/>
              </a:rPr>
              <a:t>Cash	780</a:t>
            </a:r>
          </a:p>
        </p:txBody>
      </p:sp>
      <p:sp>
        <p:nvSpPr>
          <p:cNvPr id="1048853" name=""/>
          <p:cNvSpPr txBox="1"/>
          <p:nvPr/>
        </p:nvSpPr>
        <p:spPr>
          <a:xfrm rot="0">
            <a:off x="381000" y="4343400"/>
            <a:ext cx="1524000" cy="790575"/>
          </a:xfrm>
          <a:prstGeom prst="rect"/>
          <a:solidFill>
            <a:srgbClr val="FFFF99"/>
          </a:solidFill>
          <a:ln w="28575" cap="flat" cmpd="sng">
            <a:solidFill>
              <a:schemeClr val="dk1">
                <a:alpha val="100000"/>
              </a:schemeClr>
            </a:solidFill>
            <a:prstDash val="solid"/>
            <a:round/>
          </a:ln>
        </p:spPr>
        <p:txBody>
          <a:bodyPr bIns="45720" lIns="0" rIns="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sz="2200" lang="en-US">
                <a:ea typeface="Arial" pitchFamily="0" charset="0"/>
              </a:rPr>
              <a:t>Correct entry</a:t>
            </a:r>
          </a:p>
        </p:txBody>
      </p:sp>
      <p:sp>
        <p:nvSpPr>
          <p:cNvPr id="1048854" name=""/>
          <p:cNvSpPr txBox="1"/>
          <p:nvPr/>
        </p:nvSpPr>
        <p:spPr>
          <a:xfrm rot="0">
            <a:off x="2209800" y="4800600"/>
            <a:ext cx="6400800" cy="4270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0" lvl="0" marL="460375">
              <a:spcBef>
                <a:spcPct val="50000"/>
              </a:spcBef>
              <a:tabLst>
                <a:tab algn="r" pos="4745037"/>
                <a:tab algn="r" pos="6110287"/>
              </a:tabLst>
            </a:pPr>
            <a:r>
              <a:rPr altLang="en-US" sz="2200" lang="en-US">
                <a:ea typeface="Arial" pitchFamily="0" charset="0"/>
              </a:rPr>
              <a:t>Accounts receivable  		780</a:t>
            </a:r>
          </a:p>
        </p:txBody>
      </p:sp>
      <p:sp>
        <p:nvSpPr>
          <p:cNvPr id="1048855" name=""/>
          <p:cNvSpPr txBox="1"/>
          <p:nvPr/>
        </p:nvSpPr>
        <p:spPr>
          <a:xfrm rot="0">
            <a:off x="2209800" y="5287962"/>
            <a:ext cx="6400800" cy="4270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tabLst>
                <a:tab algn="r" pos="4745037"/>
              </a:tabLst>
            </a:pPr>
            <a:r>
              <a:rPr altLang="en-US" sz="2200" lang="en-US">
                <a:ea typeface="Arial" pitchFamily="0" charset="0"/>
              </a:rPr>
              <a:t>Service revenue	780</a:t>
            </a:r>
          </a:p>
        </p:txBody>
      </p:sp>
      <p:sp>
        <p:nvSpPr>
          <p:cNvPr id="1048856" name=""/>
          <p:cNvSpPr txBox="1"/>
          <p:nvPr/>
        </p:nvSpPr>
        <p:spPr>
          <a:xfrm rot="0">
            <a:off x="381000" y="5334000"/>
            <a:ext cx="1524000" cy="730250"/>
          </a:xfrm>
          <a:prstGeom prst="rect"/>
          <a:solidFill>
            <a:schemeClr val="hlink"/>
          </a:solidFill>
          <a:ln w="28575" cap="flat" cmpd="sng">
            <a:solidFill>
              <a:schemeClr val="dk1">
                <a:alpha val="100000"/>
              </a:schemeClr>
            </a:solidFill>
            <a:prstDash val="solid"/>
            <a:round/>
          </a:ln>
        </p:spPr>
        <p:txBody>
          <a:bodyPr bIns="45720" lIns="0" rIns="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sz="2000" lang="en-US">
                <a:solidFill>
                  <a:schemeClr val="lt1"/>
                </a:solidFill>
                <a:effectLst>
                  <a:outerShdw algn="tl" blurRad="38100" dir="2700000" dist="38100">
                    <a:srgbClr val="C0C0C0"/>
                  </a:outerShdw>
                </a:effectLst>
                <a:ea typeface="Arial" pitchFamily="0" charset="0"/>
              </a:rPr>
              <a:t>Correcting  entry</a:t>
            </a:r>
          </a:p>
        </p:txBody>
      </p:sp>
      <p:sp>
        <p:nvSpPr>
          <p:cNvPr id="1048857" name=""/>
          <p:cNvSpPr txBox="1"/>
          <p:nvPr/>
        </p:nvSpPr>
        <p:spPr>
          <a:xfrm rot="0">
            <a:off x="2209800" y="5745162"/>
            <a:ext cx="6400800" cy="4270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0" lvl="0" marL="460375">
              <a:spcBef>
                <a:spcPct val="50000"/>
              </a:spcBef>
              <a:tabLst>
                <a:tab algn="r" pos="4745037"/>
                <a:tab algn="r" pos="6110287"/>
              </a:tabLst>
            </a:pPr>
            <a:r>
              <a:rPr altLang="en-US" sz="2200" lang="en-US">
                <a:ea typeface="Arial" pitchFamily="0" charset="0"/>
              </a:rPr>
              <a:t>Accounts receivable  		780</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8855"/>
                                        </p:tgtEl>
                                        <p:attrNameLst>
                                          <p:attrName>style.visibility</p:attrName>
                                        </p:attrNameLst>
                                      </p:cBhvr>
                                      <p:to>
                                        <p:strVal val="visible"/>
                                      </p:to>
                                    </p:set>
                                    <p:animEffect transition="in" filter="wipe(left)">
                                      <p:cBhvr>
                                        <p:cTn dur="500" id="7"/>
                                        <p:tgtEl>
                                          <p:spTgt spid="1048855"/>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22" presetSubtype="8">
                                  <p:stCondLst>
                                    <p:cond delay="0"/>
                                  </p:stCondLst>
                                  <p:childTnLst>
                                    <p:set>
                                      <p:cBhvr>
                                        <p:cTn dur="1" fill="hold" id="11">
                                          <p:stCondLst>
                                            <p:cond delay="0"/>
                                          </p:stCondLst>
                                        </p:cTn>
                                        <p:tgtEl>
                                          <p:spTgt spid="1048857"/>
                                        </p:tgtEl>
                                        <p:attrNameLst>
                                          <p:attrName>style.visibility</p:attrName>
                                        </p:attrNameLst>
                                      </p:cBhvr>
                                      <p:to>
                                        <p:strVal val="visible"/>
                                      </p:to>
                                    </p:set>
                                    <p:animEffect transition="in" filter="wipe(left)">
                                      <p:cBhvr>
                                        <p:cTn dur="500" id="12"/>
                                        <p:tgtEl>
                                          <p:spTgt spid="10488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55" grpId="0" uiExpand="0" build="whole"/>
      <p:bldP spid="1048857" grpId="0" uiExpand="0" build="whole"/>
    </p:bldLst>
  </p:timing>
</p:sld>
</file>

<file path=ppt/slides/slide29.xml><?xml version="1.0" encoding="utf-8"?>
<p:sld xmlns:a="http://schemas.openxmlformats.org/drawingml/2006/main" xmlns:r="http://schemas.openxmlformats.org/officeDocument/2006/relationships" xmlns:p="http://schemas.openxmlformats.org/presentationml/2006/main" showMasterSp="1">
  <p:cSld>
    <p:spTree>
      <p:nvGrpSpPr>
        <p:cNvPr id="141" name=""/>
        <p:cNvGrpSpPr/>
        <p:nvPr/>
      </p:nvGrpSpPr>
      <p:grpSpPr>
        <a:xfrm rot="0">
          <a:off x="0" y="0"/>
          <a:ext cx="0" cy="0"/>
          <a:chOff x="0" y="0"/>
          <a:chExt cx="0" cy="0"/>
        </a:xfrm>
      </p:grpSpPr>
      <p:sp>
        <p:nvSpPr>
          <p:cNvPr id="1048860" name=""/>
          <p:cNvSpPr txBox="1"/>
          <p:nvPr/>
        </p:nvSpPr>
        <p:spPr>
          <a:xfrm rot="0">
            <a:off x="533400" y="990600"/>
            <a:ext cx="8610600" cy="22018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pPr>
            <a:r>
              <a:rPr altLang="en-US" b="1" sz="2200" lang="en-US">
                <a:solidFill>
                  <a:srgbClr val="800000"/>
                </a:solidFill>
                <a:effectLst>
                  <a:outerShdw algn="tl" blurRad="38100" dir="2700000" dist="38100">
                    <a:srgbClr val="C0C0C0"/>
                  </a:outerShdw>
                </a:effectLst>
              </a:rPr>
              <a:t>BE4-9</a:t>
            </a:r>
            <a:r>
              <a:rPr altLang="en-US" sz="2200" lang="en-US">
                <a:solidFill>
                  <a:srgbClr val="FF0000"/>
                </a:solidFill>
              </a:rPr>
              <a:t>  </a:t>
            </a:r>
            <a:r>
              <a:rPr altLang="en-US" sz="2200" lang="en-US">
                <a:solidFill>
                  <a:srgbClr val="000000"/>
                </a:solidFill>
              </a:rPr>
              <a:t>At Batavia Company, the following errors were discovered after the transactions had been journalized and posted.  Prepare the correcting entries.</a:t>
            </a:r>
          </a:p>
          <a:p>
            <a:pPr algn="l" lvl="0">
              <a:spcBef>
                <a:spcPct val="30000"/>
              </a:spcBef>
            </a:pPr>
            <a:r>
              <a:rPr altLang="en-US" sz="2200" lang="en-US">
                <a:solidFill>
                  <a:srgbClr val="800000"/>
                </a:solidFill>
              </a:rPr>
              <a:t>2.</a:t>
            </a:r>
            <a:r>
              <a:rPr altLang="en-US" sz="2200" lang="en-US">
                <a:solidFill>
                  <a:srgbClr val="000000"/>
                </a:solidFill>
              </a:rPr>
              <a:t> The purchase of supplies on account for $1,570 was recorded as a debit to Store Supplies and a credit to Accounts Payable for $1,750.</a:t>
            </a:r>
          </a:p>
        </p:txBody>
      </p:sp>
      <p:sp>
        <p:nvSpPr>
          <p:cNvPr id="1048861" name=""/>
          <p:cNvSpPr/>
          <p:nvPr/>
        </p:nvSpPr>
        <p:spPr>
          <a:xfrm rot="0">
            <a:off x="457200" y="2286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bIns="44450" lIns="90488" rIns="90488" tIns="44450"/>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0" lvl="0" marL="109537"/>
            <a:r>
              <a:rPr altLang="en-US" b="1" sz="3000" i="1" lang="en-US">
                <a:solidFill>
                  <a:schemeClr val="lt1"/>
                </a:solidFill>
                <a:effectLst>
                  <a:outerShdw algn="tl" blurRad="38100" dir="2700000" dist="38100">
                    <a:srgbClr val="C0C0C0"/>
                  </a:outerShdw>
                </a:effectLst>
              </a:rPr>
              <a:t>Correcting Entries—An Avoidable Step</a:t>
            </a:r>
          </a:p>
        </p:txBody>
      </p:sp>
      <p:sp>
        <p:nvSpPr>
          <p:cNvPr id="1048862"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5  Explain the approaches to preparing correcting entries.</a:t>
            </a:r>
          </a:p>
        </p:txBody>
      </p:sp>
      <p:sp>
        <p:nvSpPr>
          <p:cNvPr id="1048863" name=""/>
          <p:cNvSpPr txBox="1"/>
          <p:nvPr/>
        </p:nvSpPr>
        <p:spPr>
          <a:xfrm rot="0">
            <a:off x="2209800" y="3382962"/>
            <a:ext cx="6400800" cy="4270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tabLst>
                <a:tab algn="r" pos="4745037"/>
              </a:tabLst>
            </a:pPr>
            <a:r>
              <a:rPr altLang="en-US" sz="2200" lang="en-US">
                <a:ea typeface="Arial" pitchFamily="0" charset="0"/>
              </a:rPr>
              <a:t>Store Supplies	1,750</a:t>
            </a:r>
          </a:p>
        </p:txBody>
      </p:sp>
      <p:sp>
        <p:nvSpPr>
          <p:cNvPr id="1048864" name=""/>
          <p:cNvSpPr txBox="1"/>
          <p:nvPr/>
        </p:nvSpPr>
        <p:spPr>
          <a:xfrm rot="0">
            <a:off x="381000" y="3382962"/>
            <a:ext cx="1524000" cy="790575"/>
          </a:xfrm>
          <a:prstGeom prst="rect"/>
          <a:solidFill>
            <a:srgbClr val="FFFF99"/>
          </a:solidFill>
          <a:ln w="28575" cap="flat" cmpd="sng">
            <a:solidFill>
              <a:schemeClr val="dk1">
                <a:alpha val="100000"/>
              </a:schemeClr>
            </a:solidFill>
            <a:prstDash val="solid"/>
            <a:round/>
          </a:ln>
        </p:spPr>
        <p:txBody>
          <a:bodyPr bIns="45720" lIns="0" rIns="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sz="2200" lang="en-US">
                <a:ea typeface="Arial" pitchFamily="0" charset="0"/>
              </a:rPr>
              <a:t>Incorrect entry</a:t>
            </a:r>
          </a:p>
        </p:txBody>
      </p:sp>
      <p:sp>
        <p:nvSpPr>
          <p:cNvPr id="1048865" name=""/>
          <p:cNvSpPr txBox="1"/>
          <p:nvPr/>
        </p:nvSpPr>
        <p:spPr>
          <a:xfrm rot="0">
            <a:off x="2209800" y="3840162"/>
            <a:ext cx="6400800" cy="4270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0" lvl="0" marL="460375">
              <a:spcBef>
                <a:spcPct val="50000"/>
              </a:spcBef>
              <a:tabLst>
                <a:tab algn="r" pos="4745037"/>
                <a:tab algn="r" pos="6110287"/>
              </a:tabLst>
            </a:pPr>
            <a:r>
              <a:rPr altLang="en-US" sz="2200" lang="en-US">
                <a:ea typeface="Arial" pitchFamily="0" charset="0"/>
              </a:rPr>
              <a:t>Accounts payable  		1,750</a:t>
            </a:r>
          </a:p>
        </p:txBody>
      </p:sp>
      <p:sp>
        <p:nvSpPr>
          <p:cNvPr id="1048866" name=""/>
          <p:cNvSpPr txBox="1"/>
          <p:nvPr/>
        </p:nvSpPr>
        <p:spPr>
          <a:xfrm rot="0">
            <a:off x="2209800" y="4343400"/>
            <a:ext cx="6400800" cy="4270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tabLst>
                <a:tab algn="r" pos="4745037"/>
              </a:tabLst>
            </a:pPr>
            <a:r>
              <a:rPr altLang="en-US" sz="2200" lang="en-US">
                <a:ea typeface="Arial" pitchFamily="0" charset="0"/>
              </a:rPr>
              <a:t>Store Supplies	1,570</a:t>
            </a:r>
          </a:p>
        </p:txBody>
      </p:sp>
      <p:sp>
        <p:nvSpPr>
          <p:cNvPr id="1048867" name=""/>
          <p:cNvSpPr txBox="1"/>
          <p:nvPr/>
        </p:nvSpPr>
        <p:spPr>
          <a:xfrm rot="0">
            <a:off x="381000" y="4343400"/>
            <a:ext cx="1524000" cy="790575"/>
          </a:xfrm>
          <a:prstGeom prst="rect"/>
          <a:solidFill>
            <a:srgbClr val="FFFF99"/>
          </a:solidFill>
          <a:ln w="28575" cap="flat" cmpd="sng">
            <a:solidFill>
              <a:schemeClr val="dk1">
                <a:alpha val="100000"/>
              </a:schemeClr>
            </a:solidFill>
            <a:prstDash val="solid"/>
            <a:round/>
          </a:ln>
        </p:spPr>
        <p:txBody>
          <a:bodyPr bIns="45720" lIns="0" rIns="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sz="2200" lang="en-US">
                <a:ea typeface="Arial" pitchFamily="0" charset="0"/>
              </a:rPr>
              <a:t>Correct entry</a:t>
            </a:r>
          </a:p>
        </p:txBody>
      </p:sp>
      <p:sp>
        <p:nvSpPr>
          <p:cNvPr id="1048868" name=""/>
          <p:cNvSpPr txBox="1"/>
          <p:nvPr/>
        </p:nvSpPr>
        <p:spPr>
          <a:xfrm rot="0">
            <a:off x="2209800" y="4800600"/>
            <a:ext cx="6400800" cy="4270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0" lvl="0" marL="460375">
              <a:spcBef>
                <a:spcPct val="50000"/>
              </a:spcBef>
              <a:tabLst>
                <a:tab algn="r" pos="4745037"/>
                <a:tab algn="r" pos="6110287"/>
              </a:tabLst>
            </a:pPr>
            <a:r>
              <a:rPr altLang="en-US" sz="2200" lang="en-US">
                <a:ea typeface="Arial" pitchFamily="0" charset="0"/>
              </a:rPr>
              <a:t>Accounts payable  		1,570</a:t>
            </a:r>
          </a:p>
        </p:txBody>
      </p:sp>
      <p:sp>
        <p:nvSpPr>
          <p:cNvPr id="1048869" name=""/>
          <p:cNvSpPr txBox="1"/>
          <p:nvPr/>
        </p:nvSpPr>
        <p:spPr>
          <a:xfrm rot="0">
            <a:off x="2209800" y="5287962"/>
            <a:ext cx="6400800" cy="4270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50000"/>
              </a:spcBef>
              <a:tabLst>
                <a:tab algn="r" pos="4745037"/>
              </a:tabLst>
            </a:pPr>
            <a:r>
              <a:rPr altLang="en-US" sz="2200" lang="en-US">
                <a:ea typeface="Arial" pitchFamily="0" charset="0"/>
              </a:rPr>
              <a:t>Accounts payable	180</a:t>
            </a:r>
          </a:p>
        </p:txBody>
      </p:sp>
      <p:sp>
        <p:nvSpPr>
          <p:cNvPr id="1048870" name=""/>
          <p:cNvSpPr txBox="1"/>
          <p:nvPr/>
        </p:nvSpPr>
        <p:spPr>
          <a:xfrm rot="0">
            <a:off x="381000" y="5334000"/>
            <a:ext cx="1524000" cy="730250"/>
          </a:xfrm>
          <a:prstGeom prst="rect"/>
          <a:solidFill>
            <a:schemeClr val="hlink"/>
          </a:solidFill>
          <a:ln w="28575" cap="flat" cmpd="sng">
            <a:solidFill>
              <a:schemeClr val="dk1">
                <a:alpha val="100000"/>
              </a:schemeClr>
            </a:solidFill>
            <a:prstDash val="solid"/>
            <a:round/>
          </a:ln>
        </p:spPr>
        <p:txBody>
          <a:bodyPr bIns="45720" lIns="0" rIns="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sz="2000" lang="en-US">
                <a:solidFill>
                  <a:schemeClr val="lt1"/>
                </a:solidFill>
                <a:effectLst>
                  <a:outerShdw algn="tl" blurRad="38100" dir="2700000" dist="38100">
                    <a:srgbClr val="C0C0C0"/>
                  </a:outerShdw>
                </a:effectLst>
                <a:ea typeface="Arial" pitchFamily="0" charset="0"/>
              </a:rPr>
              <a:t>Correcting  entry</a:t>
            </a:r>
          </a:p>
        </p:txBody>
      </p:sp>
      <p:sp>
        <p:nvSpPr>
          <p:cNvPr id="1048871" name=""/>
          <p:cNvSpPr txBox="1"/>
          <p:nvPr/>
        </p:nvSpPr>
        <p:spPr>
          <a:xfrm rot="0">
            <a:off x="2209800" y="5745162"/>
            <a:ext cx="6400800" cy="4270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0" lvl="0" marL="460375">
              <a:spcBef>
                <a:spcPct val="50000"/>
              </a:spcBef>
              <a:tabLst>
                <a:tab algn="r" pos="4745037"/>
                <a:tab algn="r" pos="6110287"/>
              </a:tabLst>
            </a:pPr>
            <a:r>
              <a:rPr altLang="en-US" sz="2200" lang="en-US">
                <a:ea typeface="Arial" pitchFamily="0" charset="0"/>
              </a:rPr>
              <a:t>Store Supplies		180  </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8869"/>
                                        </p:tgtEl>
                                        <p:attrNameLst>
                                          <p:attrName>style.visibility</p:attrName>
                                        </p:attrNameLst>
                                      </p:cBhvr>
                                      <p:to>
                                        <p:strVal val="visible"/>
                                      </p:to>
                                    </p:set>
                                    <p:animEffect transition="in" filter="wipe(left)">
                                      <p:cBhvr>
                                        <p:cTn dur="500" id="7"/>
                                        <p:tgtEl>
                                          <p:spTgt spid="1048869"/>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22" presetSubtype="8">
                                  <p:stCondLst>
                                    <p:cond delay="0"/>
                                  </p:stCondLst>
                                  <p:childTnLst>
                                    <p:set>
                                      <p:cBhvr>
                                        <p:cTn dur="1" fill="hold" id="11">
                                          <p:stCondLst>
                                            <p:cond delay="0"/>
                                          </p:stCondLst>
                                        </p:cTn>
                                        <p:tgtEl>
                                          <p:spTgt spid="1048871"/>
                                        </p:tgtEl>
                                        <p:attrNameLst>
                                          <p:attrName>style.visibility</p:attrName>
                                        </p:attrNameLst>
                                      </p:cBhvr>
                                      <p:to>
                                        <p:strVal val="visible"/>
                                      </p:to>
                                    </p:set>
                                    <p:animEffect transition="in" filter="wipe(left)">
                                      <p:cBhvr>
                                        <p:cTn dur="500" id="12"/>
                                        <p:tgtEl>
                                          <p:spTgt spid="10488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69" grpId="0" uiExpand="0" build="whole"/>
      <p:bldP spid="1048871" grpId="0" uiExpand="0" build="whole"/>
    </p:bldLst>
  </p:timing>
</p:sld>
</file>

<file path=ppt/slides/slide30.xml><?xml version="1.0" encoding="utf-8"?>
<p:sld xmlns:a="http://schemas.openxmlformats.org/drawingml/2006/main" xmlns:r="http://schemas.openxmlformats.org/officeDocument/2006/relationships" xmlns:p="http://schemas.openxmlformats.org/presentationml/2006/main" showMasterSp="1">
  <p:cSld>
    <p:spTree>
      <p:nvGrpSpPr>
        <p:cNvPr id="144" name=""/>
        <p:cNvGrpSpPr/>
        <p:nvPr/>
      </p:nvGrpSpPr>
      <p:grpSpPr>
        <a:xfrm rot="0">
          <a:off x="0" y="0"/>
          <a:ext cx="0" cy="0"/>
          <a:chOff x="0" y="0"/>
          <a:chExt cx="0" cy="0"/>
        </a:xfrm>
      </p:grpSpPr>
      <p:sp>
        <p:nvSpPr>
          <p:cNvPr id="1048874"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The Classified Balance Sheet</a:t>
            </a:r>
          </a:p>
        </p:txBody>
      </p:sp>
      <p:sp>
        <p:nvSpPr>
          <p:cNvPr id="1048875"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6  Identify the sections of a classified balance sheet.</a:t>
            </a:r>
          </a:p>
        </p:txBody>
      </p:sp>
      <p:sp>
        <p:nvSpPr>
          <p:cNvPr id="1048876" name=""/>
          <p:cNvSpPr txBox="1"/>
          <p:nvPr/>
        </p:nvSpPr>
        <p:spPr>
          <a:xfrm rot="0">
            <a:off x="685800" y="1371600"/>
            <a:ext cx="8001000" cy="1787525"/>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457200" lvl="1" marL="692150">
              <a:lnSpc>
                <a:spcPct val="115000"/>
              </a:lnSpc>
              <a:spcAft>
                <a:spcPct val="50000"/>
              </a:spcAft>
              <a:buSzPct val="80000"/>
              <a:buFontTx/>
              <a:buBlip>
                <a:blip xmlns:r="http://schemas.openxmlformats.org/officeDocument/2006/relationships" r:embed="rId1"/>
              </a:buBlip>
            </a:pPr>
            <a:r>
              <a:rPr altLang="en-US" sz="2500" lang="en-US">
                <a:solidFill>
                  <a:srgbClr val="000000"/>
                </a:solidFill>
              </a:rPr>
              <a:t>Presents a snapshot at a point in time.</a:t>
            </a:r>
          </a:p>
          <a:p>
            <a:pPr algn="l" indent="-457200" lvl="1" marL="692150">
              <a:lnSpc>
                <a:spcPct val="115000"/>
              </a:lnSpc>
              <a:spcAft>
                <a:spcPct val="50000"/>
              </a:spcAft>
              <a:buSzPct val="80000"/>
              <a:buFontTx/>
              <a:buBlip>
                <a:blip xmlns:r="http://schemas.openxmlformats.org/officeDocument/2006/relationships" r:embed="rId1"/>
              </a:buBlip>
            </a:pPr>
            <a:r>
              <a:rPr altLang="en-US" sz="2500" lang="en-US">
                <a:solidFill>
                  <a:srgbClr val="000000"/>
                </a:solidFill>
              </a:rPr>
              <a:t>To improve understanding, companies group similar assets and similar liabilities together.</a:t>
            </a:r>
          </a:p>
        </p:txBody>
      </p:sp>
      <p:sp>
        <p:nvSpPr>
          <p:cNvPr id="1048877" name=""/>
          <p:cNvSpPr txBox="1"/>
          <p:nvPr/>
        </p:nvSpPr>
        <p:spPr>
          <a:xfrm rot="0">
            <a:off x="457200" y="3932237"/>
            <a:ext cx="8458200" cy="2011362"/>
          </a:xfrm>
          <a:prstGeom prst="rect"/>
          <a:solidFill>
            <a:srgbClr val="CCECFF"/>
          </a:solidFill>
          <a:ln w="28575" cap="sq" cmpd="sng">
            <a:solidFill>
              <a:schemeClr val="dk1">
                <a:alpha val="100000"/>
              </a:schemeClr>
            </a:solidFill>
            <a:prstDash val="solid"/>
            <a:round/>
          </a:ln>
        </p:spPr>
        <p:txBody>
          <a:bodyPr bIns="45720" lIns="13716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110000"/>
              </a:lnSpc>
              <a:spcBef>
                <a:spcPct val="15000"/>
              </a:spcBef>
              <a:tabLst>
                <a:tab algn="l" pos="1427162"/>
                <a:tab algn="l" pos="4281487"/>
              </a:tabLst>
            </a:pPr>
            <a:r>
              <a:rPr altLang="en-US" sz="2100" lang="en-US"/>
              <a:t>	</a:t>
            </a:r>
            <a:r>
              <a:rPr altLang="en-US" b="1" sz="2100" lang="en-US"/>
              <a:t>Assets	Liabilities and Owner’s Equity</a:t>
            </a:r>
          </a:p>
          <a:p>
            <a:pPr algn="l" lvl="0">
              <a:spcBef>
                <a:spcPct val="35000"/>
              </a:spcBef>
            </a:pPr>
            <a:r>
              <a:rPr altLang="en-US" sz="2100" lang="en-US"/>
              <a:t>Current assets	Current liabilities</a:t>
            </a:r>
          </a:p>
          <a:p>
            <a:pPr algn="l" lvl="0">
              <a:spcBef>
                <a:spcPct val="15000"/>
              </a:spcBef>
            </a:pPr>
            <a:r>
              <a:rPr altLang="en-US" sz="2100" lang="en-US"/>
              <a:t>Long-term investments	Long-term liabilities</a:t>
            </a:r>
          </a:p>
          <a:p>
            <a:pPr algn="l" lvl="0">
              <a:spcBef>
                <a:spcPct val="15000"/>
              </a:spcBef>
            </a:pPr>
            <a:r>
              <a:rPr altLang="en-US" sz="2100" lang="en-US"/>
              <a:t>Property, plant, and equipment	Owner’s equity</a:t>
            </a:r>
          </a:p>
          <a:p>
            <a:pPr algn="l" lvl="0">
              <a:spcBef>
                <a:spcPct val="15000"/>
              </a:spcBef>
              <a:spcAft>
                <a:spcPct val="5000"/>
              </a:spcAft>
            </a:pPr>
            <a:r>
              <a:rPr altLang="en-US" sz="2100" lang="en-US"/>
              <a:t>Intangible assets</a:t>
            </a:r>
          </a:p>
        </p:txBody>
      </p:sp>
      <p:sp>
        <p:nvSpPr>
          <p:cNvPr id="1048878" name=""/>
          <p:cNvSpPr txBox="1"/>
          <p:nvPr/>
        </p:nvSpPr>
        <p:spPr>
          <a:xfrm rot="0">
            <a:off x="7086600" y="3592512"/>
            <a:ext cx="1447800" cy="303212"/>
          </a:xfrm>
          <a:prstGeom prst="rect"/>
          <a:solidFill>
            <a:srgbClr val="FFFFCC"/>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r>
              <a:rPr altLang="en-US" sz="1200" lang="en-US"/>
              <a:t>Illustration 4-17</a:t>
            </a:r>
          </a:p>
        </p:txBody>
      </p:sp>
      <p:sp>
        <p:nvSpPr>
          <p:cNvPr id="1048879" name=""/>
          <p:cNvSpPr/>
          <p:nvPr/>
        </p:nvSpPr>
        <p:spPr>
          <a:xfrm rot="0">
            <a:off x="381000" y="3352800"/>
            <a:ext cx="47244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2600" lang="en-US">
                <a:solidFill>
                  <a:srgbClr val="800000"/>
                </a:solidFill>
                <a:effectLst>
                  <a:outerShdw algn="tl" blurRad="38100" dir="2700000" dist="38100">
                    <a:srgbClr val="C0C0C0"/>
                  </a:outerShdw>
                </a:effectLst>
              </a:rPr>
              <a:t>Standard Classifications</a:t>
            </a:r>
          </a:p>
        </p:txBody>
      </p:sp>
      <p:sp>
        <p:nvSpPr>
          <p:cNvPr id="1048880" name=""/>
          <p:cNvSpPr/>
          <p:nvPr/>
        </p:nvSpPr>
        <p:spPr>
          <a:xfrm rot="0">
            <a:off x="4876800" y="4419600"/>
            <a:ext cx="3886200" cy="0"/>
          </a:xfrm>
          <a:prstGeom prst="line"/>
          <a:noFill/>
          <a:ln w="28575" cap="sq" cmpd="sng">
            <a:solidFill>
              <a:schemeClr val="dk1">
                <a:alpha val="100000"/>
              </a:schemeClr>
            </a:solidFill>
            <a:prstDash val="solid"/>
            <a:round/>
          </a:ln>
        </p:spPr>
      </p:sp>
      <p:sp>
        <p:nvSpPr>
          <p:cNvPr id="1048881" name=""/>
          <p:cNvSpPr/>
          <p:nvPr/>
        </p:nvSpPr>
        <p:spPr>
          <a:xfrm rot="0">
            <a:off x="609600" y="4419600"/>
            <a:ext cx="3810000" cy="0"/>
          </a:xfrm>
          <a:prstGeom prst="line"/>
          <a:noFill/>
          <a:ln w="28575" cap="sq" cmpd="sng">
            <a:solidFill>
              <a:schemeClr val="dk1">
                <a:alpha val="100000"/>
              </a:schemeClr>
            </a:solidFill>
            <a:prstDash val="solid"/>
            <a:round/>
          </a:ln>
        </p:spPr>
      </p:sp>
    </p:spTree>
  </p:cSld>
  <p:clrMapOvr>
    <a:masterClrMapping/>
  </p:clrMapOvr>
  <p:transition spd="fast" advClick="1">
    <p:wipe dir="r"/>
  </p:transition>
</p:sld>
</file>

<file path=ppt/slides/slide31.xml><?xml version="1.0" encoding="utf-8"?>
<p:sld xmlns:a="http://schemas.openxmlformats.org/drawingml/2006/main" xmlns:r="http://schemas.openxmlformats.org/officeDocument/2006/relationships" xmlns:p="http://schemas.openxmlformats.org/presentationml/2006/main" showMasterSp="1">
  <p:cSld>
    <p:spTree>
      <p:nvGrpSpPr>
        <p:cNvPr id="147" name=""/>
        <p:cNvGrpSpPr/>
        <p:nvPr/>
      </p:nvGrpSpPr>
      <p:grpSpPr>
        <a:xfrm rot="0">
          <a:off x="0" y="0"/>
          <a:ext cx="0" cy="0"/>
          <a:chOff x="0" y="0"/>
          <a:chExt cx="0" cy="0"/>
        </a:xfrm>
      </p:grpSpPr>
      <p:sp>
        <p:nvSpPr>
          <p:cNvPr id="1048884"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The Classified Balance Sheet</a:t>
            </a:r>
          </a:p>
        </p:txBody>
      </p:sp>
      <p:sp>
        <p:nvSpPr>
          <p:cNvPr id="1048885"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6  Identify the sections of a classified balance sheet.</a:t>
            </a:r>
          </a:p>
        </p:txBody>
      </p:sp>
      <p:sp>
        <p:nvSpPr>
          <p:cNvPr id="1048886" name=""/>
          <p:cNvSpPr txBox="1"/>
          <p:nvPr/>
        </p:nvSpPr>
        <p:spPr>
          <a:xfrm rot="0">
            <a:off x="685800" y="1974850"/>
            <a:ext cx="7924800" cy="30337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388937" lvl="1" marL="623887">
              <a:lnSpc>
                <a:spcPct val="115000"/>
              </a:lnSpc>
              <a:spcAft>
                <a:spcPct val="50000"/>
              </a:spcAft>
              <a:buSzPct val="80000"/>
              <a:buFontTx/>
              <a:buBlip>
                <a:blip xmlns:r="http://schemas.openxmlformats.org/officeDocument/2006/relationships" r:embed="rId1"/>
              </a:buBlip>
            </a:pPr>
            <a:r>
              <a:rPr altLang="en-US" sz="2600" lang="en-US">
                <a:solidFill>
                  <a:srgbClr val="000000"/>
                </a:solidFill>
              </a:rPr>
              <a:t>Assets that a company expects to convert to cash or use up </a:t>
            </a:r>
            <a:r>
              <a:rPr altLang="en-US" b="1" sz="2600" lang="en-US">
                <a:solidFill>
                  <a:schemeClr val="hlink"/>
                </a:solidFill>
              </a:rPr>
              <a:t>within one year</a:t>
            </a:r>
            <a:r>
              <a:rPr altLang="en-US" sz="2600" lang="en-US">
                <a:solidFill>
                  <a:srgbClr val="000000"/>
                </a:solidFill>
              </a:rPr>
              <a:t> or the </a:t>
            </a:r>
            <a:r>
              <a:rPr altLang="en-US" b="1" sz="2600" lang="en-US">
                <a:solidFill>
                  <a:schemeClr val="hlink"/>
                </a:solidFill>
              </a:rPr>
              <a:t>operating cycle</a:t>
            </a:r>
            <a:r>
              <a:rPr altLang="en-US" sz="2600" lang="en-US">
                <a:solidFill>
                  <a:srgbClr val="000000"/>
                </a:solidFill>
              </a:rPr>
              <a:t>, whichever is longer.</a:t>
            </a:r>
          </a:p>
          <a:p>
            <a:pPr algn="l" indent="-388937" lvl="1" marL="623887">
              <a:lnSpc>
                <a:spcPct val="115000"/>
              </a:lnSpc>
              <a:spcAft>
                <a:spcPct val="50000"/>
              </a:spcAft>
              <a:buSzPct val="80000"/>
              <a:buFontTx/>
              <a:buBlip>
                <a:blip xmlns:r="http://schemas.openxmlformats.org/officeDocument/2006/relationships" r:embed="rId1"/>
              </a:buBlip>
            </a:pPr>
            <a:r>
              <a:rPr altLang="en-US" b="1" sz="2600" lang="en-US">
                <a:solidFill>
                  <a:schemeClr val="hlink"/>
                </a:solidFill>
              </a:rPr>
              <a:t>Operating cycle</a:t>
            </a:r>
            <a:r>
              <a:rPr altLang="en-US" sz="2600" lang="en-US">
                <a:solidFill>
                  <a:srgbClr val="000000"/>
                </a:solidFill>
              </a:rPr>
              <a:t> is the average time it takes from the purchase of inventory to the collection of cash from customers.</a:t>
            </a:r>
          </a:p>
        </p:txBody>
      </p:sp>
      <p:sp>
        <p:nvSpPr>
          <p:cNvPr id="1048887" name=""/>
          <p:cNvSpPr/>
          <p:nvPr/>
        </p:nvSpPr>
        <p:spPr>
          <a:xfrm rot="0">
            <a:off x="533400" y="1371600"/>
            <a:ext cx="63246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000" lang="en-US">
                <a:solidFill>
                  <a:srgbClr val="800000"/>
                </a:solidFill>
                <a:effectLst>
                  <a:outerShdw algn="tl" blurRad="38100" dir="2700000" dist="38100">
                    <a:srgbClr val="C0C0C0"/>
                  </a:outerShdw>
                </a:effectLst>
              </a:rPr>
              <a:t>Current Assets</a:t>
            </a:r>
          </a:p>
        </p:txBody>
      </p:sp>
    </p:spTree>
  </p:cSld>
  <p:clrMapOvr>
    <a:masterClrMapping/>
  </p:clrMapOvr>
  <p:transition spd="fast" advClick="1">
    <p:wipe dir="r"/>
  </p:transition>
</p:sld>
</file>

<file path=ppt/slides/slide32.xml><?xml version="1.0" encoding="utf-8"?>
<p:sld xmlns:a="http://schemas.openxmlformats.org/drawingml/2006/main" xmlns:r="http://schemas.openxmlformats.org/officeDocument/2006/relationships" xmlns:p="http://schemas.openxmlformats.org/presentationml/2006/main" showMasterSp="1">
  <p:cSld>
    <p:spTree>
      <p:nvGrpSpPr>
        <p:cNvPr id="150" name=""/>
        <p:cNvGrpSpPr/>
        <p:nvPr/>
      </p:nvGrpSpPr>
      <p:grpSpPr>
        <a:xfrm rot="0">
          <a:off x="0" y="0"/>
          <a:ext cx="0" cy="0"/>
          <a:chOff x="0" y="0"/>
          <a:chExt cx="0" cy="0"/>
        </a:xfrm>
      </p:grpSpPr>
      <p:sp>
        <p:nvSpPr>
          <p:cNvPr id="1048890"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The Classified Balance Sheet</a:t>
            </a:r>
          </a:p>
        </p:txBody>
      </p:sp>
      <p:sp>
        <p:nvSpPr>
          <p:cNvPr id="1048891"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6  Identify the sections of a classified balance sheet.</a:t>
            </a:r>
          </a:p>
        </p:txBody>
      </p:sp>
      <p:sp>
        <p:nvSpPr>
          <p:cNvPr id="1048892" name=""/>
          <p:cNvSpPr txBox="1"/>
          <p:nvPr/>
        </p:nvSpPr>
        <p:spPr>
          <a:xfrm rot="0">
            <a:off x="685800" y="5432425"/>
            <a:ext cx="7924800" cy="739775"/>
          </a:xfrm>
          <a:prstGeom prst="rect"/>
          <a:solidFill>
            <a:srgbClr val="FFFFCC"/>
          </a:solidFill>
          <a:ln w="38100"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1"/>
            <a:r>
              <a:rPr altLang="en-US" sz="2000" lang="en-US"/>
              <a:t>Companies usually list current asset accounts in the order they expect to convert them into cash.</a:t>
            </a:r>
          </a:p>
        </p:txBody>
      </p:sp>
      <p:pic>
        <p:nvPicPr>
          <p:cNvPr id="2097173" name=""/>
          <p:cNvPicPr>
            <a:picLocks/>
          </p:cNvPicPr>
          <p:nvPr/>
        </p:nvPicPr>
        <p:blipFill>
          <a:blip xmlns:r="http://schemas.openxmlformats.org/officeDocument/2006/relationships" r:embed="rId1"/>
          <a:srcRect l="0" t="0" r="0" b="0"/>
          <a:stretch>
            <a:fillRect/>
          </a:stretch>
        </p:blipFill>
        <p:spPr>
          <a:xfrm rot="0">
            <a:off x="152400" y="1947862"/>
            <a:ext cx="8763000" cy="3386137"/>
          </a:xfrm>
          <a:prstGeom prst="rect"/>
          <a:noFill/>
          <a:ln>
            <a:noFill/>
          </a:ln>
        </p:spPr>
      </p:pic>
      <p:sp>
        <p:nvSpPr>
          <p:cNvPr id="1048893" name=""/>
          <p:cNvSpPr txBox="1"/>
          <p:nvPr/>
        </p:nvSpPr>
        <p:spPr>
          <a:xfrm rot="0">
            <a:off x="7391400" y="1752600"/>
            <a:ext cx="1447800" cy="303212"/>
          </a:xfrm>
          <a:prstGeom prst="rect"/>
          <a:solidFill>
            <a:srgbClr val="FFFFCC"/>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r>
              <a:rPr altLang="en-US" sz="1200" lang="en-US"/>
              <a:t>Illustration 4-19</a:t>
            </a:r>
          </a:p>
        </p:txBody>
      </p:sp>
      <p:sp>
        <p:nvSpPr>
          <p:cNvPr id="1048894" name=""/>
          <p:cNvSpPr/>
          <p:nvPr/>
        </p:nvSpPr>
        <p:spPr>
          <a:xfrm rot="0">
            <a:off x="533400" y="1371600"/>
            <a:ext cx="63246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000" lang="en-US">
                <a:solidFill>
                  <a:srgbClr val="800000"/>
                </a:solidFill>
                <a:effectLst>
                  <a:outerShdw algn="tl" blurRad="38100" dir="2700000" dist="38100">
                    <a:srgbClr val="C0C0C0"/>
                  </a:outerShdw>
                </a:effectLst>
              </a:rPr>
              <a:t>Current Assets</a:t>
            </a:r>
          </a:p>
        </p:txBody>
      </p:sp>
    </p:spTree>
  </p:cSld>
  <p:clrMapOvr>
    <a:masterClrMapping/>
  </p:clrMapOvr>
  <p:transition spd="fast" advClick="1">
    <p:wipe dir="r"/>
  </p:transition>
</p:sld>
</file>

<file path=ppt/slides/slide33.xml><?xml version="1.0" encoding="utf-8"?>
<p:sld xmlns:a="http://schemas.openxmlformats.org/drawingml/2006/main" xmlns:r="http://schemas.openxmlformats.org/officeDocument/2006/relationships" xmlns:p="http://schemas.openxmlformats.org/presentationml/2006/main" showMasterSp="1">
  <p:cSld>
    <p:spTree>
      <p:nvGrpSpPr>
        <p:cNvPr id="153" name=""/>
        <p:cNvGrpSpPr/>
        <p:nvPr/>
      </p:nvGrpSpPr>
      <p:grpSpPr>
        <a:xfrm rot="0">
          <a:off x="0" y="0"/>
          <a:ext cx="0" cy="0"/>
          <a:chOff x="0" y="0"/>
          <a:chExt cx="0" cy="0"/>
        </a:xfrm>
      </p:grpSpPr>
      <p:sp>
        <p:nvSpPr>
          <p:cNvPr id="1048897" name=""/>
          <p:cNvSpPr/>
          <p:nvPr/>
        </p:nvSpPr>
        <p:spPr>
          <a:xfrm rot="0">
            <a:off x="838200" y="1981200"/>
            <a:ext cx="8001000" cy="4114800"/>
          </a:xfrm>
          <a:prstGeom prst="rect"/>
          <a:solidFill>
            <a:schemeClr val="lt1"/>
          </a:solid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0000"/>
              </a:spcBef>
              <a:buClr>
                <a:schemeClr val="dk1"/>
              </a:buClr>
              <a:buFont typeface="Wingdings" pitchFamily="2" charset="2"/>
              <a:buNone/>
            </a:pPr>
            <a:r>
              <a:rPr altLang="en-US" sz="2600" lang="en-US">
                <a:ea typeface="Times New Roman" pitchFamily="18" charset="0"/>
              </a:rPr>
              <a:t>Cash, and other resources that are reasonably expected to be realized in cash or sold or consumed in the business within one year or the operating cycle, are called:</a:t>
            </a:r>
          </a:p>
          <a:p>
            <a:pPr algn="l" indent="-457200" lvl="1" marL="692150">
              <a:spcBef>
                <a:spcPct val="40000"/>
              </a:spcBef>
              <a:buClr>
                <a:schemeClr val="dk1"/>
              </a:buClr>
              <a:buFont typeface="Wingdings" pitchFamily="2" charset="2"/>
              <a:buAutoNum type="alphaLcPeriod" startAt="1"/>
            </a:pPr>
            <a:r>
              <a:rPr altLang="en-US" sz="2600" lang="en-US">
                <a:ea typeface="Times New Roman" pitchFamily="18" charset="0"/>
              </a:rPr>
              <a:t>Current assets.</a:t>
            </a:r>
          </a:p>
          <a:p>
            <a:pPr algn="l" indent="-457200" lvl="1" marL="692150">
              <a:spcBef>
                <a:spcPct val="40000"/>
              </a:spcBef>
              <a:buClr>
                <a:schemeClr val="dk1"/>
              </a:buClr>
              <a:buFont typeface="Wingdings" pitchFamily="2" charset="2"/>
              <a:buAutoNum type="alphaLcPeriod" startAt="1"/>
            </a:pPr>
            <a:r>
              <a:rPr altLang="en-US" sz="2600" lang="en-US">
                <a:ea typeface="Times New Roman" pitchFamily="18" charset="0"/>
              </a:rPr>
              <a:t>Intangible assets.</a:t>
            </a:r>
          </a:p>
          <a:p>
            <a:pPr algn="l" indent="-457200" lvl="1" marL="692150">
              <a:spcBef>
                <a:spcPct val="40000"/>
              </a:spcBef>
              <a:buClr>
                <a:schemeClr val="dk1"/>
              </a:buClr>
              <a:buFont typeface="Wingdings" pitchFamily="2" charset="2"/>
              <a:buAutoNum type="alphaLcPeriod" startAt="1"/>
            </a:pPr>
            <a:r>
              <a:rPr altLang="en-US" sz="2600" lang="en-US">
                <a:ea typeface="Times New Roman" pitchFamily="18" charset="0"/>
              </a:rPr>
              <a:t>Long-term investments.</a:t>
            </a:r>
          </a:p>
          <a:p>
            <a:pPr algn="l" indent="-457200" lvl="1" marL="692150">
              <a:spcBef>
                <a:spcPct val="40000"/>
              </a:spcBef>
              <a:buClr>
                <a:schemeClr val="dk1"/>
              </a:buClr>
              <a:buFont typeface="Wingdings" pitchFamily="2" charset="2"/>
              <a:buAutoNum type="alphaLcPeriod" startAt="1"/>
            </a:pPr>
            <a:r>
              <a:rPr altLang="en-US" sz="2600" lang="en-US">
                <a:ea typeface="Times New Roman" pitchFamily="18" charset="0"/>
              </a:rPr>
              <a:t>Property, plant, and equipment.</a:t>
            </a:r>
          </a:p>
        </p:txBody>
      </p:sp>
      <p:sp>
        <p:nvSpPr>
          <p:cNvPr id="1048898" name=""/>
          <p:cNvSpPr/>
          <p:nvPr/>
        </p:nvSpPr>
        <p:spPr>
          <a:xfrm rot="0">
            <a:off x="1143000" y="3810000"/>
            <a:ext cx="381000" cy="381000"/>
          </a:xfrm>
          <a:prstGeom prst="ellipse"/>
          <a:noFill/>
          <a:ln w="57150" cap="sq" cmpd="sng">
            <a:solidFill>
              <a:srgbClr val="800000">
                <a:alpha val="100000"/>
              </a:srgb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899" name=""/>
          <p:cNvSpPr/>
          <p:nvPr/>
        </p:nvSpPr>
        <p:spPr>
          <a:xfrm rot="0">
            <a:off x="533400" y="1371600"/>
            <a:ext cx="53340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200" lang="en-US">
                <a:solidFill>
                  <a:srgbClr val="800000"/>
                </a:solidFill>
                <a:effectLst>
                  <a:outerShdw algn="tl" blurRad="38100" dir="2700000" dist="38100">
                    <a:srgbClr val="C0C0C0"/>
                  </a:outerShdw>
                </a:effectLst>
              </a:rPr>
              <a:t>Review Question</a:t>
            </a:r>
          </a:p>
        </p:txBody>
      </p:sp>
      <p:sp>
        <p:nvSpPr>
          <p:cNvPr id="1048900"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The Classified Balance Sheet</a:t>
            </a:r>
          </a:p>
        </p:txBody>
      </p:sp>
      <p:sp>
        <p:nvSpPr>
          <p:cNvPr id="1048901"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6  Identify the sections of a classified balance sheet.</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8898"/>
                                        </p:tgtEl>
                                        <p:attrNameLst>
                                          <p:attrName>style.visibility</p:attrName>
                                        </p:attrNameLst>
                                      </p:cBhvr>
                                      <p:to>
                                        <p:strVal val="visible"/>
                                      </p:to>
                                    </p:set>
                                    <p:animEffect transition="in" filter="wipe(left)">
                                      <p:cBhvr>
                                        <p:cTn dur="500" id="7"/>
                                        <p:tgtEl>
                                          <p:spTgt spid="10488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98" grpId="0" uiExpand="0" build="whole"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Sp="1">
  <p:cSld>
    <p:spTree>
      <p:nvGrpSpPr>
        <p:cNvPr id="156" name=""/>
        <p:cNvGrpSpPr/>
        <p:nvPr/>
      </p:nvGrpSpPr>
      <p:grpSpPr>
        <a:xfrm rot="0">
          <a:off x="0" y="0"/>
          <a:ext cx="0" cy="0"/>
          <a:chOff x="0" y="0"/>
          <a:chExt cx="0" cy="0"/>
        </a:xfrm>
      </p:grpSpPr>
      <p:sp>
        <p:nvSpPr>
          <p:cNvPr id="1048904"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The Classified Balance Sheet</a:t>
            </a:r>
          </a:p>
        </p:txBody>
      </p:sp>
      <p:sp>
        <p:nvSpPr>
          <p:cNvPr id="1048905"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6  Identify the sections of a classified balance sheet.</a:t>
            </a:r>
          </a:p>
        </p:txBody>
      </p:sp>
      <p:sp>
        <p:nvSpPr>
          <p:cNvPr id="1048906" name=""/>
          <p:cNvSpPr txBox="1"/>
          <p:nvPr/>
        </p:nvSpPr>
        <p:spPr>
          <a:xfrm rot="0">
            <a:off x="609600" y="1981200"/>
            <a:ext cx="8458200" cy="195738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388937" lvl="1" marL="623887">
              <a:lnSpc>
                <a:spcPct val="115000"/>
              </a:lnSpc>
              <a:spcAft>
                <a:spcPct val="50000"/>
              </a:spcAft>
              <a:buSzPct val="80000"/>
              <a:buFontTx/>
              <a:buBlip>
                <a:blip xmlns:r="http://schemas.openxmlformats.org/officeDocument/2006/relationships" r:embed="rId1"/>
              </a:buBlip>
            </a:pPr>
            <a:r>
              <a:rPr altLang="en-US" lang="en-US">
                <a:solidFill>
                  <a:srgbClr val="000000"/>
                </a:solidFill>
              </a:rPr>
              <a:t>Investments in stocks and bonds of other companies. </a:t>
            </a:r>
          </a:p>
          <a:p>
            <a:pPr algn="l" indent="-388937" lvl="1" marL="623887">
              <a:lnSpc>
                <a:spcPct val="115000"/>
              </a:lnSpc>
              <a:spcAft>
                <a:spcPct val="50000"/>
              </a:spcAft>
              <a:buSzPct val="80000"/>
              <a:buFontTx/>
              <a:buBlip>
                <a:blip xmlns:r="http://schemas.openxmlformats.org/officeDocument/2006/relationships" r:embed="rId1"/>
              </a:buBlip>
            </a:pPr>
            <a:r>
              <a:rPr altLang="en-US" lang="en-US">
                <a:solidFill>
                  <a:srgbClr val="000000"/>
                </a:solidFill>
              </a:rPr>
              <a:t>Investments in long-term assets such as land or buildings that a company is not currently using in its operating activities.</a:t>
            </a:r>
          </a:p>
        </p:txBody>
      </p:sp>
      <p:sp>
        <p:nvSpPr>
          <p:cNvPr id="1048907" name=""/>
          <p:cNvSpPr/>
          <p:nvPr/>
        </p:nvSpPr>
        <p:spPr>
          <a:xfrm rot="0">
            <a:off x="533400" y="1371600"/>
            <a:ext cx="63246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000" lang="en-US">
                <a:solidFill>
                  <a:srgbClr val="800000"/>
                </a:solidFill>
                <a:effectLst>
                  <a:outerShdw algn="tl" blurRad="38100" dir="2700000" dist="38100">
                    <a:srgbClr val="C0C0C0"/>
                  </a:outerShdw>
                </a:effectLst>
              </a:rPr>
              <a:t>Long-Term Investments</a:t>
            </a:r>
          </a:p>
        </p:txBody>
      </p:sp>
      <p:pic>
        <p:nvPicPr>
          <p:cNvPr id="2097174" name=""/>
          <p:cNvPicPr>
            <a:picLocks/>
          </p:cNvPicPr>
          <p:nvPr/>
        </p:nvPicPr>
        <p:blipFill>
          <a:blip xmlns:r="http://schemas.openxmlformats.org/officeDocument/2006/relationships" r:embed="rId2"/>
          <a:srcRect l="0" t="0" r="0" b="0"/>
          <a:stretch>
            <a:fillRect/>
          </a:stretch>
        </p:blipFill>
        <p:spPr>
          <a:xfrm rot="0">
            <a:off x="498475" y="5218112"/>
            <a:ext cx="8264525" cy="725487"/>
          </a:xfrm>
          <a:prstGeom prst="rect"/>
          <a:noFill/>
          <a:ln>
            <a:noFill/>
          </a:ln>
        </p:spPr>
      </p:pic>
      <p:pic>
        <p:nvPicPr>
          <p:cNvPr id="2097175" name=""/>
          <p:cNvPicPr>
            <a:picLocks/>
          </p:cNvPicPr>
          <p:nvPr/>
        </p:nvPicPr>
        <p:blipFill>
          <a:blip xmlns:r="http://schemas.openxmlformats.org/officeDocument/2006/relationships" r:embed="rId3"/>
          <a:srcRect l="0" t="0" r="0" b="0"/>
          <a:stretch>
            <a:fillRect/>
          </a:stretch>
        </p:blipFill>
        <p:spPr>
          <a:xfrm rot="0">
            <a:off x="350837" y="4038600"/>
            <a:ext cx="8412162" cy="1222375"/>
          </a:xfrm>
          <a:prstGeom prst="rect"/>
          <a:noFill/>
          <a:ln>
            <a:noFill/>
          </a:ln>
        </p:spPr>
      </p:pic>
      <p:sp>
        <p:nvSpPr>
          <p:cNvPr id="1048908" name=""/>
          <p:cNvSpPr txBox="1"/>
          <p:nvPr/>
        </p:nvSpPr>
        <p:spPr>
          <a:xfrm rot="0">
            <a:off x="7467600" y="3810000"/>
            <a:ext cx="1447800" cy="303212"/>
          </a:xfrm>
          <a:prstGeom prst="rect"/>
          <a:solidFill>
            <a:srgbClr val="FFFFCC"/>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r>
              <a:rPr altLang="en-US" sz="1200" lang="en-US"/>
              <a:t>Illustration 4-20</a:t>
            </a:r>
          </a:p>
        </p:txBody>
      </p:sp>
    </p:spTree>
  </p:cSld>
  <p:clrMapOvr>
    <a:masterClrMapping/>
  </p:clrMapOvr>
  <p:transition spd="fast" advClick="1">
    <p:wipe dir="r"/>
  </p:transition>
</p:sld>
</file>

<file path=ppt/slides/slide35.xml><?xml version="1.0" encoding="utf-8"?>
<p:sld xmlns:a="http://schemas.openxmlformats.org/drawingml/2006/main" xmlns:r="http://schemas.openxmlformats.org/officeDocument/2006/relationships" xmlns:p="http://schemas.openxmlformats.org/presentationml/2006/main" showMasterSp="1">
  <p:cSld>
    <p:spTree>
      <p:nvGrpSpPr>
        <p:cNvPr id="159" name=""/>
        <p:cNvGrpSpPr/>
        <p:nvPr/>
      </p:nvGrpSpPr>
      <p:grpSpPr>
        <a:xfrm rot="0">
          <a:off x="0" y="0"/>
          <a:ext cx="0" cy="0"/>
          <a:chOff x="0" y="0"/>
          <a:chExt cx="0" cy="0"/>
        </a:xfrm>
      </p:grpSpPr>
      <p:sp>
        <p:nvSpPr>
          <p:cNvPr id="1048911"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The Classified Balance Sheet</a:t>
            </a:r>
          </a:p>
        </p:txBody>
      </p:sp>
      <p:sp>
        <p:nvSpPr>
          <p:cNvPr id="1048912"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6  Identify the sections of a classified balance sheet.</a:t>
            </a:r>
          </a:p>
        </p:txBody>
      </p:sp>
      <p:sp>
        <p:nvSpPr>
          <p:cNvPr id="1048913" name=""/>
          <p:cNvSpPr txBox="1"/>
          <p:nvPr/>
        </p:nvSpPr>
        <p:spPr>
          <a:xfrm rot="0">
            <a:off x="609600" y="1981200"/>
            <a:ext cx="8458200" cy="388778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388937" lvl="1" marL="623887">
              <a:lnSpc>
                <a:spcPct val="115000"/>
              </a:lnSpc>
              <a:spcAft>
                <a:spcPct val="50000"/>
              </a:spcAft>
              <a:buSzPct val="80000"/>
              <a:buFontTx/>
              <a:buBlip>
                <a:blip xmlns:r="http://schemas.openxmlformats.org/officeDocument/2006/relationships" r:embed="rId1"/>
              </a:buBlip>
            </a:pPr>
            <a:r>
              <a:rPr altLang="en-US" sz="2600" lang="en-US">
                <a:solidFill>
                  <a:srgbClr val="000000"/>
                </a:solidFill>
              </a:rPr>
              <a:t>Long useful lives.</a:t>
            </a:r>
          </a:p>
          <a:p>
            <a:pPr algn="l" indent="-388937" lvl="1" marL="623887">
              <a:lnSpc>
                <a:spcPct val="115000"/>
              </a:lnSpc>
              <a:spcAft>
                <a:spcPct val="50000"/>
              </a:spcAft>
              <a:buSzPct val="80000"/>
              <a:buFontTx/>
              <a:buBlip>
                <a:blip xmlns:r="http://schemas.openxmlformats.org/officeDocument/2006/relationships" r:embed="rId1"/>
              </a:buBlip>
            </a:pPr>
            <a:r>
              <a:rPr altLang="en-US" sz="2600" lang="en-US">
                <a:solidFill>
                  <a:srgbClr val="000000"/>
                </a:solidFill>
              </a:rPr>
              <a:t>Currently used in operations.</a:t>
            </a:r>
          </a:p>
          <a:p>
            <a:pPr algn="l" indent="-388937" lvl="1" marL="623887">
              <a:lnSpc>
                <a:spcPct val="115000"/>
              </a:lnSpc>
              <a:spcAft>
                <a:spcPct val="50000"/>
              </a:spcAft>
              <a:buSzPct val="80000"/>
              <a:buFontTx/>
              <a:buBlip>
                <a:blip xmlns:r="http://schemas.openxmlformats.org/officeDocument/2006/relationships" r:embed="rId1"/>
              </a:buBlip>
            </a:pPr>
            <a:r>
              <a:rPr altLang="en-US" b="1" sz="2600" lang="en-US">
                <a:solidFill>
                  <a:schemeClr val="hlink"/>
                </a:solidFill>
              </a:rPr>
              <a:t>Depreciation</a:t>
            </a:r>
            <a:r>
              <a:rPr altLang="en-US" sz="2600" lang="en-US">
                <a:solidFill>
                  <a:srgbClr val="000000"/>
                </a:solidFill>
              </a:rPr>
              <a:t> - allocating the cost of assets to a number of years.</a:t>
            </a:r>
          </a:p>
          <a:p>
            <a:pPr algn="l" indent="-388937" lvl="1" marL="623887">
              <a:lnSpc>
                <a:spcPct val="115000"/>
              </a:lnSpc>
              <a:spcAft>
                <a:spcPct val="50000"/>
              </a:spcAft>
              <a:buSzPct val="80000"/>
              <a:buFontTx/>
              <a:buBlip>
                <a:blip xmlns:r="http://schemas.openxmlformats.org/officeDocument/2006/relationships" r:embed="rId1"/>
              </a:buBlip>
            </a:pPr>
            <a:r>
              <a:rPr altLang="en-US" b="1" sz="2600" lang="en-US">
                <a:solidFill>
                  <a:schemeClr val="hlink"/>
                </a:solidFill>
              </a:rPr>
              <a:t>Accumulated depreciation</a:t>
            </a:r>
            <a:r>
              <a:rPr altLang="en-US" sz="2600" lang="en-US">
                <a:solidFill>
                  <a:srgbClr val="000000"/>
                </a:solidFill>
              </a:rPr>
              <a:t> - total amount of depreciation expensed thus far in the asset’s life.</a:t>
            </a:r>
          </a:p>
        </p:txBody>
      </p:sp>
      <p:sp>
        <p:nvSpPr>
          <p:cNvPr id="1048914" name=""/>
          <p:cNvSpPr/>
          <p:nvPr/>
        </p:nvSpPr>
        <p:spPr>
          <a:xfrm rot="0">
            <a:off x="533400" y="1371600"/>
            <a:ext cx="63246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000" lang="en-US">
                <a:solidFill>
                  <a:srgbClr val="800000"/>
                </a:solidFill>
                <a:effectLst>
                  <a:outerShdw algn="tl" blurRad="38100" dir="2700000" dist="38100">
                    <a:srgbClr val="C0C0C0"/>
                  </a:outerShdw>
                </a:effectLst>
              </a:rPr>
              <a:t>Property, Plant, and Equipment</a:t>
            </a:r>
          </a:p>
        </p:txBody>
      </p:sp>
    </p:spTree>
  </p:cSld>
  <p:clrMapOvr>
    <a:masterClrMapping/>
  </p:clrMapOvr>
  <p:transition spd="fast" advClick="1">
    <p:wipe dir="r"/>
  </p:transition>
</p:sld>
</file>

<file path=ppt/slides/slide36.xml><?xml version="1.0" encoding="utf-8"?>
<p:sld xmlns:a="http://schemas.openxmlformats.org/drawingml/2006/main" xmlns:r="http://schemas.openxmlformats.org/officeDocument/2006/relationships" xmlns:p="http://schemas.openxmlformats.org/presentationml/2006/main" showMasterSp="1">
  <p:cSld>
    <p:spTree>
      <p:nvGrpSpPr>
        <p:cNvPr id="162" name=""/>
        <p:cNvGrpSpPr/>
        <p:nvPr/>
      </p:nvGrpSpPr>
      <p:grpSpPr>
        <a:xfrm rot="0">
          <a:off x="0" y="0"/>
          <a:ext cx="0" cy="0"/>
          <a:chOff x="0" y="0"/>
          <a:chExt cx="0" cy="0"/>
        </a:xfrm>
      </p:grpSpPr>
      <p:sp>
        <p:nvSpPr>
          <p:cNvPr id="1048917"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The Classified Balance Sheet</a:t>
            </a:r>
          </a:p>
        </p:txBody>
      </p:sp>
      <p:sp>
        <p:nvSpPr>
          <p:cNvPr id="1048918"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6  Identify the sections of a classified balance sheet.</a:t>
            </a:r>
          </a:p>
        </p:txBody>
      </p:sp>
      <p:pic>
        <p:nvPicPr>
          <p:cNvPr id="2097176" name=""/>
          <p:cNvPicPr>
            <a:picLocks/>
          </p:cNvPicPr>
          <p:nvPr/>
        </p:nvPicPr>
        <p:blipFill>
          <a:blip xmlns:r="http://schemas.openxmlformats.org/officeDocument/2006/relationships" r:embed="rId1"/>
          <a:srcRect l="0" t="0" r="0" b="0"/>
          <a:stretch>
            <a:fillRect/>
          </a:stretch>
        </p:blipFill>
        <p:spPr>
          <a:xfrm rot="0">
            <a:off x="533400" y="3509962"/>
            <a:ext cx="8305800" cy="2357437"/>
          </a:xfrm>
          <a:prstGeom prst="rect"/>
          <a:noFill/>
          <a:ln>
            <a:noFill/>
          </a:ln>
        </p:spPr>
      </p:pic>
      <p:pic>
        <p:nvPicPr>
          <p:cNvPr id="2097177" name=""/>
          <p:cNvPicPr>
            <a:picLocks/>
          </p:cNvPicPr>
          <p:nvPr/>
        </p:nvPicPr>
        <p:blipFill>
          <a:blip xmlns:r="http://schemas.openxmlformats.org/officeDocument/2006/relationships" r:embed="rId2"/>
          <a:srcRect l="0" t="0" r="0" b="0"/>
          <a:stretch>
            <a:fillRect/>
          </a:stretch>
        </p:blipFill>
        <p:spPr>
          <a:xfrm rot="0">
            <a:off x="261937" y="2062162"/>
            <a:ext cx="8577262" cy="1470025"/>
          </a:xfrm>
          <a:prstGeom prst="rect"/>
          <a:noFill/>
          <a:ln>
            <a:noFill/>
          </a:ln>
        </p:spPr>
      </p:pic>
      <p:sp>
        <p:nvSpPr>
          <p:cNvPr id="1048919" name=""/>
          <p:cNvSpPr txBox="1"/>
          <p:nvPr/>
        </p:nvSpPr>
        <p:spPr>
          <a:xfrm rot="0">
            <a:off x="7315200" y="1905000"/>
            <a:ext cx="1447800" cy="303212"/>
          </a:xfrm>
          <a:prstGeom prst="rect"/>
          <a:solidFill>
            <a:srgbClr val="FFFFCC"/>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r>
              <a:rPr altLang="en-US" sz="1200" lang="en-US"/>
              <a:t>Illustration 4-21</a:t>
            </a:r>
          </a:p>
        </p:txBody>
      </p:sp>
      <p:sp>
        <p:nvSpPr>
          <p:cNvPr id="1048920" name=""/>
          <p:cNvSpPr/>
          <p:nvPr/>
        </p:nvSpPr>
        <p:spPr>
          <a:xfrm rot="0">
            <a:off x="533400" y="1371600"/>
            <a:ext cx="63246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000" lang="en-US">
                <a:solidFill>
                  <a:srgbClr val="800000"/>
                </a:solidFill>
                <a:effectLst>
                  <a:outerShdw algn="tl" blurRad="38100" dir="2700000" dist="38100">
                    <a:srgbClr val="C0C0C0"/>
                  </a:outerShdw>
                </a:effectLst>
              </a:rPr>
              <a:t>Property, Plant, and Equipment</a:t>
            </a:r>
          </a:p>
        </p:txBody>
      </p:sp>
    </p:spTree>
  </p:cSld>
  <p:clrMapOvr>
    <a:masterClrMapping/>
  </p:clrMapOvr>
  <p:transition spd="fast" advClick="1">
    <p:wipe dir="r"/>
  </p:transition>
</p:sld>
</file>

<file path=ppt/slides/slide37.xml><?xml version="1.0" encoding="utf-8"?>
<p:sld xmlns:a="http://schemas.openxmlformats.org/drawingml/2006/main" xmlns:r="http://schemas.openxmlformats.org/officeDocument/2006/relationships" xmlns:p="http://schemas.openxmlformats.org/presentationml/2006/main" showMasterSp="1">
  <p:cSld>
    <p:spTree>
      <p:nvGrpSpPr>
        <p:cNvPr id="165" name=""/>
        <p:cNvGrpSpPr/>
        <p:nvPr/>
      </p:nvGrpSpPr>
      <p:grpSpPr>
        <a:xfrm rot="0">
          <a:off x="0" y="0"/>
          <a:ext cx="0" cy="0"/>
          <a:chOff x="0" y="0"/>
          <a:chExt cx="0" cy="0"/>
        </a:xfrm>
      </p:grpSpPr>
      <p:sp>
        <p:nvSpPr>
          <p:cNvPr id="1048923"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The Classified Balance Sheet</a:t>
            </a:r>
          </a:p>
        </p:txBody>
      </p:sp>
      <p:sp>
        <p:nvSpPr>
          <p:cNvPr id="1048924"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6  Identify the sections of a classified balance sheet.</a:t>
            </a:r>
          </a:p>
        </p:txBody>
      </p:sp>
      <p:sp>
        <p:nvSpPr>
          <p:cNvPr id="1048925" name=""/>
          <p:cNvSpPr txBox="1"/>
          <p:nvPr/>
        </p:nvSpPr>
        <p:spPr>
          <a:xfrm rot="0">
            <a:off x="609600" y="1981200"/>
            <a:ext cx="8458200" cy="5127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388937" lvl="1" marL="623887">
              <a:lnSpc>
                <a:spcPct val="115000"/>
              </a:lnSpc>
              <a:spcAft>
                <a:spcPct val="50000"/>
              </a:spcAft>
              <a:buSzPct val="80000"/>
              <a:buFontTx/>
              <a:buBlip>
                <a:blip xmlns:r="http://schemas.openxmlformats.org/officeDocument/2006/relationships" r:embed="rId1"/>
              </a:buBlip>
            </a:pPr>
            <a:r>
              <a:rPr altLang="en-US" lang="en-US">
                <a:solidFill>
                  <a:srgbClr val="000000"/>
                </a:solidFill>
              </a:rPr>
              <a:t>Assets that do not have physical substance.</a:t>
            </a:r>
          </a:p>
        </p:txBody>
      </p:sp>
      <p:sp>
        <p:nvSpPr>
          <p:cNvPr id="1048926" name=""/>
          <p:cNvSpPr/>
          <p:nvPr/>
        </p:nvSpPr>
        <p:spPr>
          <a:xfrm rot="0">
            <a:off x="533400" y="1371600"/>
            <a:ext cx="63246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000" lang="en-US">
                <a:solidFill>
                  <a:srgbClr val="800000"/>
                </a:solidFill>
                <a:effectLst>
                  <a:outerShdw algn="tl" blurRad="38100" dir="2700000" dist="38100">
                    <a:srgbClr val="C0C0C0"/>
                  </a:outerShdw>
                </a:effectLst>
              </a:rPr>
              <a:t>Intangible Assets</a:t>
            </a:r>
          </a:p>
        </p:txBody>
      </p:sp>
      <p:pic>
        <p:nvPicPr>
          <p:cNvPr id="2097178" name=""/>
          <p:cNvPicPr>
            <a:picLocks/>
          </p:cNvPicPr>
          <p:nvPr/>
        </p:nvPicPr>
        <p:blipFill>
          <a:blip xmlns:r="http://schemas.openxmlformats.org/officeDocument/2006/relationships" r:embed="rId2"/>
          <a:srcRect l="0" t="0" r="0" b="0"/>
          <a:stretch>
            <a:fillRect/>
          </a:stretch>
        </p:blipFill>
        <p:spPr>
          <a:xfrm rot="0">
            <a:off x="533400" y="3886200"/>
            <a:ext cx="8153400" cy="2222500"/>
          </a:xfrm>
          <a:prstGeom prst="rect"/>
          <a:noFill/>
          <a:ln>
            <a:noFill/>
          </a:ln>
        </p:spPr>
      </p:pic>
      <p:pic>
        <p:nvPicPr>
          <p:cNvPr id="2097179" name=""/>
          <p:cNvPicPr>
            <a:picLocks/>
          </p:cNvPicPr>
          <p:nvPr/>
        </p:nvPicPr>
        <p:blipFill>
          <a:blip xmlns:r="http://schemas.openxmlformats.org/officeDocument/2006/relationships" r:embed="rId3"/>
          <a:srcRect l="0" t="0" r="0" b="0"/>
          <a:stretch>
            <a:fillRect/>
          </a:stretch>
        </p:blipFill>
        <p:spPr>
          <a:xfrm rot="0">
            <a:off x="381000" y="2667000"/>
            <a:ext cx="8305800" cy="1233487"/>
          </a:xfrm>
          <a:prstGeom prst="rect"/>
          <a:noFill/>
          <a:ln>
            <a:noFill/>
          </a:ln>
        </p:spPr>
      </p:pic>
      <p:sp>
        <p:nvSpPr>
          <p:cNvPr id="1048927" name=""/>
          <p:cNvSpPr txBox="1"/>
          <p:nvPr/>
        </p:nvSpPr>
        <p:spPr>
          <a:xfrm rot="0">
            <a:off x="7239000" y="2438400"/>
            <a:ext cx="1447800" cy="303212"/>
          </a:xfrm>
          <a:prstGeom prst="rect"/>
          <a:solidFill>
            <a:srgbClr val="FFFFCC"/>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r>
              <a:rPr altLang="en-US" sz="1200" lang="en-US"/>
              <a:t>Illustration 4-22</a:t>
            </a:r>
          </a:p>
        </p:txBody>
      </p:sp>
    </p:spTree>
  </p:cSld>
  <p:clrMapOvr>
    <a:masterClrMapping/>
  </p:clrMapOvr>
  <p:transition spd="fast" advClick="1">
    <p:wipe dir="r"/>
  </p:transition>
</p:sld>
</file>

<file path=ppt/slides/slide38.xml><?xml version="1.0" encoding="utf-8"?>
<p:sld xmlns:a="http://schemas.openxmlformats.org/drawingml/2006/main" xmlns:r="http://schemas.openxmlformats.org/officeDocument/2006/relationships" xmlns:p="http://schemas.openxmlformats.org/presentationml/2006/main" showMasterSp="1">
  <p:cSld>
    <p:spTree>
      <p:nvGrpSpPr>
        <p:cNvPr id="168" name=""/>
        <p:cNvGrpSpPr/>
        <p:nvPr/>
      </p:nvGrpSpPr>
      <p:grpSpPr>
        <a:xfrm rot="0">
          <a:off x="0" y="0"/>
          <a:ext cx="0" cy="0"/>
          <a:chOff x="0" y="0"/>
          <a:chExt cx="0" cy="0"/>
        </a:xfrm>
      </p:grpSpPr>
      <p:sp>
        <p:nvSpPr>
          <p:cNvPr id="1048930" name=""/>
          <p:cNvSpPr/>
          <p:nvPr/>
        </p:nvSpPr>
        <p:spPr>
          <a:xfrm rot="0">
            <a:off x="838200" y="1981200"/>
            <a:ext cx="8001000" cy="2971800"/>
          </a:xfrm>
          <a:prstGeom prst="rect"/>
          <a:solidFill>
            <a:schemeClr val="lt1"/>
          </a:solid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0000"/>
              </a:spcBef>
              <a:buClr>
                <a:schemeClr val="dk1"/>
              </a:buClr>
              <a:buFont typeface="Wingdings" pitchFamily="2" charset="2"/>
              <a:buNone/>
            </a:pPr>
            <a:r>
              <a:rPr altLang="en-US" sz="2600" lang="en-US">
                <a:ea typeface="Times New Roman" pitchFamily="18" charset="0"/>
              </a:rPr>
              <a:t>Patents and copyrights are</a:t>
            </a:r>
          </a:p>
          <a:p>
            <a:pPr algn="l" indent="-457200" lvl="1" marL="692150">
              <a:spcBef>
                <a:spcPct val="40000"/>
              </a:spcBef>
              <a:buClr>
                <a:schemeClr val="dk1"/>
              </a:buClr>
              <a:buFont typeface="Wingdings" pitchFamily="2" charset="2"/>
              <a:buAutoNum type="alphaLcPeriod" startAt="1"/>
            </a:pPr>
            <a:r>
              <a:rPr altLang="en-US" sz="2600" lang="en-US">
                <a:ea typeface="Times New Roman" pitchFamily="18" charset="0"/>
              </a:rPr>
              <a:t>Current assets.</a:t>
            </a:r>
          </a:p>
          <a:p>
            <a:pPr algn="l" indent="-457200" lvl="1" marL="692150">
              <a:spcBef>
                <a:spcPct val="40000"/>
              </a:spcBef>
              <a:buClr>
                <a:schemeClr val="dk1"/>
              </a:buClr>
              <a:buFont typeface="Wingdings" pitchFamily="2" charset="2"/>
              <a:buAutoNum type="alphaLcPeriod" startAt="1"/>
            </a:pPr>
            <a:r>
              <a:rPr altLang="en-US" sz="2600" lang="en-US">
                <a:ea typeface="Times New Roman" pitchFamily="18" charset="0"/>
              </a:rPr>
              <a:t>Intangible assets.</a:t>
            </a:r>
          </a:p>
          <a:p>
            <a:pPr algn="l" indent="-457200" lvl="1" marL="692150">
              <a:spcBef>
                <a:spcPct val="40000"/>
              </a:spcBef>
              <a:buClr>
                <a:schemeClr val="dk1"/>
              </a:buClr>
              <a:buFont typeface="Wingdings" pitchFamily="2" charset="2"/>
              <a:buAutoNum type="alphaLcPeriod" startAt="1"/>
            </a:pPr>
            <a:r>
              <a:rPr altLang="en-US" sz="2600" lang="en-US">
                <a:ea typeface="Times New Roman" pitchFamily="18" charset="0"/>
              </a:rPr>
              <a:t>Long-term investments.</a:t>
            </a:r>
          </a:p>
          <a:p>
            <a:pPr algn="l" indent="-457200" lvl="1" marL="692150">
              <a:spcBef>
                <a:spcPct val="40000"/>
              </a:spcBef>
              <a:buClr>
                <a:schemeClr val="dk1"/>
              </a:buClr>
              <a:buFont typeface="Wingdings" pitchFamily="2" charset="2"/>
              <a:buAutoNum type="alphaLcPeriod" startAt="1"/>
            </a:pPr>
            <a:r>
              <a:rPr altLang="en-US" sz="2600" lang="en-US">
                <a:ea typeface="Times New Roman" pitchFamily="18" charset="0"/>
              </a:rPr>
              <a:t>Property, plant, and equipment.</a:t>
            </a:r>
          </a:p>
        </p:txBody>
      </p:sp>
      <p:sp>
        <p:nvSpPr>
          <p:cNvPr id="1048931" name=""/>
          <p:cNvSpPr/>
          <p:nvPr/>
        </p:nvSpPr>
        <p:spPr>
          <a:xfrm rot="0">
            <a:off x="1143000" y="3124200"/>
            <a:ext cx="381000" cy="381000"/>
          </a:xfrm>
          <a:prstGeom prst="ellipse"/>
          <a:noFill/>
          <a:ln w="57150" cap="sq" cmpd="sng">
            <a:solidFill>
              <a:srgbClr val="800000">
                <a:alpha val="100000"/>
              </a:srgb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932" name=""/>
          <p:cNvSpPr/>
          <p:nvPr/>
        </p:nvSpPr>
        <p:spPr>
          <a:xfrm rot="0">
            <a:off x="533400" y="1371600"/>
            <a:ext cx="53340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200" lang="en-US">
                <a:solidFill>
                  <a:srgbClr val="800000"/>
                </a:solidFill>
                <a:effectLst>
                  <a:outerShdw algn="tl" blurRad="38100" dir="2700000" dist="38100">
                    <a:srgbClr val="C0C0C0"/>
                  </a:outerShdw>
                </a:effectLst>
              </a:rPr>
              <a:t>Review Question</a:t>
            </a:r>
          </a:p>
        </p:txBody>
      </p:sp>
      <p:sp>
        <p:nvSpPr>
          <p:cNvPr id="1048933"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The Classified Balance Sheet</a:t>
            </a:r>
          </a:p>
        </p:txBody>
      </p:sp>
      <p:sp>
        <p:nvSpPr>
          <p:cNvPr id="1048934"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6  Identify the sections of a classified balance sheet.</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8931"/>
                                        </p:tgtEl>
                                        <p:attrNameLst>
                                          <p:attrName>style.visibility</p:attrName>
                                        </p:attrNameLst>
                                      </p:cBhvr>
                                      <p:to>
                                        <p:strVal val="visible"/>
                                      </p:to>
                                    </p:set>
                                    <p:animEffect transition="in" filter="wipe(left)">
                                      <p:cBhvr>
                                        <p:cTn dur="500" id="7"/>
                                        <p:tgtEl>
                                          <p:spTgt spid="10489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931" grpId="0" uiExpand="0" build="whole"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Sp="1">
  <p:cSld>
    <p:spTree>
      <p:nvGrpSpPr>
        <p:cNvPr id="171" name=""/>
        <p:cNvGrpSpPr/>
        <p:nvPr/>
      </p:nvGrpSpPr>
      <p:grpSpPr>
        <a:xfrm rot="0">
          <a:off x="0" y="0"/>
          <a:ext cx="0" cy="0"/>
          <a:chOff x="0" y="0"/>
          <a:chExt cx="0" cy="0"/>
        </a:xfrm>
      </p:grpSpPr>
      <p:sp>
        <p:nvSpPr>
          <p:cNvPr id="1048937"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The Classified Balance Sheet</a:t>
            </a:r>
          </a:p>
        </p:txBody>
      </p:sp>
      <p:sp>
        <p:nvSpPr>
          <p:cNvPr id="1048938"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6  Identify the sections of a classified balance sheet.</a:t>
            </a:r>
          </a:p>
        </p:txBody>
      </p:sp>
      <p:sp>
        <p:nvSpPr>
          <p:cNvPr id="1048939" name=""/>
          <p:cNvSpPr txBox="1"/>
          <p:nvPr/>
        </p:nvSpPr>
        <p:spPr>
          <a:xfrm rot="0">
            <a:off x="609600" y="1981200"/>
            <a:ext cx="8077200" cy="3689350"/>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388937" lvl="1" marL="623887">
              <a:lnSpc>
                <a:spcPct val="115000"/>
              </a:lnSpc>
              <a:spcAft>
                <a:spcPct val="50000"/>
              </a:spcAft>
              <a:buSzPct val="80000"/>
              <a:buFontTx/>
              <a:buBlip>
                <a:blip xmlns:r="http://schemas.openxmlformats.org/officeDocument/2006/relationships" r:embed="rId1"/>
              </a:buBlip>
            </a:pPr>
            <a:r>
              <a:rPr altLang="en-US" sz="2600" lang="en-US">
                <a:solidFill>
                  <a:srgbClr val="000000"/>
                </a:solidFill>
              </a:rPr>
              <a:t>Obligations the company is to pay within the coming year.</a:t>
            </a:r>
          </a:p>
          <a:p>
            <a:pPr algn="l" indent="-388937" lvl="1" marL="623887">
              <a:lnSpc>
                <a:spcPct val="115000"/>
              </a:lnSpc>
              <a:spcAft>
                <a:spcPct val="50000"/>
              </a:spcAft>
              <a:buSzPct val="80000"/>
              <a:buFontTx/>
              <a:buBlip>
                <a:blip xmlns:r="http://schemas.openxmlformats.org/officeDocument/2006/relationships" r:embed="rId1"/>
              </a:buBlip>
            </a:pPr>
            <a:r>
              <a:rPr altLang="en-US" sz="2600" lang="en-US">
                <a:solidFill>
                  <a:srgbClr val="000000"/>
                </a:solidFill>
              </a:rPr>
              <a:t>Usually list notes payable first, followed by accounts payable.  Other items follow in order of magnitude.</a:t>
            </a:r>
          </a:p>
          <a:p>
            <a:pPr algn="l" indent="-388937" lvl="1" marL="623887">
              <a:lnSpc>
                <a:spcPct val="115000"/>
              </a:lnSpc>
              <a:spcAft>
                <a:spcPct val="50000"/>
              </a:spcAft>
              <a:buSzPct val="80000"/>
              <a:buFontTx/>
              <a:buBlip>
                <a:blip xmlns:r="http://schemas.openxmlformats.org/officeDocument/2006/relationships" r:embed="rId1"/>
              </a:buBlip>
            </a:pPr>
            <a:r>
              <a:rPr altLang="en-US" b="1" sz="2600" lang="en-US">
                <a:solidFill>
                  <a:schemeClr val="hlink"/>
                </a:solidFill>
              </a:rPr>
              <a:t>Liquidity </a:t>
            </a:r>
            <a:r>
              <a:rPr altLang="en-US" b="1" sz="2600" lang="en-US"/>
              <a:t>- </a:t>
            </a:r>
            <a:r>
              <a:rPr altLang="en-US" sz="2600" lang="en-US">
                <a:solidFill>
                  <a:srgbClr val="000000"/>
                </a:solidFill>
              </a:rPr>
              <a:t>ability to pay obligations expected to be due within the next year.</a:t>
            </a:r>
          </a:p>
        </p:txBody>
      </p:sp>
      <p:sp>
        <p:nvSpPr>
          <p:cNvPr id="1048940" name=""/>
          <p:cNvSpPr/>
          <p:nvPr/>
        </p:nvSpPr>
        <p:spPr>
          <a:xfrm rot="0">
            <a:off x="533400" y="1371600"/>
            <a:ext cx="63246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000" lang="en-US">
                <a:solidFill>
                  <a:srgbClr val="800000"/>
                </a:solidFill>
                <a:effectLst>
                  <a:outerShdw algn="tl" blurRad="38100" dir="2700000" dist="38100">
                    <a:srgbClr val="C0C0C0"/>
                  </a:outerShdw>
                </a:effectLst>
              </a:rPr>
              <a:t>Current Liabilities</a:t>
            </a:r>
          </a:p>
        </p:txBody>
      </p:sp>
    </p:spTree>
  </p:cSld>
  <p:clrMapOvr>
    <a:masterClrMapping/>
  </p:clrMapOvr>
  <p:transition spd="fast" advClick="1">
    <p:wipe dir="r"/>
  </p:transition>
</p:sld>
</file>

<file path=ppt/slides/slide40.xml><?xml version="1.0" encoding="utf-8"?>
<p:sld xmlns:a="http://schemas.openxmlformats.org/drawingml/2006/main" xmlns:r="http://schemas.openxmlformats.org/officeDocument/2006/relationships" xmlns:p="http://schemas.openxmlformats.org/presentationml/2006/main" showMasterSp="1">
  <p:cSld>
    <p:spTree>
      <p:nvGrpSpPr>
        <p:cNvPr id="174" name=""/>
        <p:cNvGrpSpPr/>
        <p:nvPr/>
      </p:nvGrpSpPr>
      <p:grpSpPr>
        <a:xfrm rot="0">
          <a:off x="0" y="0"/>
          <a:ext cx="0" cy="0"/>
          <a:chOff x="0" y="0"/>
          <a:chExt cx="0" cy="0"/>
        </a:xfrm>
      </p:grpSpPr>
      <p:sp>
        <p:nvSpPr>
          <p:cNvPr id="1048943"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The Classified Balance Sheet</a:t>
            </a:r>
          </a:p>
        </p:txBody>
      </p:sp>
      <p:sp>
        <p:nvSpPr>
          <p:cNvPr id="1048944"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6  Identify the sections of a classified balance sheet.</a:t>
            </a:r>
          </a:p>
        </p:txBody>
      </p:sp>
      <p:pic>
        <p:nvPicPr>
          <p:cNvPr id="2097180" name=""/>
          <p:cNvPicPr>
            <a:picLocks/>
          </p:cNvPicPr>
          <p:nvPr/>
        </p:nvPicPr>
        <p:blipFill>
          <a:blip xmlns:r="http://schemas.openxmlformats.org/officeDocument/2006/relationships" r:embed="rId1"/>
          <a:srcRect l="0" t="0" r="0" b="0"/>
          <a:stretch>
            <a:fillRect/>
          </a:stretch>
        </p:blipFill>
        <p:spPr>
          <a:xfrm rot="0">
            <a:off x="457200" y="3311525"/>
            <a:ext cx="8382000" cy="2632075"/>
          </a:xfrm>
          <a:prstGeom prst="rect"/>
          <a:noFill/>
          <a:ln>
            <a:noFill/>
          </a:ln>
        </p:spPr>
      </p:pic>
      <p:pic>
        <p:nvPicPr>
          <p:cNvPr id="2097181" name=""/>
          <p:cNvPicPr>
            <a:picLocks/>
          </p:cNvPicPr>
          <p:nvPr/>
        </p:nvPicPr>
        <p:blipFill>
          <a:blip xmlns:r="http://schemas.openxmlformats.org/officeDocument/2006/relationships" r:embed="rId2"/>
          <a:srcRect l="0" t="0" r="0" b="0"/>
          <a:stretch>
            <a:fillRect/>
          </a:stretch>
        </p:blipFill>
        <p:spPr>
          <a:xfrm rot="0">
            <a:off x="304800" y="2057400"/>
            <a:ext cx="8534400" cy="1265237"/>
          </a:xfrm>
          <a:prstGeom prst="rect"/>
          <a:noFill/>
          <a:ln>
            <a:noFill/>
          </a:ln>
        </p:spPr>
      </p:pic>
      <p:sp>
        <p:nvSpPr>
          <p:cNvPr id="1048945" name=""/>
          <p:cNvSpPr txBox="1"/>
          <p:nvPr/>
        </p:nvSpPr>
        <p:spPr>
          <a:xfrm rot="0">
            <a:off x="7315200" y="1828800"/>
            <a:ext cx="1447800" cy="303212"/>
          </a:xfrm>
          <a:prstGeom prst="rect"/>
          <a:solidFill>
            <a:srgbClr val="FFFFCC"/>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r>
              <a:rPr altLang="en-US" sz="1200" lang="en-US"/>
              <a:t>Illustration 4-23</a:t>
            </a:r>
          </a:p>
        </p:txBody>
      </p:sp>
      <p:sp>
        <p:nvSpPr>
          <p:cNvPr id="1048946" name=""/>
          <p:cNvSpPr/>
          <p:nvPr/>
        </p:nvSpPr>
        <p:spPr>
          <a:xfrm rot="0">
            <a:off x="533400" y="1371600"/>
            <a:ext cx="63246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000" lang="en-US">
                <a:solidFill>
                  <a:srgbClr val="800000"/>
                </a:solidFill>
                <a:effectLst>
                  <a:outerShdw algn="tl" blurRad="38100" dir="2700000" dist="38100">
                    <a:srgbClr val="C0C0C0"/>
                  </a:outerShdw>
                </a:effectLst>
              </a:rPr>
              <a:t>Current Liabilities</a:t>
            </a:r>
          </a:p>
        </p:txBody>
      </p:sp>
    </p:spTree>
  </p:cSld>
  <p:clrMapOvr>
    <a:masterClrMapping/>
  </p:clrMapOvr>
  <p:transition spd="fast" advClick="1">
    <p:wipe dir="r"/>
  </p:transition>
</p:sld>
</file>

<file path=ppt/slides/slide41.xml><?xml version="1.0" encoding="utf-8"?>
<p:sld xmlns:a="http://schemas.openxmlformats.org/drawingml/2006/main" xmlns:r="http://schemas.openxmlformats.org/officeDocument/2006/relationships" xmlns:p="http://schemas.openxmlformats.org/presentationml/2006/main" showMasterSp="1">
  <p:cSld>
    <p:spTree>
      <p:nvGrpSpPr>
        <p:cNvPr id="177" name=""/>
        <p:cNvGrpSpPr/>
        <p:nvPr/>
      </p:nvGrpSpPr>
      <p:grpSpPr>
        <a:xfrm rot="0">
          <a:off x="0" y="0"/>
          <a:ext cx="0" cy="0"/>
          <a:chOff x="0" y="0"/>
          <a:chExt cx="0" cy="0"/>
        </a:xfrm>
      </p:grpSpPr>
      <p:sp>
        <p:nvSpPr>
          <p:cNvPr id="1048949"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The Classified Balance Sheet</a:t>
            </a:r>
          </a:p>
        </p:txBody>
      </p:sp>
      <p:sp>
        <p:nvSpPr>
          <p:cNvPr id="1048950"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6  Identify the sections of a classified balance sheet.</a:t>
            </a:r>
          </a:p>
        </p:txBody>
      </p:sp>
      <p:sp>
        <p:nvSpPr>
          <p:cNvPr id="1048951" name=""/>
          <p:cNvSpPr txBox="1"/>
          <p:nvPr/>
        </p:nvSpPr>
        <p:spPr>
          <a:xfrm rot="0">
            <a:off x="609600" y="1981200"/>
            <a:ext cx="8458200" cy="51276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388937" lvl="1" marL="623887">
              <a:lnSpc>
                <a:spcPct val="115000"/>
              </a:lnSpc>
              <a:spcAft>
                <a:spcPct val="50000"/>
              </a:spcAft>
              <a:buSzPct val="80000"/>
              <a:buFontTx/>
              <a:buBlip>
                <a:blip xmlns:r="http://schemas.openxmlformats.org/officeDocument/2006/relationships" r:embed="rId1"/>
              </a:buBlip>
            </a:pPr>
            <a:r>
              <a:rPr altLang="en-US" lang="en-US">
                <a:solidFill>
                  <a:srgbClr val="000000"/>
                </a:solidFill>
              </a:rPr>
              <a:t>Obligations a company expects to pay </a:t>
            </a:r>
            <a:r>
              <a:rPr altLang="en-US" b="1" lang="en-US">
                <a:solidFill>
                  <a:srgbClr val="000000"/>
                </a:solidFill>
              </a:rPr>
              <a:t>after </a:t>
            </a:r>
            <a:r>
              <a:rPr altLang="en-US" lang="en-US">
                <a:solidFill>
                  <a:srgbClr val="000000"/>
                </a:solidFill>
              </a:rPr>
              <a:t>one year.</a:t>
            </a:r>
          </a:p>
        </p:txBody>
      </p:sp>
      <p:sp>
        <p:nvSpPr>
          <p:cNvPr id="1048952" name=""/>
          <p:cNvSpPr/>
          <p:nvPr/>
        </p:nvSpPr>
        <p:spPr>
          <a:xfrm rot="0">
            <a:off x="533400" y="1371600"/>
            <a:ext cx="63246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000" lang="en-US">
                <a:solidFill>
                  <a:srgbClr val="800000"/>
                </a:solidFill>
                <a:effectLst>
                  <a:outerShdw algn="tl" blurRad="38100" dir="2700000" dist="38100">
                    <a:srgbClr val="C0C0C0"/>
                  </a:outerShdw>
                </a:effectLst>
              </a:rPr>
              <a:t>Long-Term Liabilities</a:t>
            </a:r>
          </a:p>
        </p:txBody>
      </p:sp>
      <p:pic>
        <p:nvPicPr>
          <p:cNvPr id="2097182" name=""/>
          <p:cNvPicPr>
            <a:picLocks/>
          </p:cNvPicPr>
          <p:nvPr/>
        </p:nvPicPr>
        <p:blipFill>
          <a:blip xmlns:r="http://schemas.openxmlformats.org/officeDocument/2006/relationships" r:embed="rId2"/>
          <a:srcRect l="0" t="0" r="0" b="0"/>
          <a:stretch>
            <a:fillRect/>
          </a:stretch>
        </p:blipFill>
        <p:spPr>
          <a:xfrm rot="0">
            <a:off x="533400" y="3954462"/>
            <a:ext cx="8153400" cy="1684337"/>
          </a:xfrm>
          <a:prstGeom prst="rect"/>
          <a:noFill/>
          <a:ln>
            <a:noFill/>
          </a:ln>
        </p:spPr>
      </p:pic>
      <p:pic>
        <p:nvPicPr>
          <p:cNvPr id="2097183" name=""/>
          <p:cNvPicPr>
            <a:picLocks/>
          </p:cNvPicPr>
          <p:nvPr/>
        </p:nvPicPr>
        <p:blipFill>
          <a:blip xmlns:r="http://schemas.openxmlformats.org/officeDocument/2006/relationships" r:embed="rId3"/>
          <a:srcRect l="0" t="0" r="0" b="0"/>
          <a:stretch>
            <a:fillRect/>
          </a:stretch>
        </p:blipFill>
        <p:spPr>
          <a:xfrm rot="0">
            <a:off x="381000" y="2735262"/>
            <a:ext cx="8305800" cy="1228725"/>
          </a:xfrm>
          <a:prstGeom prst="rect"/>
          <a:noFill/>
          <a:ln>
            <a:noFill/>
          </a:ln>
        </p:spPr>
      </p:pic>
      <p:sp>
        <p:nvSpPr>
          <p:cNvPr id="1048953" name=""/>
          <p:cNvSpPr txBox="1"/>
          <p:nvPr/>
        </p:nvSpPr>
        <p:spPr>
          <a:xfrm rot="0">
            <a:off x="7315200" y="2514600"/>
            <a:ext cx="1447800" cy="303212"/>
          </a:xfrm>
          <a:prstGeom prst="rect"/>
          <a:solidFill>
            <a:srgbClr val="FFFFCC"/>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r>
              <a:rPr altLang="en-US" sz="1200" lang="en-US"/>
              <a:t>Illustration 4-24</a:t>
            </a:r>
          </a:p>
        </p:txBody>
      </p:sp>
    </p:spTree>
  </p:cSld>
  <p:clrMapOvr>
    <a:masterClrMapping/>
  </p:clrMapOvr>
  <p:transition spd="fast" advClick="1">
    <p:wipe dir="r"/>
  </p:transition>
</p:sld>
</file>

<file path=ppt/slides/slide42.xml><?xml version="1.0" encoding="utf-8"?>
<p:sld xmlns:a="http://schemas.openxmlformats.org/drawingml/2006/main" xmlns:r="http://schemas.openxmlformats.org/officeDocument/2006/relationships" xmlns:p="http://schemas.openxmlformats.org/presentationml/2006/main" showMasterSp="1">
  <p:cSld>
    <p:spTree>
      <p:nvGrpSpPr>
        <p:cNvPr id="180" name=""/>
        <p:cNvGrpSpPr/>
        <p:nvPr/>
      </p:nvGrpSpPr>
      <p:grpSpPr>
        <a:xfrm rot="0">
          <a:off x="0" y="0"/>
          <a:ext cx="0" cy="0"/>
          <a:chOff x="0" y="0"/>
          <a:chExt cx="0" cy="0"/>
        </a:xfrm>
      </p:grpSpPr>
      <p:sp>
        <p:nvSpPr>
          <p:cNvPr id="1048956" name=""/>
          <p:cNvSpPr/>
          <p:nvPr/>
        </p:nvSpPr>
        <p:spPr>
          <a:xfrm rot="0">
            <a:off x="838200" y="1981200"/>
            <a:ext cx="8001000" cy="3276600"/>
          </a:xfrm>
          <a:prstGeom prst="rect"/>
          <a:solidFill>
            <a:schemeClr val="lt1"/>
          </a:solid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spcBef>
                <a:spcPct val="40000"/>
              </a:spcBef>
              <a:buClr>
                <a:schemeClr val="dk1"/>
              </a:buClr>
              <a:buFont typeface="Wingdings" pitchFamily="2" charset="2"/>
              <a:buNone/>
            </a:pPr>
            <a:r>
              <a:rPr altLang="en-US" sz="2600" lang="en-US">
                <a:ea typeface="Times New Roman" pitchFamily="18" charset="0"/>
              </a:rPr>
              <a:t>Which of the following is not a long-term liability?</a:t>
            </a:r>
          </a:p>
          <a:p>
            <a:pPr algn="l" indent="-457200" lvl="1" marL="692150">
              <a:spcBef>
                <a:spcPct val="40000"/>
              </a:spcBef>
              <a:buClr>
                <a:schemeClr val="dk1"/>
              </a:buClr>
              <a:buFont typeface="Wingdings" pitchFamily="2" charset="2"/>
              <a:buAutoNum type="alphaLcPeriod" startAt="1"/>
            </a:pPr>
            <a:r>
              <a:rPr altLang="en-US" sz="2600" lang="en-US">
                <a:ea typeface="Times New Roman" pitchFamily="18" charset="0"/>
              </a:rPr>
              <a:t>Bonds payable</a:t>
            </a:r>
          </a:p>
          <a:p>
            <a:pPr algn="l" indent="-457200" lvl="1" marL="692150">
              <a:spcBef>
                <a:spcPct val="40000"/>
              </a:spcBef>
              <a:buClr>
                <a:schemeClr val="dk1"/>
              </a:buClr>
              <a:buFont typeface="Wingdings" pitchFamily="2" charset="2"/>
              <a:buAutoNum type="alphaLcPeriod" startAt="1"/>
            </a:pPr>
            <a:r>
              <a:rPr altLang="en-US" sz="2600" lang="en-US">
                <a:ea typeface="Times New Roman" pitchFamily="18" charset="0"/>
              </a:rPr>
              <a:t>Current maturities of long-term obligations</a:t>
            </a:r>
          </a:p>
          <a:p>
            <a:pPr algn="l" indent="-457200" lvl="1" marL="692150">
              <a:spcBef>
                <a:spcPct val="40000"/>
              </a:spcBef>
              <a:buClr>
                <a:schemeClr val="dk1"/>
              </a:buClr>
              <a:buFont typeface="Wingdings" pitchFamily="2" charset="2"/>
              <a:buAutoNum type="alphaLcPeriod" startAt="1"/>
            </a:pPr>
            <a:r>
              <a:rPr altLang="en-US" sz="2600" lang="en-US">
                <a:ea typeface="Times New Roman" pitchFamily="18" charset="0"/>
              </a:rPr>
              <a:t>Long-term notes payable</a:t>
            </a:r>
          </a:p>
          <a:p>
            <a:pPr algn="l" indent="-457200" lvl="1" marL="692150">
              <a:spcBef>
                <a:spcPct val="40000"/>
              </a:spcBef>
              <a:buClr>
                <a:schemeClr val="dk1"/>
              </a:buClr>
              <a:buFont typeface="Wingdings" pitchFamily="2" charset="2"/>
              <a:buAutoNum type="alphaLcPeriod" startAt="1"/>
            </a:pPr>
            <a:r>
              <a:rPr altLang="en-US" sz="2600" lang="en-US">
                <a:ea typeface="Times New Roman" pitchFamily="18" charset="0"/>
              </a:rPr>
              <a:t>Mortgages payable</a:t>
            </a:r>
          </a:p>
        </p:txBody>
      </p:sp>
      <p:sp>
        <p:nvSpPr>
          <p:cNvPr id="1048957" name=""/>
          <p:cNvSpPr/>
          <p:nvPr/>
        </p:nvSpPr>
        <p:spPr>
          <a:xfrm rot="0">
            <a:off x="1143000" y="3505200"/>
            <a:ext cx="381000" cy="381000"/>
          </a:xfrm>
          <a:prstGeom prst="ellipse"/>
          <a:noFill/>
          <a:ln w="57150" cap="sq" cmpd="sng">
            <a:solidFill>
              <a:srgbClr val="800000">
                <a:alpha val="100000"/>
              </a:srgbClr>
            </a:solidFill>
            <a:prstDash val="solid"/>
            <a:round/>
          </a:ln>
        </p:spPr>
        <p:txBody>
          <a:bodyPr anchor="ctr" bIns="45720" lIns="91440" rIns="91440" tIns="45720" wrap="none"/>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endParaRPr altLang="en-US" lang="en-US"/>
          </a:p>
        </p:txBody>
      </p:sp>
      <p:sp>
        <p:nvSpPr>
          <p:cNvPr id="1048958" name=""/>
          <p:cNvSpPr/>
          <p:nvPr/>
        </p:nvSpPr>
        <p:spPr>
          <a:xfrm rot="0">
            <a:off x="533400" y="1371600"/>
            <a:ext cx="53340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200" lang="en-US">
                <a:solidFill>
                  <a:srgbClr val="800000"/>
                </a:solidFill>
                <a:effectLst>
                  <a:outerShdw algn="tl" blurRad="38100" dir="2700000" dist="38100">
                    <a:srgbClr val="C0C0C0"/>
                  </a:outerShdw>
                </a:effectLst>
              </a:rPr>
              <a:t>Review Question</a:t>
            </a:r>
          </a:p>
        </p:txBody>
      </p:sp>
      <p:sp>
        <p:nvSpPr>
          <p:cNvPr id="1048959"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The Classified Balance Sheet</a:t>
            </a:r>
          </a:p>
        </p:txBody>
      </p:sp>
      <p:sp>
        <p:nvSpPr>
          <p:cNvPr id="1048960"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6  Identify the sections of a classified balance sheet.</a:t>
            </a:r>
          </a:p>
        </p:txBody>
      </p:sp>
    </p:spTree>
  </p:cSld>
  <p:clrMapOvr>
    <a:masterClrMapping/>
  </p:clrMapOvr>
  <p:transition spd="fast" advClick="1">
    <p:wipe dir="r"/>
  </p:transition>
  <p:timing>
    <p:tnLst>
      <p:par>
        <p:cTn dur="indefinite" id="1" nodeType="tmRoot">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8957"/>
                                        </p:tgtEl>
                                        <p:attrNameLst>
                                          <p:attrName>style.visibility</p:attrName>
                                        </p:attrNameLst>
                                      </p:cBhvr>
                                      <p:to>
                                        <p:strVal val="visible"/>
                                      </p:to>
                                    </p:set>
                                    <p:animEffect transition="in" filter="wipe(left)">
                                      <p:cBhvr>
                                        <p:cTn dur="500" id="7"/>
                                        <p:tgtEl>
                                          <p:spTgt spid="10489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957" grpId="0" uiExpand="0" build="whole" animBg="1"/>
    </p:bldLst>
  </p:timing>
</p:sld>
</file>

<file path=ppt/slides/slide43.xml><?xml version="1.0" encoding="utf-8"?>
<p:sld xmlns:a="http://schemas.openxmlformats.org/drawingml/2006/main" xmlns:r="http://schemas.openxmlformats.org/officeDocument/2006/relationships" xmlns:p="http://schemas.openxmlformats.org/presentationml/2006/main" showMasterSp="1">
  <p:cSld>
    <p:spTree>
      <p:nvGrpSpPr>
        <p:cNvPr id="183" name=""/>
        <p:cNvGrpSpPr/>
        <p:nvPr/>
      </p:nvGrpSpPr>
      <p:grpSpPr>
        <a:xfrm rot="0">
          <a:off x="0" y="0"/>
          <a:ext cx="0" cy="0"/>
          <a:chOff x="0" y="0"/>
          <a:chExt cx="0" cy="0"/>
        </a:xfrm>
      </p:grpSpPr>
      <p:sp>
        <p:nvSpPr>
          <p:cNvPr id="1048963" name=""/>
          <p:cNvSpPr/>
          <p:nvPr>
            <p:ph type="title" sz="full" idx="0"/>
          </p:nvPr>
        </p:nvSpPr>
        <p:spPr>
          <a:xfrm rot="0">
            <a:off x="457200" y="3048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The Classified Balance Sheet</a:t>
            </a:r>
          </a:p>
        </p:txBody>
      </p:sp>
      <p:sp>
        <p:nvSpPr>
          <p:cNvPr id="1048964"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6  Identify the sections of a classified balance sheet.</a:t>
            </a:r>
          </a:p>
        </p:txBody>
      </p:sp>
      <p:sp>
        <p:nvSpPr>
          <p:cNvPr id="1048965" name=""/>
          <p:cNvSpPr txBox="1"/>
          <p:nvPr/>
        </p:nvSpPr>
        <p:spPr>
          <a:xfrm rot="0">
            <a:off x="685800" y="1752600"/>
            <a:ext cx="8458200" cy="16462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388937" lvl="1" marL="623887">
              <a:lnSpc>
                <a:spcPct val="115000"/>
              </a:lnSpc>
              <a:spcAft>
                <a:spcPct val="40000"/>
              </a:spcAft>
              <a:buSzPct val="80000"/>
              <a:buFontTx/>
              <a:buBlip>
                <a:blip xmlns:r="http://schemas.openxmlformats.org/officeDocument/2006/relationships" r:embed="rId1"/>
              </a:buBlip>
            </a:pPr>
            <a:r>
              <a:rPr altLang="en-US" lang="en-US">
                <a:solidFill>
                  <a:srgbClr val="000000"/>
                </a:solidFill>
              </a:rPr>
              <a:t>Proprietorship - one capital account. </a:t>
            </a:r>
          </a:p>
          <a:p>
            <a:pPr algn="l" indent="-388937" lvl="1" marL="623887">
              <a:lnSpc>
                <a:spcPct val="115000"/>
              </a:lnSpc>
              <a:spcAft>
                <a:spcPct val="40000"/>
              </a:spcAft>
              <a:buSzPct val="80000"/>
              <a:buFontTx/>
              <a:buBlip>
                <a:blip xmlns:r="http://schemas.openxmlformats.org/officeDocument/2006/relationships" r:embed="rId1"/>
              </a:buBlip>
            </a:pPr>
            <a:r>
              <a:rPr altLang="en-US" lang="en-US">
                <a:solidFill>
                  <a:srgbClr val="000000"/>
                </a:solidFill>
              </a:rPr>
              <a:t>Partnership - capital account for each partner. </a:t>
            </a:r>
          </a:p>
          <a:p>
            <a:pPr algn="l" indent="-388937" lvl="1" marL="623887">
              <a:lnSpc>
                <a:spcPct val="115000"/>
              </a:lnSpc>
              <a:spcAft>
                <a:spcPct val="40000"/>
              </a:spcAft>
              <a:buSzPct val="80000"/>
              <a:buFontTx/>
              <a:buBlip>
                <a:blip xmlns:r="http://schemas.openxmlformats.org/officeDocument/2006/relationships" r:embed="rId1"/>
              </a:buBlip>
            </a:pPr>
            <a:r>
              <a:rPr altLang="en-US" lang="en-US">
                <a:solidFill>
                  <a:srgbClr val="000000"/>
                </a:solidFill>
              </a:rPr>
              <a:t>Corporation - Capital Stock and Retained Earnings.</a:t>
            </a:r>
          </a:p>
        </p:txBody>
      </p:sp>
      <p:sp>
        <p:nvSpPr>
          <p:cNvPr id="1048966" name=""/>
          <p:cNvSpPr/>
          <p:nvPr/>
        </p:nvSpPr>
        <p:spPr>
          <a:xfrm rot="0">
            <a:off x="533400" y="1143000"/>
            <a:ext cx="63246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000" lang="en-US">
                <a:solidFill>
                  <a:srgbClr val="800000"/>
                </a:solidFill>
                <a:effectLst>
                  <a:outerShdw algn="tl" blurRad="38100" dir="2700000" dist="38100">
                    <a:srgbClr val="C0C0C0"/>
                  </a:outerShdw>
                </a:effectLst>
              </a:rPr>
              <a:t>Owner’s Equity</a:t>
            </a:r>
          </a:p>
        </p:txBody>
      </p:sp>
      <p:pic>
        <p:nvPicPr>
          <p:cNvPr id="2097184" name=""/>
          <p:cNvPicPr>
            <a:picLocks/>
          </p:cNvPicPr>
          <p:nvPr/>
        </p:nvPicPr>
        <p:blipFill>
          <a:blip xmlns:r="http://schemas.openxmlformats.org/officeDocument/2006/relationships" r:embed="rId2"/>
          <a:srcRect l="0" t="0" r="0" b="0"/>
          <a:stretch>
            <a:fillRect/>
          </a:stretch>
        </p:blipFill>
        <p:spPr>
          <a:xfrm rot="0">
            <a:off x="533400" y="4881562"/>
            <a:ext cx="8153400" cy="1366837"/>
          </a:xfrm>
          <a:prstGeom prst="rect"/>
          <a:noFill/>
          <a:ln>
            <a:noFill/>
          </a:ln>
        </p:spPr>
      </p:pic>
      <p:pic>
        <p:nvPicPr>
          <p:cNvPr id="2097185" name=""/>
          <p:cNvPicPr>
            <a:picLocks/>
          </p:cNvPicPr>
          <p:nvPr/>
        </p:nvPicPr>
        <p:blipFill>
          <a:blip xmlns:r="http://schemas.openxmlformats.org/officeDocument/2006/relationships" r:embed="rId3"/>
          <a:srcRect l="0" t="0" r="0" b="0"/>
          <a:stretch>
            <a:fillRect/>
          </a:stretch>
        </p:blipFill>
        <p:spPr>
          <a:xfrm rot="0">
            <a:off x="381000" y="3668712"/>
            <a:ext cx="8305800" cy="1212850"/>
          </a:xfrm>
          <a:prstGeom prst="rect"/>
          <a:noFill/>
          <a:ln>
            <a:noFill/>
          </a:ln>
        </p:spPr>
      </p:pic>
      <p:sp>
        <p:nvSpPr>
          <p:cNvPr id="1048967" name=""/>
          <p:cNvSpPr txBox="1"/>
          <p:nvPr/>
        </p:nvSpPr>
        <p:spPr>
          <a:xfrm rot="0">
            <a:off x="7239000" y="3429000"/>
            <a:ext cx="1447800" cy="303212"/>
          </a:xfrm>
          <a:prstGeom prst="rect"/>
          <a:solidFill>
            <a:srgbClr val="FFFFCC"/>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r>
              <a:rPr altLang="en-US" sz="1200" lang="en-US"/>
              <a:t>Illustration 4-25</a:t>
            </a:r>
          </a:p>
        </p:txBody>
      </p:sp>
    </p:spTree>
  </p:cSld>
  <p:clrMapOvr>
    <a:masterClrMapping/>
  </p:clrMapOvr>
  <p:transition spd="fast" advClick="1">
    <p:wipe dir="r"/>
  </p:transition>
</p:sld>
</file>

<file path=ppt/slides/slide44.xml><?xml version="1.0" encoding="utf-8"?>
<p:sld xmlns:a="http://schemas.openxmlformats.org/drawingml/2006/main" xmlns:r="http://schemas.openxmlformats.org/officeDocument/2006/relationships" xmlns:p="http://schemas.openxmlformats.org/presentationml/2006/main" showMasterSp="1">
  <p:cSld>
    <p:spTree>
      <p:nvGrpSpPr>
        <p:cNvPr id="186" name=""/>
        <p:cNvGrpSpPr/>
        <p:nvPr/>
      </p:nvGrpSpPr>
      <p:grpSpPr>
        <a:xfrm rot="0">
          <a:off x="0" y="0"/>
          <a:ext cx="0" cy="0"/>
          <a:chOff x="0" y="0"/>
          <a:chExt cx="0" cy="0"/>
        </a:xfrm>
      </p:grpSpPr>
      <p:sp>
        <p:nvSpPr>
          <p:cNvPr id="1048970" name=""/>
          <p:cNvSpPr txBox="1"/>
          <p:nvPr/>
        </p:nvSpPr>
        <p:spPr>
          <a:xfrm rot="0">
            <a:off x="685800" y="1955800"/>
            <a:ext cx="7772400" cy="249713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115000"/>
              </a:lnSpc>
              <a:spcBef>
                <a:spcPct val="30000"/>
              </a:spcBef>
              <a:buSzPct val="80000"/>
              <a:buFontTx/>
              <a:buNone/>
            </a:pPr>
            <a:r>
              <a:rPr altLang="en-US" b="1" sz="2600" lang="en-US">
                <a:solidFill>
                  <a:srgbClr val="800000"/>
                </a:solidFill>
              </a:rPr>
              <a:t>Q4-18</a:t>
            </a:r>
            <a:r>
              <a:rPr altLang="en-US" b="1" sz="2600" lang="en-US">
                <a:solidFill>
                  <a:srgbClr val="000000"/>
                </a:solidFill>
              </a:rPr>
              <a:t>. </a:t>
            </a:r>
            <a:r>
              <a:rPr altLang="en-US" sz="2600" lang="en-US">
                <a:solidFill>
                  <a:srgbClr val="000000"/>
                </a:solidFill>
              </a:rPr>
              <a:t>(a) What is the term used to describe the owner’s equity section of a corporation? (b) Identify the two owner’s equity accounts in a corporation and indicate the purpose of each.</a:t>
            </a:r>
          </a:p>
          <a:p>
            <a:pPr algn="l" lvl="0">
              <a:lnSpc>
                <a:spcPct val="115000"/>
              </a:lnSpc>
              <a:spcBef>
                <a:spcPct val="30000"/>
              </a:spcBef>
              <a:buSzPct val="80000"/>
              <a:buFontTx/>
              <a:buNone/>
            </a:pPr>
            <a:r>
              <a:rPr altLang="en-US" sz="2600" lang="en-US">
                <a:solidFill>
                  <a:srgbClr val="000000"/>
                </a:solidFill>
              </a:rPr>
              <a:t>				</a:t>
            </a:r>
          </a:p>
        </p:txBody>
      </p:sp>
      <p:sp>
        <p:nvSpPr>
          <p:cNvPr id="1048971"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lang="en-US">
                <a:solidFill>
                  <a:schemeClr val="lt1"/>
                </a:solidFill>
                <a:effectLst>
                  <a:outerShdw algn="tl" blurRad="38100" dir="2700000" dist="38100">
                    <a:srgbClr val="C0C0C0"/>
                  </a:outerShdw>
                </a:effectLst>
              </a:rPr>
              <a:t>Recording Process</a:t>
            </a:r>
          </a:p>
        </p:txBody>
      </p:sp>
      <p:sp>
        <p:nvSpPr>
          <p:cNvPr id="1048972" name=""/>
          <p:cNvSpPr/>
          <p:nvPr/>
        </p:nvSpPr>
        <p:spPr>
          <a:xfrm rot="0">
            <a:off x="533400" y="1371600"/>
            <a:ext cx="53340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200" lang="en-US">
                <a:solidFill>
                  <a:srgbClr val="800000"/>
                </a:solidFill>
                <a:effectLst>
                  <a:outerShdw algn="tl" blurRad="38100" dir="2700000" dist="38100">
                    <a:srgbClr val="C0C0C0"/>
                  </a:outerShdw>
                </a:effectLst>
              </a:rPr>
              <a:t>Discussion Question</a:t>
            </a:r>
          </a:p>
        </p:txBody>
      </p:sp>
      <p:sp>
        <p:nvSpPr>
          <p:cNvPr id="1048973" name=""/>
          <p:cNvSpPr txBox="1"/>
          <p:nvPr/>
        </p:nvSpPr>
        <p:spPr>
          <a:xfrm rot="0">
            <a:off x="685800" y="5586412"/>
            <a:ext cx="4876800" cy="509587"/>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105000"/>
              </a:lnSpc>
              <a:spcBef>
                <a:spcPct val="30000"/>
              </a:spcBef>
              <a:buSzPct val="80000"/>
              <a:buFontTx/>
              <a:buNone/>
            </a:pPr>
            <a:r>
              <a:rPr altLang="en-US" sz="2600" lang="en-US">
                <a:solidFill>
                  <a:srgbClr val="000000"/>
                </a:solidFill>
              </a:rPr>
              <a:t>See notes page for discussion</a:t>
            </a:r>
          </a:p>
        </p:txBody>
      </p:sp>
      <p:sp>
        <p:nvSpPr>
          <p:cNvPr id="1048974"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6  Identify the sections of a classified balance sheet.</a:t>
            </a:r>
          </a:p>
        </p:txBody>
      </p:sp>
    </p:spTree>
  </p:cSld>
  <p:clrMapOvr>
    <a:masterClrMapping/>
  </p:clrMapOvr>
  <p:transition spd="fast" advClick="1">
    <p:wipe dir="r"/>
  </p:transition>
</p:sld>
</file>

<file path=ppt/slides/slide45.xml><?xml version="1.0" encoding="utf-8"?>
<p:sld xmlns:a="http://schemas.openxmlformats.org/drawingml/2006/main" xmlns:r="http://schemas.openxmlformats.org/officeDocument/2006/relationships" xmlns:p="http://schemas.openxmlformats.org/presentationml/2006/main" showMasterSp="1">
  <p:cSld>
    <p:spTree>
      <p:nvGrpSpPr>
        <p:cNvPr id="189" name=""/>
        <p:cNvGrpSpPr/>
        <p:nvPr/>
      </p:nvGrpSpPr>
      <p:grpSpPr>
        <a:xfrm rot="0">
          <a:off x="0" y="0"/>
          <a:ext cx="0" cy="0"/>
          <a:chOff x="0" y="0"/>
          <a:chExt cx="0" cy="0"/>
        </a:xfrm>
      </p:grpSpPr>
      <p:sp>
        <p:nvSpPr>
          <p:cNvPr id="1048977" name=""/>
          <p:cNvSpPr txBox="1"/>
          <p:nvPr/>
        </p:nvSpPr>
        <p:spPr>
          <a:xfrm rot="0">
            <a:off x="685800" y="2286000"/>
            <a:ext cx="8001000" cy="3706812"/>
          </a:xfrm>
          <a:prstGeom prst="rect"/>
          <a:no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indent="-388937" lvl="1" marL="623887">
              <a:lnSpc>
                <a:spcPct val="115000"/>
              </a:lnSpc>
              <a:spcAft>
                <a:spcPct val="50000"/>
              </a:spcAft>
              <a:buSzPct val="80000"/>
              <a:buFontTx/>
              <a:buBlip>
                <a:blip xmlns:r="http://schemas.openxmlformats.org/officeDocument/2006/relationships" r:embed="rId1"/>
              </a:buBlip>
            </a:pPr>
            <a:r>
              <a:rPr altLang="en-US" sz="2000" lang="en-US">
                <a:solidFill>
                  <a:srgbClr val="000000"/>
                </a:solidFill>
              </a:rPr>
              <a:t>It is often helpful to reverse some of the adjusting entries before recording the regular transactions of the next period.</a:t>
            </a:r>
          </a:p>
          <a:p>
            <a:pPr algn="l" indent="-388937" lvl="1" marL="623887">
              <a:lnSpc>
                <a:spcPct val="115000"/>
              </a:lnSpc>
              <a:spcAft>
                <a:spcPct val="50000"/>
              </a:spcAft>
              <a:buSzPct val="80000"/>
              <a:buFontTx/>
              <a:buBlip>
                <a:blip xmlns:r="http://schemas.openxmlformats.org/officeDocument/2006/relationships" r:embed="rId1"/>
              </a:buBlip>
            </a:pPr>
            <a:r>
              <a:rPr altLang="en-US" sz="2000" lang="en-US">
                <a:solidFill>
                  <a:srgbClr val="000000"/>
                </a:solidFill>
              </a:rPr>
              <a:t>Companies make </a:t>
            </a:r>
            <a:r>
              <a:rPr altLang="en-US" b="1" sz="2000" lang="en-US">
                <a:solidFill>
                  <a:srgbClr val="800000"/>
                </a:solidFill>
              </a:rPr>
              <a:t>a reversing entry at the beginning of the next accounting period</a:t>
            </a:r>
            <a:r>
              <a:rPr altLang="en-US" sz="2000" lang="en-US">
                <a:solidFill>
                  <a:srgbClr val="000000"/>
                </a:solidFill>
              </a:rPr>
              <a:t>.</a:t>
            </a:r>
          </a:p>
          <a:p>
            <a:pPr algn="l" indent="-388937" lvl="1" marL="623887">
              <a:lnSpc>
                <a:spcPct val="115000"/>
              </a:lnSpc>
              <a:spcAft>
                <a:spcPct val="50000"/>
              </a:spcAft>
              <a:buSzPct val="80000"/>
              <a:buFontTx/>
              <a:buBlip>
                <a:blip xmlns:r="http://schemas.openxmlformats.org/officeDocument/2006/relationships" r:embed="rId1"/>
              </a:buBlip>
            </a:pPr>
            <a:r>
              <a:rPr altLang="en-US" sz="2000" lang="en-US">
                <a:solidFill>
                  <a:srgbClr val="000000"/>
                </a:solidFill>
              </a:rPr>
              <a:t>Each reversing entry </a:t>
            </a:r>
            <a:r>
              <a:rPr altLang="en-US" b="1" sz="2000" lang="en-US">
                <a:solidFill>
                  <a:srgbClr val="800000"/>
                </a:solidFill>
              </a:rPr>
              <a:t>is the exact opposite of the adjusting entry made in the previous period. </a:t>
            </a:r>
          </a:p>
          <a:p>
            <a:pPr algn="l" indent="-388937" lvl="1" marL="623887">
              <a:lnSpc>
                <a:spcPct val="115000"/>
              </a:lnSpc>
              <a:spcAft>
                <a:spcPct val="50000"/>
              </a:spcAft>
              <a:buSzPct val="80000"/>
              <a:buFontTx/>
              <a:buBlip>
                <a:blip xmlns:r="http://schemas.openxmlformats.org/officeDocument/2006/relationships" r:embed="rId1"/>
              </a:buBlip>
            </a:pPr>
            <a:r>
              <a:rPr altLang="en-US" b="1" sz="2000" lang="en-US">
                <a:solidFill>
                  <a:srgbClr val="800000"/>
                </a:solidFill>
              </a:rPr>
              <a:t>The use of reversing entries does not change the amounts reported in the financial statements.</a:t>
            </a:r>
          </a:p>
        </p:txBody>
      </p:sp>
      <p:sp>
        <p:nvSpPr>
          <p:cNvPr id="1048978" name=""/>
          <p:cNvSpPr/>
          <p:nvPr>
            <p:ph type="title" sz="full" idx="4294967295"/>
          </p:nvPr>
        </p:nvSpPr>
        <p:spPr>
          <a:xfrm rot="0">
            <a:off x="304800" y="533400"/>
            <a:ext cx="88392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algn="l" indent="0" lvl="0" marL="109537"/>
            <a:r>
              <a:rPr altLang="en-US" sz="2700" lang="en-US">
                <a:solidFill>
                  <a:schemeClr val="lt1"/>
                </a:solidFill>
                <a:effectLst>
                  <a:outerShdw algn="tl" blurRad="38100" dir="2700000" dist="38100">
                    <a:srgbClr val="C0C0C0"/>
                  </a:outerShdw>
                </a:effectLst>
              </a:rPr>
              <a:t>Reversing Entries </a:t>
            </a:r>
          </a:p>
        </p:txBody>
      </p:sp>
      <p:sp>
        <p:nvSpPr>
          <p:cNvPr id="1048979" name=""/>
          <p:cNvSpPr txBox="1"/>
          <p:nvPr/>
        </p:nvSpPr>
        <p:spPr>
          <a:xfrm rot="0">
            <a:off x="1066800" y="6369050"/>
            <a:ext cx="7924800" cy="336550"/>
          </a:xfrm>
          <a:prstGeom prst="rect"/>
          <a:solidFill>
            <a:schemeClr val="lt1"/>
          </a:solidFill>
          <a:ln>
            <a:noFill/>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r" indent="-457200" lvl="0" marL="457200">
              <a:spcBef>
                <a:spcPct val="50000"/>
              </a:spcBef>
            </a:pPr>
            <a:r>
              <a:rPr altLang="en-US" b="1" sz="1600" i="1" lang="en-US">
                <a:solidFill>
                  <a:schemeClr val="dk2"/>
                </a:solidFill>
                <a:effectLst>
                  <a:outerShdw algn="tl" blurRad="38100" dir="2700000" dist="38100">
                    <a:srgbClr val="C0C0C0"/>
                  </a:outerShdw>
                </a:effectLst>
              </a:rPr>
              <a:t>LO 7  Prepare reversing entries.</a:t>
            </a:r>
          </a:p>
        </p:txBody>
      </p:sp>
      <p:sp>
        <p:nvSpPr>
          <p:cNvPr id="1048980" name=""/>
          <p:cNvSpPr/>
          <p:nvPr/>
        </p:nvSpPr>
        <p:spPr>
          <a:xfrm rot="0">
            <a:off x="533400" y="1447800"/>
            <a:ext cx="6324600" cy="457200"/>
          </a:xfrm>
          <a:prstGeom prst="rect"/>
          <a:noFill/>
          <a:ln>
            <a:noFill/>
          </a:ln>
        </p:spPr>
        <p:txBody>
          <a:bodyPr bIns="46038" lIns="182562" rIns="182562" tIns="46038"/>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lnSpc>
                <a:spcPct val="90000"/>
              </a:lnSpc>
              <a:spcBef>
                <a:spcPct val="20000"/>
              </a:spcBef>
              <a:buClr>
                <a:schemeClr val="dk1"/>
              </a:buClr>
              <a:buFont typeface="Wingdings" pitchFamily="2" charset="2"/>
              <a:buNone/>
            </a:pPr>
            <a:r>
              <a:rPr altLang="en-US" b="1" sz="3200" lang="en-US">
                <a:solidFill>
                  <a:srgbClr val="800000"/>
                </a:solidFill>
                <a:effectLst>
                  <a:outerShdw algn="tl" blurRad="38100" dir="2700000" dist="38100">
                    <a:srgbClr val="C0C0C0"/>
                  </a:outerShdw>
                </a:effectLst>
              </a:rPr>
              <a:t>Reversing Entries</a:t>
            </a:r>
          </a:p>
        </p:txBody>
      </p:sp>
    </p:spTree>
  </p:cSld>
  <p:clrMapOvr>
    <a:masterClrMapping/>
  </p:clrMapOvr>
  <p:transition spd="fast" advClick="1">
    <p:wipe dir="r"/>
  </p:transition>
</p:sld>
</file>

<file path=ppt/slides/slide46.xml><?xml version="1.0" encoding="utf-8"?>
<p:sld xmlns:a="http://schemas.openxmlformats.org/drawingml/2006/main" xmlns:r="http://schemas.openxmlformats.org/officeDocument/2006/relationships" xmlns:p="http://schemas.openxmlformats.org/presentationml/2006/main" showMasterSp="1">
  <p:cSld>
    <p:spTree>
      <p:nvGrpSpPr>
        <p:cNvPr id="193" name=""/>
        <p:cNvGrpSpPr/>
        <p:nvPr/>
      </p:nvGrpSpPr>
      <p:grpSpPr>
        <a:xfrm rot="0">
          <a:off x="0" y="0"/>
          <a:ext cx="0" cy="0"/>
          <a:chOff x="0" y="0"/>
          <a:chExt cx="0" cy="0"/>
        </a:xfrm>
      </p:grpSpPr>
      <p:sp>
        <p:nvSpPr>
          <p:cNvPr id="1048983" name=""/>
          <p:cNvSpPr/>
          <p:nvPr>
            <p:ph type="title" sz="full" idx="0"/>
          </p:nvPr>
        </p:nvSpPr>
        <p:spPr>
          <a:xfrm rot="0">
            <a:off x="1149350" y="354012"/>
            <a:ext cx="7607300" cy="560387"/>
          </a:xfrm>
          <a:prstGeom prst="rect"/>
          <a:solidFill>
            <a:srgbClr val="003399"/>
          </a:solidFill>
          <a:ln w="63500" cap="flat" cmpd="sng">
            <a:solidFill>
              <a:srgbClr val="54385C">
                <a:alpha val="100000"/>
              </a:srgbClr>
            </a:solidFill>
            <a:prstDash val="solid"/>
            <a:round/>
          </a:ln>
        </p:spPr>
        <p:txBody>
          <a:bodyPr anchor="ctr" bIns="46038" lIns="92075" rIns="92075" tIns="46038"/>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lvl="0"/>
            <a:r>
              <a:rPr altLang="en-US" lang="en-US">
                <a:solidFill>
                  <a:schemeClr val="lt1"/>
                </a:solidFill>
              </a:rPr>
              <a:t>Reversing Entries Example</a:t>
            </a:r>
          </a:p>
        </p:txBody>
      </p:sp>
      <p:sp>
        <p:nvSpPr>
          <p:cNvPr id="1048984" name=""/>
          <p:cNvSpPr/>
          <p:nvPr/>
        </p:nvSpPr>
        <p:spPr>
          <a:xfrm rot="0">
            <a:off x="5486400" y="6324600"/>
            <a:ext cx="3448050" cy="336550"/>
          </a:xfrm>
          <a:prstGeom prst="rect"/>
          <a:noFill/>
          <a:ln>
            <a:noFill/>
          </a:ln>
        </p:spPr>
        <p:txBody>
          <a:bodyPr bIns="45720" lIns="91440" rIns="91440" tIns="45720" wrap="none">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lvl="0">
              <a:spcBef>
                <a:spcPct val="50000"/>
              </a:spcBef>
            </a:pPr>
            <a:r>
              <a:rPr altLang="en-US" b="1" sz="1600" i="1" lang="en-US">
                <a:solidFill>
                  <a:schemeClr val="dk2"/>
                </a:solidFill>
                <a:effectLst>
                  <a:outerShdw algn="tl" blurRad="38100" dir="2700000" dist="38100">
                    <a:srgbClr val="C0C0C0"/>
                  </a:outerShdw>
                </a:effectLst>
              </a:rPr>
              <a:t>LO 7  Prepare reversing entries.</a:t>
            </a:r>
          </a:p>
        </p:txBody>
      </p:sp>
      <p:pic>
        <p:nvPicPr>
          <p:cNvPr id="2097186" name=""/>
          <p:cNvPicPr>
            <a:picLocks/>
          </p:cNvPicPr>
          <p:nvPr/>
        </p:nvPicPr>
        <p:blipFill>
          <a:blip xmlns:r="http://schemas.openxmlformats.org/officeDocument/2006/relationships" r:embed="rId1"/>
          <a:srcRect l="0" t="0" r="0" b="0"/>
          <a:stretch>
            <a:fillRect/>
          </a:stretch>
        </p:blipFill>
        <p:spPr>
          <a:xfrm rot="0">
            <a:off x="715962" y="1736725"/>
            <a:ext cx="7712075" cy="3376612"/>
          </a:xfrm>
          <a:prstGeom prst="rect"/>
          <a:noFill/>
          <a:ln>
            <a:noFill/>
          </a:ln>
        </p:spPr>
      </p:pic>
      <p:sp>
        <p:nvSpPr>
          <p:cNvPr id="1048985" name=""/>
          <p:cNvSpPr txBox="1"/>
          <p:nvPr/>
        </p:nvSpPr>
        <p:spPr>
          <a:xfrm rot="0">
            <a:off x="304800" y="1143000"/>
            <a:ext cx="1447800" cy="303212"/>
          </a:xfrm>
          <a:prstGeom prst="rect"/>
          <a:solidFill>
            <a:srgbClr val="FFFFCC"/>
          </a:solidFill>
          <a:ln w="28575" cap="sq" cmpd="sng">
            <a:solidFill>
              <a:srgbClr val="800000">
                <a:alpha val="100000"/>
              </a:srgbClr>
            </a:solidFill>
            <a:prstDash val="solid"/>
            <a:round/>
          </a:ln>
        </p:spPr>
        <p:txBody>
          <a:bodyPr bIns="45720" lIns="91440" rIns="91440" tIns="45720">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r>
              <a:rPr altLang="en-US" sz="1200" lang="en-US"/>
              <a:t>Illustration 4A-1</a:t>
            </a:r>
          </a:p>
        </p:txBody>
      </p:sp>
    </p:spTree>
  </p:cSld>
  <p:clrMapOvr>
    <a:masterClrMapping/>
  </p:clrMapOvr>
  <p:transition spd="fast" advClick="1">
    <p:wipe dir="r"/>
  </p:transition>
</p:sld>
</file>

<file path=ppt/slides/slide47.xml><?xml version="1.0" encoding="utf-8"?>
<p:sld xmlns:a="http://schemas.openxmlformats.org/drawingml/2006/main" xmlns:r="http://schemas.openxmlformats.org/officeDocument/2006/relationships" xmlns:p="http://schemas.openxmlformats.org/presentationml/2006/main" showMasterSp="1">
  <p:cSld>
    <p:spTree>
      <p:nvGrpSpPr>
        <p:cNvPr id="195" name=""/>
        <p:cNvGrpSpPr/>
        <p:nvPr/>
      </p:nvGrpSpPr>
      <p:grpSpPr>
        <a:xfrm rot="0">
          <a:off x="0" y="0"/>
          <a:ext cx="0" cy="0"/>
          <a:chOff x="0" y="0"/>
          <a:chExt cx="0" cy="0"/>
        </a:xfrm>
      </p:grpSpPr>
      <p:sp>
        <p:nvSpPr>
          <p:cNvPr id="1048987" name=""/>
          <p:cNvSpPr/>
          <p:nvPr/>
        </p:nvSpPr>
        <p:spPr>
          <a:xfrm rot="0">
            <a:off x="838200" y="1447800"/>
            <a:ext cx="7772400" cy="3444875"/>
          </a:xfrm>
          <a:prstGeom prst="rect"/>
          <a:noFill/>
          <a:ln>
            <a:noFill/>
          </a:ln>
        </p:spPr>
        <p:txBody>
          <a:bodyPr bIns="46038" lIns="92075" rIns="92075" tIns="46038">
            <a:spAutoFit/>
          </a:bodyPr>
          <a:lstStyle>
            <a:lvl1pPr algn="ctr" fontAlgn="base" indent="0" latinLnBrk="1" marL="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1pPr>
            <a:lvl2pPr algn="ctr" fontAlgn="base" indent="0" latinLnBrk="1" marL="4572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2pPr>
            <a:lvl3pPr algn="ctr" fontAlgn="base" indent="0" latinLnBrk="1" marL="9144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3pPr>
            <a:lvl4pPr algn="ctr" fontAlgn="base" indent="0" latinLnBrk="1" marL="13716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4pPr>
            <a:lvl5pPr algn="ctr" fontAlgn="base" indent="0" latinLnBrk="1" marL="1828800" rtl="0">
              <a:lnSpc>
                <a:spcPct val="100000"/>
              </a:lnSpc>
              <a:spcBef>
                <a:spcPct val="0"/>
              </a:spcBef>
              <a:spcAft>
                <a:spcPct val="0"/>
              </a:spcAft>
              <a:buFontTx/>
              <a:buNone/>
              <a:defRPr baseline="0" b="0" sz="2400" i="0">
                <a:solidFill>
                  <a:schemeClr val="dk1"/>
                </a:solidFill>
                <a:latin typeface="Comic Sans MS" pitchFamily="66" charset="0"/>
                <a:sym typeface="Comic Sans MS" pitchFamily="66" charset="0"/>
              </a:defRPr>
            </a:lvl5pPr>
          </a:lstStyle>
          <a:p>
            <a:pPr algn="l" lvl="0"/>
            <a:r>
              <a:rPr altLang="en-US" sz="2000" lang="en-US"/>
              <a:t>“Copyright © 2008 John Wiley &amp; Sons, Inc. All rights reserved. Reproduction or translation of this work beyond that permitted in Section 117 of the 1976 United States Copyright Act without the express written permission of the copyright owner is unlawful. Request for further information should be addressed to the Permissions Department, John Wiley &amp; Sons, Inc. The purchaser may make back-up copies for his/her own use only and not for distribution or resale. The Publisher assumes no responsibility for errors, omissions, or damages, caused by the use of these programs or from the use of the information contained herein.”</a:t>
            </a:r>
          </a:p>
        </p:txBody>
      </p:sp>
      <p:sp>
        <p:nvSpPr>
          <p:cNvPr id="1048988" name=""/>
          <p:cNvSpPr/>
          <p:nvPr>
            <p:ph type="title" sz="full" idx="0"/>
          </p:nvPr>
        </p:nvSpPr>
        <p:spPr>
          <a:xfrm rot="0">
            <a:off x="457200" y="457200"/>
            <a:ext cx="8229600" cy="560387"/>
          </a:xfrm>
          <a:prstGeom prst="rect"/>
          <a:solidFill>
            <a:srgbClr val="003399"/>
          </a:solidFill>
          <a:ln w="12700" cap="flat" cmpd="sng">
            <a:solidFill>
              <a:schemeClr val="dk1">
                <a:alpha val="100000"/>
              </a:schemeClr>
            </a:solidFill>
            <a:prstDash val="solid"/>
            <a:round/>
          </a:ln>
          <a:effectLst>
            <a:outerShdw algn="ctr" dir="2699999" dist="107763" kx="0" sx="100000" sy="100000">
              <a:schemeClr val="dk2">
                <a:alpha val="100000"/>
              </a:schemeClr>
            </a:outerShdw>
          </a:effectLst>
        </p:spPr>
        <p:txBody>
          <a:bodyPr anchor="t" bIns="44450" lIns="90488" rIns="90488" tIns="44450"/>
          <a:lstStyle>
            <a:lvl1pPr algn="ctr" fontAlgn="base" indent="0" latinLnBrk="1" marL="0" rtl="0">
              <a:lnSpc>
                <a:spcPct val="100000"/>
              </a:lnSpc>
              <a:spcBef>
                <a:spcPct val="0"/>
              </a:spcBef>
              <a:spcAft>
                <a:spcPct val="0"/>
              </a:spcAft>
              <a:buFontTx/>
              <a:buNone/>
              <a:defRPr baseline="0" b="1" sz="3000" i="1">
                <a:solidFill>
                  <a:schemeClr val="dk1"/>
                </a:solidFill>
                <a:latin typeface="Comic Sans MS" pitchFamily="66" charset="0"/>
                <a:sym typeface="Comic Sans MS" pitchFamily="66" charset="0"/>
              </a:defRPr>
            </a:lvl1pPr>
          </a:lstStyle>
          <a:p>
            <a:pPr indent="0" lvl="0" marL="109537"/>
            <a:r>
              <a:rPr altLang="en-US" lang="en-US">
                <a:solidFill>
                  <a:srgbClr val="FFCC00"/>
                </a:solidFill>
                <a:effectLst>
                  <a:outerShdw algn="tl" blurRad="38100" dir="2700000" dist="38100">
                    <a:srgbClr val="C0C0C0"/>
                  </a:outerShdw>
                </a:effectLst>
              </a:rPr>
              <a:t>Copyright</a:t>
            </a:r>
          </a:p>
        </p:txBody>
      </p:sp>
    </p:spTree>
  </p:cSld>
  <p:clrMapOvr>
    <a:masterClrMapping/>
  </p:clrMapOvr>
  <p:transition spd="fast" advClick="1">
    <p:zoom dir="in"/>
  </p:transition>
</p:sld>
</file>

<file path=ppt/theme/theme1.xml><?xml version="1.0" encoding="utf-8"?>
<a:theme xmlns:a="http://schemas.openxmlformats.org/drawingml/2006/main" name="Office 主题">
  <a:themeElements>
    <a:clrScheme name="Default Color Scheme">
      <a:dk1>
        <a:srgbClr val="000000"/>
      </a:dk1>
      <a:lt1>
        <a:srgbClr val="FFFFFF"/>
      </a:lt1>
      <a:dk2>
        <a:srgbClr val="000000"/>
      </a:dk2>
      <a:lt2>
        <a:srgbClr val="0000FF"/>
      </a:lt2>
      <a:accent1>
        <a:srgbClr val="00FFFF"/>
      </a:accent1>
      <a:accent2>
        <a:srgbClr val="FF0000"/>
      </a:accent2>
      <a:accent3>
        <a:srgbClr val="FFFFFF"/>
      </a:accent3>
      <a:accent4>
        <a:srgbClr val="000000"/>
      </a:accent4>
      <a:accent5>
        <a:srgbClr val="000000"/>
      </a:accent5>
      <a:accent6>
        <a:srgbClr val="000000"/>
      </a:accent6>
      <a:hlink>
        <a:srgbClr val="000099"/>
      </a:hlink>
      <a:folHlink>
        <a:srgbClr val="0000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Default Color Scheme 1">
        <a:dk1>
          <a:srgbClr val="000000"/>
        </a:dk1>
        <a:lt1>
          <a:srgbClr val="FFFFFF"/>
        </a:lt1>
        <a:dk2>
          <a:srgbClr val="808080"/>
        </a:dk2>
        <a:lt2>
          <a:srgbClr val="000000"/>
        </a:lt2>
        <a:accent1>
          <a:srgbClr val="00CC99"/>
        </a:accent1>
        <a:accent2>
          <a:srgbClr val="3333CC"/>
        </a:accent2>
        <a:accent3>
          <a:srgbClr val="FFFFFF"/>
        </a:accent3>
        <a:accent4>
          <a:srgbClr val="000000"/>
        </a:accent4>
        <a:accent5>
          <a:srgbClr val="000000"/>
        </a:accent5>
        <a:accent6>
          <a:srgbClr val="000000"/>
        </a:accent6>
        <a:hlink>
          <a:srgbClr val="CCCCFF"/>
        </a:hlink>
        <a:folHlink>
          <a:srgbClr val="B2B2B2"/>
        </a:folHlink>
      </a:clrScheme>
    </a:extraClrScheme>
    <a:extraClrScheme>
      <a:clrScheme name="Default Color Scheme 2">
        <a:dk1>
          <a:srgbClr val="FFFFFF"/>
        </a:dk1>
        <a:lt1>
          <a:srgbClr val="0000FF"/>
        </a:lt1>
        <a:dk2>
          <a:srgbClr val="000000"/>
        </a:dk2>
        <a:lt2>
          <a:srgbClr val="FFFF00"/>
        </a:lt2>
        <a:accent1>
          <a:srgbClr val="FF9900"/>
        </a:accent1>
        <a:accent2>
          <a:srgbClr val="00FFFF"/>
        </a:accent2>
        <a:accent3>
          <a:srgbClr val="0000FF"/>
        </a:accent3>
        <a:accent4>
          <a:srgbClr val="FFFFFF"/>
        </a:accent4>
        <a:accent5>
          <a:srgbClr val="000000"/>
        </a:accent5>
        <a:accent6>
          <a:srgbClr val="000000"/>
        </a:accent6>
        <a:hlink>
          <a:srgbClr val="FF0000"/>
        </a:hlink>
        <a:folHlink>
          <a:srgbClr val="969696"/>
        </a:folHlink>
      </a:clrScheme>
    </a:extraClrScheme>
    <a:extraClrScheme>
      <a:clrScheme name="Default Color Scheme 3">
        <a:dk1>
          <a:srgbClr val="000000"/>
        </a:dk1>
        <a:lt1>
          <a:srgbClr val="FFFFCC"/>
        </a:lt1>
        <a:dk2>
          <a:srgbClr val="666633"/>
        </a:dk2>
        <a:lt2>
          <a:srgbClr val="808000"/>
        </a:lt2>
        <a:accent1>
          <a:srgbClr val="339933"/>
        </a:accent1>
        <a:accent2>
          <a:srgbClr val="800000"/>
        </a:accent2>
        <a:accent3>
          <a:srgbClr val="FFFFCC"/>
        </a:accent3>
        <a:accent4>
          <a:srgbClr val="000000"/>
        </a:accent4>
        <a:accent5>
          <a:srgbClr val="000000"/>
        </a:accent5>
        <a:accent6>
          <a:srgbClr val="000000"/>
        </a:accent6>
        <a:hlink>
          <a:srgbClr val="0033CC"/>
        </a:hlink>
        <a:folHlink>
          <a:srgbClr val="FFCC66"/>
        </a:folHlink>
      </a:clrScheme>
    </a:extraClrScheme>
    <a:extraClrScheme>
      <a:clrScheme name="Default Color Scheme 4">
        <a:dk1>
          <a:srgbClr val="000000"/>
        </a:dk1>
        <a:lt1>
          <a:srgbClr val="FFFFFF"/>
        </a:lt1>
        <a:dk2>
          <a:srgbClr val="333333"/>
        </a:dk2>
        <a:lt2>
          <a:srgbClr val="000000"/>
        </a:lt2>
        <a:accent1>
          <a:srgbClr val="DDDDDD"/>
        </a:accent1>
        <a:accent2>
          <a:srgbClr val="808080"/>
        </a:accent2>
        <a:accent3>
          <a:srgbClr val="FFFFFF"/>
        </a:accent3>
        <a:accent4>
          <a:srgbClr val="000000"/>
        </a:accent4>
        <a:accent5>
          <a:srgbClr val="000000"/>
        </a:accent5>
        <a:accent6>
          <a:srgbClr val="000000"/>
        </a:accent6>
        <a:hlink>
          <a:srgbClr val="4D4D4D"/>
        </a:hlink>
        <a:folHlink>
          <a:srgbClr val="EAEAEA"/>
        </a:folHlink>
      </a:clrScheme>
    </a:extraClrScheme>
    <a:extraClrScheme>
      <a:clrScheme name="Default Color Scheme 5">
        <a:dk1>
          <a:srgbClr val="000000"/>
        </a:dk1>
        <a:lt1>
          <a:srgbClr val="FFFFFF"/>
        </a:lt1>
        <a:dk2>
          <a:srgbClr val="808080"/>
        </a:dk2>
        <a:lt2>
          <a:srgbClr val="000000"/>
        </a:lt2>
        <a:accent1>
          <a:srgbClr val="FFCC66"/>
        </a:accent1>
        <a:accent2>
          <a:srgbClr val="0000FF"/>
        </a:accent2>
        <a:accent3>
          <a:srgbClr val="FFFFFF"/>
        </a:accent3>
        <a:accent4>
          <a:srgbClr val="000000"/>
        </a:accent4>
        <a:accent5>
          <a:srgbClr val="000000"/>
        </a:accent5>
        <a:accent6>
          <a:srgbClr val="000000"/>
        </a:accent6>
        <a:hlink>
          <a:srgbClr val="CC00CC"/>
        </a:hlink>
        <a:folHlink>
          <a:srgbClr val="C0C0C0"/>
        </a:folHlink>
      </a:clrScheme>
    </a:extraClrScheme>
    <a:extraClrScheme>
      <a:clrScheme name="Default Color Scheme 6">
        <a:dk1>
          <a:srgbClr val="000000"/>
        </a:dk1>
        <a:lt1>
          <a:srgbClr val="FFFFFF"/>
        </a:lt1>
        <a:dk2>
          <a:srgbClr val="808080"/>
        </a:dk2>
        <a:lt2>
          <a:srgbClr val="000000"/>
        </a:lt2>
        <a:accent1>
          <a:srgbClr val="C0C0C0"/>
        </a:accent1>
        <a:accent2>
          <a:srgbClr val="0066FF"/>
        </a:accent2>
        <a:accent3>
          <a:srgbClr val="FFFFFF"/>
        </a:accent3>
        <a:accent4>
          <a:srgbClr val="000000"/>
        </a:accent4>
        <a:accent5>
          <a:srgbClr val="000000"/>
        </a:accent5>
        <a:accent6>
          <a:srgbClr val="000000"/>
        </a:accent6>
        <a:hlink>
          <a:srgbClr val="FF0000"/>
        </a:hlink>
        <a:folHlink>
          <a:srgbClr val="009900"/>
        </a:folHlink>
      </a:clrScheme>
    </a:extraClrScheme>
    <a:extraClrScheme>
      <a:clrScheme name="Default Color Scheme 7">
        <a:dk1>
          <a:srgbClr val="000000"/>
        </a:dk1>
        <a:lt1>
          <a:srgbClr val="FFFFFF"/>
        </a:lt1>
        <a:dk2>
          <a:srgbClr val="808080"/>
        </a:dk2>
        <a:lt2>
          <a:srgbClr val="000000"/>
        </a:lt2>
        <a:accent1>
          <a:srgbClr val="3399FF"/>
        </a:accent1>
        <a:accent2>
          <a:srgbClr val="99FFCC"/>
        </a:accent2>
        <a:accent3>
          <a:srgbClr val="FFFFFF"/>
        </a:accent3>
        <a:accent4>
          <a:srgbClr val="000000"/>
        </a:accent4>
        <a:accent5>
          <a:srgbClr val="000000"/>
        </a:accent5>
        <a:accent6>
          <a:srgbClr val="000000"/>
        </a:accent6>
        <a:hlink>
          <a:srgbClr val="CC00CC"/>
        </a:hlink>
        <a:folHlink>
          <a:srgbClr val="B2B2B2"/>
        </a:folHlink>
      </a:clrScheme>
    </a:extraClrScheme>
  </a:extraClrSchemeLst>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主题">
  <a:themeElements>
    <a:clrScheme name="">
      <a:dk1>
        <a:srgbClr val="000000"/>
      </a:dk1>
      <a:lt1>
        <a:srgbClr val="FFFFFF"/>
      </a:lt1>
      <a:dk2>
        <a:srgbClr val="919191"/>
      </a:dk2>
      <a:lt2>
        <a:srgbClr val="000000"/>
      </a:lt2>
      <a:accent1>
        <a:srgbClr val="618FFD"/>
      </a:accent1>
      <a:accent2>
        <a:srgbClr val="00AE00"/>
      </a:accent2>
      <a:accent3>
        <a:srgbClr val="FFFFFF"/>
      </a:accent3>
      <a:accent4>
        <a:srgbClr val="000000"/>
      </a:accent4>
      <a:accent5>
        <a:srgbClr val="000000"/>
      </a:accent5>
      <a:accent6>
        <a:srgbClr val="000000"/>
      </a:accent6>
      <a:hlink>
        <a:srgbClr val="FC0128"/>
      </a:hlink>
      <a:folHlink>
        <a:srgbClr val="CECECE"/>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Override1.xml><?xml version="1.0" encoding="utf-8"?>
<a:themeOverride xmlns:a="http://schemas.openxmlformats.org/drawingml/2006/main">
  <a:clrScheme name="">
    <a:dk1>
      <a:srgbClr val="000000"/>
    </a:dk1>
    <a:lt1>
      <a:srgbClr val="FFFFFF"/>
    </a:lt1>
    <a:dk2>
      <a:srgbClr val="000000"/>
    </a:dk2>
    <a:lt2>
      <a:srgbClr val="0000FF"/>
    </a:lt2>
    <a:accent1>
      <a:srgbClr val="000000"/>
    </a:accent1>
    <a:accent2>
      <a:srgbClr val="FF0000"/>
    </a:accent2>
    <a:accent3>
      <a:srgbClr val="FFFFFF"/>
    </a:accent3>
    <a:accent4>
      <a:srgbClr val="000000"/>
    </a:accent4>
    <a:accent5>
      <a:srgbClr val="000000"/>
    </a:accent5>
    <a:accent6>
      <a:srgbClr val="000000"/>
    </a:accent6>
    <a:hlink>
      <a:srgbClr val="00FF00"/>
    </a:hlink>
    <a:folHlink>
      <a:srgbClr val="000000"/>
    </a:folHlink>
  </a:clrScheme>
</a:themeOverride>
</file>

<file path=docProps/app.xml><?xml version="1.0" encoding="utf-8"?>
<Properties xmlns="http://schemas.openxmlformats.org/officeDocument/2006/extended-properties">
  <ScaleCrop>0</ScaleCrop>
  <LinksUpToDate>0</LinksUpToDate>
</Properties>
</file>

<file path=docProps/core.xml><?xml version="1.0" encoding="utf-8"?>
<cp:coreProperties xmlns:cp="http://schemas.openxmlformats.org/package/2006/metadata/core-properties" xmlns:dc="http://purl.org/dc/elements/1.1/" xmlns:dcterms="http://purl.org/dc/terms/" xmlns:xsi="http://www.w3.org/2001/XMLSchema-instance">
  <dc:title>    Financial Accounting and Accounting Standards</dc:title>
  <dc:creator>Coby Harmon</dc:creator>
  <cp:lastModifiedBy>SUT</cp:lastModifiedBy>
  <dcterms:created xsi:type="dcterms:W3CDTF">1997-03-28T12:03:02Z</dcterms:created>
  <dcterms:modified xsi:type="dcterms:W3CDTF">2020-08-15T05:01:17Z</dcterms:modified>
</cp:coreProperties>
</file>