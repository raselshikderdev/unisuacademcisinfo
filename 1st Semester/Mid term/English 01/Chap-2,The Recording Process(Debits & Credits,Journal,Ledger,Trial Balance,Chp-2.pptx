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wmf" ContentType="image/x-wm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7.xml" ContentType="application/vnd.openxmlformats-officedocument.presentationml.notesSlide+xml"/>
  <Override PartName="/ppt/slides/slide11.xml" ContentType="application/vnd.openxmlformats-officedocument.presentationml.slide+xml"/>
  <Override PartName="/ppt/notesSlides/notesSlide8.xml" ContentType="application/vnd.openxmlformats-officedocument.presentationml.notesSlide+xml"/>
  <Override PartName="/ppt/slides/slide12.xml" ContentType="application/vnd.openxmlformats-officedocument.presentationml.slide+xml"/>
  <Override PartName="/ppt/notesSlides/notesSlide9.xml" ContentType="application/vnd.openxmlformats-officedocument.presentationml.notesSlide+xml"/>
  <Override PartName="/ppt/slides/slide13.xml" ContentType="application/vnd.openxmlformats-officedocument.presentationml.slide+xml"/>
  <Override PartName="/ppt/notesSlides/notesSlide10.xml" ContentType="application/vnd.openxmlformats-officedocument.presentationml.notesSlide+xml"/>
  <Override PartName="/ppt/slides/slide14.xml" ContentType="application/vnd.openxmlformats-officedocument.presentationml.slide+xml"/>
  <Override PartName="/ppt/notesSlides/notesSlide11.xml" ContentType="application/vnd.openxmlformats-officedocument.presentationml.notesSlide+xml"/>
  <Override PartName="/ppt/slides/slide15.xml" ContentType="application/vnd.openxmlformats-officedocument.presentationml.slide+xml"/>
  <Override PartName="/ppt/notesSlides/notesSlide12.xml" ContentType="application/vnd.openxmlformats-officedocument.presentationml.notesSlide+xml"/>
  <Override PartName="/ppt/slides/slide16.xml" ContentType="application/vnd.openxmlformats-officedocument.presentationml.slide+xml"/>
  <Override PartName="/ppt/notesSlides/notesSlide13.xml" ContentType="application/vnd.openxmlformats-officedocument.presentationml.notesSlide+xml"/>
  <Override PartName="/ppt/slides/slide17.xml" ContentType="application/vnd.openxmlformats-officedocument.presentationml.slide+xml"/>
  <Override PartName="/ppt/notesSlides/notesSlide14.xml" ContentType="application/vnd.openxmlformats-officedocument.presentationml.notesSlide+xml"/>
  <Override PartName="/ppt/slides/slide18.xml" ContentType="application/vnd.openxmlformats-officedocument.presentationml.slide+xml"/>
  <Override PartName="/ppt/notesSlides/notesSlide15.xml" ContentType="application/vnd.openxmlformats-officedocument.presentationml.notesSlide+xml"/>
  <Override PartName="/ppt/slides/slide19.xml" ContentType="application/vnd.openxmlformats-officedocument.presentationml.slide+xml"/>
  <Override PartName="/ppt/theme/themeOverride1.xml" ContentType="application/vnd.openxmlformats-officedocument.themeOverride+xml"/>
  <Override PartName="/ppt/slides/slide20.xml" ContentType="application/vnd.openxmlformats-officedocument.presentationml.slide+xml"/>
  <Override PartName="/ppt/theme/themeOverride2.xml" ContentType="application/vnd.openxmlformats-officedocument.themeOverride+xml"/>
  <Override PartName="/ppt/slides/slide21.xml" ContentType="application/vnd.openxmlformats-officedocument.presentationml.slide+xml"/>
  <Override PartName="/ppt/theme/themeOverride3.xml" ContentType="application/vnd.openxmlformats-officedocument.themeOverride+xml"/>
  <Override PartName="/ppt/slides/slide22.xml" ContentType="application/vnd.openxmlformats-officedocument.presentationml.slide+xml"/>
  <Override PartName="/ppt/theme/themeOverride4.xml" ContentType="application/vnd.openxmlformats-officedocument.themeOverride+xml"/>
  <Override PartName="/ppt/slides/slide23.xml" ContentType="application/vnd.openxmlformats-officedocument.presentationml.slide+xml"/>
  <Override PartName="/ppt/theme/themeOverride5.xml" ContentType="application/vnd.openxmlformats-officedocument.themeOverride+xml"/>
  <Override PartName="/ppt/slides/slide24.xml" ContentType="application/vnd.openxmlformats-officedocument.presentationml.slide+xml"/>
  <Override PartName="/ppt/theme/themeOverride6.xml" ContentType="application/vnd.openxmlformats-officedocument.themeOverride+xml"/>
  <Override PartName="/ppt/slides/slide25.xml" ContentType="application/vnd.openxmlformats-officedocument.presentationml.slide+xml"/>
  <Override PartName="/ppt/theme/themeOverride7.xml" ContentType="application/vnd.openxmlformats-officedocument.themeOverride+xml"/>
  <Override PartName="/ppt/slides/slide26.xml" ContentType="application/vnd.openxmlformats-officedocument.presentationml.slide+xml"/>
  <Override PartName="/ppt/notesSlides/notesSlide16.xml" ContentType="application/vnd.openxmlformats-officedocument.presentationml.notesSlide+xml"/>
  <Override PartName="/ppt/slides/slide27.xml" ContentType="application/vnd.openxmlformats-officedocument.presentationml.slide+xml"/>
  <Override PartName="/ppt/notesSlides/notesSlide17.xml" ContentType="application/vnd.openxmlformats-officedocument.presentationml.notesSlide+xml"/>
  <Override PartName="/ppt/slides/slide28.xml" ContentType="application/vnd.openxmlformats-officedocument.presentationml.slide+xml"/>
  <Override PartName="/ppt/notesSlides/notesSlide18.xml" ContentType="application/vnd.openxmlformats-officedocument.presentationml.notesSlide+xml"/>
  <Override PartName="/ppt/slides/slide29.xml" ContentType="application/vnd.openxmlformats-officedocument.presentationml.slide+xml"/>
  <Override PartName="/ppt/theme/themeOverride8.xml" ContentType="application/vnd.openxmlformats-officedocument.themeOverride+xml"/>
  <Override PartName="/ppt/slides/slide30.xml" ContentType="application/vnd.openxmlformats-officedocument.presentationml.slide+xml"/>
  <Override PartName="/ppt/notesSlides/notesSlide19.xml" ContentType="application/vnd.openxmlformats-officedocument.presentationml.notesSlide+xml"/>
  <Override PartName="/ppt/slides/slide31.xml" ContentType="application/vnd.openxmlformats-officedocument.presentationml.slide+xml"/>
  <Override PartName="/ppt/theme/themeOverride9.xml" ContentType="application/vnd.openxmlformats-officedocument.themeOverride+xml"/>
  <Override PartName="/ppt/slides/slide32.xml" ContentType="application/vnd.openxmlformats-officedocument.presentationml.slide+xml"/>
  <Override PartName="/ppt/notesSlides/notesSlide20.xml" ContentType="application/vnd.openxmlformats-officedocument.presentationml.notesSlide+xml"/>
  <Override PartName="/ppt/slides/slide33.xml" ContentType="application/vnd.openxmlformats-officedocument.presentationml.slide+xml"/>
  <Override PartName="/ppt/notesSlides/notesSlide21.xml" ContentType="application/vnd.openxmlformats-officedocument.presentationml.notesSlide+xml"/>
  <Override PartName="/ppt/slides/slide34.xml" ContentType="application/vnd.openxmlformats-officedocument.presentationml.slide+xml"/>
  <Override PartName="/ppt/notesSlides/notesSlide22.xml" ContentType="application/vnd.openxmlformats-officedocument.presentationml.notesSlide+xml"/>
  <Override PartName="/ppt/slides/slide35.xml" ContentType="application/vnd.openxmlformats-officedocument.presentationml.slide+xml"/>
  <Override PartName="/ppt/notesSlides/notesSlide23.xml" ContentType="application/vnd.openxmlformats-officedocument.presentationml.notesSlide+xml"/>
  <Override PartName="/ppt/slides/slide36.xml" ContentType="application/vnd.openxmlformats-officedocument.presentationml.slide+xml"/>
  <Override PartName="/ppt/notesSlides/notesSlide24.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60" r:id="rId1"/>
  </p:sldMasterIdLst>
  <p:notesMasterIdLst>
    <p:notesMasterId r:id="rId2"/>
  </p:notesMasterIdLst>
  <p:handoutMasterIdLst>
    <p:handoutMasterId r:id="rId3"/>
  </p:handoutMasterIdLst>
  <p:sldIdLst>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Lst>
  <p:sldSz type="screen4x3" cy="6858000" cx="9144000"/>
  <p:notesSz cx="7010400" cy="9296400"/>
  <p:defaultTex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maximized" preferSingleView="0">
    <p:restoredLeft sz="15620"/>
    <p:restoredTop sz="94660"/>
  </p:normalViewPr>
  <p:slideViewPr>
    <p:cSldViewPr showGuides="0" snapToGrid="1" snapToObjects="0">
      <p:cViewPr varScale="0">
        <p:scale>
          <a:sx n="75" d="100"/>
          <a:sy n="75" d="100"/>
        </p:scale>
        <p:origin x="-600" y="686"/>
      </p:cViewPr>
      <p:guideLst>
        <p:guide orient="horz" pos="2927"/>
        <p:guide orient="vert" pos="2208"/>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tableStyles" Target="tableStyles.xml"/><Relationship Id="rId41" Type="http://schemas.openxmlformats.org/officeDocument/2006/relationships/presProps" Target="presProps.xml"/><Relationship Id="rId4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47" name=""/>
        <p:cNvGrpSpPr/>
        <p:nvPr/>
      </p:nvGrpSpPr>
      <p:grpSpPr>
        <a:xfrm rot="0">
          <a:off x="0" y="0"/>
          <a:ext cx="0" cy="0"/>
          <a:chOff x="0" y="0"/>
          <a:chExt cx="0" cy="0"/>
        </a:xfrm>
      </p:grpSpPr>
    </p:spTree>
  </p:cSld>
  <p:clrMap accent1="dk1" accent2="dk1" accent3="dk1" accent4="dk1" accent5="dk1" accent6="dk1" bg1="dk1" bg2="dk1" tx1="dk1" tx2="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45" name=""/>
        <p:cNvGrpSpPr/>
        <p:nvPr/>
      </p:nvGrpSpPr>
      <p:grpSpPr>
        <a:xfrm rot="0">
          <a:off x="0" y="0"/>
          <a:ext cx="0" cy="0"/>
          <a:chOff x="0" y="0"/>
          <a:chExt cx="0" cy="0"/>
        </a:xfrm>
      </p:grpSpPr>
      <p:sp>
        <p:nvSpPr>
          <p:cNvPr id="1048885" name=""/>
          <p:cNvSpPr/>
          <p:nvPr>
            <p:ph type="body" sz="quarter" idx="3"/>
          </p:nvPr>
        </p:nvSpPr>
        <p:spPr>
          <a:xfrm rot="0">
            <a:off x="388937" y="4416425"/>
            <a:ext cx="6310312" cy="4183062"/>
          </a:xfrm>
          <a:prstGeom prst="rect"/>
          <a:noFill/>
          <a:ln>
            <a:noFill/>
          </a:ln>
        </p:spPr>
        <p:txBody>
          <a:bodyPr bIns="45162" lIns="91935" rIns="91935" tIns="45162"/>
          <a:p>
            <a:pPr lvl="0"/>
            <a:r>
              <a:rPr altLang="en-US" lang="en-US"/>
              <a:t>Click to edit Master notes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886" name=""/>
          <p:cNvSpPr/>
          <p:nvPr>
            <p:ph type="sldImg" sz="full" idx="2"/>
          </p:nvPr>
        </p:nvSpPr>
        <p:spPr>
          <a:xfrm rot="0">
            <a:off x="1190625" y="703262"/>
            <a:ext cx="4630737" cy="3473450"/>
          </a:xfrm>
          <a:prstGeom prst="rect"/>
          <a:noFill/>
          <a:ln w="12700" cap="flat" cmpd="sng">
            <a:solidFill>
              <a:schemeClr val="dk1">
                <a:alpha val="100000"/>
              </a:schemeClr>
            </a:solidFill>
            <a:prstDash val="solid"/>
            <a:round/>
          </a:ln>
        </p:spPr>
        <p:txBody>
          <a:bodyPr anchor="ctr" bIns="45752" lIns="91504" rIns="91504" tIns="45752"/>
          <a:p/>
        </p:txBody>
      </p:sp>
    </p:spTree>
  </p:cSld>
  <p:clrMap accent1="dk1" accent2="dk1" accent3="dk1" accent4="dk1" accent5="dk1" accent6="dk1" bg1="dk1" bg2="dk1" tx1="dk1" tx2="dk1" hlink="dk1" folHlink="dk1"/>
  <p:notesStyle>
    <a:lvl1pPr algn="l" fontAlgn="base" indent="0" latinLnBrk="1" marL="0" rtl="0">
      <a:lnSpc>
        <a:spcPct val="100000"/>
      </a:lnSpc>
      <a:spcBef>
        <a:spcPct val="30000"/>
      </a:spcBef>
      <a:spcAft>
        <a:spcPct val="0"/>
      </a:spcAft>
      <a:buFontTx/>
      <a:buNone/>
      <a:defRPr baseline="0" b="0" sz="1400" i="0">
        <a:solidFill>
          <a:schemeClr val="dk1"/>
        </a:solidFill>
        <a:latin typeface="Arial" pitchFamily="34" charset="0"/>
        <a:sym typeface="Comic Sans MS" pitchFamily="66" charset="0"/>
      </a:defRPr>
    </a:lvl1pPr>
    <a:lvl2pPr algn="l" fontAlgn="base" indent="0" latinLnBrk="1" marL="457200" rtl="0">
      <a:lnSpc>
        <a:spcPct val="100000"/>
      </a:lnSpc>
      <a:spcBef>
        <a:spcPct val="30000"/>
      </a:spcBef>
      <a:spcAft>
        <a:spcPct val="0"/>
      </a:spcAft>
      <a:buFontTx/>
      <a:buNone/>
      <a:defRPr baseline="0" b="0" sz="1400" i="0">
        <a:solidFill>
          <a:schemeClr val="dk1"/>
        </a:solidFill>
        <a:latin typeface="Arial" pitchFamily="34" charset="0"/>
        <a:sym typeface="Comic Sans MS" pitchFamily="66" charset="0"/>
      </a:defRPr>
    </a:lvl2pPr>
    <a:lvl3pPr algn="l" fontAlgn="base" indent="0" latinLnBrk="1" marL="914400" rtl="0">
      <a:lnSpc>
        <a:spcPct val="100000"/>
      </a:lnSpc>
      <a:spcBef>
        <a:spcPct val="30000"/>
      </a:spcBef>
      <a:spcAft>
        <a:spcPct val="0"/>
      </a:spcAft>
      <a:buFontTx/>
      <a:buNone/>
      <a:defRPr baseline="0" b="0" sz="1400" i="0">
        <a:solidFill>
          <a:schemeClr val="dk1"/>
        </a:solidFill>
        <a:latin typeface="Arial" pitchFamily="34" charset="0"/>
        <a:sym typeface="Comic Sans MS" pitchFamily="66" charset="0"/>
      </a:defRPr>
    </a:lvl3pPr>
    <a:lvl4pPr algn="l" fontAlgn="base" indent="0" latinLnBrk="1" marL="1371600" rtl="0">
      <a:lnSpc>
        <a:spcPct val="100000"/>
      </a:lnSpc>
      <a:spcBef>
        <a:spcPct val="30000"/>
      </a:spcBef>
      <a:spcAft>
        <a:spcPct val="0"/>
      </a:spcAft>
      <a:buFontTx/>
      <a:buNone/>
      <a:defRPr baseline="0" b="0" sz="1400" i="0">
        <a:solidFill>
          <a:schemeClr val="dk1"/>
        </a:solidFill>
        <a:latin typeface="Arial" pitchFamily="34" charset="0"/>
        <a:sym typeface="Comic Sans MS" pitchFamily="66" charset="0"/>
      </a:defRPr>
    </a:lvl4pPr>
    <a:lvl5pPr algn="l" fontAlgn="base" indent="0" latinLnBrk="1" marL="1828800" rtl="0">
      <a:lnSpc>
        <a:spcPct val="100000"/>
      </a:lnSpc>
      <a:spcBef>
        <a:spcPct val="30000"/>
      </a:spcBef>
      <a:spcAft>
        <a:spcPct val="0"/>
      </a:spcAft>
      <a:buFontTx/>
      <a:buNone/>
      <a:defRPr baseline="0" b="0" sz="1400" i="0">
        <a:solidFill>
          <a:schemeClr val="dk1"/>
        </a:solidFill>
        <a:latin typeface="Arial" pitchFamily="34" charset="0"/>
        <a:sym typeface="Comic Sans MS" pitchFamily="66"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rot="0">
          <a:off x="0" y="0"/>
          <a:ext cx="0" cy="0"/>
          <a:chOff x="0" y="0"/>
          <a:chExt cx="0" cy="0"/>
        </a:xfrm>
      </p:grpSpPr>
      <p:sp>
        <p:nvSpPr>
          <p:cNvPr id="1048610" name=""/>
          <p:cNvSpPr/>
          <p:nvPr>
            <p:ph type="sldImg" sz="full" idx="0"/>
          </p:nvPr>
        </p:nvSpPr>
        <p:spPr>
          <a:xfrm rot="0">
            <a:off x="1190625" y="703262"/>
            <a:ext cx="4630737" cy="3473450"/>
          </a:xfrm>
          <a:prstGeom prst="rect"/>
        </p:spPr>
        <p:txBody>
          <a:bodyPr anchor="ctr" bIns="45752" lIns="91504" rIns="91504" tIns="45752"/>
          <a:p/>
        </p:txBody>
      </p:sp>
      <p:sp>
        <p:nvSpPr>
          <p:cNvPr id="1048611" name=""/>
          <p:cNvSpPr/>
          <p:nvPr>
            <p:ph type="body" sz="full" idx="1"/>
          </p:nvPr>
        </p:nvSpPr>
        <p:spPr>
          <a:xfrm rot="0">
            <a:off x="388937" y="4416425"/>
            <a:ext cx="6310312" cy="4183062"/>
          </a:xfrm>
          <a:prstGeom prst="rect"/>
          <a:noFill/>
        </p:spPr>
        <p:txBody>
          <a:bodyPr anchor="t" bIns="45162" lIns="91935" rIns="91935" tIns="45162"/>
          <a:p>
            <a:pPr lvl="0"/>
            <a:r>
              <a:rPr altLang="en-US" b="1" sz="1200" lang="en-US"/>
              <a:t>1.  On the topic, “Challenges Facing Financial Accounting,” what did the AICPA Special Committee on Financial Reporting suggest should be included in future financial statements?</a:t>
            </a:r>
          </a:p>
          <a:p>
            <a:pPr lvl="0">
              <a:buFontTx/>
              <a:buChar char="•"/>
            </a:pPr>
            <a:r>
              <a:rPr altLang="en-US" b="1" sz="1200" lang="en-US"/>
              <a:t>Non-financial</a:t>
            </a:r>
            <a:r>
              <a:rPr altLang="en-US" b="1" sz="1000" lang="en-US"/>
              <a:t> </a:t>
            </a:r>
            <a:r>
              <a:rPr altLang="en-US" b="1" sz="1200" lang="en-US"/>
              <a:t>Measurements</a:t>
            </a:r>
            <a:r>
              <a:rPr altLang="en-US" b="1" sz="1000" lang="en-US"/>
              <a:t> (customer satisfaction indexes, backlog information, and reject rates on goods purchases).</a:t>
            </a:r>
          </a:p>
          <a:p>
            <a:pPr lvl="0">
              <a:buFontTx/>
              <a:buChar char="•"/>
            </a:pPr>
            <a:r>
              <a:rPr altLang="en-US" b="1" sz="1200" lang="en-US"/>
              <a:t>Forward-looking Information</a:t>
            </a:r>
            <a:r>
              <a:rPr altLang="en-US" b="1" sz="1000" lang="en-US"/>
              <a:t> </a:t>
            </a:r>
          </a:p>
          <a:p>
            <a:pPr lvl="0">
              <a:buFontTx/>
              <a:buChar char="•"/>
            </a:pPr>
            <a:r>
              <a:rPr altLang="en-US" b="1" sz="1200" lang="en-US"/>
              <a:t>Soft Assets</a:t>
            </a:r>
            <a:r>
              <a:rPr altLang="en-US" b="1" sz="1000" lang="en-US"/>
              <a:t> (a company’s know-how, market dominance, marketing setup, well-trained employees, and brand image).</a:t>
            </a:r>
          </a:p>
          <a:p>
            <a:pPr lvl="0">
              <a:buFontTx/>
              <a:buChar char="•"/>
            </a:pPr>
            <a:r>
              <a:rPr altLang="en-US" b="1" sz="1200" lang="en-US"/>
              <a:t>Timeliness</a:t>
            </a:r>
            <a:r>
              <a:rPr altLang="en-US" b="1" sz="1000" lang="en-US"/>
              <a:t> (no real time financial information)</a:t>
            </a:r>
          </a:p>
          <a:p>
            <a:pPr lvl="0">
              <a:buFontTx/>
              <a:buChar char="•"/>
            </a:pPr>
            <a:endParaRPr altLang="en-US" b="1" sz="10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rot="0">
          <a:off x="0" y="0"/>
          <a:ext cx="0" cy="0"/>
          <a:chOff x="0" y="0"/>
          <a:chExt cx="0" cy="0"/>
        </a:xfrm>
      </p:grpSpPr>
      <p:sp>
        <p:nvSpPr>
          <p:cNvPr id="1048627" name=""/>
          <p:cNvSpPr/>
          <p:nvPr>
            <p:ph type="sldImg" sz="full" idx="0"/>
          </p:nvPr>
        </p:nvSpPr>
        <p:spPr>
          <a:xfrm rot="0">
            <a:off x="1190625" y="703262"/>
            <a:ext cx="4630737" cy="3473450"/>
          </a:xfrm>
          <a:prstGeom prst="rect"/>
        </p:spPr>
        <p:txBody>
          <a:bodyPr anchor="ctr" bIns="45752" lIns="91504" rIns="91504" tIns="45752"/>
          <a:p/>
        </p:txBody>
      </p:sp>
      <p:sp>
        <p:nvSpPr>
          <p:cNvPr id="1048628" name=""/>
          <p:cNvSpPr/>
          <p:nvPr>
            <p:ph type="body" sz="full" idx="1"/>
          </p:nvPr>
        </p:nvSpPr>
        <p:spPr>
          <a:xfrm rot="0">
            <a:off x="466725" y="4416425"/>
            <a:ext cx="5999162" cy="4183062"/>
          </a:xfrm>
          <a:prstGeom prst="rect"/>
          <a:noFill/>
        </p:spPr>
        <p:txBody>
          <a:bodyPr anchor="t" bIns="45162" lIns="91935" rIns="91935" tIns="45162"/>
          <a:p>
            <a:pPr lvl="0"/>
            <a:r>
              <a:rPr altLang="en-US" b="1" lang="en-US">
                <a:latin typeface="Times New Roman" pitchFamily="18" charset="0"/>
              </a:rPr>
              <a:t>Service Cost - </a:t>
            </a:r>
            <a:r>
              <a:rPr altLang="en-US" lang="en-US">
                <a:latin typeface="Times New Roman" pitchFamily="18" charset="0"/>
              </a:rPr>
              <a:t>Actuaries compute service cost as the present value of the new benefits earned by employees during the year.  Future salary levels considered in calculation.</a:t>
            </a:r>
          </a:p>
          <a:p>
            <a:pPr lvl="0"/>
            <a:r>
              <a:rPr altLang="en-US" b="1" lang="en-US">
                <a:latin typeface="Times New Roman" pitchFamily="18" charset="0"/>
              </a:rPr>
              <a:t>Interest on Liability</a:t>
            </a:r>
            <a:r>
              <a:rPr altLang="en-US" lang="en-US">
                <a:latin typeface="Times New Roman" pitchFamily="18" charset="0"/>
              </a:rPr>
              <a:t> - Interest accrues each year on the PBO just as it does on any discounted debt.</a:t>
            </a:r>
          </a:p>
          <a:p>
            <a:pPr lvl="0"/>
            <a:r>
              <a:rPr altLang="en-US" b="1" lang="en-US">
                <a:latin typeface="Times New Roman" pitchFamily="18" charset="0"/>
              </a:rPr>
              <a:t>Actual Return on Plan Assets - </a:t>
            </a:r>
            <a:r>
              <a:rPr altLang="en-US" lang="en-US">
                <a:latin typeface="Times New Roman" pitchFamily="18" charset="0"/>
              </a:rPr>
              <a:t>Increase in pension funds from interest, dividends, and realized and unrealized changes in the fair market value of the plan assets.</a:t>
            </a:r>
          </a:p>
          <a:p>
            <a:pPr lvl="0"/>
            <a:r>
              <a:rPr altLang="en-US" b="1" lang="en-US">
                <a:latin typeface="Times New Roman" pitchFamily="18" charset="0"/>
              </a:rPr>
              <a:t>Amortization of Unrecognized Prior Service Cost - </a:t>
            </a:r>
            <a:r>
              <a:rPr altLang="en-US" lang="en-US">
                <a:latin typeface="Times New Roman" pitchFamily="18" charset="0"/>
              </a:rPr>
              <a:t>The cost of providing retroactive benefits is allocated to pension expense in the future, specifically to the remaining service-years of the affected employees.</a:t>
            </a:r>
          </a:p>
          <a:p>
            <a:pPr lvl="0"/>
            <a:r>
              <a:rPr altLang="en-US" b="1" lang="en-US">
                <a:latin typeface="Times New Roman" pitchFamily="18" charset="0"/>
              </a:rPr>
              <a:t>Gain or Loss - </a:t>
            </a:r>
            <a:r>
              <a:rPr altLang="en-US" lang="en-US">
                <a:latin typeface="Times New Roman" pitchFamily="18" charset="0"/>
              </a:rPr>
              <a:t>Volatility in pension expense can be caused by sudden and large changes in the market value of plan assets and by changes in the projected benefit obligation.  Two items comprise the gain or loss:</a:t>
            </a:r>
          </a:p>
          <a:p>
            <a:pPr lvl="0">
              <a:buFontTx/>
              <a:buChar char="•"/>
            </a:pPr>
            <a:r>
              <a:rPr altLang="en-US" lang="en-US">
                <a:latin typeface="Times New Roman" pitchFamily="18" charset="0"/>
              </a:rPr>
              <a:t> difference between the actual return and the expected return on plan assets and,</a:t>
            </a:r>
          </a:p>
          <a:p>
            <a:pPr lvl="0">
              <a:buFontTx/>
              <a:buChar char="•"/>
            </a:pPr>
            <a:r>
              <a:rPr altLang="en-US" lang="en-US">
                <a:latin typeface="Times New Roman" pitchFamily="18" charset="0"/>
              </a:rPr>
              <a:t> amortization of the unrecognized net gain or loss from previous periods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2" name=""/>
        <p:cNvGrpSpPr/>
        <p:nvPr/>
      </p:nvGrpSpPr>
      <p:grpSpPr>
        <a:xfrm rot="0">
          <a:off x="0" y="0"/>
          <a:ext cx="0" cy="0"/>
          <a:chOff x="0" y="0"/>
          <a:chExt cx="0" cy="0"/>
        </a:xfrm>
      </p:grpSpPr>
      <p:sp>
        <p:nvSpPr>
          <p:cNvPr id="1048637" name=""/>
          <p:cNvSpPr/>
          <p:nvPr>
            <p:ph type="sldImg" sz="full" idx="0"/>
          </p:nvPr>
        </p:nvSpPr>
        <p:spPr>
          <a:xfrm rot="0">
            <a:off x="1190625" y="703262"/>
            <a:ext cx="4629150" cy="3473450"/>
          </a:xfrm>
          <a:prstGeom prst="rect"/>
        </p:spPr>
        <p:txBody>
          <a:bodyPr anchor="ctr" bIns="45752" lIns="91504" rIns="91504" tIns="45752"/>
          <a:p/>
        </p:txBody>
      </p:sp>
      <p:sp>
        <p:nvSpPr>
          <p:cNvPr id="1048638"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a:xfrm rot="0">
          <a:off x="0" y="0"/>
          <a:ext cx="0" cy="0"/>
          <a:chOff x="0" y="0"/>
          <a:chExt cx="0" cy="0"/>
        </a:xfrm>
      </p:grpSpPr>
      <p:sp>
        <p:nvSpPr>
          <p:cNvPr id="1048642" name=""/>
          <p:cNvSpPr/>
          <p:nvPr>
            <p:ph type="sldImg" sz="full" idx="0"/>
          </p:nvPr>
        </p:nvSpPr>
        <p:spPr>
          <a:xfrm rot="0">
            <a:off x="1190625" y="703262"/>
            <a:ext cx="4629150" cy="3473450"/>
          </a:xfrm>
          <a:prstGeom prst="rect"/>
        </p:spPr>
        <p:txBody>
          <a:bodyPr anchor="ctr" bIns="45752" lIns="91504" rIns="91504" tIns="45752"/>
          <a:p/>
        </p:txBody>
      </p:sp>
      <p:sp>
        <p:nvSpPr>
          <p:cNvPr id="1048643"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rot="0">
          <a:off x="0" y="0"/>
          <a:ext cx="0" cy="0"/>
          <a:chOff x="0" y="0"/>
          <a:chExt cx="0" cy="0"/>
        </a:xfrm>
      </p:grpSpPr>
      <p:sp>
        <p:nvSpPr>
          <p:cNvPr id="1048655" name=""/>
          <p:cNvSpPr/>
          <p:nvPr>
            <p:ph type="sldImg" sz="full" idx="0"/>
          </p:nvPr>
        </p:nvSpPr>
        <p:spPr>
          <a:xfrm rot="0">
            <a:off x="1190625" y="703262"/>
            <a:ext cx="4629150" cy="3473450"/>
          </a:xfrm>
          <a:prstGeom prst="rect"/>
        </p:spPr>
        <p:txBody>
          <a:bodyPr anchor="ctr" bIns="45752" lIns="91504" rIns="91504" tIns="45752"/>
          <a:p/>
        </p:txBody>
      </p:sp>
      <p:sp>
        <p:nvSpPr>
          <p:cNvPr id="1048656"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rot="0">
          <a:off x="0" y="0"/>
          <a:ext cx="0" cy="0"/>
          <a:chOff x="0" y="0"/>
          <a:chExt cx="0" cy="0"/>
        </a:xfrm>
      </p:grpSpPr>
      <p:sp>
        <p:nvSpPr>
          <p:cNvPr id="1048668" name=""/>
          <p:cNvSpPr/>
          <p:nvPr>
            <p:ph type="sldImg" sz="full" idx="0"/>
          </p:nvPr>
        </p:nvSpPr>
        <p:spPr>
          <a:xfrm rot="0">
            <a:off x="1190625" y="703262"/>
            <a:ext cx="4629150" cy="3473450"/>
          </a:xfrm>
          <a:prstGeom prst="rect"/>
        </p:spPr>
        <p:txBody>
          <a:bodyPr anchor="ctr" bIns="45752" lIns="91504" rIns="91504" tIns="45752"/>
          <a:p/>
        </p:txBody>
      </p:sp>
      <p:sp>
        <p:nvSpPr>
          <p:cNvPr id="1048669"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rot="0">
          <a:off x="0" y="0"/>
          <a:ext cx="0" cy="0"/>
          <a:chOff x="0" y="0"/>
          <a:chExt cx="0" cy="0"/>
        </a:xfrm>
      </p:grpSpPr>
      <p:sp>
        <p:nvSpPr>
          <p:cNvPr id="1048704" name=""/>
          <p:cNvSpPr/>
          <p:nvPr>
            <p:ph type="sldImg" sz="full" idx="0"/>
          </p:nvPr>
        </p:nvSpPr>
        <p:spPr>
          <a:xfrm rot="0">
            <a:off x="1190625" y="703262"/>
            <a:ext cx="4630737" cy="3473450"/>
          </a:xfrm>
          <a:prstGeom prst="rect"/>
        </p:spPr>
        <p:txBody>
          <a:bodyPr anchor="ctr" bIns="45752" lIns="91504" rIns="91504" tIns="45752"/>
          <a:p/>
        </p:txBody>
      </p:sp>
      <p:sp>
        <p:nvSpPr>
          <p:cNvPr id="1048705"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rot="0">
          <a:off x="0" y="0"/>
          <a:ext cx="0" cy="0"/>
          <a:chOff x="0" y="0"/>
          <a:chExt cx="0" cy="0"/>
        </a:xfrm>
      </p:grpSpPr>
      <p:sp>
        <p:nvSpPr>
          <p:cNvPr id="1048710" name=""/>
          <p:cNvSpPr/>
          <p:nvPr>
            <p:ph type="sldImg" sz="full" idx="0"/>
          </p:nvPr>
        </p:nvSpPr>
        <p:spPr>
          <a:xfrm rot="0">
            <a:off x="1190625" y="703262"/>
            <a:ext cx="4630737" cy="3473450"/>
          </a:xfrm>
          <a:prstGeom prst="rect"/>
        </p:spPr>
        <p:txBody>
          <a:bodyPr anchor="ctr" bIns="45752" lIns="91504" rIns="91504" tIns="45752"/>
          <a:p/>
        </p:txBody>
      </p:sp>
      <p:sp>
        <p:nvSpPr>
          <p:cNvPr id="1048711" name=""/>
          <p:cNvSpPr/>
          <p:nvPr>
            <p:ph type="body" sz="full" idx="1"/>
          </p:nvPr>
        </p:nvSpPr>
        <p:spPr>
          <a:xfrm rot="0">
            <a:off x="388937" y="4416425"/>
            <a:ext cx="6310312" cy="4183062"/>
          </a:xfrm>
          <a:prstGeom prst="rect"/>
          <a:noFill/>
        </p:spPr>
        <p:txBody>
          <a:bodyPr anchor="t" bIns="45162" lIns="91935" rIns="91935" tIns="45162"/>
          <a:p>
            <a:pPr lvl="0">
              <a:lnSpc>
                <a:spcPct val="125000"/>
              </a:lnSpc>
            </a:pPr>
            <a:r>
              <a:rPr altLang="en-US" b="1" sz="1600" lang="en-US">
                <a:latin typeface="Comic Sans MS" pitchFamily="66" charset="0"/>
              </a:rPr>
              <a:t>Question 2-4 (textbook)</a:t>
            </a:r>
            <a:r>
              <a:rPr altLang="en-US" sz="1600" lang="en-US">
                <a:latin typeface="Comic Sans MS" pitchFamily="66" charset="0"/>
              </a:rPr>
              <a:t>   Maria is incorrect.  A debit balance only means that debits amounts exceed credit amounts in an account.  Conversely, a credit balance only means that credit amounts are greater than debit amounts in an account.  Thus, a debit or credit balance is neither favorable nor unfavorable.</a:t>
            </a:r>
          </a:p>
          <a:p>
            <a:pPr lvl="0">
              <a:lnSpc>
                <a:spcPct val="125000"/>
              </a:lnSpc>
            </a:pPr>
            <a:endParaRPr altLang="en-US" sz="1600" lang="en-US">
              <a:latin typeface="Comic Sans MS" pitchFamily="66"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rot="0">
          <a:off x="0" y="0"/>
          <a:ext cx="0" cy="0"/>
          <a:chOff x="0" y="0"/>
          <a:chExt cx="0" cy="0"/>
        </a:xfrm>
      </p:grpSpPr>
      <p:sp>
        <p:nvSpPr>
          <p:cNvPr id="1048715" name=""/>
          <p:cNvSpPr/>
          <p:nvPr>
            <p:ph type="sldImg" sz="full" idx="0"/>
          </p:nvPr>
        </p:nvSpPr>
        <p:spPr>
          <a:xfrm rot="0">
            <a:off x="1190625" y="703262"/>
            <a:ext cx="4629150" cy="3473450"/>
          </a:xfrm>
          <a:prstGeom prst="rect"/>
        </p:spPr>
        <p:txBody>
          <a:bodyPr anchor="ctr" bIns="45752" lIns="91504" rIns="91504" tIns="45752"/>
          <a:p/>
        </p:txBody>
      </p:sp>
      <p:sp>
        <p:nvSpPr>
          <p:cNvPr id="1048716"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rot="0">
          <a:off x="0" y="0"/>
          <a:ext cx="0" cy="0"/>
          <a:chOff x="0" y="0"/>
          <a:chExt cx="0" cy="0"/>
        </a:xfrm>
      </p:grpSpPr>
      <p:sp>
        <p:nvSpPr>
          <p:cNvPr id="1048721" name=""/>
          <p:cNvSpPr/>
          <p:nvPr>
            <p:ph type="sldImg" sz="full" idx="0"/>
          </p:nvPr>
        </p:nvSpPr>
        <p:spPr>
          <a:xfrm rot="0">
            <a:off x="1190625" y="703262"/>
            <a:ext cx="4629150" cy="3473450"/>
          </a:xfrm>
          <a:prstGeom prst="rect"/>
        </p:spPr>
        <p:txBody>
          <a:bodyPr anchor="ctr" bIns="45752" lIns="91504" rIns="91504" tIns="45752"/>
          <a:p/>
        </p:txBody>
      </p:sp>
      <p:sp>
        <p:nvSpPr>
          <p:cNvPr id="1048722"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rot="0">
          <a:off x="0" y="0"/>
          <a:ext cx="0" cy="0"/>
          <a:chOff x="0" y="0"/>
          <a:chExt cx="0" cy="0"/>
        </a:xfrm>
      </p:grpSpPr>
      <p:sp>
        <p:nvSpPr>
          <p:cNvPr id="1048726" name=""/>
          <p:cNvSpPr/>
          <p:nvPr>
            <p:ph type="sldImg" sz="full" idx="0"/>
          </p:nvPr>
        </p:nvSpPr>
        <p:spPr>
          <a:xfrm rot="0">
            <a:off x="1190625" y="703262"/>
            <a:ext cx="4629150" cy="3473450"/>
          </a:xfrm>
          <a:prstGeom prst="rect"/>
        </p:spPr>
        <p:txBody>
          <a:bodyPr anchor="ctr" bIns="45752" lIns="91504" rIns="91504" tIns="45752"/>
          <a:p/>
        </p:txBody>
      </p:sp>
      <p:sp>
        <p:nvSpPr>
          <p:cNvPr id="1048727"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rot="0">
          <a:off x="0" y="0"/>
          <a:ext cx="0" cy="0"/>
          <a:chOff x="0" y="0"/>
          <a:chExt cx="0" cy="0"/>
        </a:xfrm>
      </p:grpSpPr>
      <p:sp>
        <p:nvSpPr>
          <p:cNvPr id="1048733" name=""/>
          <p:cNvSpPr/>
          <p:nvPr>
            <p:ph type="sldImg" sz="full" idx="0"/>
          </p:nvPr>
        </p:nvSpPr>
        <p:spPr>
          <a:xfrm rot="0">
            <a:off x="1190625" y="703262"/>
            <a:ext cx="4630737" cy="3473450"/>
          </a:xfrm>
          <a:prstGeom prst="rect"/>
        </p:spPr>
        <p:txBody>
          <a:bodyPr anchor="ctr" bIns="45752" lIns="91504" rIns="91504" tIns="45752"/>
          <a:p/>
        </p:txBody>
      </p:sp>
      <p:sp>
        <p:nvSpPr>
          <p:cNvPr id="1048734"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rot="0">
          <a:off x="0" y="0"/>
          <a:ext cx="0" cy="0"/>
          <a:chOff x="0" y="0"/>
          <a:chExt cx="0" cy="0"/>
        </a:xfrm>
      </p:grpSpPr>
      <p:sp>
        <p:nvSpPr>
          <p:cNvPr id="1048748" name=""/>
          <p:cNvSpPr/>
          <p:nvPr>
            <p:ph type="sldImg" sz="full" idx="0"/>
          </p:nvPr>
        </p:nvSpPr>
        <p:spPr>
          <a:xfrm rot="0">
            <a:off x="1190625" y="703262"/>
            <a:ext cx="4629150" cy="3473450"/>
          </a:xfrm>
          <a:prstGeom prst="rect"/>
        </p:spPr>
        <p:txBody>
          <a:bodyPr anchor="ctr" bIns="45752" lIns="91504" rIns="91504" tIns="45752"/>
          <a:p/>
        </p:txBody>
      </p:sp>
      <p:sp>
        <p:nvSpPr>
          <p:cNvPr id="1048749"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7" name=""/>
        <p:cNvGrpSpPr/>
        <p:nvPr/>
      </p:nvGrpSpPr>
      <p:grpSpPr>
        <a:xfrm rot="0">
          <a:off x="0" y="0"/>
          <a:ext cx="0" cy="0"/>
          <a:chOff x="0" y="0"/>
          <a:chExt cx="0" cy="0"/>
        </a:xfrm>
      </p:grpSpPr>
      <p:sp>
        <p:nvSpPr>
          <p:cNvPr id="1048758" name=""/>
          <p:cNvSpPr/>
          <p:nvPr>
            <p:ph type="sldImg" sz="full" idx="0"/>
          </p:nvPr>
        </p:nvSpPr>
        <p:spPr>
          <a:xfrm rot="0">
            <a:off x="1190625" y="703262"/>
            <a:ext cx="4629150" cy="3473450"/>
          </a:xfrm>
          <a:prstGeom prst="rect"/>
        </p:spPr>
        <p:txBody>
          <a:bodyPr anchor="ctr" bIns="45752" lIns="91504" rIns="91504" tIns="45752"/>
          <a:p/>
        </p:txBody>
      </p:sp>
      <p:sp>
        <p:nvSpPr>
          <p:cNvPr id="1048759"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rot="0">
          <a:off x="0" y="0"/>
          <a:ext cx="0" cy="0"/>
          <a:chOff x="0" y="0"/>
          <a:chExt cx="0" cy="0"/>
        </a:xfrm>
      </p:grpSpPr>
      <p:sp>
        <p:nvSpPr>
          <p:cNvPr id="1048763" name=""/>
          <p:cNvSpPr/>
          <p:nvPr>
            <p:ph type="sldImg" sz="full" idx="0"/>
          </p:nvPr>
        </p:nvSpPr>
        <p:spPr>
          <a:xfrm rot="0">
            <a:off x="1190625" y="703262"/>
            <a:ext cx="4629150" cy="3473450"/>
          </a:xfrm>
          <a:prstGeom prst="rect"/>
        </p:spPr>
        <p:txBody>
          <a:bodyPr anchor="ctr" bIns="45752" lIns="91504" rIns="91504" tIns="45752"/>
          <a:p/>
        </p:txBody>
      </p:sp>
      <p:sp>
        <p:nvSpPr>
          <p:cNvPr id="1048764"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20" name=""/>
        <p:cNvGrpSpPr/>
        <p:nvPr/>
      </p:nvGrpSpPr>
      <p:grpSpPr>
        <a:xfrm rot="0">
          <a:off x="0" y="0"/>
          <a:ext cx="0" cy="0"/>
          <a:chOff x="0" y="0"/>
          <a:chExt cx="0" cy="0"/>
        </a:xfrm>
      </p:grpSpPr>
      <p:sp>
        <p:nvSpPr>
          <p:cNvPr id="1048818" name=""/>
          <p:cNvSpPr/>
          <p:nvPr>
            <p:ph type="sldImg" sz="full" idx="0"/>
          </p:nvPr>
        </p:nvSpPr>
        <p:spPr>
          <a:xfrm rot="0">
            <a:off x="1190625" y="703262"/>
            <a:ext cx="4629150" cy="3473450"/>
          </a:xfrm>
          <a:prstGeom prst="rect"/>
        </p:spPr>
        <p:txBody>
          <a:bodyPr anchor="ctr" bIns="45752" lIns="91504" rIns="91504" tIns="45752"/>
          <a:p/>
        </p:txBody>
      </p:sp>
      <p:sp>
        <p:nvSpPr>
          <p:cNvPr id="1048819"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rot="0">
          <a:off x="0" y="0"/>
          <a:ext cx="0" cy="0"/>
          <a:chOff x="0" y="0"/>
          <a:chExt cx="0" cy="0"/>
        </a:xfrm>
      </p:grpSpPr>
      <p:sp>
        <p:nvSpPr>
          <p:cNvPr id="1048823" name=""/>
          <p:cNvSpPr/>
          <p:nvPr>
            <p:ph type="sldImg" sz="full" idx="0"/>
          </p:nvPr>
        </p:nvSpPr>
        <p:spPr>
          <a:xfrm rot="0">
            <a:off x="1190625" y="703262"/>
            <a:ext cx="4629150" cy="3473450"/>
          </a:xfrm>
          <a:prstGeom prst="rect"/>
        </p:spPr>
        <p:txBody>
          <a:bodyPr anchor="ctr" bIns="45752" lIns="91504" rIns="91504" tIns="45752"/>
          <a:p/>
        </p:txBody>
      </p:sp>
      <p:sp>
        <p:nvSpPr>
          <p:cNvPr id="1048824"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6" name=""/>
        <p:cNvGrpSpPr/>
        <p:nvPr/>
      </p:nvGrpSpPr>
      <p:grpSpPr>
        <a:xfrm rot="0">
          <a:off x="0" y="0"/>
          <a:ext cx="0" cy="0"/>
          <a:chOff x="0" y="0"/>
          <a:chExt cx="0" cy="0"/>
        </a:xfrm>
      </p:grpSpPr>
      <p:sp>
        <p:nvSpPr>
          <p:cNvPr id="1048828" name=""/>
          <p:cNvSpPr/>
          <p:nvPr>
            <p:ph type="sldImg" sz="full" idx="0"/>
          </p:nvPr>
        </p:nvSpPr>
        <p:spPr>
          <a:xfrm rot="0">
            <a:off x="1190625" y="703262"/>
            <a:ext cx="4629150" cy="3473450"/>
          </a:xfrm>
          <a:prstGeom prst="rect"/>
        </p:spPr>
        <p:txBody>
          <a:bodyPr anchor="ctr" bIns="45752" lIns="91504" rIns="91504" tIns="45752"/>
          <a:p/>
        </p:txBody>
      </p:sp>
      <p:sp>
        <p:nvSpPr>
          <p:cNvPr id="1048829"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30" name=""/>
        <p:cNvGrpSpPr/>
        <p:nvPr/>
      </p:nvGrpSpPr>
      <p:grpSpPr>
        <a:xfrm rot="0">
          <a:off x="0" y="0"/>
          <a:ext cx="0" cy="0"/>
          <a:chOff x="0" y="0"/>
          <a:chExt cx="0" cy="0"/>
        </a:xfrm>
      </p:grpSpPr>
      <p:sp>
        <p:nvSpPr>
          <p:cNvPr id="1048849" name=""/>
          <p:cNvSpPr/>
          <p:nvPr>
            <p:ph type="sldImg" sz="full" idx="0"/>
          </p:nvPr>
        </p:nvSpPr>
        <p:spPr>
          <a:xfrm rot="0">
            <a:off x="1190625" y="703262"/>
            <a:ext cx="4630737" cy="3473450"/>
          </a:xfrm>
          <a:prstGeom prst="rect"/>
        </p:spPr>
        <p:txBody>
          <a:bodyPr anchor="ctr" bIns="45752" lIns="91504" rIns="91504" tIns="45752"/>
          <a:p/>
        </p:txBody>
      </p:sp>
      <p:sp>
        <p:nvSpPr>
          <p:cNvPr id="1048850"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34" name=""/>
        <p:cNvGrpSpPr/>
        <p:nvPr/>
      </p:nvGrpSpPr>
      <p:grpSpPr>
        <a:xfrm rot="0">
          <a:off x="0" y="0"/>
          <a:ext cx="0" cy="0"/>
          <a:chOff x="0" y="0"/>
          <a:chExt cx="0" cy="0"/>
        </a:xfrm>
      </p:grpSpPr>
      <p:sp>
        <p:nvSpPr>
          <p:cNvPr id="1048861" name=""/>
          <p:cNvSpPr/>
          <p:nvPr>
            <p:ph type="sldImg" sz="full" idx="0"/>
          </p:nvPr>
        </p:nvSpPr>
        <p:spPr>
          <a:xfrm rot="0">
            <a:off x="1190625" y="703262"/>
            <a:ext cx="4629150" cy="3473450"/>
          </a:xfrm>
          <a:prstGeom prst="rect"/>
        </p:spPr>
        <p:txBody>
          <a:bodyPr anchor="ctr" bIns="45752" lIns="91504" rIns="91504" tIns="45752"/>
          <a:p/>
        </p:txBody>
      </p:sp>
      <p:sp>
        <p:nvSpPr>
          <p:cNvPr id="1048862"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a:xfrm rot="0">
          <a:off x="0" y="0"/>
          <a:ext cx="0" cy="0"/>
          <a:chOff x="0" y="0"/>
          <a:chExt cx="0" cy="0"/>
        </a:xfrm>
      </p:grpSpPr>
      <p:sp>
        <p:nvSpPr>
          <p:cNvPr id="1048603" name=""/>
          <p:cNvSpPr/>
          <p:nvPr>
            <p:ph type="sldImg" sz="full" idx="0"/>
          </p:nvPr>
        </p:nvSpPr>
        <p:spPr>
          <a:xfrm rot="0">
            <a:off x="1190625" y="703262"/>
            <a:ext cx="4629150" cy="3473450"/>
          </a:xfrm>
          <a:prstGeom prst="rect"/>
        </p:spPr>
        <p:txBody>
          <a:bodyPr anchor="ctr" bIns="45752" lIns="91504" rIns="91504" tIns="45752"/>
          <a:p/>
        </p:txBody>
      </p:sp>
      <p:sp>
        <p:nvSpPr>
          <p:cNvPr id="1048604"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rot="0">
          <a:off x="0" y="0"/>
          <a:ext cx="0" cy="0"/>
          <a:chOff x="0" y="0"/>
          <a:chExt cx="0" cy="0"/>
        </a:xfrm>
      </p:grpSpPr>
      <p:sp>
        <p:nvSpPr>
          <p:cNvPr id="1048597" name=""/>
          <p:cNvSpPr/>
          <p:nvPr>
            <p:ph type="sldImg" sz="full" idx="0"/>
          </p:nvPr>
        </p:nvSpPr>
        <p:spPr>
          <a:xfrm rot="0">
            <a:off x="1190625" y="703262"/>
            <a:ext cx="4630737" cy="3473450"/>
          </a:xfrm>
          <a:prstGeom prst="rect"/>
        </p:spPr>
        <p:txBody>
          <a:bodyPr anchor="ctr" bIns="45752" lIns="91504" rIns="91504" tIns="45752"/>
          <a:p/>
        </p:txBody>
      </p:sp>
      <p:sp>
        <p:nvSpPr>
          <p:cNvPr id="1048598" name=""/>
          <p:cNvSpPr/>
          <p:nvPr>
            <p:ph type="body" sz="full" idx="1"/>
          </p:nvPr>
        </p:nvSpPr>
        <p:spPr>
          <a:xfrm rot="0">
            <a:off x="388937" y="4416425"/>
            <a:ext cx="6310312" cy="4183062"/>
          </a:xfrm>
          <a:prstGeom prst="rect"/>
          <a:noFill/>
        </p:spPr>
        <p:txBody>
          <a:bodyPr anchor="t" bIns="45162" lIns="91935" rIns="91935" tIns="45162"/>
          <a:p>
            <a:endParaRPr altLang="en-US"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56" name=""/>
        <p:cNvGrpSpPr/>
        <p:nvPr/>
      </p:nvGrpSpPr>
      <p:grpSpPr>
        <a:xfrm rot="0">
          <a:off x="0" y="0"/>
          <a:ext cx="0" cy="0"/>
          <a:chOff x="0" y="0"/>
          <a:chExt cx="0" cy="0"/>
        </a:xfrm>
      </p:grpSpPr>
      <p:sp>
        <p:nvSpPr>
          <p:cNvPr id="1048590" name=""/>
          <p:cNvSpPr/>
          <p:nvPr>
            <p:ph type="sldImg" sz="full" idx="0"/>
          </p:nvPr>
        </p:nvSpPr>
        <p:spPr>
          <a:xfrm rot="0">
            <a:off x="1190625" y="703262"/>
            <a:ext cx="4630737" cy="3473450"/>
          </a:xfrm>
          <a:prstGeom prst="rect"/>
        </p:spPr>
        <p:txBody>
          <a:bodyPr anchor="ctr" bIns="45752" lIns="91504" rIns="91504" tIns="45752"/>
          <a:p/>
        </p:txBody>
      </p:sp>
      <p:sp>
        <p:nvSpPr>
          <p:cNvPr id="1048591" name=""/>
          <p:cNvSpPr/>
          <p:nvPr>
            <p:ph type="body" sz="full" idx="1"/>
          </p:nvPr>
        </p:nvSpPr>
        <p:spPr>
          <a:xfrm rot="0">
            <a:off x="388937" y="4416425"/>
            <a:ext cx="6310312" cy="4183062"/>
          </a:xfrm>
          <a:prstGeom prst="rect"/>
          <a:noFill/>
        </p:spPr>
        <p:txBody>
          <a:bodyPr anchor="t" bIns="45162" lIns="91935" rIns="91935" tIns="45162"/>
          <a:p>
            <a:pPr lvl="0">
              <a:lnSpc>
                <a:spcPct val="125000"/>
              </a:lnSpc>
            </a:pPr>
            <a:r>
              <a:rPr altLang="en-US" b="1" sz="1600" lang="en-US">
                <a:latin typeface="Comic Sans MS" pitchFamily="66" charset="0"/>
              </a:rPr>
              <a:t>Question 2-19 (textbook)</a:t>
            </a:r>
            <a:r>
              <a:rPr altLang="en-US" sz="1600" lang="en-US">
                <a:latin typeface="Comic Sans MS" pitchFamily="66" charset="0"/>
              </a:rPr>
              <a:t>   No, Jim is not correct . The proper sequence is as follows :</a:t>
            </a:r>
          </a:p>
          <a:p>
            <a:pPr lvl="0">
              <a:lnSpc>
                <a:spcPct val="125000"/>
              </a:lnSpc>
            </a:pPr>
            <a:r>
              <a:rPr altLang="en-US" sz="1600" lang="en-US">
                <a:latin typeface="Comic Sans MS" pitchFamily="66" charset="0"/>
              </a:rPr>
              <a:t>( b ) Business transaction occurs. </a:t>
            </a:r>
          </a:p>
          <a:p>
            <a:pPr lvl="0">
              <a:lnSpc>
                <a:spcPct val="125000"/>
              </a:lnSpc>
            </a:pPr>
            <a:r>
              <a:rPr altLang="en-US" sz="1600" lang="en-US">
                <a:latin typeface="Comic Sans MS" pitchFamily="66" charset="0"/>
              </a:rPr>
              <a:t>( c ) Information entered in the journal.</a:t>
            </a:r>
          </a:p>
          <a:p>
            <a:pPr lvl="0">
              <a:lnSpc>
                <a:spcPct val="125000"/>
              </a:lnSpc>
            </a:pPr>
            <a:r>
              <a:rPr altLang="en-US" sz="1600" lang="en-US">
                <a:latin typeface="Comic Sans MS" pitchFamily="66" charset="0"/>
              </a:rPr>
              <a:t>( a ) Debits and credits are posted to the ledger. </a:t>
            </a:r>
          </a:p>
          <a:p>
            <a:pPr lvl="0">
              <a:lnSpc>
                <a:spcPct val="125000"/>
              </a:lnSpc>
            </a:pPr>
            <a:r>
              <a:rPr altLang="en-US" sz="1600" lang="en-US">
                <a:latin typeface="Comic Sans MS" pitchFamily="66" charset="0"/>
              </a:rPr>
              <a:t>( e ) Trial balance is prepared.</a:t>
            </a:r>
          </a:p>
          <a:p>
            <a:pPr lvl="0">
              <a:lnSpc>
                <a:spcPct val="125000"/>
              </a:lnSpc>
            </a:pPr>
            <a:r>
              <a:rPr altLang="en-US" sz="1600" lang="en-US">
                <a:latin typeface="Comic Sans MS" pitchFamily="66" charset="0"/>
              </a:rPr>
              <a:t>( d ) Financial statements are prepared.</a:t>
            </a:r>
          </a:p>
          <a:p>
            <a:pPr lvl="0">
              <a:lnSpc>
                <a:spcPct val="125000"/>
              </a:lnSpc>
            </a:pPr>
            <a:endParaRPr altLang="en-US" sz="1600" lang="en-US">
              <a:latin typeface="Comic Sans MS" pitchFamily="66" charset="0"/>
            </a:endParaRPr>
          </a:p>
          <a:p>
            <a:pPr lvl="0">
              <a:lnSpc>
                <a:spcPct val="125000"/>
              </a:lnSpc>
            </a:pPr>
            <a:endParaRPr altLang="en-US" sz="1600" lang="en-US">
              <a:latin typeface="Comic Sans MS" pitchFamily="66"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rot="0">
          <a:off x="0" y="0"/>
          <a:ext cx="0" cy="0"/>
          <a:chOff x="0" y="0"/>
          <a:chExt cx="0" cy="0"/>
        </a:xfrm>
      </p:grpSpPr>
      <p:sp>
        <p:nvSpPr>
          <p:cNvPr id="1048582" name=""/>
          <p:cNvSpPr/>
          <p:nvPr>
            <p:ph type="sldImg" sz="full" idx="0"/>
          </p:nvPr>
        </p:nvSpPr>
        <p:spPr>
          <a:xfrm rot="0">
            <a:off x="1184275" y="698500"/>
            <a:ext cx="4641850" cy="3482975"/>
          </a:xfrm>
          <a:prstGeom prst="rect"/>
        </p:spPr>
        <p:txBody>
          <a:bodyPr anchor="ctr" bIns="45752" lIns="91504" rIns="91504" tIns="45752"/>
          <a:p/>
        </p:txBody>
      </p:sp>
      <p:sp>
        <p:nvSpPr>
          <p:cNvPr id="1048583" name=""/>
          <p:cNvSpPr/>
          <p:nvPr>
            <p:ph type="body" sz="full" idx="1"/>
          </p:nvPr>
        </p:nvSpPr>
        <p:spPr>
          <a:xfrm rot="0">
            <a:off x="935037" y="4416425"/>
            <a:ext cx="5140325" cy="4183062"/>
          </a:xfrm>
          <a:prstGeom prst="rect"/>
          <a:noFill/>
        </p:spPr>
        <p:txBody>
          <a:bodyPr anchor="t" bIns="46775" lIns="93547" rIns="93547" tIns="46775"/>
          <a:p>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41" name=""/>
        <p:cNvGrpSpPr/>
        <p:nvPr/>
      </p:nvGrpSpPr>
      <p:grpSpPr>
        <a:xfrm>
          <a:off x="0" y="0"/>
          <a:ext cx="0" cy="0"/>
          <a:chOff x="0" y="0"/>
          <a:chExt cx="0" cy="0"/>
        </a:xfrm>
      </p:grpSpPr>
      <p:sp>
        <p:nvSpPr>
          <p:cNvPr id="104888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882"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4"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39" name=""/>
        <p:cNvGrpSpPr/>
        <p:nvPr/>
      </p:nvGrpSpPr>
      <p:grpSpPr>
        <a:xfrm>
          <a:off x="0" y="0"/>
          <a:ext cx="0" cy="0"/>
          <a:chOff x="0" y="0"/>
          <a:chExt cx="0" cy="0"/>
        </a:xfrm>
      </p:grpSpPr>
      <p:sp>
        <p:nvSpPr>
          <p:cNvPr id="1048876"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877"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40" name=""/>
        <p:cNvGrpSpPr/>
        <p:nvPr/>
      </p:nvGrpSpPr>
      <p:grpSpPr>
        <a:xfrm>
          <a:off x="0" y="0"/>
          <a:ext cx="0" cy="0"/>
          <a:chOff x="0" y="0"/>
          <a:chExt cx="0" cy="0"/>
        </a:xfrm>
      </p:grpSpPr>
      <p:sp>
        <p:nvSpPr>
          <p:cNvPr id="1048878" name="Title 1"/>
          <p:cNvSpPr>
            <a:spLocks noGrp="1"/>
          </p:cNvSpPr>
          <p:nvPr>
            <p:ph type="title"/>
          </p:nvPr>
        </p:nvSpPr>
        <p:spPr/>
        <p:txBody>
          <a:bodyPr/>
          <a:p>
            <a:r>
              <a:rPr lang="en-US" smtClean="0"/>
              <a:t>Click to edit Master title style</a:t>
            </a:r>
            <a:endParaRPr lang="en-US"/>
          </a:p>
        </p:txBody>
      </p:sp>
      <p:sp>
        <p:nvSpPr>
          <p:cNvPr id="1048879" name="Content Placeholder 2"/>
          <p:cNvSpPr>
            <a:spLocks noGrp="1"/>
          </p:cNvSpPr>
          <p:nvPr>
            <p:ph sz="half" idx="1"/>
          </p:nvPr>
        </p:nvSpPr>
        <p:spPr>
          <a:xfrm>
            <a:off x="3810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80" name="Content Placeholder 3"/>
          <p:cNvSpPr>
            <a:spLocks noGrp="1"/>
          </p:cNvSpPr>
          <p:nvPr>
            <p:ph sz="half" idx="2"/>
          </p:nvPr>
        </p:nvSpPr>
        <p:spPr>
          <a:xfrm>
            <a:off x="46482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38" name=""/>
        <p:cNvGrpSpPr/>
        <p:nvPr/>
      </p:nvGrpSpPr>
      <p:grpSpPr>
        <a:xfrm>
          <a:off x="0" y="0"/>
          <a:ext cx="0" cy="0"/>
          <a:chOff x="0" y="0"/>
          <a:chExt cx="0" cy="0"/>
        </a:xfrm>
      </p:grpSpPr>
      <p:sp>
        <p:nvSpPr>
          <p:cNvPr id="1048871" name="Title 1"/>
          <p:cNvSpPr>
            <a:spLocks noGrp="1"/>
          </p:cNvSpPr>
          <p:nvPr>
            <p:ph type="title"/>
          </p:nvPr>
        </p:nvSpPr>
        <p:spPr>
          <a:xfrm>
            <a:off x="457200" y="274638"/>
            <a:ext cx="8229600" cy="1143000"/>
          </a:xfrm>
        </p:spPr>
        <p:txBody>
          <a:bodyPr/>
          <a:p>
            <a:r>
              <a:rPr lang="en-US" smtClean="0"/>
              <a:t>Click to edit Master title style</a:t>
            </a:r>
            <a:endParaRPr lang="en-US"/>
          </a:p>
        </p:txBody>
      </p:sp>
      <p:sp>
        <p:nvSpPr>
          <p:cNvPr id="1048872"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7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74"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7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0" name=""/>
        <p:cNvGrpSpPr/>
        <p:nvPr/>
      </p:nvGrpSpPr>
      <p:grpSpPr>
        <a:xfrm>
          <a:off x="0" y="0"/>
          <a:ext cx="0" cy="0"/>
          <a:chOff x="0" y="0"/>
          <a:chExt cx="0" cy="0"/>
        </a:xfrm>
      </p:grpSpPr>
      <p:sp>
        <p:nvSpPr>
          <p:cNvPr id="1048581" name="Title 1"/>
          <p:cNvSpPr>
            <a:spLocks noGrp="1"/>
          </p:cNvSpPr>
          <p:nvPr>
            <p:ph type="title"/>
          </p:nvPr>
        </p:nvSpPr>
        <p:spPr/>
        <p:txBody>
          <a:bodyPr/>
          <a:p>
            <a:r>
              <a:rPr lang="en-US" smtClean="0"/>
              <a:t>Click to edit Master title style</a:t>
            </a:r>
            <a:endParaRPr lang="en-US"/>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43"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35" name=""/>
        <p:cNvGrpSpPr/>
        <p:nvPr/>
      </p:nvGrpSpPr>
      <p:grpSpPr>
        <a:xfrm>
          <a:off x="0" y="0"/>
          <a:ext cx="0" cy="0"/>
          <a:chOff x="0" y="0"/>
          <a:chExt cx="0" cy="0"/>
        </a:xfrm>
      </p:grpSpPr>
      <p:sp>
        <p:nvSpPr>
          <p:cNvPr id="1048863"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86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65"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37" name=""/>
        <p:cNvGrpSpPr/>
        <p:nvPr/>
      </p:nvGrpSpPr>
      <p:grpSpPr>
        <a:xfrm>
          <a:off x="0" y="0"/>
          <a:ext cx="0" cy="0"/>
          <a:chOff x="0" y="0"/>
          <a:chExt cx="0" cy="0"/>
        </a:xfrm>
      </p:grpSpPr>
      <p:sp>
        <p:nvSpPr>
          <p:cNvPr id="1048868"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869" name="Picture Placeholder 2"/>
          <p:cNvSpPr>
            <a:spLocks noGrp="1"/>
          </p:cNvSpPr>
          <p:nvPr>
            <p:ph type="pic" idx="1"/>
          </p:nvPr>
        </p:nvSpPr>
        <p:spPr>
          <a:xfrm>
            <a:off x="1792288" y="612775"/>
            <a:ext cx="5486400" cy="4114800"/>
          </a:xfrm>
        </p:spPr>
        <p:txBody>
          <a:bodyPr anchor="t" anchorCtr="0" bIns="46038" compatLnSpc="1" lIns="182562" numCol="1" rIns="182562" tIns="46038"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
                <a:schemeClr val="accent2"/>
              </a:buClr>
              <a:buSzPct val="75000"/>
              <a:buFont typeface="Wingdings" pitchFamily="2" charset="2"/>
              <a:buNone/>
            </a:pPr>
            <a:endParaRPr baseline="0" b="1" cap="none" sz="3200" i="0" kern="0" kumimoji="0" lang="en-US" noProof="0" normalizeH="0" spc="0" strike="noStrike" u="none" smtClean="0">
              <a:ln>
                <a:noFill/>
              </a:ln>
              <a:solidFill>
                <a:schemeClr val="bg2"/>
              </a:solidFill>
              <a:effectLst>
                <a:outerShdw algn="tl" blurRad="38100" dir="2700000" dist="38100">
                  <a:srgbClr val="C0C0C0"/>
                </a:outerShdw>
              </a:effectLst>
              <a:uLnTx/>
              <a:uFillTx/>
              <a:latin typeface="+mn-lt"/>
              <a:ea typeface="+mn-ea"/>
              <a:cs typeface="+mn-cs"/>
            </a:endParaRPr>
          </a:p>
        </p:txBody>
      </p:sp>
      <p:sp>
        <p:nvSpPr>
          <p:cNvPr id="1048870"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42" name=""/>
        <p:cNvGrpSpPr/>
        <p:nvPr/>
      </p:nvGrpSpPr>
      <p:grpSpPr>
        <a:xfrm>
          <a:off x="0" y="0"/>
          <a:ext cx="0" cy="0"/>
          <a:chOff x="0" y="0"/>
          <a:chExt cx="0" cy="0"/>
        </a:xfrm>
      </p:grpSpPr>
      <p:sp>
        <p:nvSpPr>
          <p:cNvPr id="1048883" name="Title 1"/>
          <p:cNvSpPr>
            <a:spLocks noGrp="1"/>
          </p:cNvSpPr>
          <p:nvPr>
            <p:ph type="title"/>
          </p:nvPr>
        </p:nvSpPr>
        <p:spPr/>
        <p:txBody>
          <a:bodyPr/>
          <a:p>
            <a:r>
              <a:rPr lang="en-US" smtClean="0"/>
              <a:t>Click to edit Master title style</a:t>
            </a:r>
            <a:endParaRPr lang="en-US"/>
          </a:p>
        </p:txBody>
      </p:sp>
      <p:sp>
        <p:nvSpPr>
          <p:cNvPr id="1048884"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36" name=""/>
        <p:cNvGrpSpPr/>
        <p:nvPr/>
      </p:nvGrpSpPr>
      <p:grpSpPr>
        <a:xfrm>
          <a:off x="0" y="0"/>
          <a:ext cx="0" cy="0"/>
          <a:chOff x="0" y="0"/>
          <a:chExt cx="0" cy="0"/>
        </a:xfrm>
      </p:grpSpPr>
      <p:sp>
        <p:nvSpPr>
          <p:cNvPr id="1048866" name="Vertical Title 1"/>
          <p:cNvSpPr>
            <a:spLocks noGrp="1"/>
          </p:cNvSpPr>
          <p:nvPr>
            <p:ph type="title" orient="vert"/>
          </p:nvPr>
        </p:nvSpPr>
        <p:spPr>
          <a:xfrm>
            <a:off x="6667500" y="354013"/>
            <a:ext cx="2095500" cy="5589587"/>
          </a:xfrm>
        </p:spPr>
        <p:txBody>
          <a:bodyPr vert="eaVert"/>
          <a:p>
            <a:r>
              <a:rPr lang="en-US" smtClean="0"/>
              <a:t>Click to edit Master title style</a:t>
            </a:r>
            <a:endParaRPr lang="en-US"/>
          </a:p>
        </p:txBody>
      </p:sp>
      <p:sp>
        <p:nvSpPr>
          <p:cNvPr id="1048867" name="Vertical Text Placeholder 2"/>
          <p:cNvSpPr>
            <a:spLocks noGrp="1"/>
          </p:cNvSpPr>
          <p:nvPr>
            <p:ph type="body" orient="vert" idx="1"/>
          </p:nvPr>
        </p:nvSpPr>
        <p:spPr>
          <a:xfrm>
            <a:off x="381000" y="354013"/>
            <a:ext cx="6134100" cy="5589587"/>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48" name=""/>
        <p:cNvGrpSpPr/>
        <p:nvPr/>
      </p:nvGrpSpPr>
      <p:grpSpPr>
        <a:xfrm rot="0">
          <a:off x="0" y="0"/>
          <a:ext cx="0" cy="0"/>
          <a:chOff x="0" y="0"/>
          <a:chExt cx="0" cy="0"/>
        </a:xfrm>
      </p:grpSpPr>
      <p:sp>
        <p:nvSpPr>
          <p:cNvPr id="1048576" name=""/>
          <p:cNvSpPr/>
          <p:nvPr>
            <p:ph type="title" sz="full" idx="0"/>
          </p:nvPr>
        </p:nvSpPr>
        <p:spPr>
          <a:xfrm rot="0">
            <a:off x="1149350" y="354012"/>
            <a:ext cx="7607300" cy="560387"/>
          </a:xfrm>
          <a:prstGeom prst="rect"/>
          <a:solidFill>
            <a:srgbClr val="003399"/>
          </a:solidFill>
          <a:ln w="63500" cap="flat" cmpd="sng">
            <a:solidFill>
              <a:srgbClr val="54385C">
                <a:alpha val="100000"/>
              </a:srgbClr>
            </a:solidFill>
            <a:prstDash val="solid"/>
            <a:round/>
          </a:ln>
        </p:spPr>
        <p:txBody>
          <a:bodyPr anchor="ctr" bIns="46038" lIns="92075" rIns="92075" tIns="46038"/>
          <a:p>
            <a:pPr lvl="0"/>
            <a:r>
              <a:rPr altLang="en-US" lang="en-US"/>
              <a:t>Click to edit Master title style</a:t>
            </a:r>
          </a:p>
        </p:txBody>
      </p:sp>
      <p:sp>
        <p:nvSpPr>
          <p:cNvPr id="1048577" name=""/>
          <p:cNvSpPr/>
          <p:nvPr>
            <p:ph type="body" sz="full" idx="1"/>
          </p:nvPr>
        </p:nvSpPr>
        <p:spPr>
          <a:xfrm rot="0">
            <a:off x="381000" y="1143000"/>
            <a:ext cx="8382000" cy="4800600"/>
          </a:xfrm>
          <a:prstGeom prst="rect"/>
          <a:noFill/>
          <a:ln>
            <a:noFill/>
          </a:ln>
        </p:spPr>
        <p:txBody>
          <a:bodyPr bIns="46038" lIns="182562" rIns="182562" tIns="46038"/>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
          <p:cNvSpPr txBox="1"/>
          <p:nvPr/>
        </p:nvSpPr>
        <p:spPr>
          <a:xfrm rot="0">
            <a:off x="152400" y="6248400"/>
            <a:ext cx="838200" cy="457200"/>
          </a:xfrm>
          <a:prstGeom prst="rect"/>
          <a:noFill/>
          <a:ln>
            <a:noFill/>
          </a:ln>
        </p:spPr>
        <p:txBody>
          <a:bodyPr bIns="45720" lIns="91440" rIns="91440" tIns="45720">
            <a:spAutoFit/>
          </a:bodyPr>
          <a:lstStyle>
            <a:lvl1pPr algn="l" eaLnBrk="1" fontAlgn="base" hangingPunct="1" indent="0" latinLnBrk="1" marL="0" rtl="0">
              <a:lnSpc>
                <a:spcPct val="100000"/>
              </a:lnSpc>
              <a:spcBef>
                <a:spcPct val="0"/>
              </a:spcBef>
              <a:spcAft>
                <a:spcPct val="0"/>
              </a:spcAft>
              <a:buFontTx/>
              <a:buNone/>
              <a:defRPr baseline="0" b="0" sz="1800" i="0">
                <a:solidFill>
                  <a:schemeClr val="dk1"/>
                </a:solidFill>
                <a:latin typeface="Arial" pitchFamily="34" charset="0"/>
                <a:sym typeface="Comic Sans MS" pitchFamily="66" charset="0"/>
              </a:defRPr>
            </a:lvl1pPr>
            <a:lvl2pPr algn="l" eaLnBrk="1" fontAlgn="base" hangingPunct="1" indent="0" latinLnBrk="1" marL="457200" rtl="0">
              <a:lnSpc>
                <a:spcPct val="100000"/>
              </a:lnSpc>
              <a:spcBef>
                <a:spcPct val="0"/>
              </a:spcBef>
              <a:spcAft>
                <a:spcPct val="0"/>
              </a:spcAft>
              <a:buFontTx/>
              <a:buNone/>
              <a:defRPr baseline="0" b="0" sz="1800" i="0">
                <a:solidFill>
                  <a:schemeClr val="dk1"/>
                </a:solidFill>
                <a:latin typeface="Arial" pitchFamily="34" charset="0"/>
                <a:sym typeface="Comic Sans MS" pitchFamily="66" charset="0"/>
              </a:defRPr>
            </a:lvl2pPr>
            <a:lvl3pPr algn="l" eaLnBrk="1" fontAlgn="base" hangingPunct="1" indent="0" latinLnBrk="1" marL="914400" rtl="0">
              <a:lnSpc>
                <a:spcPct val="100000"/>
              </a:lnSpc>
              <a:spcBef>
                <a:spcPct val="0"/>
              </a:spcBef>
              <a:spcAft>
                <a:spcPct val="0"/>
              </a:spcAft>
              <a:buFontTx/>
              <a:buNone/>
              <a:defRPr baseline="0" b="0" sz="1800" i="0">
                <a:solidFill>
                  <a:schemeClr val="dk1"/>
                </a:solidFill>
                <a:latin typeface="Arial" pitchFamily="34" charset="0"/>
                <a:sym typeface="Comic Sans MS" pitchFamily="66" charset="0"/>
              </a:defRPr>
            </a:lvl3pPr>
            <a:lvl4pPr algn="l" eaLnBrk="1" fontAlgn="base" hangingPunct="1" indent="0" latinLnBrk="1" marL="1371600" rtl="0">
              <a:lnSpc>
                <a:spcPct val="100000"/>
              </a:lnSpc>
              <a:spcBef>
                <a:spcPct val="0"/>
              </a:spcBef>
              <a:spcAft>
                <a:spcPct val="0"/>
              </a:spcAft>
              <a:buFontTx/>
              <a:buNone/>
              <a:defRPr baseline="0" b="0" sz="1800" i="0">
                <a:solidFill>
                  <a:schemeClr val="dk1"/>
                </a:solidFill>
                <a:latin typeface="Arial" pitchFamily="34" charset="0"/>
                <a:sym typeface="Comic Sans MS" pitchFamily="66" charset="0"/>
              </a:defRPr>
            </a:lvl4pPr>
            <a:lvl5pPr algn="l" eaLnBrk="1" fontAlgn="base" hangingPunct="1" indent="0" latinLnBrk="1" marL="1828800" rtl="0">
              <a:lnSpc>
                <a:spcPct val="100000"/>
              </a:lnSpc>
              <a:spcBef>
                <a:spcPct val="0"/>
              </a:spcBef>
              <a:spcAft>
                <a:spcPct val="0"/>
              </a:spcAft>
              <a:buFontTx/>
              <a:buNone/>
              <a:defRPr baseline="0" b="0" sz="1800" i="0">
                <a:solidFill>
                  <a:schemeClr val="dk1"/>
                </a:solidFill>
                <a:latin typeface="Arial" pitchFamily="34" charset="0"/>
                <a:sym typeface="Comic Sans MS" pitchFamily="66" charset="0"/>
              </a:defRPr>
            </a:lvl5pPr>
          </a:lstStyle>
          <a:p>
            <a:pPr lvl="0">
              <a:spcBef>
                <a:spcPct val="50000"/>
              </a:spcBef>
            </a:pPr>
            <a:r>
              <a:rPr altLang="en-US" b="1" sz="1200" lang="en-US">
                <a:latin typeface="Arial" pitchFamily="34" charset="0"/>
              </a:rPr>
              <a:t>Chapter 2-</a:t>
            </a:r>
            <a:fld id="{566ABCEB-ACFC-4714-9973-3DA970169C29}" type="slidenum">
              <a:rPr altLang="en-US" b="1" sz="1200" lang="en-US">
                <a:latin typeface="Arial" pitchFamily="34" charset="0"/>
              </a:rPr>
              <a:pPr lvl="0">
                <a:spcBef>
                  <a:spcPct val="50000"/>
                </a:spcBef>
              </a:pPr>
            </a:fld>
            <a:endParaRPr altLang="en-US" b="1" sz="1200" lang="en-US">
              <a:latin typeface="Arial" pitchFamily="34" charset="0"/>
            </a:endParaRPr>
          </a:p>
        </p:txBody>
      </p:sp>
    </p:spTree>
  </p:cSld>
  <p:clrMap accent1="accent1" accent2="accent2" accent3="accent3" accent4="accent4" accent5="accent5" accent6="accent6" bg1="lt1" bg2="dk2" tx1="dk1" tx2="lt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sldNum="0"/>
  <p:txStyles>
    <p:titleStyle>
      <a:lvl1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mj-lt"/>
          <a:ea typeface="+mj-ea"/>
          <a:cs typeface="+mj-cs"/>
        </a:defRPr>
      </a:lvl1pPr>
      <a:lvl2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2pPr>
      <a:lvl3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3pPr>
      <a:lvl4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4pPr>
      <a:lvl5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5pPr>
      <a:lvl6pPr algn="ctr" eaLnBrk="0" fontAlgn="base" hangingPunct="0" marL="4572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6pPr>
      <a:lvl7pPr algn="ctr" eaLnBrk="0" fontAlgn="base" hangingPunct="0" marL="9144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7pPr>
      <a:lvl8pPr algn="ctr" eaLnBrk="0" fontAlgn="base" hangingPunct="0" marL="13716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8pPr>
      <a:lvl9pPr algn="ctr" eaLnBrk="0" fontAlgn="base" hangingPunct="0" marL="18288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9pPr>
    </p:titleStyle>
    <p:bodyStyle>
      <a:lvl1pPr algn="l" eaLnBrk="0" fontAlgn="base" hangingPunct="0" indent="-342900" marL="342900" rtl="0">
        <a:spcBef>
          <a:spcPct val="20000"/>
        </a:spcBef>
        <a:spcAft>
          <a:spcPct val="0"/>
        </a:spcAft>
        <a:buClr>
          <a:schemeClr val="accent2"/>
        </a:buClr>
        <a:buSzPct val="75000"/>
        <a:buFont typeface="Wingdings" pitchFamily="2" charset="2"/>
        <a:buChar char="l"/>
        <a:defRPr b="1" sz="2800">
          <a:solidFill>
            <a:schemeClr val="bg2"/>
          </a:solidFill>
          <a:effectLst>
            <a:outerShdw algn="tl" blurRad="38100" dir="2700000" dist="38100">
              <a:srgbClr val="C0C0C0"/>
            </a:outerShdw>
          </a:effectLst>
          <a:latin typeface="+mn-lt"/>
          <a:ea typeface="+mn-ea"/>
          <a:cs typeface="+mn-cs"/>
        </a:defRPr>
      </a:lvl1pPr>
      <a:lvl2pPr algn="l" eaLnBrk="0" fontAlgn="base" hangingPunct="0" indent="-285750" marL="742950" rtl="0">
        <a:spcBef>
          <a:spcPct val="20000"/>
        </a:spcBef>
        <a:spcAft>
          <a:spcPct val="0"/>
        </a:spcAft>
        <a:buClr>
          <a:schemeClr val="accent2"/>
        </a:buClr>
        <a:buSzPct val="75000"/>
        <a:buFont typeface="Wingdings" pitchFamily="2" charset="2"/>
        <a:buChar char="l"/>
        <a:defRPr b="1" sz="2400">
          <a:solidFill>
            <a:schemeClr val="bg2"/>
          </a:solidFill>
          <a:effectLst>
            <a:outerShdw algn="tl" blurRad="38100" dir="2700000" dist="38100">
              <a:srgbClr val="C0C0C0"/>
            </a:outerShdw>
          </a:effectLst>
          <a:latin typeface="+mn-lt"/>
        </a:defRPr>
      </a:lvl2pPr>
      <a:lvl3pPr algn="l" eaLnBrk="0" fontAlgn="base" hangingPunct="0" indent="-228600" marL="1143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3pPr>
      <a:lvl4pPr algn="l" eaLnBrk="0" fontAlgn="base" hangingPunct="0" indent="-228600" marL="1600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4pPr>
      <a:lvl5pPr algn="l" eaLnBrk="0" fontAlgn="base" hangingPunct="0" indent="-228600" marL="20574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5pPr>
      <a:lvl6pPr algn="l" eaLnBrk="0" fontAlgn="base" hangingPunct="0" indent="-228600" marL="25146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6pPr>
      <a:lvl7pPr algn="l" eaLnBrk="0" fontAlgn="base" hangingPunct="0" indent="-228600" marL="29718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7pPr>
      <a:lvl8pPr algn="l" eaLnBrk="0" fontAlgn="base" hangingPunct="0" indent="-228600" marL="3429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8pPr>
      <a:lvl9pPr algn="l" eaLnBrk="0" fontAlgn="base" hangingPunct="0" indent="-228600" marL="3886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2.wmf"/><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wmf"/><Relationship Id="rId3" Type="http://schemas.openxmlformats.org/officeDocument/2006/relationships/image" Target="../media/image6.wmf"/><Relationship Id="rId4" Type="http://schemas.openxmlformats.org/officeDocument/2006/relationships/image" Target="../media/image7.wmf"/><Relationship Id="rId5" Type="http://schemas.openxmlformats.org/officeDocument/2006/relationships/image" Target="../media/image8.wmf"/><Relationship Id="rId6" Type="http://schemas.openxmlformats.org/officeDocument/2006/relationships/image" Target="../media/image9.wmf"/><Relationship Id="rId7"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wmf"/><Relationship Id="rId3" Type="http://schemas.openxmlformats.org/officeDocument/2006/relationships/image" Target="../media/image7.wmf"/><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wmf"/><Relationship Id="rId3" Type="http://schemas.openxmlformats.org/officeDocument/2006/relationships/image" Target="../media/image14.wmf"/><Relationship Id="rId4" Type="http://schemas.openxmlformats.org/officeDocument/2006/relationships/image" Target="../media/image15.wmf"/><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wmf"/><Relationship Id="rId3" Type="http://schemas.openxmlformats.org/officeDocument/2006/relationships/image" Target="../media/image4.jpeg"/><Relationship Id="rId4" Type="http://schemas.openxmlformats.org/officeDocument/2006/relationships/image" Target="../media/image9.wmf"/><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20.emf"/><Relationship Id="rId2" Type="http://schemas.openxmlformats.org/officeDocument/2006/relationships/themeOverride" Target="../theme/themeOverride2.xml"/><Relationship Id="rId3"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21.emf"/><Relationship Id="rId2" Type="http://schemas.openxmlformats.org/officeDocument/2006/relationships/themeOverride" Target="../theme/themeOverride3.xml"/><Relationship Id="rId3"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22.emf"/><Relationship Id="rId2" Type="http://schemas.openxmlformats.org/officeDocument/2006/relationships/themeOverride" Target="../theme/themeOverride4.xml"/><Relationship Id="rId3"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23.emf"/><Relationship Id="rId2" Type="http://schemas.openxmlformats.org/officeDocument/2006/relationships/themeOverride" Target="../theme/themeOverride5.xml"/><Relationship Id="rId3"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24.emf"/><Relationship Id="rId2" Type="http://schemas.openxmlformats.org/officeDocument/2006/relationships/themeOverride" Target="../theme/themeOverride6.xml"/><Relationship Id="rId3"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25.emf"/><Relationship Id="rId2" Type="http://schemas.openxmlformats.org/officeDocument/2006/relationships/themeOverride" Target="../theme/themeOverride7.xml"/><Relationship Id="rId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image" Target="../media/image26.emf"/><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image" Target="../media/image27.em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image" Target="../media/image28.emf"/><Relationship Id="rId2" Type="http://schemas.openxmlformats.org/officeDocument/2006/relationships/image" Target="../media/image29.emf"/><Relationship Id="rId3" Type="http://schemas.openxmlformats.org/officeDocument/2006/relationships/themeOverride" Target="../theme/themeOverride8.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themeOverride" Target="../theme/themeOverride9.xml"/><Relationship Id="rId3"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1.emf"/><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63" name=""/>
        <p:cNvGrpSpPr/>
        <p:nvPr/>
      </p:nvGrpSpPr>
      <p:grpSpPr>
        <a:xfrm rot="0">
          <a:off x="0" y="0"/>
          <a:ext cx="0" cy="0"/>
          <a:chOff x="0" y="0"/>
          <a:chExt cx="0" cy="0"/>
        </a:xfrm>
      </p:grpSpPr>
      <p:sp>
        <p:nvSpPr>
          <p:cNvPr id="1048605" name=""/>
          <p:cNvSpPr/>
          <p:nvPr>
            <p:ph type="title" sz="full" idx="0"/>
          </p:nvPr>
        </p:nvSpPr>
        <p:spPr>
          <a:xfrm rot="0">
            <a:off x="768350" y="381000"/>
            <a:ext cx="7607300" cy="838200"/>
          </a:xfrm>
          <a:prstGeom prst="rect"/>
          <a:solidFill>
            <a:srgbClr val="003399"/>
          </a:solidFill>
          <a:ln w="63500" cap="flat" cmpd="sng">
            <a:solidFill>
              <a:srgbClr val="54385C">
                <a:alpha val="100000"/>
              </a:srgbClr>
            </a:solidFill>
            <a:prstDash val="solid"/>
            <a:round/>
          </a:ln>
        </p:spPr>
        <p:txBody>
          <a:bodyPr anchor="ctr" bIns="46038" lIns="92075" rIns="92075" tIns="46038"/>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lvl="0"/>
            <a:r>
              <a:rPr altLang="en-US" sz="4000" lang="en-US">
                <a:solidFill>
                  <a:schemeClr val="lt1"/>
                </a:solidFill>
                <a:effectLst>
                  <a:outerShdw algn="tl" blurRad="38100" dir="2700000" dist="38100">
                    <a:srgbClr val="C0C0C0"/>
                  </a:outerShdw>
                </a:effectLst>
              </a:rPr>
              <a:t>CHAPTER </a:t>
            </a:r>
            <a:r>
              <a:rPr altLang="en-US" sz="4000" lang="en-US">
                <a:solidFill>
                  <a:srgbClr val="FFFF00"/>
                </a:solidFill>
                <a:effectLst>
                  <a:outerShdw algn="tl" blurRad="38100" dir="2700000" dist="38100">
                    <a:srgbClr val="C0C0C0"/>
                  </a:outerShdw>
                </a:effectLst>
              </a:rPr>
              <a:t>2</a:t>
            </a:r>
          </a:p>
        </p:txBody>
      </p:sp>
      <p:sp>
        <p:nvSpPr>
          <p:cNvPr id="1048606" name=""/>
          <p:cNvSpPr/>
          <p:nvPr>
            <p:ph type="body" sz="full" idx="1"/>
          </p:nvPr>
        </p:nvSpPr>
        <p:spPr>
          <a:xfrm rot="0">
            <a:off x="381000" y="1981200"/>
            <a:ext cx="8382000" cy="4267200"/>
          </a:xfrm>
          <a:prstGeom prst="rect"/>
          <a:noFill/>
          <a:ln>
            <a:noFill/>
          </a:ln>
        </p:spPr>
        <p:txBody>
          <a:bodyPr anchor="t" bIns="46038" lIns="182562" rIns="182562" tIns="46038"/>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Comic Sans MS" pitchFamily="66"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Comic Sans MS" pitchFamily="66"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5pPr>
          </a:lstStyle>
          <a:p>
            <a:pPr algn="ctr" lvl="0">
              <a:buNone/>
            </a:pPr>
            <a:r>
              <a:rPr altLang="en-US" sz="6600" lang="en-US">
                <a:solidFill>
                  <a:srgbClr val="800000"/>
                </a:solidFill>
                <a:effectLst>
                  <a:outerShdw algn="tl" blurRad="38100" dir="2700000" dist="38100">
                    <a:srgbClr val="C0C0C0"/>
                  </a:outerShdw>
                </a:effectLst>
              </a:rPr>
              <a:t>THE RECORDING PROCESS</a:t>
            </a:r>
          </a:p>
        </p:txBody>
      </p:sp>
      <p:sp>
        <p:nvSpPr>
          <p:cNvPr id="1048607" name=""/>
          <p:cNvSpPr txBox="1"/>
          <p:nvPr/>
        </p:nvSpPr>
        <p:spPr>
          <a:xfrm rot="0">
            <a:off x="1371600" y="56388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2000" lang="en-US">
                <a:latin typeface="Times New Roman" pitchFamily="18" charset="0"/>
              </a:rPr>
              <a:t>Accounting Principles,  Eighth Edition</a:t>
            </a:r>
          </a:p>
        </p:txBody>
      </p:sp>
    </p:spTree>
  </p:cSld>
  <p:clrMapOvr>
    <a:masterClrMapping/>
  </p:clrMapOvr>
  <p:transition spd="fast" advClick="1">
    <p:wipe dir="r"/>
  </p:transition>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64" name=""/>
        <p:cNvGrpSpPr/>
        <p:nvPr/>
      </p:nvGrpSpPr>
      <p:grpSpPr>
        <a:xfrm rot="0">
          <a:off x="0" y="0"/>
          <a:ext cx="0" cy="0"/>
          <a:chOff x="0" y="0"/>
          <a:chExt cx="0" cy="0"/>
        </a:xfrm>
      </p:grpSpPr>
      <p:sp>
        <p:nvSpPr>
          <p:cNvPr id="1048608" name=""/>
          <p:cNvSpPr/>
          <p:nvPr>
            <p:ph type="body" sz="full" idx="1"/>
          </p:nvPr>
        </p:nvSpPr>
        <p:spPr>
          <a:xfrm rot="0">
            <a:off x="622300" y="1371600"/>
            <a:ext cx="8216900" cy="4794250"/>
          </a:xfrm>
          <a:prstGeom prst="rect"/>
          <a:noFill/>
          <a:ln>
            <a:noFill/>
          </a:ln>
        </p:spPr>
        <p:txBody>
          <a:bodyPr anchor="t" bIns="44450" lIns="90488" rIns="90488" tIns="44450"/>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Comic Sans MS" pitchFamily="66"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Comic Sans MS" pitchFamily="66"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5pPr>
          </a:lstStyle>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what an account is and how it helps in the recording process.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Define debits and credits and explain their use in recording business transactions.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Identify the basic steps in the recording process.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what a journal is and how it helps in the recording process.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what a ledger is and how it helps in the recording process.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what posting is and how it helps in the recording process.</a:t>
            </a:r>
          </a:p>
          <a:p>
            <a:pPr indent="-533400" lvl="0" marL="533400">
              <a:lnSpc>
                <a:spcPct val="90000"/>
              </a:lnSpc>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Prepare a trial balance and explain its purposes.</a:t>
            </a:r>
          </a:p>
        </p:txBody>
      </p:sp>
      <p:sp>
        <p:nvSpPr>
          <p:cNvPr id="104860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indent="0" lvl="0" marL="109537"/>
            <a:r>
              <a:rPr altLang="en-US" lang="en-US">
                <a:solidFill>
                  <a:srgbClr val="FFCC00"/>
                </a:solidFill>
                <a:effectLst>
                  <a:outerShdw algn="tl" blurRad="38100" dir="2700000" dist="38100">
                    <a:srgbClr val="C0C0C0"/>
                  </a:outerShdw>
                </a:effectLst>
              </a:rPr>
              <a:t>Study Objectives</a:t>
            </a:r>
          </a:p>
        </p:txBody>
      </p:sp>
    </p:spTree>
  </p:cSld>
  <p:clrMapOvr>
    <a:masterClrMapping/>
  </p:clrMapOvr>
  <p:transition spd="fast" advClick="1">
    <p:wipe dir="r"/>
  </p:transition>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67" name=""/>
        <p:cNvGrpSpPr/>
        <p:nvPr/>
      </p:nvGrpSpPr>
      <p:grpSpPr>
        <a:xfrm rot="0">
          <a:off x="0" y="0"/>
          <a:ext cx="0" cy="0"/>
          <a:chOff x="0" y="0"/>
          <a:chExt cx="0" cy="0"/>
        </a:xfrm>
      </p:grpSpPr>
      <p:sp>
        <p:nvSpPr>
          <p:cNvPr id="1048612" name=""/>
          <p:cNvSpPr/>
          <p:nvPr/>
        </p:nvSpPr>
        <p:spPr>
          <a:xfrm rot="0">
            <a:off x="3048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34" charset="0"/>
              </a:rPr>
              <a:t>The Account</a:t>
            </a:r>
          </a:p>
        </p:txBody>
      </p:sp>
      <p:sp>
        <p:nvSpPr>
          <p:cNvPr id="1048613" name=""/>
          <p:cNvSpPr/>
          <p:nvPr/>
        </p:nvSpPr>
        <p:spPr>
          <a:xfrm rot="0">
            <a:off x="304800" y="3124200"/>
            <a:ext cx="1981200" cy="1371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Debits and credits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Expansion of basic equation</a:t>
            </a:r>
          </a:p>
        </p:txBody>
      </p:sp>
      <p:sp>
        <p:nvSpPr>
          <p:cNvPr id="1048614" name=""/>
          <p:cNvSpPr/>
          <p:nvPr/>
        </p:nvSpPr>
        <p:spPr>
          <a:xfrm rot="0" flipH="1">
            <a:off x="4495800" y="1066800"/>
            <a:ext cx="76200" cy="430212"/>
          </a:xfrm>
          <a:custGeom>
            <a:avLst/>
            <a:gdLst>
              <a:gd name="l" fmla="*/ 0 w 1"/>
              <a:gd name="t" fmla="*/ 0 h 175"/>
              <a:gd name="r" fmla="*/ 1 w 1"/>
              <a:gd name="b" fmla="*/ 175 h 175"/>
            </a:gdLst>
            <a:ahLst/>
            <a:rect l="l" t="t" r="r" b="b"/>
            <a:pathLst>
              <a:path w="1" h="175">
                <a:moveTo>
                  <a:pt x="0" y="0"/>
                </a:moveTo>
                <a:lnTo>
                  <a:pt x="0" y="175"/>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5" name=""/>
          <p:cNvSpPr/>
          <p:nvPr/>
        </p:nvSpPr>
        <p:spPr>
          <a:xfrm rot="0">
            <a:off x="1295400"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6" name=""/>
          <p:cNvSpPr/>
          <p:nvPr/>
        </p:nvSpPr>
        <p:spPr>
          <a:xfrm rot="0">
            <a:off x="25146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34" charset="0"/>
              </a:rPr>
              <a:t>Steps in the Recording Process</a:t>
            </a:r>
          </a:p>
        </p:txBody>
      </p:sp>
      <p:sp>
        <p:nvSpPr>
          <p:cNvPr id="1048617" name=""/>
          <p:cNvSpPr/>
          <p:nvPr/>
        </p:nvSpPr>
        <p:spPr>
          <a:xfrm rot="0">
            <a:off x="47244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34" charset="0"/>
              </a:rPr>
              <a:t>The Recording Process Illustrated</a:t>
            </a:r>
          </a:p>
        </p:txBody>
      </p:sp>
      <p:sp>
        <p:nvSpPr>
          <p:cNvPr id="1048618" name=""/>
          <p:cNvSpPr/>
          <p:nvPr/>
        </p:nvSpPr>
        <p:spPr>
          <a:xfrm rot="0">
            <a:off x="69342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34" charset="0"/>
              </a:rPr>
              <a:t>The Trial Balance</a:t>
            </a:r>
          </a:p>
        </p:txBody>
      </p:sp>
      <p:sp>
        <p:nvSpPr>
          <p:cNvPr id="1048619" name=""/>
          <p:cNvSpPr/>
          <p:nvPr/>
        </p:nvSpPr>
        <p:spPr>
          <a:xfrm rot="0">
            <a:off x="6934200" y="3124200"/>
            <a:ext cx="1981200" cy="1752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Limitations of a trial balance</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Locating errors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Use of dollar signs</a:t>
            </a:r>
          </a:p>
        </p:txBody>
      </p:sp>
      <p:sp>
        <p:nvSpPr>
          <p:cNvPr id="1048620" name=""/>
          <p:cNvSpPr/>
          <p:nvPr/>
        </p:nvSpPr>
        <p:spPr>
          <a:xfrm rot="0">
            <a:off x="79232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21" name=""/>
          <p:cNvSpPr/>
          <p:nvPr/>
        </p:nvSpPr>
        <p:spPr>
          <a:xfrm rot="0">
            <a:off x="57134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22" name=""/>
          <p:cNvSpPr/>
          <p:nvPr/>
        </p:nvSpPr>
        <p:spPr>
          <a:xfrm rot="0">
            <a:off x="3429000"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23" name=""/>
          <p:cNvSpPr/>
          <p:nvPr/>
        </p:nvSpPr>
        <p:spPr>
          <a:xfrm rot="0">
            <a:off x="1273175" y="1508125"/>
            <a:ext cx="6673850" cy="4762"/>
          </a:xfrm>
          <a:custGeom>
            <a:avLst/>
            <a:gdLst>
              <a:gd name="l" fmla="*/ 0 w 4204"/>
              <a:gd name="t" fmla="*/ 0 h 3"/>
              <a:gd name="r" fmla="*/ 4204 w 4204"/>
              <a:gd name="b" fmla="*/ 3 h 3"/>
            </a:gdLst>
            <a:ahLst/>
            <a:rect l="l" t="t" r="r" b="b"/>
            <a:pathLst>
              <a:path w="4204" h="3">
                <a:moveTo>
                  <a:pt x="0" y="0"/>
                </a:moveTo>
                <a:lnTo>
                  <a:pt x="4204" y="3"/>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24" name=""/>
          <p:cNvSpPr/>
          <p:nvPr/>
        </p:nvSpPr>
        <p:spPr>
          <a:xfrm rot="0">
            <a:off x="4724400" y="3124200"/>
            <a:ext cx="1981200" cy="1371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Summary illustration of journalizing and posting</a:t>
            </a:r>
          </a:p>
        </p:txBody>
      </p:sp>
      <p:sp>
        <p:nvSpPr>
          <p:cNvPr id="1048625" name=""/>
          <p:cNvSpPr/>
          <p:nvPr/>
        </p:nvSpPr>
        <p:spPr>
          <a:xfrm rot="0">
            <a:off x="381000" y="457200"/>
            <a:ext cx="83820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indent="0" lvl="0" marL="109537"/>
            <a:r>
              <a:rPr altLang="en-US" b="1" sz="3000" i="1" lang="en-US">
                <a:solidFill>
                  <a:schemeClr val="lt1"/>
                </a:solidFill>
                <a:effectLst>
                  <a:outerShdw algn="tl" blurRad="38100" dir="2700000" dist="38100">
                    <a:srgbClr val="C0C0C0"/>
                  </a:outerShdw>
                </a:effectLst>
              </a:rPr>
              <a:t>The Recording Process</a:t>
            </a:r>
          </a:p>
        </p:txBody>
      </p:sp>
      <p:sp>
        <p:nvSpPr>
          <p:cNvPr id="1048626" name=""/>
          <p:cNvSpPr/>
          <p:nvPr/>
        </p:nvSpPr>
        <p:spPr>
          <a:xfrm rot="0">
            <a:off x="2514600" y="3124200"/>
            <a:ext cx="1981200" cy="1371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Journal</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34" charset="0"/>
              </a:rPr>
              <a:t>Ledger</a:t>
            </a:r>
          </a:p>
        </p:txBody>
      </p:sp>
    </p:spTree>
  </p:cSld>
  <p:clrMapOvr>
    <a:masterClrMapping/>
  </p:clrMapOvr>
  <p:transition spd="fast" advClick="1">
    <p:wipe dir="r"/>
  </p:transition>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70" name=""/>
        <p:cNvGrpSpPr/>
        <p:nvPr/>
      </p:nvGrpSpPr>
      <p:grpSpPr>
        <a:xfrm rot="0">
          <a:off x="0" y="0"/>
          <a:ext cx="0" cy="0"/>
          <a:chOff x="0" y="0"/>
          <a:chExt cx="0" cy="0"/>
        </a:xfrm>
      </p:grpSpPr>
      <p:pic>
        <p:nvPicPr>
          <p:cNvPr id="2097152" name=""/>
          <p:cNvPicPr>
            <a:picLocks/>
          </p:cNvPicPr>
          <p:nvPr/>
        </p:nvPicPr>
        <p:blipFill>
          <a:blip xmlns:r="http://schemas.openxmlformats.org/officeDocument/2006/relationships" r:embed="rId1"/>
          <a:srcRect l="0" t="0" r="0" b="0"/>
          <a:stretch>
            <a:fillRect/>
          </a:stretch>
        </p:blipFill>
        <p:spPr>
          <a:xfrm rot="0">
            <a:off x="4114800" y="3257550"/>
            <a:ext cx="4800600" cy="3600450"/>
          </a:xfrm>
          <a:prstGeom prst="rect"/>
          <a:noFill/>
          <a:ln>
            <a:noFill/>
          </a:ln>
        </p:spPr>
      </p:pic>
      <p:sp>
        <p:nvSpPr>
          <p:cNvPr id="1048629" name=""/>
          <p:cNvSpPr txBox="1"/>
          <p:nvPr/>
        </p:nvSpPr>
        <p:spPr>
          <a:xfrm rot="0">
            <a:off x="3276600" y="1336675"/>
            <a:ext cx="5410200" cy="20161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34962" lvl="0" marL="457200">
              <a:lnSpc>
                <a:spcPct val="95000"/>
              </a:lnSpc>
              <a:spcAft>
                <a:spcPct val="50000"/>
              </a:spcAft>
              <a:buSzPct val="80000"/>
              <a:buFontTx/>
              <a:buBlip>
                <a:blip xmlns:r="http://schemas.openxmlformats.org/officeDocument/2006/relationships" r:embed="rId2"/>
              </a:buBlip>
            </a:pPr>
            <a:r>
              <a:rPr altLang="en-US" sz="2200" lang="en-US"/>
              <a:t>Record of increases and decreases in a specific asset, liability, </a:t>
            </a:r>
            <a:r>
              <a:rPr altLang="en-US" sz="2200" lang="en-US"/>
              <a:t>equity, revenue, or expense </a:t>
            </a:r>
            <a:r>
              <a:rPr altLang="en-US" sz="2200" lang="en-US"/>
              <a:t>item.</a:t>
            </a:r>
          </a:p>
          <a:p>
            <a:pPr algn="l" indent="-334962" lvl="0" marL="457200">
              <a:lnSpc>
                <a:spcPct val="95000"/>
              </a:lnSpc>
              <a:spcAft>
                <a:spcPct val="50000"/>
              </a:spcAft>
              <a:buSzPct val="80000"/>
              <a:buFontTx/>
              <a:buBlip>
                <a:blip xmlns:r="http://schemas.openxmlformats.org/officeDocument/2006/relationships" r:embed="rId2"/>
              </a:buBlip>
            </a:pPr>
            <a:r>
              <a:rPr altLang="en-US" sz="2200" lang="en-US"/>
              <a:t>Debit = “Left”</a:t>
            </a:r>
          </a:p>
          <a:p>
            <a:pPr algn="l" indent="-334962" lvl="0" marL="457200">
              <a:lnSpc>
                <a:spcPct val="95000"/>
              </a:lnSpc>
              <a:buSzPct val="80000"/>
              <a:buFontTx/>
              <a:buBlip>
                <a:blip xmlns:r="http://schemas.openxmlformats.org/officeDocument/2006/relationships" r:embed="rId2"/>
              </a:buBlip>
            </a:pPr>
            <a:r>
              <a:rPr altLang="en-US" sz="2200" lang="en-US"/>
              <a:t>Credit = “Right”</a:t>
            </a:r>
          </a:p>
        </p:txBody>
      </p:sp>
      <p:sp>
        <p:nvSpPr>
          <p:cNvPr id="1048630" name=""/>
          <p:cNvSpPr txBox="1"/>
          <p:nvPr/>
        </p:nvSpPr>
        <p:spPr>
          <a:xfrm rot="0">
            <a:off x="533400" y="1562100"/>
            <a:ext cx="1524000" cy="495300"/>
          </a:xfrm>
          <a:prstGeom prst="rect"/>
          <a:solidFill>
            <a:srgbClr val="F7F48B"/>
          </a:solidFill>
          <a:ln w="38100"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buSzPct val="80000"/>
              <a:buFontTx/>
              <a:buNone/>
            </a:pPr>
            <a:r>
              <a:rPr altLang="en-US" b="1" lang="en-US">
                <a:effectLst>
                  <a:outerShdw algn="tl" blurRad="38100" dir="2700000" dist="38100">
                    <a:srgbClr val="C0C0C0"/>
                  </a:outerShdw>
                </a:effectLst>
              </a:rPr>
              <a:t>Account</a:t>
            </a:r>
          </a:p>
        </p:txBody>
      </p:sp>
      <p:sp>
        <p:nvSpPr>
          <p:cNvPr id="1048631" name=""/>
          <p:cNvSpPr/>
          <p:nvPr/>
        </p:nvSpPr>
        <p:spPr>
          <a:xfrm rot="0">
            <a:off x="2362200" y="1652587"/>
            <a:ext cx="762000" cy="228600"/>
          </a:xfrm>
          <a:custGeom>
            <a:avLst/>
            <a:gdLst>
              <a:gd name="l" fmla="*/ 3375 w 21600"/>
              <a:gd name="t" fmla="*/ 5400 h 21600"/>
              <a:gd name="r" fmla="*/ 18900 w 21600"/>
              <a:gd name="b" fmla="*/ 16200 h 21600"/>
            </a:gdLst>
            <a:ah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path>
            </a:pathLst>
          </a:custGeom>
          <a:solidFill>
            <a:srgbClr val="990033"/>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32" name=""/>
          <p:cNvSpPr txBox="1"/>
          <p:nvPr/>
        </p:nvSpPr>
        <p:spPr>
          <a:xfrm rot="0">
            <a:off x="533400" y="3657600"/>
            <a:ext cx="2895600" cy="1225550"/>
          </a:xfrm>
          <a:prstGeom prst="rect"/>
          <a:solidFill>
            <a:srgbClr val="F7F48B"/>
          </a:solidFill>
          <a:ln w="38100"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buSzPct val="80000"/>
              <a:buFontTx/>
              <a:buNone/>
            </a:pPr>
            <a:r>
              <a:rPr altLang="en-US" b="1" lang="en-US">
                <a:effectLst>
                  <a:outerShdw algn="tl" blurRad="38100" dir="2700000" dist="38100">
                    <a:srgbClr val="C0C0C0"/>
                  </a:outerShdw>
                </a:effectLst>
              </a:rPr>
              <a:t>An Account can be illustrated in a   T-Account form.</a:t>
            </a:r>
          </a:p>
        </p:txBody>
      </p:sp>
      <p:sp>
        <p:nvSpPr>
          <p:cNvPr id="1048633" name=""/>
          <p:cNvSpPr/>
          <p:nvPr/>
        </p:nvSpPr>
        <p:spPr>
          <a:xfrm rot="0">
            <a:off x="3657600" y="4114800"/>
            <a:ext cx="762000" cy="228600"/>
          </a:xfrm>
          <a:custGeom>
            <a:avLst/>
            <a:gdLst>
              <a:gd name="l" fmla="*/ 3375 w 21600"/>
              <a:gd name="t" fmla="*/ 5400 h 21600"/>
              <a:gd name="r" fmla="*/ 18900 w 21600"/>
              <a:gd name="b" fmla="*/ 16200 h 21600"/>
            </a:gdLst>
            <a:ah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path>
            </a:pathLst>
          </a:custGeom>
          <a:solidFill>
            <a:srgbClr val="990033"/>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3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Explain what an account is and how it helps in the recording process.</a:t>
            </a:r>
          </a:p>
        </p:txBody>
      </p:sp>
      <p:sp>
        <p:nvSpPr>
          <p:cNvPr id="104863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Account</a:t>
            </a:r>
          </a:p>
        </p:txBody>
      </p:sp>
      <p:sp>
        <p:nvSpPr>
          <p:cNvPr id="1048636" name=""/>
          <p:cNvSpPr/>
          <p:nvPr/>
        </p:nvSpPr>
        <p:spPr>
          <a:xfrm rot="0">
            <a:off x="6477000" y="4114800"/>
            <a:ext cx="0" cy="1905000"/>
          </a:xfrm>
          <a:prstGeom prst="line"/>
          <a:noFill/>
          <a:ln w="12700" cap="sq" cmpd="sng">
            <a:solidFill>
              <a:schemeClr val="dk1">
                <a:alpha val="100000"/>
              </a:schemeClr>
            </a:solidFill>
            <a:prstDash val="solid"/>
            <a:round/>
          </a:ln>
        </p:spPr>
      </p:sp>
    </p:spTree>
  </p:cSld>
  <p:clrMapOvr>
    <a:masterClrMapping/>
  </p:clrMapOvr>
  <p:transition spd="fast" advClick="1">
    <p:wipe dir="r"/>
  </p:transition>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73" name=""/>
        <p:cNvGrpSpPr/>
        <p:nvPr/>
      </p:nvGrpSpPr>
      <p:grpSpPr>
        <a:xfrm rot="0">
          <a:off x="0" y="0"/>
          <a:ext cx="0" cy="0"/>
          <a:chOff x="0" y="0"/>
          <a:chExt cx="0" cy="0"/>
        </a:xfrm>
      </p:grpSpPr>
      <p:sp>
        <p:nvSpPr>
          <p:cNvPr id="1048639" name=""/>
          <p:cNvSpPr txBox="1"/>
          <p:nvPr/>
        </p:nvSpPr>
        <p:spPr>
          <a:xfrm rot="0">
            <a:off x="685800" y="1471612"/>
            <a:ext cx="8001000" cy="39862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lnSpc>
                <a:spcPct val="115000"/>
              </a:lnSpc>
              <a:spcAft>
                <a:spcPct val="50000"/>
              </a:spcAft>
              <a:buSzPct val="80000"/>
              <a:buFontTx/>
              <a:buNone/>
            </a:pPr>
            <a:r>
              <a:rPr altLang="en-US" b="1" sz="3000" lang="en-US">
                <a:solidFill>
                  <a:srgbClr val="990000"/>
                </a:solidFill>
                <a:effectLst>
                  <a:outerShdw algn="tl" blurRad="38100" dir="2700000" dist="38100">
                    <a:srgbClr val="C0C0C0"/>
                  </a:outerShdw>
                </a:effectLst>
              </a:rPr>
              <a:t>Double-entry </a:t>
            </a:r>
            <a:r>
              <a:rPr altLang="en-US" sz="3000" lang="en-US"/>
              <a:t>accounting system</a:t>
            </a:r>
          </a:p>
          <a:p>
            <a:pPr algn="l" indent="-457200" lvl="0" marL="457200">
              <a:lnSpc>
                <a:spcPct val="115000"/>
              </a:lnSpc>
              <a:spcAft>
                <a:spcPct val="50000"/>
              </a:spcAft>
              <a:buSzPct val="80000"/>
              <a:buFontTx/>
              <a:buBlip>
                <a:blip xmlns:r="http://schemas.openxmlformats.org/officeDocument/2006/relationships" r:embed="rId1"/>
              </a:buBlip>
            </a:pPr>
            <a:r>
              <a:rPr altLang="en-US" sz="2600" lang="en-US"/>
              <a:t>Each transaction must affect two or more accounts to keep the basic accounting equation in balance.</a:t>
            </a:r>
          </a:p>
          <a:p>
            <a:pPr algn="l" indent="-457200" lvl="0" marL="457200">
              <a:lnSpc>
                <a:spcPct val="115000"/>
              </a:lnSpc>
              <a:spcAft>
                <a:spcPct val="50000"/>
              </a:spcAft>
              <a:buSzPct val="80000"/>
              <a:buFontTx/>
              <a:buBlip>
                <a:blip xmlns:r="http://schemas.openxmlformats.org/officeDocument/2006/relationships" r:embed="rId1"/>
              </a:buBlip>
            </a:pPr>
            <a:r>
              <a:rPr altLang="en-US" sz="2600" lang="en-US"/>
              <a:t>Recording done by debiting at least o</a:t>
            </a:r>
            <a:r>
              <a:rPr altLang="en-US" sz="2600" lang="en-US"/>
              <a:t>ne account and crediting another.</a:t>
            </a:r>
          </a:p>
          <a:p>
            <a:pPr algn="l" indent="-457200" lvl="0" marL="457200">
              <a:lnSpc>
                <a:spcPct val="115000"/>
              </a:lnSpc>
              <a:spcAft>
                <a:spcPct val="50000"/>
              </a:spcAft>
              <a:buSzPct val="80000"/>
              <a:buFontTx/>
              <a:buBlip>
                <a:blip xmlns:r="http://schemas.openxmlformats.org/officeDocument/2006/relationships" r:embed="rId1"/>
              </a:buBlip>
            </a:pPr>
            <a:r>
              <a:rPr altLang="en-US" b="1" sz="2600" lang="en-US"/>
              <a:t>DEBITS</a:t>
            </a:r>
            <a:r>
              <a:rPr altLang="en-US" b="1" sz="2600" lang="en-US">
                <a:solidFill>
                  <a:srgbClr val="990000"/>
                </a:solidFill>
              </a:rPr>
              <a:t> </a:t>
            </a:r>
            <a:r>
              <a:rPr altLang="en-US" b="1" sz="2600" lang="en-US">
                <a:solidFill>
                  <a:srgbClr val="990000"/>
                </a:solidFill>
                <a:effectLst>
                  <a:outerShdw algn="tl" blurRad="38100" dir="2700000" dist="38100">
                    <a:srgbClr val="C0C0C0"/>
                  </a:outerShdw>
                </a:effectLst>
              </a:rPr>
              <a:t>must equal</a:t>
            </a:r>
            <a:r>
              <a:rPr altLang="en-US" b="1" sz="2600" lang="en-US">
                <a:solidFill>
                  <a:srgbClr val="990000"/>
                </a:solidFill>
              </a:rPr>
              <a:t> </a:t>
            </a:r>
            <a:r>
              <a:rPr altLang="en-US" b="1" sz="2600" lang="en-US"/>
              <a:t>CREDITS</a:t>
            </a:r>
            <a:r>
              <a:rPr altLang="en-US" sz="2600" lang="en-US"/>
              <a:t>.</a:t>
            </a:r>
          </a:p>
        </p:txBody>
      </p:sp>
      <p:sp>
        <p:nvSpPr>
          <p:cNvPr id="1048640"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64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a:t>
            </a:r>
          </a:p>
        </p:txBody>
      </p:sp>
    </p:spTree>
  </p:cSld>
  <p:clrMapOvr>
    <a:masterClrMapping/>
  </p:clrMapOvr>
  <p:transition spd="fast" advClick="1">
    <p:wipe dir="r"/>
  </p:transition>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76" name=""/>
        <p:cNvGrpSpPr/>
        <p:nvPr/>
      </p:nvGrpSpPr>
      <p:grpSpPr>
        <a:xfrm rot="0">
          <a:off x="0" y="0"/>
          <a:ext cx="0" cy="0"/>
          <a:chOff x="0" y="0"/>
          <a:chExt cx="0" cy="0"/>
        </a:xfrm>
      </p:grpSpPr>
      <p:pic>
        <p:nvPicPr>
          <p:cNvPr id="2097153" name=""/>
          <p:cNvPicPr>
            <a:picLocks/>
          </p:cNvPicPr>
          <p:nvPr/>
        </p:nvPicPr>
        <p:blipFill>
          <a:blip xmlns:r="http://schemas.openxmlformats.org/officeDocument/2006/relationships" r:embed="rId1"/>
          <a:srcRect l="0" t="0" r="0" b="0"/>
          <a:stretch>
            <a:fillRect/>
          </a:stretch>
        </p:blipFill>
        <p:spPr>
          <a:xfrm rot="0">
            <a:off x="1905000" y="2038350"/>
            <a:ext cx="5334000" cy="4000500"/>
          </a:xfrm>
          <a:prstGeom prst="rect"/>
          <a:noFill/>
          <a:ln>
            <a:noFill/>
          </a:ln>
        </p:spPr>
      </p:pic>
      <p:sp>
        <p:nvSpPr>
          <p:cNvPr id="1048644" name=""/>
          <p:cNvSpPr txBox="1"/>
          <p:nvPr/>
        </p:nvSpPr>
        <p:spPr>
          <a:xfrm rot="0">
            <a:off x="685800" y="1371600"/>
            <a:ext cx="7772400" cy="8223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11112" lvl="0" marL="111125">
              <a:spcBef>
                <a:spcPct val="10000"/>
              </a:spcBef>
              <a:buSzPct val="80000"/>
              <a:buFontTx/>
              <a:buNone/>
            </a:pPr>
            <a:r>
              <a:rPr altLang="en-US" b="1" lang="en-US"/>
              <a:t>If Debits are </a:t>
            </a:r>
            <a:r>
              <a:rPr altLang="en-US" b="1" lang="en-US">
                <a:solidFill>
                  <a:srgbClr val="990000"/>
                </a:solidFill>
                <a:effectLst>
                  <a:outerShdw algn="tl" blurRad="38100" dir="2700000" dist="38100">
                    <a:srgbClr val="C0C0C0"/>
                  </a:outerShdw>
                </a:effectLst>
              </a:rPr>
              <a:t>greater than</a:t>
            </a:r>
            <a:r>
              <a:rPr altLang="en-US" b="1" lang="en-US"/>
              <a:t> Credits, the account will have a debit balance.</a:t>
            </a:r>
          </a:p>
        </p:txBody>
      </p:sp>
      <p:sp>
        <p:nvSpPr>
          <p:cNvPr id="1048645" name=""/>
          <p:cNvSpPr txBox="1"/>
          <p:nvPr/>
        </p:nvSpPr>
        <p:spPr>
          <a:xfrm rot="0">
            <a:off x="2819400" y="3429000"/>
            <a:ext cx="12954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$10,000</a:t>
            </a:r>
          </a:p>
        </p:txBody>
      </p:sp>
      <p:sp>
        <p:nvSpPr>
          <p:cNvPr id="1048646" name=""/>
          <p:cNvSpPr txBox="1"/>
          <p:nvPr/>
        </p:nvSpPr>
        <p:spPr>
          <a:xfrm rot="0">
            <a:off x="6781800" y="34290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#2</a:t>
            </a:r>
          </a:p>
        </p:txBody>
      </p:sp>
      <p:sp>
        <p:nvSpPr>
          <p:cNvPr id="1048647" name=""/>
          <p:cNvSpPr txBox="1"/>
          <p:nvPr/>
        </p:nvSpPr>
        <p:spPr>
          <a:xfrm rot="0">
            <a:off x="4953000" y="3429000"/>
            <a:ext cx="1066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$3,000</a:t>
            </a:r>
          </a:p>
        </p:txBody>
      </p:sp>
      <p:sp>
        <p:nvSpPr>
          <p:cNvPr id="1048648" name=""/>
          <p:cNvSpPr txBox="1"/>
          <p:nvPr/>
        </p:nvSpPr>
        <p:spPr>
          <a:xfrm rot="0">
            <a:off x="2743200" y="4800600"/>
            <a:ext cx="1752600" cy="396875"/>
          </a:xfrm>
          <a:prstGeom prst="rect"/>
          <a:solidFill>
            <a:srgbClr val="F7F48B"/>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1204912"/>
              </a:tabLst>
            </a:pPr>
            <a:r>
              <a:rPr altLang="en-US" sz="2000" lang="en-US">
                <a:solidFill>
                  <a:srgbClr val="990000"/>
                </a:solidFill>
                <a:effectLst>
                  <a:outerShdw algn="tl" blurRad="38100" dir="2700000" dist="38100">
                    <a:srgbClr val="C0C0C0"/>
                  </a:outerShdw>
                </a:effectLst>
              </a:rPr>
              <a:t>	$15,000</a:t>
            </a:r>
          </a:p>
        </p:txBody>
      </p:sp>
      <p:sp>
        <p:nvSpPr>
          <p:cNvPr id="1048649" name=""/>
          <p:cNvSpPr txBox="1"/>
          <p:nvPr/>
        </p:nvSpPr>
        <p:spPr>
          <a:xfrm rot="0">
            <a:off x="3048000" y="3870325"/>
            <a:ext cx="1066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8,000</a:t>
            </a:r>
          </a:p>
        </p:txBody>
      </p:sp>
      <p:sp>
        <p:nvSpPr>
          <p:cNvPr id="1048650" name=""/>
          <p:cNvSpPr txBox="1"/>
          <p:nvPr/>
        </p:nvSpPr>
        <p:spPr>
          <a:xfrm rot="0">
            <a:off x="381000" y="3870325"/>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#3</a:t>
            </a:r>
          </a:p>
        </p:txBody>
      </p:sp>
      <p:sp>
        <p:nvSpPr>
          <p:cNvPr id="1048651" name=""/>
          <p:cNvSpPr txBox="1"/>
          <p:nvPr/>
        </p:nvSpPr>
        <p:spPr>
          <a:xfrm rot="0">
            <a:off x="381000" y="48006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Balance</a:t>
            </a:r>
          </a:p>
        </p:txBody>
      </p:sp>
      <p:sp>
        <p:nvSpPr>
          <p:cNvPr id="1048652" name=""/>
          <p:cNvSpPr txBox="1"/>
          <p:nvPr/>
        </p:nvSpPr>
        <p:spPr>
          <a:xfrm rot="0">
            <a:off x="381000" y="34290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#1</a:t>
            </a:r>
          </a:p>
        </p:txBody>
      </p:sp>
      <p:sp>
        <p:nvSpPr>
          <p:cNvPr id="104865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a:t>
            </a:r>
          </a:p>
        </p:txBody>
      </p:sp>
      <p:sp>
        <p:nvSpPr>
          <p:cNvPr id="1048654"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648"/>
                                        </p:tgtEl>
                                        <p:attrNameLst>
                                          <p:attrName>style.visibility</p:attrName>
                                        </p:attrNameLst>
                                      </p:cBhvr>
                                      <p:to>
                                        <p:strVal val="visible"/>
                                      </p:to>
                                    </p:set>
                                    <p:animEffect transition="in" filter="wipe(left)">
                                      <p:cBhvr>
                                        <p:cTn dur="500" id="7"/>
                                        <p:tgtEl>
                                          <p:spTgt spid="1048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8" grpId="0" uiExpand="0" build="whole"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79" name=""/>
        <p:cNvGrpSpPr/>
        <p:nvPr/>
      </p:nvGrpSpPr>
      <p:grpSpPr>
        <a:xfrm rot="0">
          <a:off x="0" y="0"/>
          <a:ext cx="0" cy="0"/>
          <a:chOff x="0" y="0"/>
          <a:chExt cx="0" cy="0"/>
        </a:xfrm>
      </p:grpSpPr>
      <p:pic>
        <p:nvPicPr>
          <p:cNvPr id="2097154" name=""/>
          <p:cNvPicPr>
            <a:picLocks/>
          </p:cNvPicPr>
          <p:nvPr/>
        </p:nvPicPr>
        <p:blipFill>
          <a:blip xmlns:r="http://schemas.openxmlformats.org/officeDocument/2006/relationships" r:embed="rId1"/>
          <a:srcRect l="0" t="0" r="0" b="0"/>
          <a:stretch>
            <a:fillRect/>
          </a:stretch>
        </p:blipFill>
        <p:spPr>
          <a:xfrm rot="0">
            <a:off x="1905000" y="2038350"/>
            <a:ext cx="5334000" cy="4000500"/>
          </a:xfrm>
          <a:prstGeom prst="rect"/>
          <a:noFill/>
          <a:ln>
            <a:noFill/>
          </a:ln>
        </p:spPr>
      </p:pic>
      <p:sp>
        <p:nvSpPr>
          <p:cNvPr id="1048657" name=""/>
          <p:cNvSpPr txBox="1"/>
          <p:nvPr/>
        </p:nvSpPr>
        <p:spPr>
          <a:xfrm rot="0">
            <a:off x="685800" y="1371600"/>
            <a:ext cx="7772400" cy="8223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11112" lvl="0" marL="111125">
              <a:spcBef>
                <a:spcPct val="10000"/>
              </a:spcBef>
              <a:buSzPct val="80000"/>
              <a:buFontTx/>
              <a:buNone/>
            </a:pPr>
            <a:r>
              <a:rPr altLang="en-US" b="1" lang="en-US"/>
              <a:t>If Credits are </a:t>
            </a:r>
            <a:r>
              <a:rPr altLang="en-US" b="1" lang="en-US">
                <a:solidFill>
                  <a:srgbClr val="990000"/>
                </a:solidFill>
                <a:effectLst>
                  <a:outerShdw algn="tl" blurRad="38100" dir="2700000" dist="38100">
                    <a:srgbClr val="C0C0C0"/>
                  </a:outerShdw>
                </a:effectLst>
              </a:rPr>
              <a:t>greater than</a:t>
            </a:r>
            <a:r>
              <a:rPr altLang="en-US" b="1" lang="en-US"/>
              <a:t> Debits, the account will have a credit balance.</a:t>
            </a:r>
          </a:p>
        </p:txBody>
      </p:sp>
      <p:sp>
        <p:nvSpPr>
          <p:cNvPr id="1048658" name=""/>
          <p:cNvSpPr txBox="1"/>
          <p:nvPr/>
        </p:nvSpPr>
        <p:spPr>
          <a:xfrm rot="0">
            <a:off x="2819400" y="3429000"/>
            <a:ext cx="12954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$10,000</a:t>
            </a:r>
          </a:p>
        </p:txBody>
      </p:sp>
      <p:sp>
        <p:nvSpPr>
          <p:cNvPr id="1048659" name=""/>
          <p:cNvSpPr txBox="1"/>
          <p:nvPr/>
        </p:nvSpPr>
        <p:spPr>
          <a:xfrm rot="0">
            <a:off x="6781800" y="34290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#2</a:t>
            </a:r>
          </a:p>
        </p:txBody>
      </p:sp>
      <p:sp>
        <p:nvSpPr>
          <p:cNvPr id="1048660" name=""/>
          <p:cNvSpPr txBox="1"/>
          <p:nvPr/>
        </p:nvSpPr>
        <p:spPr>
          <a:xfrm rot="0">
            <a:off x="4953000" y="3429000"/>
            <a:ext cx="1066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$3,000</a:t>
            </a:r>
          </a:p>
        </p:txBody>
      </p:sp>
      <p:sp>
        <p:nvSpPr>
          <p:cNvPr id="1048661" name=""/>
          <p:cNvSpPr txBox="1"/>
          <p:nvPr/>
        </p:nvSpPr>
        <p:spPr>
          <a:xfrm rot="0">
            <a:off x="381000" y="48006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Balance</a:t>
            </a:r>
          </a:p>
        </p:txBody>
      </p:sp>
      <p:sp>
        <p:nvSpPr>
          <p:cNvPr id="1048662" name=""/>
          <p:cNvSpPr txBox="1"/>
          <p:nvPr/>
        </p:nvSpPr>
        <p:spPr>
          <a:xfrm rot="0">
            <a:off x="381000" y="3429000"/>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#1</a:t>
            </a:r>
          </a:p>
        </p:txBody>
      </p:sp>
      <p:sp>
        <p:nvSpPr>
          <p:cNvPr id="104866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a:t>
            </a:r>
          </a:p>
        </p:txBody>
      </p:sp>
      <p:sp>
        <p:nvSpPr>
          <p:cNvPr id="1048664"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665" name=""/>
          <p:cNvSpPr txBox="1"/>
          <p:nvPr/>
        </p:nvSpPr>
        <p:spPr>
          <a:xfrm rot="0">
            <a:off x="4572000" y="4800600"/>
            <a:ext cx="1752600" cy="396875"/>
          </a:xfrm>
          <a:prstGeom prst="rect"/>
          <a:solidFill>
            <a:srgbClr val="F7F48B"/>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1204912"/>
              </a:tabLst>
            </a:pPr>
            <a:r>
              <a:rPr altLang="en-US" sz="2000" lang="en-US">
                <a:solidFill>
                  <a:srgbClr val="990000"/>
                </a:solidFill>
                <a:effectLst>
                  <a:outerShdw algn="tl" blurRad="38100" dir="2700000" dist="38100">
                    <a:srgbClr val="C0C0C0"/>
                  </a:outerShdw>
                </a:effectLst>
              </a:rPr>
              <a:t>	$1,000</a:t>
            </a:r>
          </a:p>
        </p:txBody>
      </p:sp>
      <p:sp>
        <p:nvSpPr>
          <p:cNvPr id="1048666" name=""/>
          <p:cNvSpPr txBox="1"/>
          <p:nvPr/>
        </p:nvSpPr>
        <p:spPr>
          <a:xfrm rot="0">
            <a:off x="4953000" y="3870325"/>
            <a:ext cx="1066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sz="2000" lang="en-US"/>
              <a:t>8,000</a:t>
            </a:r>
          </a:p>
        </p:txBody>
      </p:sp>
      <p:sp>
        <p:nvSpPr>
          <p:cNvPr id="1048667" name=""/>
          <p:cNvSpPr txBox="1"/>
          <p:nvPr/>
        </p:nvSpPr>
        <p:spPr>
          <a:xfrm rot="0">
            <a:off x="6781800" y="3870325"/>
            <a:ext cx="2209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sz="2000" lang="en-US"/>
              <a:t>Transaction #3</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665"/>
                                        </p:tgtEl>
                                        <p:attrNameLst>
                                          <p:attrName>style.visibility</p:attrName>
                                        </p:attrNameLst>
                                      </p:cBhvr>
                                      <p:to>
                                        <p:strVal val="visible"/>
                                      </p:to>
                                    </p:set>
                                    <p:animEffect transition="in" filter="wipe(left)">
                                      <p:cBhvr>
                                        <p:cTn dur="500" id="7"/>
                                        <p:tgtEl>
                                          <p:spTgt spid="1048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5" grpId="0" uiExpand="0" build="whole"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1">
  <p:cSld>
    <p:bg bwMode="white">
      <p:bgPr>
        <a:blipFill rotWithShape="0">
          <a:blip xmlns:r="http://schemas.openxmlformats.org/officeDocument/2006/relationships" r:embed="rId1">
            <a:alphaModFix amt="100000"/>
          </a:blip>
          <a:srcRect/>
          <a:tile algn="tl" flip="none" sx="100000" sy="100000" tx="0" ty="0"/>
        </a:blipFill>
      </p:bgPr>
    </p:bg>
    <p:spTree>
      <p:nvGrpSpPr>
        <p:cNvPr id="82" name=""/>
        <p:cNvGrpSpPr/>
        <p:nvPr/>
      </p:nvGrpSpPr>
      <p:grpSpPr>
        <a:xfrm rot="0">
          <a:off x="0" y="0"/>
          <a:ext cx="0" cy="0"/>
          <a:chOff x="0" y="0"/>
          <a:chExt cx="0" cy="0"/>
        </a:xfrm>
      </p:grpSpPr>
      <p:pic>
        <p:nvPicPr>
          <p:cNvPr id="2097155" name=""/>
          <p:cNvPicPr>
            <a:picLocks/>
          </p:cNvPicPr>
          <p:nvPr/>
        </p:nvPicPr>
        <p:blipFill>
          <a:blip xmlns:r="http://schemas.openxmlformats.org/officeDocument/2006/relationships" r:embed="rId2"/>
          <a:srcRect l="0" t="0" r="0" b="0"/>
          <a:stretch>
            <a:fillRect/>
          </a:stretch>
        </p:blipFill>
        <p:spPr>
          <a:xfrm rot="0">
            <a:off x="685800" y="2362200"/>
            <a:ext cx="2743200" cy="2057400"/>
          </a:xfrm>
          <a:prstGeom prst="rect"/>
          <a:noFill/>
          <a:ln w="28575" cap="sq" cmpd="sng">
            <a:solidFill>
              <a:schemeClr val="dk1">
                <a:alpha val="100000"/>
              </a:schemeClr>
            </a:solidFill>
            <a:prstDash val="solid"/>
            <a:round/>
          </a:ln>
        </p:spPr>
      </p:pic>
      <p:pic>
        <p:nvPicPr>
          <p:cNvPr id="2097156" name=""/>
          <p:cNvPicPr>
            <a:picLocks/>
          </p:cNvPicPr>
          <p:nvPr/>
        </p:nvPicPr>
        <p:blipFill>
          <a:blip xmlns:r="http://schemas.openxmlformats.org/officeDocument/2006/relationships" r:embed="rId3"/>
          <a:srcRect l="0" t="0" r="0" b="0"/>
          <a:stretch>
            <a:fillRect/>
          </a:stretch>
        </p:blipFill>
        <p:spPr>
          <a:xfrm rot="0">
            <a:off x="1371600" y="4191000"/>
            <a:ext cx="2743200" cy="2057400"/>
          </a:xfrm>
          <a:prstGeom prst="rect"/>
          <a:blipFill rotWithShape="0">
            <a:blip xmlns:r="http://schemas.openxmlformats.org/officeDocument/2006/relationships" r:embed="rId1">
              <a:alphaModFix amt="100000"/>
            </a:blip>
            <a:srcRect/>
            <a:tile algn="tl" flip="none" sx="100000" sy="100000" tx="0" ty="0"/>
          </a:blipFill>
          <a:ln w="28575" cap="sq" cmpd="sng">
            <a:solidFill>
              <a:schemeClr val="dk1">
                <a:alpha val="100000"/>
              </a:schemeClr>
            </a:solidFill>
            <a:prstDash val="solid"/>
            <a:round/>
          </a:ln>
        </p:spPr>
      </p:pic>
      <p:pic>
        <p:nvPicPr>
          <p:cNvPr id="2097157" name=""/>
          <p:cNvPicPr>
            <a:picLocks/>
          </p:cNvPicPr>
          <p:nvPr/>
        </p:nvPicPr>
        <p:blipFill>
          <a:blip xmlns:r="http://schemas.openxmlformats.org/officeDocument/2006/relationships" r:embed="rId4"/>
          <a:srcRect l="0" t="0" r="0" b="0"/>
          <a:stretch>
            <a:fillRect/>
          </a:stretch>
        </p:blipFill>
        <p:spPr>
          <a:xfrm rot="0">
            <a:off x="6172200" y="685800"/>
            <a:ext cx="2743200" cy="2057400"/>
          </a:xfrm>
          <a:prstGeom prst="rect"/>
          <a:noFill/>
          <a:ln w="28575" cap="sq" cmpd="sng">
            <a:solidFill>
              <a:schemeClr val="dk2">
                <a:alpha val="100000"/>
              </a:schemeClr>
            </a:solidFill>
            <a:prstDash val="solid"/>
            <a:round/>
          </a:ln>
        </p:spPr>
      </p:pic>
      <p:pic>
        <p:nvPicPr>
          <p:cNvPr id="2097158" name=""/>
          <p:cNvPicPr>
            <a:picLocks/>
          </p:cNvPicPr>
          <p:nvPr/>
        </p:nvPicPr>
        <p:blipFill>
          <a:blip xmlns:r="http://schemas.openxmlformats.org/officeDocument/2006/relationships" r:embed="rId5"/>
          <a:srcRect l="0" t="0" r="0" b="0"/>
          <a:stretch>
            <a:fillRect/>
          </a:stretch>
        </p:blipFill>
        <p:spPr>
          <a:xfrm rot="0">
            <a:off x="4800600" y="2514600"/>
            <a:ext cx="2743200" cy="2057400"/>
          </a:xfrm>
          <a:prstGeom prst="rect"/>
          <a:noFill/>
          <a:ln w="28575" cap="sq" cmpd="sng">
            <a:solidFill>
              <a:schemeClr val="dk2">
                <a:alpha val="100000"/>
              </a:schemeClr>
            </a:solidFill>
            <a:prstDash val="solid"/>
            <a:round/>
          </a:ln>
        </p:spPr>
      </p:pic>
      <p:pic>
        <p:nvPicPr>
          <p:cNvPr id="2097159" name=""/>
          <p:cNvPicPr>
            <a:picLocks/>
          </p:cNvPicPr>
          <p:nvPr/>
        </p:nvPicPr>
        <p:blipFill>
          <a:blip xmlns:r="http://schemas.openxmlformats.org/officeDocument/2006/relationships" r:embed="rId6"/>
          <a:srcRect l="0" t="0" r="0" b="0"/>
          <a:stretch>
            <a:fillRect/>
          </a:stretch>
        </p:blipFill>
        <p:spPr>
          <a:xfrm rot="0">
            <a:off x="6172200" y="4267200"/>
            <a:ext cx="2743200" cy="2057400"/>
          </a:xfrm>
          <a:prstGeom prst="rect"/>
          <a:noFill/>
          <a:ln w="28575" cap="sq" cmpd="sng">
            <a:solidFill>
              <a:schemeClr val="dk2">
                <a:alpha val="100000"/>
              </a:schemeClr>
            </a:solidFill>
            <a:prstDash val="solid"/>
            <a:round/>
          </a:ln>
        </p:spPr>
      </p:pic>
      <p:sp>
        <p:nvSpPr>
          <p:cNvPr id="1048670" name=""/>
          <p:cNvSpPr txBox="1"/>
          <p:nvPr/>
        </p:nvSpPr>
        <p:spPr>
          <a:xfrm rot="0">
            <a:off x="4267200" y="1100137"/>
            <a:ext cx="1600200" cy="1109662"/>
          </a:xfrm>
          <a:prstGeom prst="rect"/>
          <a:solidFill>
            <a:srgbClr val="F8EB8E"/>
          </a:solidFill>
          <a:ln w="12700" cap="sq" cmpd="sng">
            <a:solidFill>
              <a:schemeClr val="dk2">
                <a:alpha val="100000"/>
              </a:schemeClr>
            </a:solidFill>
            <a:prstDash val="solid"/>
            <a:round/>
          </a:ln>
          <a:effectLst>
            <a:outerShdw algn="ctr" dir="2699999" dist="107763" kx="0" sx="100000" sy="100000">
              <a:schemeClr val="dk2">
                <a:alpha val="100000"/>
              </a:schemeClr>
            </a:outerShdw>
          </a:effectLst>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t>Normal Balance </a:t>
            </a:r>
            <a:r>
              <a:rPr altLang="en-US" b="1" sz="2200" lang="en-US">
                <a:solidFill>
                  <a:srgbClr val="800000"/>
                </a:solidFill>
              </a:rPr>
              <a:t>Credit</a:t>
            </a:r>
          </a:p>
        </p:txBody>
      </p:sp>
      <p:sp>
        <p:nvSpPr>
          <p:cNvPr id="1048671" name=""/>
          <p:cNvSpPr txBox="1"/>
          <p:nvPr/>
        </p:nvSpPr>
        <p:spPr>
          <a:xfrm rot="0">
            <a:off x="1295400" y="1066800"/>
            <a:ext cx="1600200" cy="1109662"/>
          </a:xfrm>
          <a:prstGeom prst="rect"/>
          <a:solidFill>
            <a:srgbClr val="F8EB8E"/>
          </a:solidFill>
          <a:ln w="12700" cap="sq" cmpd="sng">
            <a:solidFill>
              <a:schemeClr val="dk2">
                <a:alpha val="100000"/>
              </a:schemeClr>
            </a:solidFill>
            <a:prstDash val="solid"/>
            <a:round/>
          </a:ln>
          <a:effectLst>
            <a:outerShdw algn="ctr" dir="2699999" dist="107763" kx="0" sx="100000" sy="100000">
              <a:schemeClr val="dk2">
                <a:alpha val="100000"/>
              </a:schemeClr>
            </a:outerShdw>
          </a:effectLst>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t>Normal Balance </a:t>
            </a:r>
            <a:r>
              <a:rPr altLang="en-US" b="1" sz="2200" lang="en-US">
                <a:solidFill>
                  <a:srgbClr val="800000"/>
                </a:solidFill>
              </a:rPr>
              <a:t>Debit</a:t>
            </a:r>
          </a:p>
        </p:txBody>
      </p:sp>
      <p:sp>
        <p:nvSpPr>
          <p:cNvPr id="1048672" name=""/>
          <p:cNvSpPr/>
          <p:nvPr>
            <p:ph type="title" sz="full" idx="0"/>
          </p:nvPr>
        </p:nvSpPr>
        <p:spPr>
          <a:xfrm rot="0">
            <a:off x="533400" y="277812"/>
            <a:ext cx="5029200" cy="4841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600" lang="en-US">
                <a:solidFill>
                  <a:schemeClr val="lt1"/>
                </a:solidFill>
                <a:effectLst>
                  <a:outerShdw algn="tl" blurRad="38100" dir="2700000" dist="38100">
                    <a:srgbClr val="C0C0C0"/>
                  </a:outerShdw>
                </a:effectLst>
              </a:rPr>
              <a:t>Debits and Credits Summary</a:t>
            </a:r>
          </a:p>
        </p:txBody>
      </p:sp>
      <p:sp>
        <p:nvSpPr>
          <p:cNvPr id="1048673" name=""/>
          <p:cNvSpPr/>
          <p:nvPr/>
        </p:nvSpPr>
        <p:spPr>
          <a:xfrm rot="0">
            <a:off x="2035175" y="2751137"/>
            <a:ext cx="1587" cy="1189037"/>
          </a:xfrm>
          <a:custGeom>
            <a:avLst/>
            <a:gdLst>
              <a:gd name="l" fmla="*/ 0 w 1"/>
              <a:gd name="t" fmla="*/ 0 h 749"/>
              <a:gd name="r" fmla="*/ 1 w 1"/>
              <a:gd name="b" fmla="*/ 749 h 749"/>
            </a:gdLst>
            <a:ahLst/>
            <a:rect l="l" t="t" r="r" b="b"/>
            <a:pathLst>
              <a:path w="1" h="749">
                <a:moveTo>
                  <a:pt x="0" y="0"/>
                </a:moveTo>
                <a:lnTo>
                  <a:pt x="0" y="749"/>
                </a:lnTo>
              </a:path>
            </a:pathLst>
          </a:custGeom>
          <a:noFill/>
          <a:ln w="19050"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4" name=""/>
          <p:cNvSpPr/>
          <p:nvPr/>
        </p:nvSpPr>
        <p:spPr>
          <a:xfrm rot="0">
            <a:off x="2716212" y="4575175"/>
            <a:ext cx="1587" cy="1181100"/>
          </a:xfrm>
          <a:custGeom>
            <a:avLst/>
            <a:gdLst>
              <a:gd name="l" fmla="*/ 0 w 1"/>
              <a:gd name="t" fmla="*/ 0 h 744"/>
              <a:gd name="r" fmla="*/ 1 w 1"/>
              <a:gd name="b" fmla="*/ 744 h 744"/>
            </a:gdLst>
            <a:ahLst/>
            <a:rect l="l" t="t" r="r" b="b"/>
            <a:pathLst>
              <a:path w="1" h="744">
                <a:moveTo>
                  <a:pt x="0" y="0"/>
                </a:moveTo>
                <a:lnTo>
                  <a:pt x="0" y="744"/>
                </a:lnTo>
              </a:path>
            </a:pathLst>
          </a:custGeom>
          <a:noFill/>
          <a:ln w="19050"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5" name=""/>
          <p:cNvSpPr/>
          <p:nvPr/>
        </p:nvSpPr>
        <p:spPr>
          <a:xfrm rot="0">
            <a:off x="6142037" y="2911475"/>
            <a:ext cx="1587" cy="1173162"/>
          </a:xfrm>
          <a:custGeom>
            <a:avLst/>
            <a:gdLst>
              <a:gd name="l" fmla="*/ 0 w 1"/>
              <a:gd name="t" fmla="*/ 0 h 739"/>
              <a:gd name="r" fmla="*/ 1 w 1"/>
              <a:gd name="b" fmla="*/ 739 h 739"/>
            </a:gdLst>
            <a:ahLst/>
            <a:rect l="l" t="t" r="r" b="b"/>
            <a:pathLst>
              <a:path w="1" h="739">
                <a:moveTo>
                  <a:pt x="0" y="0"/>
                </a:moveTo>
                <a:lnTo>
                  <a:pt x="0" y="739"/>
                </a:lnTo>
              </a:path>
            </a:pathLst>
          </a:custGeom>
          <a:noFill/>
          <a:ln w="19050"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6" name=""/>
          <p:cNvSpPr/>
          <p:nvPr/>
        </p:nvSpPr>
        <p:spPr>
          <a:xfrm rot="0">
            <a:off x="7518400" y="1076325"/>
            <a:ext cx="1587" cy="1174750"/>
          </a:xfrm>
          <a:custGeom>
            <a:avLst/>
            <a:gdLst>
              <a:gd name="l" fmla="*/ 0 w 1"/>
              <a:gd name="t" fmla="*/ 0 h 740"/>
              <a:gd name="r" fmla="*/ 1 w 1"/>
              <a:gd name="b" fmla="*/ 740 h 740"/>
            </a:gdLst>
            <a:ahLst/>
            <a:rect l="l" t="t" r="r" b="b"/>
            <a:pathLst>
              <a:path w="1" h="740">
                <a:moveTo>
                  <a:pt x="0" y="0"/>
                </a:moveTo>
                <a:lnTo>
                  <a:pt x="0" y="740"/>
                </a:lnTo>
              </a:path>
            </a:pathLst>
          </a:custGeom>
          <a:noFill/>
          <a:ln w="19050"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7" name=""/>
          <p:cNvSpPr/>
          <p:nvPr/>
        </p:nvSpPr>
        <p:spPr>
          <a:xfrm rot="0">
            <a:off x="7518400" y="4657725"/>
            <a:ext cx="1587" cy="1179512"/>
          </a:xfrm>
          <a:custGeom>
            <a:avLst/>
            <a:gdLst>
              <a:gd name="l" fmla="*/ 0 w 1"/>
              <a:gd name="t" fmla="*/ 0 h 743"/>
              <a:gd name="r" fmla="*/ 1 w 1"/>
              <a:gd name="b" fmla="*/ 743 h 743"/>
            </a:gdLst>
            <a:ahLst/>
            <a:rect l="l" t="t" r="r" b="b"/>
            <a:pathLst>
              <a:path w="1" h="743">
                <a:moveTo>
                  <a:pt x="0" y="0"/>
                </a:moveTo>
                <a:lnTo>
                  <a:pt x="0" y="743"/>
                </a:lnTo>
              </a:path>
            </a:pathLst>
          </a:custGeom>
          <a:noFill/>
          <a:ln w="19050"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8" name=""/>
          <p:cNvSpPr txBox="1"/>
          <p:nvPr/>
        </p:nvSpPr>
        <p:spPr>
          <a:xfrm rot="0">
            <a:off x="7620000" y="6445250"/>
            <a:ext cx="12192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50000"/>
              </a:spcBef>
            </a:pPr>
            <a:r>
              <a:rPr altLang="en-US" b="1" sz="1600" i="1" lang="en-US">
                <a:solidFill>
                  <a:schemeClr val="dk2"/>
                </a:solidFill>
                <a:effectLst>
                  <a:outerShdw algn="tl" blurRad="38100" dir="2700000" dist="38100">
                    <a:srgbClr val="C0C0C0"/>
                  </a:outerShdw>
                </a:effectLst>
              </a:rPr>
              <a:t>LO 2  </a:t>
            </a:r>
          </a:p>
        </p:txBody>
      </p:sp>
    </p:spTree>
  </p:cSld>
  <p:clrMapOvr>
    <a:masterClrMapping/>
  </p:clrMapOvr>
  <p:transition spd="fast" advClick="1">
    <p:wipe dir="r"/>
  </p:transition>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83" name=""/>
        <p:cNvGrpSpPr/>
        <p:nvPr/>
      </p:nvGrpSpPr>
      <p:grpSpPr>
        <a:xfrm rot="0">
          <a:off x="0" y="0"/>
          <a:ext cx="0" cy="0"/>
          <a:chOff x="0" y="0"/>
          <a:chExt cx="0" cy="0"/>
        </a:xfrm>
      </p:grpSpPr>
      <p:sp>
        <p:nvSpPr>
          <p:cNvPr id="1048679" name=""/>
          <p:cNvSpPr/>
          <p:nvPr/>
        </p:nvSpPr>
        <p:spPr>
          <a:xfrm rot="16200000">
            <a:off x="1666875" y="2976562"/>
            <a:ext cx="771525" cy="600075"/>
          </a:xfrm>
          <a:prstGeom prst="rightArrow">
            <a:avLst>
              <a:gd name="adj1" fmla="val 50000"/>
              <a:gd name="adj2" fmla="val 64303"/>
            </a:avLst>
          </a:prstGeom>
          <a:solidFill>
            <a:srgbClr val="000099"/>
          </a:solidFill>
          <a:ln w="12700" cap="flat" cmpd="sng">
            <a:solidFill>
              <a:schemeClr val="dk1">
                <a:alpha val="100000"/>
              </a:schemeClr>
            </a:solidFill>
            <a:prstDash val="solid"/>
            <a:round/>
          </a:ln>
        </p:spPr>
        <p:txBody>
          <a:bodyPr anchor="ctr" bIns="45720" lIns="91440" rIns="91440" tIns="45720" vert="eaVert"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endParaRPr altLang="en-US" sz="900" lang="en-US">
              <a:latin typeface="Book Antiqua" pitchFamily="18" charset="0"/>
            </a:endParaRPr>
          </a:p>
        </p:txBody>
      </p:sp>
      <p:sp>
        <p:nvSpPr>
          <p:cNvPr id="1048680" name=""/>
          <p:cNvSpPr/>
          <p:nvPr/>
        </p:nvSpPr>
        <p:spPr>
          <a:xfrm rot="16200000">
            <a:off x="7740650" y="2984500"/>
            <a:ext cx="771525" cy="600075"/>
          </a:xfrm>
          <a:prstGeom prst="rightArrow">
            <a:avLst>
              <a:gd name="adj1" fmla="val 50000"/>
              <a:gd name="adj2" fmla="val 64303"/>
            </a:avLst>
          </a:prstGeom>
          <a:solidFill>
            <a:srgbClr val="000099"/>
          </a:solidFill>
          <a:ln w="12700" cap="flat" cmpd="sng">
            <a:solidFill>
              <a:schemeClr val="dk1">
                <a:alpha val="100000"/>
              </a:schemeClr>
            </a:solidFill>
            <a:prstDash val="solid"/>
            <a:round/>
          </a:ln>
        </p:spPr>
        <p:txBody>
          <a:bodyPr anchor="ctr" bIns="45720" lIns="91440" rIns="91440" tIns="45720" vert="eaVert"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81" name=""/>
          <p:cNvSpPr/>
          <p:nvPr/>
        </p:nvSpPr>
        <p:spPr>
          <a:xfrm rot="0">
            <a:off x="1177925" y="1358900"/>
            <a:ext cx="804227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20000"/>
              </a:spcBef>
            </a:pPr>
            <a:r>
              <a:rPr altLang="en-US" lang="en-US">
                <a:solidFill>
                  <a:srgbClr val="800000"/>
                </a:solidFill>
                <a:effectLst>
                  <a:outerShdw algn="tl" blurRad="38100" dir="2700000" dist="38100">
                    <a:srgbClr val="C0C0C0"/>
                  </a:outerShdw>
                </a:effectLst>
              </a:rPr>
              <a:t>      </a:t>
            </a:r>
            <a:r>
              <a:rPr altLang="en-US" lang="en-US" u="sng">
                <a:solidFill>
                  <a:srgbClr val="800000"/>
                </a:solidFill>
                <a:effectLst>
                  <a:outerShdw algn="tl" blurRad="38100" dir="2700000" dist="38100">
                    <a:srgbClr val="C0C0C0"/>
                  </a:outerShdw>
                </a:effectLst>
              </a:rPr>
              <a:t>        Balance Sheet        </a:t>
            </a:r>
            <a:r>
              <a:rPr altLang="en-US" lang="en-US">
                <a:solidFill>
                  <a:srgbClr val="800000"/>
                </a:solidFill>
                <a:effectLst>
                  <a:outerShdw algn="tl" blurRad="38100" dir="2700000" dist="38100">
                    <a:srgbClr val="C0C0C0"/>
                  </a:outerShdw>
                </a:effectLst>
              </a:rPr>
              <a:t>       </a:t>
            </a:r>
            <a:r>
              <a:rPr altLang="en-US" lang="en-US" u="sng">
                <a:solidFill>
                  <a:srgbClr val="800000"/>
                </a:solidFill>
                <a:effectLst>
                  <a:outerShdw algn="tl" blurRad="38100" dir="2700000" dist="38100">
                    <a:srgbClr val="C0C0C0"/>
                  </a:outerShdw>
                </a:effectLst>
              </a:rPr>
              <a:t>Income Statement</a:t>
            </a:r>
          </a:p>
        </p:txBody>
      </p:sp>
      <p:sp>
        <p:nvSpPr>
          <p:cNvPr id="1048682" name=""/>
          <p:cNvSpPr/>
          <p:nvPr/>
        </p:nvSpPr>
        <p:spPr>
          <a:xfrm rot="0">
            <a:off x="2620962" y="1984375"/>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lang="en-US">
                <a:solidFill>
                  <a:srgbClr val="800000"/>
                </a:solidFill>
                <a:latin typeface="Arial" pitchFamily="34" charset="0"/>
              </a:rPr>
              <a:t>=</a:t>
            </a:r>
          </a:p>
        </p:txBody>
      </p:sp>
      <p:sp>
        <p:nvSpPr>
          <p:cNvPr id="1048683" name=""/>
          <p:cNvSpPr/>
          <p:nvPr/>
        </p:nvSpPr>
        <p:spPr>
          <a:xfrm rot="0">
            <a:off x="4283075" y="1970087"/>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lang="en-US">
                <a:solidFill>
                  <a:srgbClr val="800000"/>
                </a:solidFill>
                <a:latin typeface="Arial" pitchFamily="34" charset="0"/>
              </a:rPr>
              <a:t>+</a:t>
            </a:r>
          </a:p>
        </p:txBody>
      </p:sp>
      <p:sp>
        <p:nvSpPr>
          <p:cNvPr id="1048684" name=""/>
          <p:cNvSpPr/>
          <p:nvPr/>
        </p:nvSpPr>
        <p:spPr>
          <a:xfrm rot="0">
            <a:off x="7227887" y="1968500"/>
            <a:ext cx="392112"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lang="en-US">
                <a:solidFill>
                  <a:srgbClr val="800000"/>
                </a:solidFill>
                <a:latin typeface="Arial" pitchFamily="34" charset="0"/>
              </a:rPr>
              <a:t>-</a:t>
            </a:r>
          </a:p>
        </p:txBody>
      </p:sp>
      <p:sp>
        <p:nvSpPr>
          <p:cNvPr id="1048685" name=""/>
          <p:cNvSpPr txBox="1"/>
          <p:nvPr/>
        </p:nvSpPr>
        <p:spPr>
          <a:xfrm rot="0">
            <a:off x="1371600" y="1981200"/>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Asset</a:t>
            </a:r>
          </a:p>
        </p:txBody>
      </p:sp>
      <p:sp>
        <p:nvSpPr>
          <p:cNvPr id="1048686" name=""/>
          <p:cNvSpPr txBox="1"/>
          <p:nvPr/>
        </p:nvSpPr>
        <p:spPr>
          <a:xfrm rot="0">
            <a:off x="2971800" y="1981200"/>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Liability</a:t>
            </a:r>
          </a:p>
        </p:txBody>
      </p:sp>
      <p:sp>
        <p:nvSpPr>
          <p:cNvPr id="1048687" name=""/>
          <p:cNvSpPr txBox="1"/>
          <p:nvPr/>
        </p:nvSpPr>
        <p:spPr>
          <a:xfrm rot="0">
            <a:off x="4495800" y="1981200"/>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Equity</a:t>
            </a:r>
          </a:p>
        </p:txBody>
      </p:sp>
      <p:sp>
        <p:nvSpPr>
          <p:cNvPr id="1048688" name=""/>
          <p:cNvSpPr txBox="1"/>
          <p:nvPr/>
        </p:nvSpPr>
        <p:spPr>
          <a:xfrm rot="0">
            <a:off x="5943600" y="1981200"/>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Revenue</a:t>
            </a:r>
          </a:p>
        </p:txBody>
      </p:sp>
      <p:sp>
        <p:nvSpPr>
          <p:cNvPr id="1048689" name=""/>
          <p:cNvSpPr txBox="1"/>
          <p:nvPr/>
        </p:nvSpPr>
        <p:spPr>
          <a:xfrm rot="0">
            <a:off x="7391400" y="1981200"/>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Expense</a:t>
            </a:r>
          </a:p>
        </p:txBody>
      </p:sp>
      <p:sp>
        <p:nvSpPr>
          <p:cNvPr id="1048690" name=""/>
          <p:cNvSpPr txBox="1"/>
          <p:nvPr/>
        </p:nvSpPr>
        <p:spPr>
          <a:xfrm rot="0">
            <a:off x="152400" y="3043237"/>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Debit</a:t>
            </a:r>
          </a:p>
        </p:txBody>
      </p:sp>
      <p:sp>
        <p:nvSpPr>
          <p:cNvPr id="1048691" name=""/>
          <p:cNvSpPr txBox="1"/>
          <p:nvPr/>
        </p:nvSpPr>
        <p:spPr>
          <a:xfrm rot="0">
            <a:off x="152400" y="4586287"/>
            <a:ext cx="1371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lang="en-US"/>
              <a:t>Credit</a:t>
            </a:r>
          </a:p>
        </p:txBody>
      </p:sp>
      <p:sp>
        <p:nvSpPr>
          <p:cNvPr id="1048692" name=""/>
          <p:cNvSpPr/>
          <p:nvPr/>
        </p:nvSpPr>
        <p:spPr>
          <a:xfrm rot="0">
            <a:off x="1447800" y="2438400"/>
            <a:ext cx="1143000" cy="0"/>
          </a:xfrm>
          <a:prstGeom prst="line"/>
          <a:noFill/>
          <a:ln w="38100" cap="flat" cmpd="sng">
            <a:solidFill>
              <a:schemeClr val="dk1">
                <a:alpha val="100000"/>
              </a:schemeClr>
            </a:solidFill>
            <a:prstDash val="solid"/>
            <a:round/>
          </a:ln>
        </p:spPr>
      </p:sp>
      <p:sp>
        <p:nvSpPr>
          <p:cNvPr id="1048693" name=""/>
          <p:cNvSpPr/>
          <p:nvPr/>
        </p:nvSpPr>
        <p:spPr>
          <a:xfrm rot="0">
            <a:off x="3048000" y="2438400"/>
            <a:ext cx="1219200" cy="0"/>
          </a:xfrm>
          <a:prstGeom prst="line"/>
          <a:noFill/>
          <a:ln w="38100" cap="flat" cmpd="sng">
            <a:solidFill>
              <a:schemeClr val="dk1">
                <a:alpha val="100000"/>
              </a:schemeClr>
            </a:solidFill>
            <a:prstDash val="solid"/>
            <a:round/>
          </a:ln>
        </p:spPr>
      </p:sp>
      <p:sp>
        <p:nvSpPr>
          <p:cNvPr id="1048694" name=""/>
          <p:cNvSpPr/>
          <p:nvPr/>
        </p:nvSpPr>
        <p:spPr>
          <a:xfrm rot="0">
            <a:off x="4572000" y="2438400"/>
            <a:ext cx="1143000" cy="0"/>
          </a:xfrm>
          <a:prstGeom prst="line"/>
          <a:noFill/>
          <a:ln w="38100" cap="flat" cmpd="sng">
            <a:solidFill>
              <a:schemeClr val="dk1">
                <a:alpha val="100000"/>
              </a:schemeClr>
            </a:solidFill>
            <a:prstDash val="solid"/>
            <a:round/>
          </a:ln>
        </p:spPr>
      </p:sp>
      <p:sp>
        <p:nvSpPr>
          <p:cNvPr id="1048695" name=""/>
          <p:cNvSpPr/>
          <p:nvPr/>
        </p:nvSpPr>
        <p:spPr>
          <a:xfrm rot="0">
            <a:off x="6019800" y="2438400"/>
            <a:ext cx="1219200" cy="0"/>
          </a:xfrm>
          <a:prstGeom prst="line"/>
          <a:noFill/>
          <a:ln w="38100" cap="flat" cmpd="sng">
            <a:solidFill>
              <a:schemeClr val="dk1">
                <a:alpha val="100000"/>
              </a:schemeClr>
            </a:solidFill>
            <a:prstDash val="solid"/>
            <a:round/>
          </a:ln>
        </p:spPr>
      </p:sp>
      <p:sp>
        <p:nvSpPr>
          <p:cNvPr id="1048696" name=""/>
          <p:cNvSpPr/>
          <p:nvPr/>
        </p:nvSpPr>
        <p:spPr>
          <a:xfrm rot="0">
            <a:off x="7467600" y="2438400"/>
            <a:ext cx="1143000" cy="0"/>
          </a:xfrm>
          <a:prstGeom prst="line"/>
          <a:noFill/>
          <a:ln w="38100" cap="flat" cmpd="sng">
            <a:solidFill>
              <a:schemeClr val="dk1">
                <a:alpha val="100000"/>
              </a:schemeClr>
            </a:solidFill>
            <a:prstDash val="solid"/>
            <a:round/>
          </a:ln>
        </p:spPr>
      </p:sp>
      <p:sp>
        <p:nvSpPr>
          <p:cNvPr id="104869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 Summary</a:t>
            </a:r>
          </a:p>
        </p:txBody>
      </p:sp>
      <p:sp>
        <p:nvSpPr>
          <p:cNvPr id="1048698"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pic>
        <p:nvPicPr>
          <p:cNvPr id="2097160" name=""/>
          <p:cNvPicPr>
            <a:picLocks/>
          </p:cNvPicPr>
          <p:nvPr/>
        </p:nvPicPr>
        <p:blipFill>
          <a:blip xmlns:r="http://schemas.openxmlformats.org/officeDocument/2006/relationships" r:embed="rId1"/>
          <a:srcRect l="0" t="0" r="0" b="0"/>
          <a:stretch>
            <a:fillRect/>
          </a:stretch>
        </p:blipFill>
        <p:spPr>
          <a:xfrm rot="0">
            <a:off x="3276600" y="2865437"/>
            <a:ext cx="3810000" cy="868362"/>
          </a:xfrm>
          <a:prstGeom prst="rect"/>
          <a:noFill/>
          <a:ln>
            <a:noFill/>
          </a:ln>
        </p:spPr>
      </p:pic>
      <p:pic>
        <p:nvPicPr>
          <p:cNvPr id="2097161" name=""/>
          <p:cNvPicPr>
            <a:picLocks/>
          </p:cNvPicPr>
          <p:nvPr/>
        </p:nvPicPr>
        <p:blipFill>
          <a:blip xmlns:r="http://schemas.openxmlformats.org/officeDocument/2006/relationships" r:embed="rId2"/>
          <a:srcRect l="0" t="0" r="0" b="0"/>
          <a:stretch>
            <a:fillRect/>
          </a:stretch>
        </p:blipFill>
        <p:spPr>
          <a:xfrm rot="0">
            <a:off x="1752600" y="4419600"/>
            <a:ext cx="6781800" cy="936625"/>
          </a:xfrm>
          <a:prstGeom prst="rect"/>
          <a:noFill/>
          <a:ln>
            <a:noFill/>
          </a:ln>
        </p:spPr>
      </p:pic>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79"/>
                                        </p:tgtEl>
                                        <p:attrNameLst>
                                          <p:attrName>style.visibility</p:attrName>
                                        </p:attrNameLst>
                                      </p:cBhvr>
                                      <p:to>
                                        <p:strVal val="visible"/>
                                      </p:to>
                                    </p:set>
                                    <p:animEffect transition="in" filter="wipe(down)">
                                      <p:cBhvr>
                                        <p:cTn dur="500" id="7"/>
                                        <p:tgtEl>
                                          <p:spTgt spid="104867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4">
                                  <p:stCondLst>
                                    <p:cond delay="0"/>
                                  </p:stCondLst>
                                  <p:childTnLst>
                                    <p:set>
                                      <p:cBhvr>
                                        <p:cTn dur="1" fill="hold" id="11">
                                          <p:stCondLst>
                                            <p:cond delay="0"/>
                                          </p:stCondLst>
                                        </p:cTn>
                                        <p:tgtEl>
                                          <p:spTgt spid="1048680"/>
                                        </p:tgtEl>
                                        <p:attrNameLst>
                                          <p:attrName>style.visibility</p:attrName>
                                        </p:attrNameLst>
                                      </p:cBhvr>
                                      <p:to>
                                        <p:strVal val="visible"/>
                                      </p:to>
                                    </p:set>
                                    <p:animEffect transition="in" filter="wipe(down)">
                                      <p:cBhvr>
                                        <p:cTn dur="500" id="12"/>
                                        <p:tgtEl>
                                          <p:spTgt spid="1048680"/>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22" presetSubtype="1">
                                  <p:stCondLst>
                                    <p:cond delay="0"/>
                                  </p:stCondLst>
                                  <p:childTnLst>
                                    <p:set>
                                      <p:cBhvr>
                                        <p:cTn dur="1" fill="hold" id="16">
                                          <p:stCondLst>
                                            <p:cond delay="0"/>
                                          </p:stCondLst>
                                        </p:cTn>
                                        <p:tgtEl>
                                          <p:spTgt spid="2097160"/>
                                        </p:tgtEl>
                                        <p:attrNameLst>
                                          <p:attrName>style.visibility</p:attrName>
                                        </p:attrNameLst>
                                      </p:cBhvr>
                                      <p:to>
                                        <p:strVal val="visible"/>
                                      </p:to>
                                    </p:set>
                                    <p:animEffect transition="in" filter="wipe(up)">
                                      <p:cBhvr>
                                        <p:cTn dur="500" id="17"/>
                                        <p:tgtEl>
                                          <p:spTgt spid="2097160"/>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22" presetSubtype="4">
                                  <p:stCondLst>
                                    <p:cond delay="0"/>
                                  </p:stCondLst>
                                  <p:childTnLst>
                                    <p:set>
                                      <p:cBhvr>
                                        <p:cTn dur="1" fill="hold" id="21">
                                          <p:stCondLst>
                                            <p:cond delay="0"/>
                                          </p:stCondLst>
                                        </p:cTn>
                                        <p:tgtEl>
                                          <p:spTgt spid="2097161"/>
                                        </p:tgtEl>
                                        <p:attrNameLst>
                                          <p:attrName>style.visibility</p:attrName>
                                        </p:attrNameLst>
                                      </p:cBhvr>
                                      <p:to>
                                        <p:strVal val="visible"/>
                                      </p:to>
                                    </p:set>
                                    <p:animEffect transition="in" filter="wipe(down)">
                                      <p:cBhvr>
                                        <p:cTn dur="500" id="22"/>
                                        <p:tgtEl>
                                          <p:spTgt spid="2097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9" grpId="0" uiExpand="0" build="whole" animBg="1"/>
      <p:bldP spid="1048680" grpId="0" uiExpand="0" build="whole"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sp>
        <p:nvSpPr>
          <p:cNvPr id="1048699" name=""/>
          <p:cNvSpPr/>
          <p:nvPr/>
        </p:nvSpPr>
        <p:spPr>
          <a:xfrm rot="0">
            <a:off x="838200" y="1981200"/>
            <a:ext cx="8001000" cy="3276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t>Debits:</a:t>
            </a:r>
          </a:p>
          <a:p>
            <a:pPr algn="l" indent="-388937" lvl="1" marL="623887">
              <a:spcBef>
                <a:spcPct val="40000"/>
              </a:spcBef>
              <a:buClr>
                <a:schemeClr val="dk1"/>
              </a:buClr>
              <a:buSzPct val="95000"/>
              <a:buFont typeface="Wingdings" pitchFamily="2" charset="2"/>
              <a:buAutoNum type="alphaLcPeriod" startAt="1"/>
            </a:pPr>
            <a:r>
              <a:rPr altLang="en-US" sz="2600" lang="en-US"/>
              <a:t>increase both assets and liabilities.</a:t>
            </a:r>
          </a:p>
          <a:p>
            <a:pPr algn="l" indent="-388937" lvl="1" marL="623887">
              <a:spcBef>
                <a:spcPct val="40000"/>
              </a:spcBef>
              <a:buClr>
                <a:schemeClr val="dk1"/>
              </a:buClr>
              <a:buSzPct val="95000"/>
              <a:buFont typeface="Wingdings" pitchFamily="2" charset="2"/>
              <a:buAutoNum type="alphaLcPeriod" startAt="1"/>
            </a:pPr>
            <a:r>
              <a:rPr altLang="en-US" sz="2600" lang="en-US"/>
              <a:t>decrease both assets and liabilities.</a:t>
            </a:r>
          </a:p>
          <a:p>
            <a:pPr algn="l" indent="-388937" lvl="1" marL="623887">
              <a:spcBef>
                <a:spcPct val="40000"/>
              </a:spcBef>
              <a:buClr>
                <a:schemeClr val="dk1"/>
              </a:buClr>
              <a:buSzPct val="95000"/>
              <a:buFont typeface="Wingdings" pitchFamily="2" charset="2"/>
              <a:buAutoNum type="alphaLcPeriod" startAt="1"/>
            </a:pPr>
            <a:r>
              <a:rPr altLang="en-US" sz="2600" lang="en-US"/>
              <a:t>increase assets and decrease liabilities.</a:t>
            </a:r>
          </a:p>
          <a:p>
            <a:pPr algn="l" indent="-388937" lvl="1" marL="623887">
              <a:spcBef>
                <a:spcPct val="40000"/>
              </a:spcBef>
              <a:buClr>
                <a:schemeClr val="dk1"/>
              </a:buClr>
              <a:buSzPct val="95000"/>
              <a:buFont typeface="Wingdings" pitchFamily="2" charset="2"/>
              <a:buAutoNum type="alphaLcPeriod" startAt="1"/>
            </a:pPr>
            <a:r>
              <a:rPr altLang="en-US" sz="2600" lang="en-US"/>
              <a:t>decrease assets and increase liabilities.</a:t>
            </a:r>
          </a:p>
        </p:txBody>
      </p:sp>
      <p:sp>
        <p:nvSpPr>
          <p:cNvPr id="1048700" name=""/>
          <p:cNvSpPr/>
          <p:nvPr/>
        </p:nvSpPr>
        <p:spPr>
          <a:xfrm rot="0">
            <a:off x="1143000" y="37338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701"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70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 Summary</a:t>
            </a:r>
          </a:p>
        </p:txBody>
      </p:sp>
      <p:sp>
        <p:nvSpPr>
          <p:cNvPr id="1048703"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700"/>
                                        </p:tgtEl>
                                        <p:attrNameLst>
                                          <p:attrName>style.visibility</p:attrName>
                                        </p:attrNameLst>
                                      </p:cBhvr>
                                      <p:to>
                                        <p:strVal val="visible"/>
                                      </p:to>
                                    </p:set>
                                    <p:animEffect transition="in" filter="wipe(left)">
                                      <p:cBhvr>
                                        <p:cTn dur="500" id="7"/>
                                        <p:tgtEl>
                                          <p:spTgt spid="1048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00" grpId="0" uiExpand="0" build="whole"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706" name=""/>
          <p:cNvSpPr txBox="1"/>
          <p:nvPr/>
        </p:nvSpPr>
        <p:spPr>
          <a:xfrm rot="0">
            <a:off x="685800" y="1295400"/>
            <a:ext cx="7772400" cy="6032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05000"/>
              </a:lnSpc>
              <a:spcBef>
                <a:spcPct val="70000"/>
              </a:spcBef>
              <a:buSzPct val="80000"/>
              <a:buFontTx/>
              <a:buNone/>
            </a:pPr>
            <a:r>
              <a:rPr altLang="en-US" b="1" sz="3200" lang="en-US">
                <a:solidFill>
                  <a:srgbClr val="800000"/>
                </a:solidFill>
              </a:rPr>
              <a:t>Discussion Question</a:t>
            </a:r>
          </a:p>
        </p:txBody>
      </p:sp>
      <p:sp>
        <p:nvSpPr>
          <p:cNvPr id="1048707" name=""/>
          <p:cNvSpPr txBox="1"/>
          <p:nvPr/>
        </p:nvSpPr>
        <p:spPr>
          <a:xfrm rot="0">
            <a:off x="685800" y="1905000"/>
            <a:ext cx="7772400" cy="42291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30000"/>
              </a:lnSpc>
              <a:spcBef>
                <a:spcPct val="70000"/>
              </a:spcBef>
              <a:buSzPct val="80000"/>
              <a:buFontTx/>
              <a:buNone/>
            </a:pPr>
            <a:r>
              <a:rPr altLang="en-US" b="1" sz="2600" lang="en-US">
                <a:solidFill>
                  <a:srgbClr val="800000"/>
                </a:solidFill>
              </a:rPr>
              <a:t>Q4</a:t>
            </a:r>
            <a:r>
              <a:rPr altLang="en-US" b="1" sz="2600" lang="en-US">
                <a:solidFill>
                  <a:srgbClr val="000000"/>
                </a:solidFill>
              </a:rPr>
              <a:t>. </a:t>
            </a:r>
            <a:r>
              <a:rPr altLang="en-US" sz="2600" lang="en-US">
                <a:solidFill>
                  <a:srgbClr val="000000"/>
                </a:solidFill>
              </a:rPr>
              <a:t>Maria Alvarez, a beginning accounting student, believes debit balances are favorable and credit balances are unfavorable.  Is Maria correct? Discuss.</a:t>
            </a:r>
          </a:p>
          <a:p>
            <a:pPr algn="l" lvl="0">
              <a:lnSpc>
                <a:spcPct val="130000"/>
              </a:lnSpc>
              <a:spcBef>
                <a:spcPct val="70000"/>
              </a:spcBef>
              <a:buSzPct val="80000"/>
              <a:buFontTx/>
              <a:buNone/>
            </a:pPr>
            <a:endParaRPr altLang="en-US" sz="2600" lang="en-US">
              <a:solidFill>
                <a:srgbClr val="000000"/>
              </a:solidFill>
            </a:endParaRPr>
          </a:p>
          <a:p>
            <a:pPr algn="l" lvl="0">
              <a:lnSpc>
                <a:spcPct val="130000"/>
              </a:lnSpc>
              <a:spcBef>
                <a:spcPct val="70000"/>
              </a:spcBef>
              <a:buSzPct val="80000"/>
              <a:buFontTx/>
              <a:buNone/>
            </a:pPr>
            <a:endParaRPr altLang="en-US" sz="2000" lang="en-US">
              <a:solidFill>
                <a:srgbClr val="000000"/>
              </a:solidFill>
            </a:endParaRPr>
          </a:p>
          <a:p>
            <a:pPr algn="l" lvl="0">
              <a:lnSpc>
                <a:spcPct val="130000"/>
              </a:lnSpc>
              <a:spcBef>
                <a:spcPct val="70000"/>
              </a:spcBef>
              <a:buSzPct val="80000"/>
              <a:buFontTx/>
              <a:buNone/>
            </a:pPr>
            <a:r>
              <a:rPr altLang="en-US" sz="2200" lang="en-US">
                <a:solidFill>
                  <a:srgbClr val="000000"/>
                </a:solidFill>
              </a:rPr>
              <a:t>See notes page for discussion</a:t>
            </a:r>
          </a:p>
        </p:txBody>
      </p:sp>
      <p:sp>
        <p:nvSpPr>
          <p:cNvPr id="104870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 Summary</a:t>
            </a:r>
          </a:p>
        </p:txBody>
      </p:sp>
      <p:sp>
        <p:nvSpPr>
          <p:cNvPr id="1048709"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Tree>
  </p:cSld>
  <p:clrMapOvr>
    <a:masterClrMapping/>
  </p:clrMapOvr>
  <p:transition spd="fast" advClick="1">
    <p:wipe dir="r"/>
  </p:transition>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sp>
        <p:nvSpPr>
          <p:cNvPr id="1048712" name=""/>
          <p:cNvSpPr txBox="1"/>
          <p:nvPr/>
        </p:nvSpPr>
        <p:spPr>
          <a:xfrm rot="0">
            <a:off x="4114800" y="1720850"/>
            <a:ext cx="4572000" cy="34321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lnSpc>
                <a:spcPct val="115000"/>
              </a:lnSpc>
              <a:spcBef>
                <a:spcPct val="25000"/>
              </a:spcBef>
              <a:spcAft>
                <a:spcPct val="50000"/>
              </a:spcAft>
              <a:buSzPct val="80000"/>
              <a:buFontTx/>
              <a:buBlip>
                <a:blip xmlns:r="http://schemas.openxmlformats.org/officeDocument/2006/relationships" r:embed="rId1"/>
              </a:buBlip>
            </a:pPr>
            <a:r>
              <a:rPr altLang="en-US" b="1" sz="2600" lang="en-US">
                <a:solidFill>
                  <a:srgbClr val="800000"/>
                </a:solidFill>
              </a:rPr>
              <a:t>Assets</a:t>
            </a:r>
            <a:r>
              <a:rPr altLang="en-US" sz="2600" lang="en-US">
                <a:solidFill>
                  <a:srgbClr val="000000"/>
                </a:solidFill>
              </a:rPr>
              <a:t> - Debits should exceed credits.</a:t>
            </a:r>
          </a:p>
          <a:p>
            <a:pPr algn="l" indent="-457200" lvl="0" marL="457200">
              <a:lnSpc>
                <a:spcPct val="115000"/>
              </a:lnSpc>
              <a:spcBef>
                <a:spcPct val="25000"/>
              </a:spcBef>
              <a:spcAft>
                <a:spcPct val="50000"/>
              </a:spcAft>
              <a:buSzPct val="80000"/>
              <a:buFontTx/>
              <a:buBlip>
                <a:blip xmlns:r="http://schemas.openxmlformats.org/officeDocument/2006/relationships" r:embed="rId1"/>
              </a:buBlip>
            </a:pPr>
            <a:r>
              <a:rPr altLang="en-US" b="1" sz="2600" lang="en-US">
                <a:solidFill>
                  <a:srgbClr val="800000"/>
                </a:solidFill>
              </a:rPr>
              <a:t>Liabilities</a:t>
            </a:r>
            <a:r>
              <a:rPr altLang="en-US" sz="2600" lang="en-US">
                <a:solidFill>
                  <a:srgbClr val="000000"/>
                </a:solidFill>
              </a:rPr>
              <a:t> – Credits should exceed debits. </a:t>
            </a:r>
          </a:p>
          <a:p>
            <a:pPr algn="l" indent="-457200" lvl="0" marL="457200">
              <a:lnSpc>
                <a:spcPct val="115000"/>
              </a:lnSpc>
              <a:spcBef>
                <a:spcPct val="25000"/>
              </a:spcBef>
              <a:spcAft>
                <a:spcPct val="50000"/>
              </a:spcAft>
              <a:buSzPct val="80000"/>
              <a:buFontTx/>
              <a:buBlip>
                <a:blip xmlns:r="http://schemas.openxmlformats.org/officeDocument/2006/relationships" r:embed="rId1"/>
              </a:buBlip>
            </a:pPr>
            <a:r>
              <a:rPr altLang="en-US" sz="2600" lang="en-US">
                <a:solidFill>
                  <a:srgbClr val="000000"/>
                </a:solidFill>
              </a:rPr>
              <a:t>The </a:t>
            </a:r>
            <a:r>
              <a:rPr altLang="en-US" b="1" sz="2600" lang="en-US">
                <a:solidFill>
                  <a:srgbClr val="800000"/>
                </a:solidFill>
              </a:rPr>
              <a:t>normal balance</a:t>
            </a:r>
            <a:r>
              <a:rPr altLang="en-US" sz="2600" lang="en-US">
                <a:solidFill>
                  <a:srgbClr val="000000"/>
                </a:solidFill>
              </a:rPr>
              <a:t> is on the increase side.</a:t>
            </a:r>
          </a:p>
        </p:txBody>
      </p:sp>
      <p:sp>
        <p:nvSpPr>
          <p:cNvPr id="1048713"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71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Assets and Liabilities</a:t>
            </a:r>
          </a:p>
        </p:txBody>
      </p:sp>
      <p:pic>
        <p:nvPicPr>
          <p:cNvPr id="2097162" name=""/>
          <p:cNvPicPr>
            <a:picLocks/>
          </p:cNvPicPr>
          <p:nvPr/>
        </p:nvPicPr>
        <p:blipFill>
          <a:blip xmlns:r="http://schemas.openxmlformats.org/officeDocument/2006/relationships" r:embed="rId2"/>
          <a:srcRect l="0" t="0" r="0" b="0"/>
          <a:stretch>
            <a:fillRect/>
          </a:stretch>
        </p:blipFill>
        <p:spPr>
          <a:xfrm rot="0">
            <a:off x="762000" y="1447800"/>
            <a:ext cx="2743200" cy="2057400"/>
          </a:xfrm>
          <a:prstGeom prst="rect"/>
          <a:noFill/>
          <a:ln w="28575" cap="sq" cmpd="sng">
            <a:solidFill>
              <a:schemeClr val="dk1">
                <a:alpha val="100000"/>
              </a:schemeClr>
            </a:solidFill>
            <a:prstDash val="solid"/>
            <a:round/>
          </a:ln>
        </p:spPr>
      </p:pic>
      <p:pic>
        <p:nvPicPr>
          <p:cNvPr id="2097163" name=""/>
          <p:cNvPicPr>
            <a:picLocks/>
          </p:cNvPicPr>
          <p:nvPr/>
        </p:nvPicPr>
        <p:blipFill>
          <a:blip xmlns:r="http://schemas.openxmlformats.org/officeDocument/2006/relationships" r:embed="rId3"/>
          <a:srcRect l="0" t="0" r="0" b="0"/>
          <a:stretch>
            <a:fillRect/>
          </a:stretch>
        </p:blipFill>
        <p:spPr>
          <a:xfrm rot="0">
            <a:off x="762000" y="3886200"/>
            <a:ext cx="2743200" cy="2057400"/>
          </a:xfrm>
          <a:prstGeom prst="rect"/>
          <a:noFill/>
          <a:ln w="28575" cap="sq" cmpd="sng">
            <a:solidFill>
              <a:schemeClr val="dk2">
                <a:alpha val="100000"/>
              </a:schemeClr>
            </a:solidFill>
            <a:prstDash val="solid"/>
            <a:round/>
          </a:ln>
        </p:spPr>
      </p:pic>
    </p:spTree>
  </p:cSld>
  <p:clrMapOvr>
    <a:masterClrMapping/>
  </p:clrMapOvr>
  <p:transition spd="fast" advClick="1">
    <p:wipe dir="r"/>
  </p:transition>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717" name=""/>
          <p:cNvSpPr txBox="1"/>
          <p:nvPr/>
        </p:nvSpPr>
        <p:spPr>
          <a:xfrm rot="0">
            <a:off x="3886200" y="1392237"/>
            <a:ext cx="4800600" cy="2189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lnSpc>
                <a:spcPct val="115000"/>
              </a:lnSpc>
              <a:spcAft>
                <a:spcPct val="50000"/>
              </a:spcAft>
              <a:buSzPct val="80000"/>
              <a:buFontTx/>
              <a:buBlip>
                <a:blip xmlns:r="http://schemas.openxmlformats.org/officeDocument/2006/relationships" r:embed="rId1"/>
              </a:buBlip>
            </a:pPr>
            <a:r>
              <a:rPr altLang="en-US" b="1" sz="2200" lang="en-US">
                <a:solidFill>
                  <a:srgbClr val="800000"/>
                </a:solidFill>
              </a:rPr>
              <a:t>Owner’s investments</a:t>
            </a:r>
            <a:r>
              <a:rPr altLang="en-US" sz="2200" lang="en-US">
                <a:solidFill>
                  <a:srgbClr val="000000"/>
                </a:solidFill>
              </a:rPr>
              <a:t> and </a:t>
            </a:r>
            <a:r>
              <a:rPr altLang="en-US" b="1" sz="2200" lang="en-US">
                <a:solidFill>
                  <a:srgbClr val="800000"/>
                </a:solidFill>
              </a:rPr>
              <a:t>revenues </a:t>
            </a:r>
            <a:r>
              <a:rPr altLang="en-US" sz="2200" lang="en-US">
                <a:solidFill>
                  <a:srgbClr val="000000"/>
                </a:solidFill>
              </a:rPr>
              <a:t>increase owner’s equity (credit). </a:t>
            </a:r>
          </a:p>
          <a:p>
            <a:pPr algn="l" indent="-457200" lvl="0" marL="457200">
              <a:lnSpc>
                <a:spcPct val="115000"/>
              </a:lnSpc>
              <a:spcAft>
                <a:spcPct val="50000"/>
              </a:spcAft>
              <a:buSzPct val="80000"/>
              <a:buFontTx/>
              <a:buBlip>
                <a:blip xmlns:r="http://schemas.openxmlformats.org/officeDocument/2006/relationships" r:embed="rId1"/>
              </a:buBlip>
            </a:pPr>
            <a:r>
              <a:rPr altLang="en-US" b="1" sz="2200" lang="en-US">
                <a:solidFill>
                  <a:srgbClr val="800000"/>
                </a:solidFill>
              </a:rPr>
              <a:t>Owner’s drawings</a:t>
            </a:r>
            <a:r>
              <a:rPr altLang="en-US" sz="2200" lang="en-US">
                <a:solidFill>
                  <a:srgbClr val="000000"/>
                </a:solidFill>
              </a:rPr>
              <a:t> and </a:t>
            </a:r>
            <a:r>
              <a:rPr altLang="en-US" b="1" sz="2200" lang="en-US">
                <a:solidFill>
                  <a:srgbClr val="800000"/>
                </a:solidFill>
              </a:rPr>
              <a:t>expenses</a:t>
            </a:r>
            <a:r>
              <a:rPr altLang="en-US" sz="2200" lang="en-US">
                <a:solidFill>
                  <a:srgbClr val="000000"/>
                </a:solidFill>
              </a:rPr>
              <a:t> decrease owner’s equity (debit).</a:t>
            </a:r>
          </a:p>
        </p:txBody>
      </p:sp>
      <p:sp>
        <p:nvSpPr>
          <p:cNvPr id="1048718"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71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Owners’ Equity</a:t>
            </a:r>
          </a:p>
        </p:txBody>
      </p:sp>
      <p:pic>
        <p:nvPicPr>
          <p:cNvPr id="2097164" name=""/>
          <p:cNvPicPr>
            <a:picLocks/>
          </p:cNvPicPr>
          <p:nvPr/>
        </p:nvPicPr>
        <p:blipFill>
          <a:blip xmlns:r="http://schemas.openxmlformats.org/officeDocument/2006/relationships" r:embed="rId2"/>
          <a:srcRect l="0" t="0" r="0" b="0"/>
          <a:stretch>
            <a:fillRect/>
          </a:stretch>
        </p:blipFill>
        <p:spPr>
          <a:xfrm rot="0">
            <a:off x="762000" y="4114800"/>
            <a:ext cx="2743200" cy="2057400"/>
          </a:xfrm>
          <a:prstGeom prst="rect"/>
          <a:noFill/>
          <a:ln w="28575" cap="sq" cmpd="sng">
            <a:solidFill>
              <a:schemeClr val="dk2">
                <a:alpha val="100000"/>
              </a:schemeClr>
            </a:solidFill>
            <a:prstDash val="solid"/>
            <a:round/>
          </a:ln>
        </p:spPr>
      </p:pic>
      <p:pic>
        <p:nvPicPr>
          <p:cNvPr id="2097165" name=""/>
          <p:cNvPicPr>
            <a:picLocks/>
          </p:cNvPicPr>
          <p:nvPr/>
        </p:nvPicPr>
        <p:blipFill>
          <a:blip xmlns:r="http://schemas.openxmlformats.org/officeDocument/2006/relationships" r:embed="rId3"/>
          <a:srcRect l="0" t="0" r="0" b="0"/>
          <a:stretch>
            <a:fillRect/>
          </a:stretch>
        </p:blipFill>
        <p:spPr>
          <a:xfrm rot="0">
            <a:off x="3810000" y="4114800"/>
            <a:ext cx="2743200" cy="2057400"/>
          </a:xfrm>
          <a:prstGeom prst="rect"/>
          <a:noFill/>
          <a:ln w="28575" cap="sq" cmpd="sng">
            <a:solidFill>
              <a:schemeClr val="dk1">
                <a:alpha val="100000"/>
              </a:schemeClr>
            </a:solidFill>
            <a:prstDash val="solid"/>
            <a:round/>
          </a:ln>
        </p:spPr>
      </p:pic>
      <p:pic>
        <p:nvPicPr>
          <p:cNvPr id="2097166" name=""/>
          <p:cNvPicPr>
            <a:picLocks/>
          </p:cNvPicPr>
          <p:nvPr/>
        </p:nvPicPr>
        <p:blipFill>
          <a:blip xmlns:r="http://schemas.openxmlformats.org/officeDocument/2006/relationships" r:embed="rId4"/>
          <a:srcRect l="0" t="0" r="0" b="0"/>
          <a:stretch>
            <a:fillRect/>
          </a:stretch>
        </p:blipFill>
        <p:spPr>
          <a:xfrm rot="0">
            <a:off x="762000" y="1447800"/>
            <a:ext cx="2743200" cy="2057400"/>
          </a:xfrm>
          <a:prstGeom prst="rect"/>
          <a:noFill/>
          <a:ln w="28575" cap="sq" cmpd="sng">
            <a:solidFill>
              <a:schemeClr val="dk2">
                <a:alpha val="100000"/>
              </a:schemeClr>
            </a:solidFill>
            <a:prstDash val="solid"/>
            <a:round/>
          </a:ln>
        </p:spPr>
      </p:pic>
      <p:sp>
        <p:nvSpPr>
          <p:cNvPr id="1048720" name=""/>
          <p:cNvSpPr/>
          <p:nvPr/>
        </p:nvSpPr>
        <p:spPr>
          <a:xfrm rot="5400000" flipH="1" flipV="1">
            <a:off x="3467100" y="952500"/>
            <a:ext cx="381000" cy="5791200"/>
          </a:xfrm>
          <a:prstGeom prst="rightBrace">
            <a:avLst>
              <a:gd name="adj1" fmla="val 91593"/>
              <a:gd name="adj2" fmla="val 23681"/>
            </a:avLst>
          </a:prstGeom>
          <a:noFill/>
          <a:ln w="3810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Tree>
  </p:cSld>
  <p:clrMapOvr>
    <a:masterClrMapping/>
  </p:clrMapOvr>
  <p:transition spd="fast" advClick="1">
    <p:wipe dir="r"/>
  </p:transition>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96" name=""/>
        <p:cNvGrpSpPr/>
        <p:nvPr/>
      </p:nvGrpSpPr>
      <p:grpSpPr>
        <a:xfrm rot="0">
          <a:off x="0" y="0"/>
          <a:ext cx="0" cy="0"/>
          <a:chOff x="0" y="0"/>
          <a:chExt cx="0" cy="0"/>
        </a:xfrm>
      </p:grpSpPr>
      <p:sp>
        <p:nvSpPr>
          <p:cNvPr id="1048723" name=""/>
          <p:cNvSpPr txBox="1"/>
          <p:nvPr/>
        </p:nvSpPr>
        <p:spPr>
          <a:xfrm rot="0">
            <a:off x="3886200" y="1392237"/>
            <a:ext cx="4800600" cy="46640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lnSpc>
                <a:spcPct val="115000"/>
              </a:lnSpc>
              <a:spcAft>
                <a:spcPct val="50000"/>
              </a:spcAft>
              <a:buSzPct val="80000"/>
              <a:buFontTx/>
              <a:buBlip>
                <a:blip xmlns:r="http://schemas.openxmlformats.org/officeDocument/2006/relationships" r:embed="rId1"/>
              </a:buBlip>
            </a:pPr>
            <a:r>
              <a:rPr altLang="en-US" lang="en-US">
                <a:solidFill>
                  <a:srgbClr val="000000"/>
                </a:solidFill>
              </a:rPr>
              <a:t>The purpose of earning </a:t>
            </a:r>
            <a:r>
              <a:rPr altLang="en-US" b="1" lang="en-US">
                <a:solidFill>
                  <a:srgbClr val="800000"/>
                </a:solidFill>
              </a:rPr>
              <a:t>revenues</a:t>
            </a:r>
            <a:r>
              <a:rPr altLang="en-US" lang="en-US">
                <a:solidFill>
                  <a:srgbClr val="000000"/>
                </a:solidFill>
              </a:rPr>
              <a:t> is to benefit the owner(s).</a:t>
            </a:r>
          </a:p>
          <a:p>
            <a:pPr algn="l" indent="-457200" lvl="0" marL="457200">
              <a:lnSpc>
                <a:spcPct val="115000"/>
              </a:lnSpc>
              <a:spcAft>
                <a:spcPct val="50000"/>
              </a:spcAft>
              <a:buSzPct val="80000"/>
              <a:buFontTx/>
              <a:buBlip>
                <a:blip xmlns:r="http://schemas.openxmlformats.org/officeDocument/2006/relationships" r:embed="rId1"/>
              </a:buBlip>
            </a:pPr>
            <a:r>
              <a:rPr altLang="en-US" lang="en-US">
                <a:solidFill>
                  <a:srgbClr val="000000"/>
                </a:solidFill>
              </a:rPr>
              <a:t>The effect of debits and credits on revenue accounts is the </a:t>
            </a:r>
            <a:r>
              <a:rPr altLang="en-US" b="1" lang="en-US">
                <a:solidFill>
                  <a:srgbClr val="800000"/>
                </a:solidFill>
              </a:rPr>
              <a:t>same as</a:t>
            </a:r>
            <a:r>
              <a:rPr altLang="en-US" lang="en-US">
                <a:solidFill>
                  <a:srgbClr val="000000"/>
                </a:solidFill>
              </a:rPr>
              <a:t> their effect on Owner’s Capital.</a:t>
            </a:r>
          </a:p>
          <a:p>
            <a:pPr algn="l" indent="-457200" lvl="0" marL="457200">
              <a:lnSpc>
                <a:spcPct val="115000"/>
              </a:lnSpc>
              <a:spcAft>
                <a:spcPct val="50000"/>
              </a:spcAft>
              <a:buSzPct val="80000"/>
              <a:buFontTx/>
              <a:buBlip>
                <a:blip xmlns:r="http://schemas.openxmlformats.org/officeDocument/2006/relationships" r:embed="rId1"/>
              </a:buBlip>
            </a:pPr>
            <a:r>
              <a:rPr altLang="en-US" b="1" lang="en-US">
                <a:solidFill>
                  <a:srgbClr val="800000"/>
                </a:solidFill>
              </a:rPr>
              <a:t>Expenses</a:t>
            </a:r>
            <a:r>
              <a:rPr altLang="en-US" lang="en-US">
                <a:solidFill>
                  <a:srgbClr val="000000"/>
                </a:solidFill>
              </a:rPr>
              <a:t> have the opposite effect: expenses decrease owner’s equity.</a:t>
            </a:r>
          </a:p>
        </p:txBody>
      </p:sp>
      <p:sp>
        <p:nvSpPr>
          <p:cNvPr id="1048724"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72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Revenue and Expense</a:t>
            </a:r>
          </a:p>
        </p:txBody>
      </p:sp>
      <p:pic>
        <p:nvPicPr>
          <p:cNvPr id="2097167" name=""/>
          <p:cNvPicPr>
            <a:picLocks/>
          </p:cNvPicPr>
          <p:nvPr/>
        </p:nvPicPr>
        <p:blipFill>
          <a:blip xmlns:r="http://schemas.openxmlformats.org/officeDocument/2006/relationships" r:embed="rId2"/>
          <a:srcRect l="0" t="0" r="0" b="0"/>
          <a:stretch>
            <a:fillRect/>
          </a:stretch>
        </p:blipFill>
        <p:spPr>
          <a:xfrm rot="0">
            <a:off x="762000" y="3886200"/>
            <a:ext cx="2743200" cy="2057400"/>
          </a:xfrm>
          <a:prstGeom prst="rect"/>
          <a:blipFill rotWithShape="0">
            <a:blip xmlns:r="http://schemas.openxmlformats.org/officeDocument/2006/relationships" r:embed="rId3">
              <a:alphaModFix amt="100000"/>
            </a:blip>
            <a:srcRect/>
            <a:tile algn="tl" flip="none" sx="100000" sy="100000" tx="0" ty="0"/>
          </a:blipFill>
          <a:ln w="28575" cap="sq" cmpd="sng">
            <a:solidFill>
              <a:schemeClr val="dk1">
                <a:alpha val="100000"/>
              </a:schemeClr>
            </a:solidFill>
            <a:prstDash val="solid"/>
            <a:round/>
          </a:ln>
        </p:spPr>
      </p:pic>
      <p:pic>
        <p:nvPicPr>
          <p:cNvPr id="2097168" name=""/>
          <p:cNvPicPr>
            <a:picLocks/>
          </p:cNvPicPr>
          <p:nvPr/>
        </p:nvPicPr>
        <p:blipFill>
          <a:blip xmlns:r="http://schemas.openxmlformats.org/officeDocument/2006/relationships" r:embed="rId4"/>
          <a:srcRect l="0" t="0" r="0" b="0"/>
          <a:stretch>
            <a:fillRect/>
          </a:stretch>
        </p:blipFill>
        <p:spPr>
          <a:xfrm rot="0">
            <a:off x="762000" y="1447800"/>
            <a:ext cx="2743200" cy="2057400"/>
          </a:xfrm>
          <a:prstGeom prst="rect"/>
          <a:noFill/>
          <a:ln w="28575" cap="sq" cmpd="sng">
            <a:solidFill>
              <a:schemeClr val="dk2">
                <a:alpha val="100000"/>
              </a:schemeClr>
            </a:solidFill>
            <a:prstDash val="solid"/>
            <a:round/>
          </a:ln>
        </p:spPr>
      </p:pic>
    </p:spTree>
  </p:cSld>
  <p:clrMapOvr>
    <a:masterClrMapping/>
  </p:clrMapOvr>
  <p:transition spd="fast" advClick="1">
    <p:wipe dir="r"/>
  </p:transition>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99" name=""/>
        <p:cNvGrpSpPr/>
        <p:nvPr/>
      </p:nvGrpSpPr>
      <p:grpSpPr>
        <a:xfrm rot="0">
          <a:off x="0" y="0"/>
          <a:ext cx="0" cy="0"/>
          <a:chOff x="0" y="0"/>
          <a:chExt cx="0" cy="0"/>
        </a:xfrm>
      </p:grpSpPr>
      <p:sp>
        <p:nvSpPr>
          <p:cNvPr id="1048728" name=""/>
          <p:cNvSpPr/>
          <p:nvPr/>
        </p:nvSpPr>
        <p:spPr>
          <a:xfrm rot="0">
            <a:off x="838200" y="1981200"/>
            <a:ext cx="8001000" cy="3276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t>Accounts that normally have debit balances are:</a:t>
            </a:r>
          </a:p>
          <a:p>
            <a:pPr algn="l" indent="-388937" lvl="1" marL="623887">
              <a:spcBef>
                <a:spcPct val="40000"/>
              </a:spcBef>
              <a:buClr>
                <a:schemeClr val="dk1"/>
              </a:buClr>
              <a:buSzPct val="95000"/>
              <a:buFont typeface="Wingdings" pitchFamily="2" charset="2"/>
              <a:buAutoNum type="alphaLcPeriod" startAt="1"/>
            </a:pPr>
            <a:r>
              <a:rPr altLang="en-US" sz="2600" lang="en-US"/>
              <a:t>assets, expenses, and revenues.</a:t>
            </a:r>
          </a:p>
          <a:p>
            <a:pPr algn="l" indent="-388937" lvl="1" marL="623887">
              <a:spcBef>
                <a:spcPct val="40000"/>
              </a:spcBef>
              <a:buClr>
                <a:schemeClr val="dk1"/>
              </a:buClr>
              <a:buSzPct val="95000"/>
              <a:buFont typeface="Wingdings" pitchFamily="2" charset="2"/>
              <a:buAutoNum type="alphaLcPeriod" startAt="1"/>
            </a:pPr>
            <a:r>
              <a:rPr altLang="en-US" sz="2600" lang="en-US"/>
              <a:t>assets, expenses, and owner’s capital.</a:t>
            </a:r>
          </a:p>
          <a:p>
            <a:pPr algn="l" indent="-388937" lvl="1" marL="623887">
              <a:spcBef>
                <a:spcPct val="40000"/>
              </a:spcBef>
              <a:buClr>
                <a:schemeClr val="dk1"/>
              </a:buClr>
              <a:buSzPct val="95000"/>
              <a:buFont typeface="Wingdings" pitchFamily="2" charset="2"/>
              <a:buAutoNum type="alphaLcPeriod" startAt="1"/>
            </a:pPr>
            <a:r>
              <a:rPr altLang="en-US" sz="2600" lang="en-US"/>
              <a:t>assets, liabilities, and owner’s drawings.</a:t>
            </a:r>
          </a:p>
          <a:p>
            <a:pPr algn="l" indent="-388937" lvl="1" marL="623887">
              <a:spcBef>
                <a:spcPct val="40000"/>
              </a:spcBef>
              <a:buClr>
                <a:schemeClr val="dk1"/>
              </a:buClr>
              <a:buSzPct val="95000"/>
              <a:buFont typeface="Wingdings" pitchFamily="2" charset="2"/>
              <a:buAutoNum type="alphaLcPeriod" startAt="1"/>
            </a:pPr>
            <a:r>
              <a:rPr altLang="en-US" sz="2600" lang="en-US"/>
              <a:t>assets, owner’s drawings, and expenses.</a:t>
            </a:r>
          </a:p>
        </p:txBody>
      </p:sp>
      <p:sp>
        <p:nvSpPr>
          <p:cNvPr id="1048729" name=""/>
          <p:cNvSpPr/>
          <p:nvPr/>
        </p:nvSpPr>
        <p:spPr>
          <a:xfrm rot="0">
            <a:off x="1143000" y="4267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730"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73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Debits and Credits Summary</a:t>
            </a:r>
          </a:p>
        </p:txBody>
      </p:sp>
      <p:sp>
        <p:nvSpPr>
          <p:cNvPr id="1048732"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729"/>
                                        </p:tgtEl>
                                        <p:attrNameLst>
                                          <p:attrName>style.visibility</p:attrName>
                                        </p:attrNameLst>
                                      </p:cBhvr>
                                      <p:to>
                                        <p:strVal val="visible"/>
                                      </p:to>
                                    </p:set>
                                    <p:animEffect transition="in" filter="wipe(left)">
                                      <p:cBhvr>
                                        <p:cTn dur="500" id="7"/>
                                        <p:tgtEl>
                                          <p:spTgt spid="1048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9" grpId="0" uiExpand="0" build="whole"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102" name=""/>
        <p:cNvGrpSpPr/>
        <p:nvPr/>
      </p:nvGrpSpPr>
      <p:grpSpPr>
        <a:xfrm rot="0">
          <a:off x="0" y="0"/>
          <a:ext cx="0" cy="0"/>
          <a:chOff x="0" y="0"/>
          <a:chExt cx="0" cy="0"/>
        </a:xfrm>
      </p:grpSpPr>
      <p:sp>
        <p:nvSpPr>
          <p:cNvPr id="104873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Expansion of the Basic Equation</a:t>
            </a:r>
          </a:p>
        </p:txBody>
      </p:sp>
      <p:sp>
        <p:nvSpPr>
          <p:cNvPr id="1048736" name=""/>
          <p:cNvSpPr/>
          <p:nvPr>
            <p:ph type="body" sz="full" idx="1"/>
          </p:nvPr>
        </p:nvSpPr>
        <p:spPr>
          <a:xfrm rot="0">
            <a:off x="685800" y="1371600"/>
            <a:ext cx="7772400" cy="990600"/>
          </a:xfrm>
          <a:prstGeom prst="rect"/>
          <a:noFill/>
          <a:ln>
            <a:noFill/>
          </a:ln>
        </p:spPr>
        <p:txBody>
          <a:bodyPr anchor="t" bIns="46038" lIns="92075" rIns="92075" tIns="46038"/>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Comic Sans MS" pitchFamily="66"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Comic Sans MS" pitchFamily="66"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Comic Sans MS" pitchFamily="66" charset="0"/>
              </a:defRPr>
            </a:lvl5pPr>
          </a:lstStyle>
          <a:p>
            <a:pPr indent="0" lvl="0" marL="0">
              <a:lnSpc>
                <a:spcPct val="110000"/>
              </a:lnSpc>
              <a:buNone/>
            </a:pPr>
            <a:r>
              <a:rPr altLang="en-US" b="0" sz="2500" lang="en-US">
                <a:effectLst>
                  <a:outerShdw algn="tl" blurRad="38100" dir="2700000" dist="38100">
                    <a:srgbClr val="C0C0C0"/>
                  </a:outerShdw>
                </a:effectLst>
                <a:latin typeface="Comic Sans MS" pitchFamily="66" charset="0"/>
              </a:rPr>
              <a:t>Relationship among the assets, liabilities and owner’s equity of a business:  </a:t>
            </a:r>
          </a:p>
        </p:txBody>
      </p:sp>
      <p:sp>
        <p:nvSpPr>
          <p:cNvPr id="1048737" name=""/>
          <p:cNvSpPr/>
          <p:nvPr/>
        </p:nvSpPr>
        <p:spPr>
          <a:xfrm rot="0">
            <a:off x="685800" y="4876800"/>
            <a:ext cx="8077200" cy="838200"/>
          </a:xfrm>
          <a:prstGeom prst="rect"/>
          <a:noFill/>
          <a:ln>
            <a:noFill/>
          </a:ln>
        </p:spPr>
        <p:txBody>
          <a:bodyPr bIns="46038" lIns="92075" rIns="92075"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spcBef>
                <a:spcPct val="35000"/>
              </a:spcBef>
              <a:buClr>
                <a:schemeClr val="accent2"/>
              </a:buClr>
              <a:buSzPct val="75000"/>
              <a:buFont typeface="Wingdings" pitchFamily="2" charset="2"/>
              <a:buNone/>
            </a:pPr>
            <a:r>
              <a:rPr altLang="en-US" sz="2500" lang="en-US">
                <a:solidFill>
                  <a:schemeClr val="dk2"/>
                </a:solidFill>
                <a:effectLst>
                  <a:outerShdw algn="tl" blurRad="38100" dir="2700000" dist="38100">
                    <a:srgbClr val="C0C0C0"/>
                  </a:outerShdw>
                </a:effectLst>
              </a:rPr>
              <a:t>The equation must be in balance after every transaction.  </a:t>
            </a:r>
            <a:r>
              <a:rPr altLang="en-US" sz="2500" lang="en-US">
                <a:solidFill>
                  <a:schemeClr val="dk2"/>
                </a:solidFill>
                <a:effectLst>
                  <a:outerShdw algn="tl" blurRad="38100" dir="2700000" dist="38100">
                    <a:srgbClr val="C0C0C0"/>
                  </a:outerShdw>
                </a:effectLst>
              </a:rPr>
              <a:t>For every </a:t>
            </a:r>
            <a:r>
              <a:rPr altLang="en-US" b="1" sz="2500" lang="en-US">
                <a:solidFill>
                  <a:srgbClr val="800000"/>
                </a:solidFill>
                <a:effectLst>
                  <a:outerShdw algn="tl" blurRad="38100" dir="2700000" dist="38100">
                    <a:srgbClr val="C0C0C0"/>
                  </a:outerShdw>
                </a:effectLst>
              </a:rPr>
              <a:t>Debit</a:t>
            </a:r>
            <a:r>
              <a:rPr altLang="en-US" sz="2500" lang="en-US">
                <a:solidFill>
                  <a:srgbClr val="990000"/>
                </a:solidFill>
                <a:effectLst>
                  <a:outerShdw algn="tl" blurRad="38100" dir="2700000" dist="38100">
                    <a:srgbClr val="C0C0C0"/>
                  </a:outerShdw>
                </a:effectLst>
              </a:rPr>
              <a:t> </a:t>
            </a:r>
            <a:r>
              <a:rPr altLang="en-US" sz="2500" lang="en-US">
                <a:solidFill>
                  <a:schemeClr val="dk2"/>
                </a:solidFill>
                <a:effectLst>
                  <a:outerShdw algn="tl" blurRad="38100" dir="2700000" dist="38100">
                    <a:srgbClr val="C0C0C0"/>
                  </a:outerShdw>
                </a:effectLst>
              </a:rPr>
              <a:t>there must be a </a:t>
            </a:r>
            <a:r>
              <a:rPr altLang="en-US" b="1" sz="2500" lang="en-US">
                <a:solidFill>
                  <a:srgbClr val="990000"/>
                </a:solidFill>
                <a:effectLst>
                  <a:outerShdw algn="tl" blurRad="38100" dir="2700000" dist="38100">
                    <a:srgbClr val="C0C0C0"/>
                  </a:outerShdw>
                </a:effectLst>
              </a:rPr>
              <a:t>Credit</a:t>
            </a:r>
            <a:r>
              <a:rPr altLang="en-US" sz="2500" lang="en-US">
                <a:solidFill>
                  <a:schemeClr val="dk2"/>
                </a:solidFill>
                <a:effectLst>
                  <a:outerShdw algn="tl" blurRad="38100" dir="2700000" dist="38100">
                    <a:srgbClr val="C0C0C0"/>
                  </a:outerShdw>
                </a:effectLst>
              </a:rPr>
              <a:t>.</a:t>
            </a:r>
          </a:p>
        </p:txBody>
      </p:sp>
      <p:sp>
        <p:nvSpPr>
          <p:cNvPr id="1048738" name=""/>
          <p:cNvSpPr txBox="1"/>
          <p:nvPr/>
        </p:nvSpPr>
        <p:spPr>
          <a:xfrm rot="0">
            <a:off x="7391400" y="2514600"/>
            <a:ext cx="13716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2-11</a:t>
            </a:r>
          </a:p>
        </p:txBody>
      </p:sp>
      <p:pic>
        <p:nvPicPr>
          <p:cNvPr id="2097169" name=""/>
          <p:cNvPicPr>
            <a:picLocks/>
          </p:cNvPicPr>
          <p:nvPr/>
        </p:nvPicPr>
        <p:blipFill>
          <a:blip xmlns:r="http://schemas.openxmlformats.org/officeDocument/2006/relationships" r:embed="rId1"/>
          <a:srcRect l="0" t="0" r="0" b="0"/>
          <a:stretch>
            <a:fillRect/>
          </a:stretch>
        </p:blipFill>
        <p:spPr>
          <a:xfrm rot="0">
            <a:off x="1630362" y="3230562"/>
            <a:ext cx="7132637" cy="1189037"/>
          </a:xfrm>
          <a:prstGeom prst="rect"/>
          <a:noFill/>
          <a:ln>
            <a:noFill/>
          </a:ln>
        </p:spPr>
      </p:pic>
      <p:sp>
        <p:nvSpPr>
          <p:cNvPr id="1048739" name=""/>
          <p:cNvSpPr txBox="1"/>
          <p:nvPr/>
        </p:nvSpPr>
        <p:spPr>
          <a:xfrm rot="0">
            <a:off x="1600200" y="2667000"/>
            <a:ext cx="9144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lang="en-US">
                <a:latin typeface="Arial" pitchFamily="34" charset="0"/>
              </a:rPr>
              <a:t>Assets</a:t>
            </a:r>
          </a:p>
        </p:txBody>
      </p:sp>
      <p:sp>
        <p:nvSpPr>
          <p:cNvPr id="1048740" name=""/>
          <p:cNvSpPr txBox="1"/>
          <p:nvPr/>
        </p:nvSpPr>
        <p:spPr>
          <a:xfrm rot="0">
            <a:off x="2667000" y="2667000"/>
            <a:ext cx="12192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lang="en-US">
                <a:latin typeface="Arial" pitchFamily="34" charset="0"/>
              </a:rPr>
              <a:t>Liabilities</a:t>
            </a:r>
          </a:p>
        </p:txBody>
      </p:sp>
      <p:sp>
        <p:nvSpPr>
          <p:cNvPr id="1048741" name=""/>
          <p:cNvSpPr txBox="1"/>
          <p:nvPr/>
        </p:nvSpPr>
        <p:spPr>
          <a:xfrm rot="0">
            <a:off x="2438400" y="26670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800" lang="en-US">
                <a:latin typeface="Arial" pitchFamily="34" charset="0"/>
              </a:rPr>
              <a:t>=</a:t>
            </a:r>
          </a:p>
        </p:txBody>
      </p:sp>
      <p:sp>
        <p:nvSpPr>
          <p:cNvPr id="1048742" name=""/>
          <p:cNvSpPr txBox="1"/>
          <p:nvPr/>
        </p:nvSpPr>
        <p:spPr>
          <a:xfrm rot="0">
            <a:off x="5334000" y="2667000"/>
            <a:ext cx="19812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lang="en-US">
                <a:latin typeface="Arial" pitchFamily="34" charset="0"/>
              </a:rPr>
              <a:t>Owner’s Equity</a:t>
            </a:r>
          </a:p>
        </p:txBody>
      </p:sp>
      <p:sp>
        <p:nvSpPr>
          <p:cNvPr id="1048743" name=""/>
          <p:cNvSpPr/>
          <p:nvPr/>
        </p:nvSpPr>
        <p:spPr>
          <a:xfrm rot="5400000">
            <a:off x="6210300" y="800100"/>
            <a:ext cx="304800" cy="4648200"/>
          </a:xfrm>
          <a:prstGeom prst="leftBrace"/>
          <a:noFill/>
          <a:ln w="28575"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744" name=""/>
          <p:cNvSpPr txBox="1"/>
          <p:nvPr/>
        </p:nvSpPr>
        <p:spPr>
          <a:xfrm rot="0">
            <a:off x="381000" y="2543175"/>
            <a:ext cx="1143000" cy="5810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600" lang="en-US">
                <a:solidFill>
                  <a:srgbClr val="800000"/>
                </a:solidFill>
                <a:latin typeface="Arial" pitchFamily="34" charset="0"/>
              </a:rPr>
              <a:t>Basic Equation</a:t>
            </a:r>
          </a:p>
        </p:txBody>
      </p:sp>
      <p:sp>
        <p:nvSpPr>
          <p:cNvPr id="1048745" name=""/>
          <p:cNvSpPr txBox="1"/>
          <p:nvPr/>
        </p:nvSpPr>
        <p:spPr>
          <a:xfrm rot="0">
            <a:off x="381000" y="3365500"/>
            <a:ext cx="1219200" cy="8255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600" lang="en-US">
                <a:solidFill>
                  <a:srgbClr val="800000"/>
                </a:solidFill>
                <a:latin typeface="Arial" pitchFamily="34" charset="0"/>
              </a:rPr>
              <a:t>Expanded Basic Equation</a:t>
            </a:r>
          </a:p>
        </p:txBody>
      </p:sp>
      <p:sp>
        <p:nvSpPr>
          <p:cNvPr id="1048746" name=""/>
          <p:cNvSpPr txBox="1"/>
          <p:nvPr/>
        </p:nvSpPr>
        <p:spPr>
          <a:xfrm rot="0">
            <a:off x="3733800" y="6248400"/>
            <a:ext cx="52578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685800" lvl="0" marL="685800">
              <a:spcBef>
                <a:spcPct val="50000"/>
              </a:spcBef>
            </a:pPr>
            <a:r>
              <a:rPr altLang="en-US" b="1" sz="1600" i="1" lang="en-US">
                <a:solidFill>
                  <a:schemeClr val="dk2"/>
                </a:solidFill>
                <a:effectLst>
                  <a:outerShdw algn="tl" blurRad="38100" dir="2700000" dist="38100">
                    <a:srgbClr val="C0C0C0"/>
                  </a:outerShdw>
                </a:effectLst>
              </a:rPr>
              <a:t>LO 2  Define debits and credits and explain their use in recording business transactions.</a:t>
            </a:r>
          </a:p>
        </p:txBody>
      </p:sp>
      <p:sp>
        <p:nvSpPr>
          <p:cNvPr id="1048747" name=""/>
          <p:cNvSpPr txBox="1"/>
          <p:nvPr/>
        </p:nvSpPr>
        <p:spPr>
          <a:xfrm rot="0">
            <a:off x="3733800" y="26670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800" lang="en-US">
                <a:latin typeface="Arial" pitchFamily="34" charset="0"/>
              </a:rPr>
              <a:t>+</a:t>
            </a:r>
          </a:p>
        </p:txBody>
      </p:sp>
    </p:spTree>
  </p:cSld>
  <p:clrMapOvr>
    <a:masterClrMapping/>
  </p:clrMapOvr>
  <p:transition spd="fast" advClick="1">
    <p:wipe dir="r"/>
  </p:transition>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105" name=""/>
        <p:cNvGrpSpPr/>
        <p:nvPr/>
      </p:nvGrpSpPr>
      <p:grpSpPr>
        <a:xfrm rot="0">
          <a:off x="0" y="0"/>
          <a:ext cx="0" cy="0"/>
          <a:chOff x="0" y="0"/>
          <a:chExt cx="0" cy="0"/>
        </a:xfrm>
      </p:grpSpPr>
      <p:pic>
        <p:nvPicPr>
          <p:cNvPr id="2097170" name=""/>
          <p:cNvPicPr>
            <a:picLocks/>
          </p:cNvPicPr>
          <p:nvPr/>
        </p:nvPicPr>
        <p:blipFill>
          <a:blip xmlns:r="http://schemas.openxmlformats.org/officeDocument/2006/relationships" r:embed="rId1"/>
          <a:srcRect l="0" t="0" r="0" b="0"/>
          <a:stretch>
            <a:fillRect/>
          </a:stretch>
        </p:blipFill>
        <p:spPr>
          <a:xfrm rot="0">
            <a:off x="533400" y="1612900"/>
            <a:ext cx="2590800" cy="2444750"/>
          </a:xfrm>
          <a:prstGeom prst="rect"/>
          <a:noFill/>
          <a:ln>
            <a:noFill/>
          </a:ln>
        </p:spPr>
      </p:pic>
      <p:pic>
        <p:nvPicPr>
          <p:cNvPr id="2097171" name=""/>
          <p:cNvPicPr>
            <a:picLocks/>
          </p:cNvPicPr>
          <p:nvPr/>
        </p:nvPicPr>
        <p:blipFill>
          <a:blip xmlns:r="http://schemas.openxmlformats.org/officeDocument/2006/relationships" r:embed="rId2"/>
          <a:srcRect l="0" t="0" r="0" b="0"/>
          <a:stretch>
            <a:fillRect/>
          </a:stretch>
        </p:blipFill>
        <p:spPr>
          <a:xfrm rot="0">
            <a:off x="3124200" y="1600200"/>
            <a:ext cx="2667000" cy="2451100"/>
          </a:xfrm>
          <a:prstGeom prst="rect"/>
          <a:noFill/>
          <a:ln>
            <a:noFill/>
          </a:ln>
        </p:spPr>
      </p:pic>
      <p:pic>
        <p:nvPicPr>
          <p:cNvPr id="2097172" name=""/>
          <p:cNvPicPr>
            <a:picLocks/>
          </p:cNvPicPr>
          <p:nvPr/>
        </p:nvPicPr>
        <p:blipFill>
          <a:blip xmlns:r="http://schemas.openxmlformats.org/officeDocument/2006/relationships" r:embed="rId3"/>
          <a:srcRect l="0" t="0" r="0" b="0"/>
          <a:stretch>
            <a:fillRect/>
          </a:stretch>
        </p:blipFill>
        <p:spPr>
          <a:xfrm rot="0">
            <a:off x="5791200" y="1612900"/>
            <a:ext cx="2590800" cy="2478087"/>
          </a:xfrm>
          <a:prstGeom prst="rect"/>
          <a:noFill/>
          <a:ln>
            <a:noFill/>
          </a:ln>
        </p:spPr>
      </p:pic>
      <p:sp>
        <p:nvSpPr>
          <p:cNvPr id="1048750" name=""/>
          <p:cNvSpPr/>
          <p:nvPr/>
        </p:nvSpPr>
        <p:spPr>
          <a:xfrm rot="0">
            <a:off x="533400" y="1612900"/>
            <a:ext cx="7848600" cy="2438400"/>
          </a:xfrm>
          <a:prstGeom prst="rect"/>
          <a:noFill/>
          <a:ln w="381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751" name=""/>
          <p:cNvSpPr txBox="1"/>
          <p:nvPr/>
        </p:nvSpPr>
        <p:spPr>
          <a:xfrm rot="0">
            <a:off x="685800" y="4343400"/>
            <a:ext cx="8001000" cy="13541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b="1" lang="en-US">
                <a:solidFill>
                  <a:srgbClr val="800000"/>
                </a:solidFill>
              </a:rPr>
              <a:t>Business documents</a:t>
            </a:r>
            <a:r>
              <a:rPr altLang="en-US" lang="en-US"/>
              <a:t>, such as a sales slip, a check, a bill, or a cash register tape, provide evidence of the transaction.</a:t>
            </a:r>
          </a:p>
        </p:txBody>
      </p:sp>
      <p:sp>
        <p:nvSpPr>
          <p:cNvPr id="104875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the Recording Process</a:t>
            </a:r>
          </a:p>
        </p:txBody>
      </p:sp>
      <p:sp>
        <p:nvSpPr>
          <p:cNvPr id="1048753" name=""/>
          <p:cNvSpPr txBox="1"/>
          <p:nvPr/>
        </p:nvSpPr>
        <p:spPr>
          <a:xfrm rot="0">
            <a:off x="2209800" y="6369050"/>
            <a:ext cx="6781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3  Identify the basic steps in the recording process.</a:t>
            </a:r>
          </a:p>
        </p:txBody>
      </p:sp>
      <p:sp>
        <p:nvSpPr>
          <p:cNvPr id="1048754" name=""/>
          <p:cNvSpPr txBox="1"/>
          <p:nvPr/>
        </p:nvSpPr>
        <p:spPr>
          <a:xfrm rot="0">
            <a:off x="5638800" y="1447800"/>
            <a:ext cx="15240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b="1" sz="1200" lang="en-US"/>
              <a:t>Illustration 2-12</a:t>
            </a:r>
          </a:p>
        </p:txBody>
      </p:sp>
      <p:sp>
        <p:nvSpPr>
          <p:cNvPr id="1048755" name=""/>
          <p:cNvSpPr txBox="1"/>
          <p:nvPr/>
        </p:nvSpPr>
        <p:spPr>
          <a:xfrm rot="0">
            <a:off x="762000" y="3657600"/>
            <a:ext cx="2133600" cy="274637"/>
          </a:xfrm>
          <a:prstGeom prst="rect"/>
          <a:solidFill>
            <a:srgbClr val="F5E7E7"/>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200" lang="en-US"/>
              <a:t>Analyze each transaction</a:t>
            </a:r>
          </a:p>
        </p:txBody>
      </p:sp>
      <p:sp>
        <p:nvSpPr>
          <p:cNvPr id="1048756" name=""/>
          <p:cNvSpPr txBox="1"/>
          <p:nvPr/>
        </p:nvSpPr>
        <p:spPr>
          <a:xfrm rot="0">
            <a:off x="3200400" y="3657600"/>
            <a:ext cx="2438400" cy="274637"/>
          </a:xfrm>
          <a:prstGeom prst="rect"/>
          <a:solidFill>
            <a:srgbClr val="F5E7E7"/>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200" lang="en-US"/>
              <a:t>Enter transaction in a journal</a:t>
            </a:r>
          </a:p>
        </p:txBody>
      </p:sp>
      <p:sp>
        <p:nvSpPr>
          <p:cNvPr id="1048757" name=""/>
          <p:cNvSpPr txBox="1"/>
          <p:nvPr/>
        </p:nvSpPr>
        <p:spPr>
          <a:xfrm rot="0">
            <a:off x="5791200" y="3581400"/>
            <a:ext cx="2438400" cy="422275"/>
          </a:xfrm>
          <a:prstGeom prst="rect"/>
          <a:solidFill>
            <a:srgbClr val="F5E7E7"/>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90000"/>
              </a:lnSpc>
              <a:spcBef>
                <a:spcPct val="50000"/>
              </a:spcBef>
            </a:pPr>
            <a:r>
              <a:rPr altLang="en-US" b="1" sz="1200" lang="en-US"/>
              <a:t>Transfer journal information to ledger accounts</a:t>
            </a:r>
          </a:p>
        </p:txBody>
      </p:sp>
    </p:spTree>
  </p:cSld>
  <p:clrMapOvr>
    <a:masterClrMapping/>
  </p:clrMapOvr>
  <p:transition spd="fast" advClick="1">
    <p:wipe dir="r"/>
  </p:transition>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108" name=""/>
        <p:cNvGrpSpPr/>
        <p:nvPr/>
      </p:nvGrpSpPr>
      <p:grpSpPr>
        <a:xfrm rot="0">
          <a:off x="0" y="0"/>
          <a:ext cx="0" cy="0"/>
          <a:chOff x="0" y="0"/>
          <a:chExt cx="0" cy="0"/>
        </a:xfrm>
      </p:grpSpPr>
      <p:sp>
        <p:nvSpPr>
          <p:cNvPr id="1048760" name=""/>
          <p:cNvSpPr txBox="1"/>
          <p:nvPr/>
        </p:nvSpPr>
        <p:spPr>
          <a:xfrm rot="0">
            <a:off x="609600" y="1484312"/>
            <a:ext cx="8153400" cy="41068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01637" lvl="0" marL="401637">
              <a:lnSpc>
                <a:spcPct val="115000"/>
              </a:lnSpc>
              <a:spcAft>
                <a:spcPct val="50000"/>
              </a:spcAft>
              <a:buSzPct val="80000"/>
              <a:buFontTx/>
              <a:buBlip>
                <a:blip xmlns:r="http://schemas.openxmlformats.org/officeDocument/2006/relationships" r:embed="rId1"/>
              </a:buBlip>
            </a:pPr>
            <a:r>
              <a:rPr altLang="en-US" sz="2600" lang="en-US"/>
              <a:t>Book of original entry (General Ledger).</a:t>
            </a:r>
          </a:p>
          <a:p>
            <a:pPr algn="l" indent="-401637" lvl="0" marL="401637">
              <a:lnSpc>
                <a:spcPct val="115000"/>
              </a:lnSpc>
              <a:spcAft>
                <a:spcPct val="50000"/>
              </a:spcAft>
              <a:buSzPct val="80000"/>
              <a:buFontTx/>
              <a:buBlip>
                <a:blip xmlns:r="http://schemas.openxmlformats.org/officeDocument/2006/relationships" r:embed="rId1"/>
              </a:buBlip>
            </a:pPr>
            <a:r>
              <a:rPr altLang="en-US" sz="2600" lang="en-US"/>
              <a:t>Transactions recorded in chronological order.</a:t>
            </a:r>
          </a:p>
          <a:p>
            <a:pPr algn="l" indent="-401637" lvl="0" marL="401637">
              <a:lnSpc>
                <a:spcPct val="115000"/>
              </a:lnSpc>
              <a:spcAft>
                <a:spcPct val="50000"/>
              </a:spcAft>
              <a:buSzPct val="80000"/>
              <a:buFontTx/>
              <a:buBlip>
                <a:blip xmlns:r="http://schemas.openxmlformats.org/officeDocument/2006/relationships" r:embed="rId1"/>
              </a:buBlip>
            </a:pPr>
            <a:r>
              <a:rPr altLang="en-US" sz="2600" lang="en-US"/>
              <a:t>Contributions to the recording process:</a:t>
            </a:r>
          </a:p>
          <a:p>
            <a:pPr algn="l" indent="-398462" lvl="1" marL="914400">
              <a:lnSpc>
                <a:spcPct val="115000"/>
              </a:lnSpc>
              <a:spcAft>
                <a:spcPct val="50000"/>
              </a:spcAft>
              <a:buSzPct val="95000"/>
              <a:buFontTx/>
              <a:buAutoNum type="arabicPeriod" startAt="1"/>
            </a:pPr>
            <a:r>
              <a:rPr altLang="en-US" lang="en-US"/>
              <a:t>Discloses the complete effects of a transaction.</a:t>
            </a:r>
          </a:p>
          <a:p>
            <a:pPr algn="l" indent="-398462" lvl="1" marL="914400">
              <a:lnSpc>
                <a:spcPct val="115000"/>
              </a:lnSpc>
              <a:spcAft>
                <a:spcPct val="50000"/>
              </a:spcAft>
              <a:buSzPct val="95000"/>
              <a:buFontTx/>
              <a:buAutoNum type="arabicPeriod" startAt="1"/>
            </a:pPr>
            <a:r>
              <a:rPr altLang="en-US" lang="en-US"/>
              <a:t>Provides a chronological record of transactions.</a:t>
            </a:r>
          </a:p>
          <a:p>
            <a:pPr algn="l" indent="-398462" lvl="1" marL="914400">
              <a:lnSpc>
                <a:spcPct val="115000"/>
              </a:lnSpc>
              <a:spcAft>
                <a:spcPct val="50000"/>
              </a:spcAft>
              <a:buSzPct val="95000"/>
              <a:buFontTx/>
              <a:buAutoNum type="arabicPeriod" startAt="1"/>
            </a:pPr>
            <a:r>
              <a:rPr altLang="en-US" lang="en-US"/>
              <a:t>Helps to prevent or locate errors because the debit and credit amounts can be easily compared.</a:t>
            </a:r>
          </a:p>
        </p:txBody>
      </p:sp>
      <p:sp>
        <p:nvSpPr>
          <p:cNvPr id="104876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Journal</a:t>
            </a:r>
          </a:p>
        </p:txBody>
      </p:sp>
      <p:sp>
        <p:nvSpPr>
          <p:cNvPr id="1048762" name=""/>
          <p:cNvSpPr txBox="1"/>
          <p:nvPr/>
        </p:nvSpPr>
        <p:spPr>
          <a:xfrm rot="0">
            <a:off x="2209800" y="6369050"/>
            <a:ext cx="6781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3  Identify the basic steps in the recording process.</a:t>
            </a:r>
          </a:p>
        </p:txBody>
      </p:sp>
    </p:spTree>
  </p:cSld>
  <p:clrMapOvr>
    <a:masterClrMapping/>
  </p:clrMapOvr>
  <p:transition spd="fast" advClick="1">
    <p:wipe dir="r"/>
  </p:transition>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111" name=""/>
        <p:cNvGrpSpPr/>
        <p:nvPr/>
      </p:nvGrpSpPr>
      <p:grpSpPr>
        <a:xfrm rot="0">
          <a:off x="0" y="0"/>
          <a:ext cx="0" cy="0"/>
          <a:chOff x="0" y="0"/>
          <a:chExt cx="0" cy="0"/>
        </a:xfrm>
      </p:grpSpPr>
      <p:sp>
        <p:nvSpPr>
          <p:cNvPr id="1048765" name=""/>
          <p:cNvSpPr txBox="1"/>
          <p:nvPr/>
        </p:nvSpPr>
        <p:spPr>
          <a:xfrm rot="0">
            <a:off x="609600" y="1295400"/>
            <a:ext cx="8229600" cy="4889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600" lang="en-US">
                <a:solidFill>
                  <a:srgbClr val="800000"/>
                </a:solidFill>
                <a:ea typeface="Arial" pitchFamily="34" charset="0"/>
              </a:rPr>
              <a:t>Journalizing</a:t>
            </a:r>
            <a:r>
              <a:rPr altLang="en-US" lang="en-US">
                <a:solidFill>
                  <a:srgbClr val="000000"/>
                </a:solidFill>
                <a:ea typeface="Arial" pitchFamily="34" charset="0"/>
              </a:rPr>
              <a:t> - Entering transaction data in the journal.</a:t>
            </a:r>
          </a:p>
        </p:txBody>
      </p:sp>
      <p:sp>
        <p:nvSpPr>
          <p:cNvPr id="104876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767" name=""/>
          <p:cNvSpPr txBox="1"/>
          <p:nvPr/>
        </p:nvSpPr>
        <p:spPr>
          <a:xfrm rot="0">
            <a:off x="685800" y="1936750"/>
            <a:ext cx="8001000" cy="730250"/>
          </a:xfrm>
          <a:prstGeom prst="rect"/>
          <a:solidFill>
            <a:srgbClr val="FFFF99"/>
          </a:solidFill>
          <a:ln w="28575" cap="flat"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000" lang="en-US">
                <a:solidFill>
                  <a:srgbClr val="800000"/>
                </a:solidFill>
                <a:ea typeface="Arial" pitchFamily="34" charset="0"/>
              </a:rPr>
              <a:t>E2-4 (Facts) </a:t>
            </a:r>
            <a:r>
              <a:rPr altLang="en-US" sz="2000" lang="en-US">
                <a:solidFill>
                  <a:srgbClr val="000000"/>
                </a:solidFill>
                <a:ea typeface="Arial" pitchFamily="34" charset="0"/>
              </a:rPr>
              <a:t> Presented below is information related to Hanshew Real Estate Agency.</a:t>
            </a:r>
          </a:p>
        </p:txBody>
      </p:sp>
      <p:sp>
        <p:nvSpPr>
          <p:cNvPr id="1048768"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769" name=""/>
          <p:cNvSpPr txBox="1"/>
          <p:nvPr/>
        </p:nvSpPr>
        <p:spPr>
          <a:xfrm rot="0">
            <a:off x="1676400" y="2790825"/>
            <a:ext cx="7086600" cy="7016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000000"/>
                </a:solidFill>
                <a:ea typeface="Arial" pitchFamily="34" charset="0"/>
              </a:rPr>
              <a:t>Pete Hanshew begins business as a real estate agent with a cash investment of $15,000.</a:t>
            </a:r>
          </a:p>
        </p:txBody>
      </p:sp>
      <p:sp>
        <p:nvSpPr>
          <p:cNvPr id="1048770" name=""/>
          <p:cNvSpPr txBox="1"/>
          <p:nvPr/>
        </p:nvSpPr>
        <p:spPr>
          <a:xfrm rot="0">
            <a:off x="685800" y="2790825"/>
            <a:ext cx="990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800000"/>
                </a:solidFill>
                <a:ea typeface="Arial" pitchFamily="34" charset="0"/>
              </a:rPr>
              <a:t>Oct.  1</a:t>
            </a:r>
          </a:p>
        </p:txBody>
      </p:sp>
      <p:sp>
        <p:nvSpPr>
          <p:cNvPr id="1048771" name=""/>
          <p:cNvSpPr txBox="1"/>
          <p:nvPr/>
        </p:nvSpPr>
        <p:spPr>
          <a:xfrm rot="0">
            <a:off x="1676400" y="3476625"/>
            <a:ext cx="7086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000000"/>
                </a:solidFill>
                <a:ea typeface="Arial" pitchFamily="34" charset="0"/>
              </a:rPr>
              <a:t>Purchases office furniture for $1,900, on account.</a:t>
            </a:r>
          </a:p>
        </p:txBody>
      </p:sp>
      <p:sp>
        <p:nvSpPr>
          <p:cNvPr id="1048772" name=""/>
          <p:cNvSpPr txBox="1"/>
          <p:nvPr/>
        </p:nvSpPr>
        <p:spPr>
          <a:xfrm rot="0">
            <a:off x="685800" y="3476625"/>
            <a:ext cx="990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45000"/>
              </a:spcBef>
            </a:pPr>
            <a:r>
              <a:rPr altLang="en-US" sz="2000" lang="en-US">
                <a:solidFill>
                  <a:srgbClr val="800000"/>
                </a:solidFill>
                <a:ea typeface="Arial" pitchFamily="34" charset="0"/>
              </a:rPr>
              <a:t>3</a:t>
            </a:r>
          </a:p>
        </p:txBody>
      </p:sp>
      <p:sp>
        <p:nvSpPr>
          <p:cNvPr id="1048773" name=""/>
          <p:cNvSpPr txBox="1"/>
          <p:nvPr/>
        </p:nvSpPr>
        <p:spPr>
          <a:xfrm rot="0">
            <a:off x="1676400" y="3921125"/>
            <a:ext cx="7086600" cy="7016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000000"/>
                </a:solidFill>
                <a:ea typeface="Arial" pitchFamily="34" charset="0"/>
              </a:rPr>
              <a:t>Sells a house and lot for B. Kidman; bills B. Kidman $3,200 for realty services provided.</a:t>
            </a:r>
          </a:p>
        </p:txBody>
      </p:sp>
      <p:sp>
        <p:nvSpPr>
          <p:cNvPr id="1048774" name=""/>
          <p:cNvSpPr txBox="1"/>
          <p:nvPr/>
        </p:nvSpPr>
        <p:spPr>
          <a:xfrm rot="0">
            <a:off x="685800" y="3921125"/>
            <a:ext cx="990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45000"/>
              </a:spcBef>
            </a:pPr>
            <a:r>
              <a:rPr altLang="en-US" sz="2000" lang="en-US">
                <a:solidFill>
                  <a:srgbClr val="800000"/>
                </a:solidFill>
                <a:ea typeface="Arial" pitchFamily="34" charset="0"/>
              </a:rPr>
              <a:t>6</a:t>
            </a:r>
          </a:p>
        </p:txBody>
      </p:sp>
      <p:sp>
        <p:nvSpPr>
          <p:cNvPr id="1048775" name=""/>
          <p:cNvSpPr txBox="1"/>
          <p:nvPr/>
        </p:nvSpPr>
        <p:spPr>
          <a:xfrm rot="0">
            <a:off x="1676400" y="4606925"/>
            <a:ext cx="7086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000000"/>
                </a:solidFill>
                <a:ea typeface="Arial" pitchFamily="34" charset="0"/>
              </a:rPr>
              <a:t>Pays $700 on balance related to transaction of Oct. 3.  </a:t>
            </a:r>
          </a:p>
        </p:txBody>
      </p:sp>
      <p:sp>
        <p:nvSpPr>
          <p:cNvPr id="1048776" name=""/>
          <p:cNvSpPr txBox="1"/>
          <p:nvPr/>
        </p:nvSpPr>
        <p:spPr>
          <a:xfrm rot="0">
            <a:off x="685800" y="4606925"/>
            <a:ext cx="990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45000"/>
              </a:spcBef>
            </a:pPr>
            <a:r>
              <a:rPr altLang="en-US" sz="2000" lang="en-US">
                <a:solidFill>
                  <a:srgbClr val="800000"/>
                </a:solidFill>
                <a:ea typeface="Arial" pitchFamily="34" charset="0"/>
              </a:rPr>
              <a:t>27</a:t>
            </a:r>
          </a:p>
        </p:txBody>
      </p:sp>
      <p:sp>
        <p:nvSpPr>
          <p:cNvPr id="1048777" name=""/>
          <p:cNvSpPr txBox="1"/>
          <p:nvPr/>
        </p:nvSpPr>
        <p:spPr>
          <a:xfrm rot="0">
            <a:off x="1676400" y="5064125"/>
            <a:ext cx="7086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sz="2000" lang="en-US">
                <a:solidFill>
                  <a:srgbClr val="000000"/>
                </a:solidFill>
                <a:ea typeface="Arial" pitchFamily="34" charset="0"/>
              </a:rPr>
              <a:t>Pays the administrative assistant $2,500 salary for Oct.</a:t>
            </a:r>
          </a:p>
        </p:txBody>
      </p:sp>
      <p:sp>
        <p:nvSpPr>
          <p:cNvPr id="1048778" name=""/>
          <p:cNvSpPr txBox="1"/>
          <p:nvPr/>
        </p:nvSpPr>
        <p:spPr>
          <a:xfrm rot="0">
            <a:off x="685800" y="5064125"/>
            <a:ext cx="990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lvl="0">
              <a:spcBef>
                <a:spcPct val="45000"/>
              </a:spcBef>
            </a:pPr>
            <a:r>
              <a:rPr altLang="en-US" sz="2000" lang="en-US">
                <a:solidFill>
                  <a:srgbClr val="800000"/>
                </a:solidFill>
                <a:ea typeface="Arial" pitchFamily="34" charset="0"/>
              </a:rPr>
              <a:t>30</a:t>
            </a:r>
          </a:p>
        </p:txBody>
      </p:sp>
      <p:sp>
        <p:nvSpPr>
          <p:cNvPr id="1048779" name=""/>
          <p:cNvSpPr txBox="1"/>
          <p:nvPr/>
        </p:nvSpPr>
        <p:spPr>
          <a:xfrm rot="0">
            <a:off x="685800" y="5686425"/>
            <a:ext cx="8001000" cy="425450"/>
          </a:xfrm>
          <a:prstGeom prst="rect"/>
          <a:solidFill>
            <a:srgbClr val="FFFF99"/>
          </a:solidFill>
          <a:ln w="28575" cap="flat"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70000"/>
              </a:spcBef>
            </a:pPr>
            <a:r>
              <a:rPr altLang="en-US" b="1" sz="2000" lang="en-US">
                <a:solidFill>
                  <a:srgbClr val="800000"/>
                </a:solidFill>
                <a:ea typeface="Arial" pitchFamily="34" charset="0"/>
              </a:rPr>
              <a:t>E2-5</a:t>
            </a:r>
            <a:r>
              <a:rPr altLang="en-US" sz="2000" lang="en-US">
                <a:solidFill>
                  <a:srgbClr val="FF0000"/>
                </a:solidFill>
                <a:latin typeface="Avenir-Black" pitchFamily="0" charset="0"/>
                <a:ea typeface="Arial" pitchFamily="34" charset="0"/>
              </a:rPr>
              <a:t>  </a:t>
            </a:r>
            <a:r>
              <a:rPr altLang="en-US" b="1" sz="2000" lang="en-US">
                <a:solidFill>
                  <a:srgbClr val="800000"/>
                </a:solidFill>
                <a:ea typeface="Arial" pitchFamily="34" charset="0"/>
              </a:rPr>
              <a:t>Instructions </a:t>
            </a:r>
            <a:r>
              <a:rPr altLang="en-US" sz="2000" lang="en-US">
                <a:solidFill>
                  <a:srgbClr val="000000"/>
                </a:solidFill>
                <a:ea typeface="Arial" pitchFamily="34" charset="0"/>
              </a:rPr>
              <a:t>- Journalize the transactions for E2-4.</a:t>
            </a:r>
          </a:p>
        </p:txBody>
      </p:sp>
    </p:spTree>
  </p:cSld>
  <p:clrMapOvr>
    <a:masterClrMapping/>
  </p:clrMapOvr>
  <p:transition spd="fast" advClick="1">
    <p:wipe dir="r"/>
  </p:transition>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112" name=""/>
        <p:cNvGrpSpPr/>
        <p:nvPr/>
      </p:nvGrpSpPr>
      <p:grpSpPr>
        <a:xfrm rot="0">
          <a:off x="0" y="0"/>
          <a:ext cx="0" cy="0"/>
          <a:chOff x="0" y="0"/>
          <a:chExt cx="0" cy="0"/>
        </a:xfrm>
      </p:grpSpPr>
      <p:pic>
        <p:nvPicPr>
          <p:cNvPr id="2097173" name=""/>
          <p:cNvPicPr>
            <a:picLocks/>
          </p:cNvPicPr>
          <p:nvPr/>
        </p:nvPicPr>
        <p:blipFill>
          <a:blip xmlns:r="http://schemas.openxmlformats.org/officeDocument/2006/relationships" r:embed="rId1"/>
          <a:srcRect l="0" t="0" r="0" b="0"/>
          <a:stretch>
            <a:fillRect/>
          </a:stretch>
        </p:blipFill>
        <p:spPr>
          <a:xfrm rot="0">
            <a:off x="692150" y="3282950"/>
            <a:ext cx="7731125" cy="2286000"/>
          </a:xfrm>
          <a:prstGeom prst="rect"/>
          <a:solidFill>
            <a:srgbClr val="F8EB8E"/>
          </a:solidFill>
          <a:ln>
            <a:noFill/>
          </a:ln>
        </p:spPr>
      </p:pic>
      <p:sp>
        <p:nvSpPr>
          <p:cNvPr id="104878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781" name=""/>
          <p:cNvSpPr txBox="1"/>
          <p:nvPr/>
        </p:nvSpPr>
        <p:spPr>
          <a:xfrm rot="0">
            <a:off x="3124200" y="33369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
        <p:nvSpPr>
          <p:cNvPr id="1048782"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783" name=""/>
          <p:cNvSpPr txBox="1"/>
          <p:nvPr/>
        </p:nvSpPr>
        <p:spPr>
          <a:xfrm rot="0">
            <a:off x="685800" y="1295400"/>
            <a:ext cx="8001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lang="en-US">
                <a:solidFill>
                  <a:srgbClr val="800000"/>
                </a:solidFill>
                <a:ea typeface="Arial" pitchFamily="34" charset="0"/>
              </a:rPr>
              <a:t>E2-4 (Facts) </a:t>
            </a:r>
            <a:r>
              <a:rPr altLang="en-US" lang="en-US">
                <a:solidFill>
                  <a:srgbClr val="000000"/>
                </a:solidFill>
                <a:ea typeface="Arial" pitchFamily="34" charset="0"/>
              </a:rPr>
              <a:t> Presented below is information related to Hanshew Real Estate Agency.</a:t>
            </a:r>
          </a:p>
        </p:txBody>
      </p:sp>
      <p:sp>
        <p:nvSpPr>
          <p:cNvPr id="1048784" name=""/>
          <p:cNvSpPr txBox="1"/>
          <p:nvPr/>
        </p:nvSpPr>
        <p:spPr>
          <a:xfrm rot="0">
            <a:off x="1905000" y="2286000"/>
            <a:ext cx="7086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lang="en-US">
                <a:solidFill>
                  <a:srgbClr val="000000"/>
                </a:solidFill>
                <a:ea typeface="Arial" pitchFamily="34" charset="0"/>
              </a:rPr>
              <a:t>Pete Hanshew begins business as a real estate agent with a cash investment of $15,000.</a:t>
            </a:r>
          </a:p>
        </p:txBody>
      </p:sp>
      <p:sp>
        <p:nvSpPr>
          <p:cNvPr id="1048785" name=""/>
          <p:cNvSpPr txBox="1"/>
          <p:nvPr/>
        </p:nvSpPr>
        <p:spPr>
          <a:xfrm rot="0">
            <a:off x="685800" y="2286000"/>
            <a:ext cx="11430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b="1" sz="2200" lang="en-US">
                <a:solidFill>
                  <a:srgbClr val="800000"/>
                </a:solidFill>
                <a:ea typeface="Arial" pitchFamily="34" charset="0"/>
              </a:rPr>
              <a:t>Oct. 1</a:t>
            </a:r>
          </a:p>
        </p:txBody>
      </p:sp>
    </p:spTree>
  </p:cSld>
  <p:clrMapOvr>
    <a:masterClrMapping/>
  </p:clrMapOvr>
  <p:transition spd="fast" advClick="1">
    <p:wipe dir="r"/>
  </p:transition>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113" name=""/>
        <p:cNvGrpSpPr/>
        <p:nvPr/>
      </p:nvGrpSpPr>
      <p:grpSpPr>
        <a:xfrm rot="0">
          <a:off x="0" y="0"/>
          <a:ext cx="0" cy="0"/>
          <a:chOff x="0" y="0"/>
          <a:chExt cx="0" cy="0"/>
        </a:xfrm>
      </p:grpSpPr>
      <p:pic>
        <p:nvPicPr>
          <p:cNvPr id="2097174" name=""/>
          <p:cNvPicPr>
            <a:picLocks/>
          </p:cNvPicPr>
          <p:nvPr/>
        </p:nvPicPr>
        <p:blipFill>
          <a:blip xmlns:r="http://schemas.openxmlformats.org/officeDocument/2006/relationships" r:embed="rId1"/>
          <a:srcRect l="0" t="0" r="0" b="0"/>
          <a:stretch>
            <a:fillRect/>
          </a:stretch>
        </p:blipFill>
        <p:spPr>
          <a:xfrm rot="0">
            <a:off x="1301750" y="3340100"/>
            <a:ext cx="6510337" cy="2171700"/>
          </a:xfrm>
          <a:prstGeom prst="rect"/>
          <a:solidFill>
            <a:srgbClr val="F8EB8E"/>
          </a:solidFill>
          <a:ln>
            <a:noFill/>
          </a:ln>
        </p:spPr>
      </p:pic>
      <p:sp>
        <p:nvSpPr>
          <p:cNvPr id="104878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787" name=""/>
          <p:cNvSpPr txBox="1"/>
          <p:nvPr/>
        </p:nvSpPr>
        <p:spPr>
          <a:xfrm rot="0">
            <a:off x="3124200" y="33369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
        <p:nvSpPr>
          <p:cNvPr id="1048788"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789" name=""/>
          <p:cNvSpPr txBox="1"/>
          <p:nvPr/>
        </p:nvSpPr>
        <p:spPr>
          <a:xfrm rot="0">
            <a:off x="685800" y="1295400"/>
            <a:ext cx="8001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lang="en-US">
                <a:solidFill>
                  <a:srgbClr val="800000"/>
                </a:solidFill>
                <a:ea typeface="Arial" pitchFamily="34" charset="0"/>
              </a:rPr>
              <a:t>E2-4 (Facts) </a:t>
            </a:r>
            <a:r>
              <a:rPr altLang="en-US" lang="en-US">
                <a:solidFill>
                  <a:srgbClr val="000000"/>
                </a:solidFill>
                <a:ea typeface="Arial" pitchFamily="34" charset="0"/>
              </a:rPr>
              <a:t> Presented below is information related to Hanshew Real Estate Agency.</a:t>
            </a:r>
          </a:p>
        </p:txBody>
      </p:sp>
      <p:sp>
        <p:nvSpPr>
          <p:cNvPr id="1048790" name=""/>
          <p:cNvSpPr txBox="1"/>
          <p:nvPr/>
        </p:nvSpPr>
        <p:spPr>
          <a:xfrm rot="0">
            <a:off x="1905000" y="2286000"/>
            <a:ext cx="6477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lang="en-US">
                <a:solidFill>
                  <a:srgbClr val="000000"/>
                </a:solidFill>
                <a:ea typeface="Arial" pitchFamily="34" charset="0"/>
              </a:rPr>
              <a:t>Purchases office furniture for $1,900, on account.</a:t>
            </a:r>
          </a:p>
        </p:txBody>
      </p:sp>
      <p:sp>
        <p:nvSpPr>
          <p:cNvPr id="1048791" name=""/>
          <p:cNvSpPr txBox="1"/>
          <p:nvPr/>
        </p:nvSpPr>
        <p:spPr>
          <a:xfrm rot="0">
            <a:off x="685800" y="2286000"/>
            <a:ext cx="11430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b="1" sz="2200" lang="en-US">
                <a:solidFill>
                  <a:srgbClr val="800000"/>
                </a:solidFill>
                <a:ea typeface="Arial" pitchFamily="34" charset="0"/>
              </a:rPr>
              <a:t>Oct. 3</a:t>
            </a:r>
          </a:p>
        </p:txBody>
      </p:sp>
    </p:spTree>
  </p:cSld>
  <p:clrMapOvr>
    <a:masterClrMapping/>
  </p:clrMapOvr>
  <p:transition spd="fast" advClick="1">
    <p:wipe dir="r"/>
  </p:transition>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114" name=""/>
        <p:cNvGrpSpPr/>
        <p:nvPr/>
      </p:nvGrpSpPr>
      <p:grpSpPr>
        <a:xfrm rot="0">
          <a:off x="0" y="0"/>
          <a:ext cx="0" cy="0"/>
          <a:chOff x="0" y="0"/>
          <a:chExt cx="0" cy="0"/>
        </a:xfrm>
      </p:grpSpPr>
      <p:pic>
        <p:nvPicPr>
          <p:cNvPr id="2097175" name=""/>
          <p:cNvPicPr>
            <a:picLocks/>
          </p:cNvPicPr>
          <p:nvPr/>
        </p:nvPicPr>
        <p:blipFill>
          <a:blip xmlns:r="http://schemas.openxmlformats.org/officeDocument/2006/relationships" r:embed="rId1"/>
          <a:srcRect l="0" t="0" r="0" b="0"/>
          <a:stretch>
            <a:fillRect/>
          </a:stretch>
        </p:blipFill>
        <p:spPr>
          <a:xfrm rot="0">
            <a:off x="1277937" y="3340100"/>
            <a:ext cx="6557962" cy="2171700"/>
          </a:xfrm>
          <a:prstGeom prst="rect"/>
          <a:solidFill>
            <a:srgbClr val="F8EB8E"/>
          </a:solidFill>
          <a:ln>
            <a:noFill/>
          </a:ln>
        </p:spPr>
      </p:pic>
      <p:sp>
        <p:nvSpPr>
          <p:cNvPr id="104879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793" name=""/>
          <p:cNvSpPr txBox="1"/>
          <p:nvPr/>
        </p:nvSpPr>
        <p:spPr>
          <a:xfrm rot="0">
            <a:off x="3124200" y="33369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
        <p:nvSpPr>
          <p:cNvPr id="1048794"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795" name=""/>
          <p:cNvSpPr txBox="1"/>
          <p:nvPr/>
        </p:nvSpPr>
        <p:spPr>
          <a:xfrm rot="0">
            <a:off x="685800" y="1295400"/>
            <a:ext cx="8001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lang="en-US">
                <a:solidFill>
                  <a:srgbClr val="800000"/>
                </a:solidFill>
                <a:ea typeface="Arial" pitchFamily="34" charset="0"/>
              </a:rPr>
              <a:t>E2-4 (Facts) </a:t>
            </a:r>
            <a:r>
              <a:rPr altLang="en-US" lang="en-US">
                <a:solidFill>
                  <a:srgbClr val="000000"/>
                </a:solidFill>
                <a:ea typeface="Arial" pitchFamily="34" charset="0"/>
              </a:rPr>
              <a:t> Presented below is information related to Hanshew Real Estate Agency.</a:t>
            </a:r>
          </a:p>
        </p:txBody>
      </p:sp>
      <p:sp>
        <p:nvSpPr>
          <p:cNvPr id="1048796" name=""/>
          <p:cNvSpPr txBox="1"/>
          <p:nvPr/>
        </p:nvSpPr>
        <p:spPr>
          <a:xfrm rot="0">
            <a:off x="1905000" y="2286000"/>
            <a:ext cx="7086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lang="en-US">
                <a:solidFill>
                  <a:srgbClr val="000000"/>
                </a:solidFill>
                <a:ea typeface="Arial" pitchFamily="34" charset="0"/>
              </a:rPr>
              <a:t>Sells a house and lot for B. Kidman; bills B. Kidman $3,200 for realty services provided.</a:t>
            </a:r>
          </a:p>
        </p:txBody>
      </p:sp>
      <p:sp>
        <p:nvSpPr>
          <p:cNvPr id="1048797" name=""/>
          <p:cNvSpPr txBox="1"/>
          <p:nvPr/>
        </p:nvSpPr>
        <p:spPr>
          <a:xfrm rot="0">
            <a:off x="685800" y="2286000"/>
            <a:ext cx="11430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b="1" sz="2200" lang="en-US">
                <a:solidFill>
                  <a:srgbClr val="800000"/>
                </a:solidFill>
                <a:ea typeface="Arial" pitchFamily="34" charset="0"/>
              </a:rPr>
              <a:t>Oct. 6</a:t>
            </a:r>
          </a:p>
        </p:txBody>
      </p:sp>
    </p:spTree>
  </p:cSld>
  <p:clrMapOvr>
    <a:masterClrMapping/>
  </p:clrMapOvr>
  <p:transition spd="fast" advClick="1">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115" name=""/>
        <p:cNvGrpSpPr/>
        <p:nvPr/>
      </p:nvGrpSpPr>
      <p:grpSpPr>
        <a:xfrm rot="0">
          <a:off x="0" y="0"/>
          <a:ext cx="0" cy="0"/>
          <a:chOff x="0" y="0"/>
          <a:chExt cx="0" cy="0"/>
        </a:xfrm>
      </p:grpSpPr>
      <p:pic>
        <p:nvPicPr>
          <p:cNvPr id="2097176" name=""/>
          <p:cNvPicPr>
            <a:picLocks/>
          </p:cNvPicPr>
          <p:nvPr/>
        </p:nvPicPr>
        <p:blipFill>
          <a:blip xmlns:r="http://schemas.openxmlformats.org/officeDocument/2006/relationships" r:embed="rId1"/>
          <a:srcRect l="0" t="0" r="0" b="0"/>
          <a:stretch>
            <a:fillRect/>
          </a:stretch>
        </p:blipFill>
        <p:spPr>
          <a:xfrm rot="0">
            <a:off x="1333500" y="3340100"/>
            <a:ext cx="6446837" cy="2171700"/>
          </a:xfrm>
          <a:prstGeom prst="rect"/>
          <a:solidFill>
            <a:srgbClr val="F8EB8E"/>
          </a:solidFill>
          <a:ln>
            <a:noFill/>
          </a:ln>
        </p:spPr>
      </p:pic>
      <p:sp>
        <p:nvSpPr>
          <p:cNvPr id="104879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799" name=""/>
          <p:cNvSpPr txBox="1"/>
          <p:nvPr/>
        </p:nvSpPr>
        <p:spPr>
          <a:xfrm rot="0">
            <a:off x="3124200" y="33369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
        <p:nvSpPr>
          <p:cNvPr id="1048800"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801" name=""/>
          <p:cNvSpPr txBox="1"/>
          <p:nvPr/>
        </p:nvSpPr>
        <p:spPr>
          <a:xfrm rot="0">
            <a:off x="685800" y="1295400"/>
            <a:ext cx="8001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lang="en-US">
                <a:solidFill>
                  <a:srgbClr val="800000"/>
                </a:solidFill>
                <a:ea typeface="Arial" pitchFamily="34" charset="0"/>
              </a:rPr>
              <a:t>E2-4 (Facts) </a:t>
            </a:r>
            <a:r>
              <a:rPr altLang="en-US" lang="en-US">
                <a:solidFill>
                  <a:srgbClr val="000000"/>
                </a:solidFill>
                <a:ea typeface="Arial" pitchFamily="34" charset="0"/>
              </a:rPr>
              <a:t> Presented below is information related to Hanshew Real Estate Agency.</a:t>
            </a:r>
          </a:p>
        </p:txBody>
      </p:sp>
      <p:sp>
        <p:nvSpPr>
          <p:cNvPr id="1048802" name=""/>
          <p:cNvSpPr txBox="1"/>
          <p:nvPr/>
        </p:nvSpPr>
        <p:spPr>
          <a:xfrm rot="0">
            <a:off x="1905000" y="2286000"/>
            <a:ext cx="7086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lang="en-US">
                <a:solidFill>
                  <a:srgbClr val="000000"/>
                </a:solidFill>
                <a:ea typeface="Arial" pitchFamily="34" charset="0"/>
              </a:rPr>
              <a:t>Pays $700 on balance related to transaction of Oct. 3.</a:t>
            </a:r>
          </a:p>
        </p:txBody>
      </p:sp>
      <p:sp>
        <p:nvSpPr>
          <p:cNvPr id="1048803" name=""/>
          <p:cNvSpPr txBox="1"/>
          <p:nvPr/>
        </p:nvSpPr>
        <p:spPr>
          <a:xfrm rot="0">
            <a:off x="685800" y="2286000"/>
            <a:ext cx="12954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b="1" sz="2200" lang="en-US">
                <a:solidFill>
                  <a:srgbClr val="800000"/>
                </a:solidFill>
                <a:ea typeface="Arial" pitchFamily="34" charset="0"/>
              </a:rPr>
              <a:t>Oct. 27</a:t>
            </a:r>
          </a:p>
        </p:txBody>
      </p:sp>
    </p:spTree>
  </p:cSld>
  <p:clrMapOvr>
    <a:masterClrMapping/>
  </p:clrMapOvr>
  <p:transition spd="fast" advClick="1">
    <p:wipe dir="r"/>
  </p:transition>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116" name=""/>
        <p:cNvGrpSpPr/>
        <p:nvPr/>
      </p:nvGrpSpPr>
      <p:grpSpPr>
        <a:xfrm rot="0">
          <a:off x="0" y="0"/>
          <a:ext cx="0" cy="0"/>
          <a:chOff x="0" y="0"/>
          <a:chExt cx="0" cy="0"/>
        </a:xfrm>
      </p:grpSpPr>
      <p:pic>
        <p:nvPicPr>
          <p:cNvPr id="2097177" name=""/>
          <p:cNvPicPr>
            <a:picLocks/>
          </p:cNvPicPr>
          <p:nvPr/>
        </p:nvPicPr>
        <p:blipFill>
          <a:blip xmlns:r="http://schemas.openxmlformats.org/officeDocument/2006/relationships" r:embed="rId1"/>
          <a:srcRect l="0" t="0" r="0" b="0"/>
          <a:stretch>
            <a:fillRect/>
          </a:stretch>
        </p:blipFill>
        <p:spPr>
          <a:xfrm rot="0">
            <a:off x="1333500" y="3340100"/>
            <a:ext cx="6446837" cy="2171700"/>
          </a:xfrm>
          <a:prstGeom prst="rect"/>
          <a:solidFill>
            <a:srgbClr val="F8EB8E"/>
          </a:solidFill>
          <a:ln>
            <a:noFill/>
          </a:ln>
        </p:spPr>
      </p:pic>
      <p:sp>
        <p:nvSpPr>
          <p:cNvPr id="104880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805" name=""/>
          <p:cNvSpPr txBox="1"/>
          <p:nvPr/>
        </p:nvSpPr>
        <p:spPr>
          <a:xfrm rot="0">
            <a:off x="3124200" y="33369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
        <p:nvSpPr>
          <p:cNvPr id="1048806"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sp>
        <p:nvSpPr>
          <p:cNvPr id="1048807" name=""/>
          <p:cNvSpPr txBox="1"/>
          <p:nvPr/>
        </p:nvSpPr>
        <p:spPr>
          <a:xfrm rot="0">
            <a:off x="685800" y="1295400"/>
            <a:ext cx="80010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lang="en-US">
                <a:solidFill>
                  <a:srgbClr val="800000"/>
                </a:solidFill>
                <a:ea typeface="Arial" pitchFamily="34" charset="0"/>
              </a:rPr>
              <a:t>E2-4 (Facts) </a:t>
            </a:r>
            <a:r>
              <a:rPr altLang="en-US" lang="en-US">
                <a:solidFill>
                  <a:srgbClr val="000000"/>
                </a:solidFill>
                <a:ea typeface="Arial" pitchFamily="34" charset="0"/>
              </a:rPr>
              <a:t> Presented below is information related to Hanshew Real Estate Agency.</a:t>
            </a:r>
          </a:p>
        </p:txBody>
      </p:sp>
      <p:sp>
        <p:nvSpPr>
          <p:cNvPr id="1048808" name=""/>
          <p:cNvSpPr txBox="1"/>
          <p:nvPr/>
        </p:nvSpPr>
        <p:spPr>
          <a:xfrm rot="0">
            <a:off x="1905000" y="2286000"/>
            <a:ext cx="67818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lang="en-US">
                <a:solidFill>
                  <a:srgbClr val="000000"/>
                </a:solidFill>
                <a:ea typeface="Arial" pitchFamily="34" charset="0"/>
              </a:rPr>
              <a:t>Pays the administrative assistant $2,500 salary for Oct.</a:t>
            </a:r>
          </a:p>
        </p:txBody>
      </p:sp>
      <p:sp>
        <p:nvSpPr>
          <p:cNvPr id="1048809" name=""/>
          <p:cNvSpPr txBox="1"/>
          <p:nvPr/>
        </p:nvSpPr>
        <p:spPr>
          <a:xfrm rot="0">
            <a:off x="685800" y="2286000"/>
            <a:ext cx="12954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5000"/>
              </a:spcBef>
            </a:pPr>
            <a:r>
              <a:rPr altLang="en-US" b="1" sz="2200" lang="en-US">
                <a:solidFill>
                  <a:srgbClr val="800000"/>
                </a:solidFill>
                <a:ea typeface="Arial" pitchFamily="34" charset="0"/>
              </a:rPr>
              <a:t>Oct. 30</a:t>
            </a:r>
          </a:p>
        </p:txBody>
      </p:sp>
    </p:spTree>
  </p:cSld>
  <p:clrMapOvr>
    <a:masterClrMapping/>
  </p:clrMapOvr>
  <p:transition spd="fast" advClick="1">
    <p:wipe dir="r"/>
  </p:transition>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117" name=""/>
        <p:cNvGrpSpPr/>
        <p:nvPr/>
      </p:nvGrpSpPr>
      <p:grpSpPr>
        <a:xfrm rot="0">
          <a:off x="0" y="0"/>
          <a:ext cx="0" cy="0"/>
          <a:chOff x="0" y="0"/>
          <a:chExt cx="0" cy="0"/>
        </a:xfrm>
      </p:grpSpPr>
      <p:sp>
        <p:nvSpPr>
          <p:cNvPr id="1048810" name=""/>
          <p:cNvSpPr txBox="1"/>
          <p:nvPr/>
        </p:nvSpPr>
        <p:spPr>
          <a:xfrm rot="0">
            <a:off x="685800" y="1295400"/>
            <a:ext cx="8229600" cy="10842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600" lang="en-US">
                <a:solidFill>
                  <a:srgbClr val="800000"/>
                </a:solidFill>
                <a:ea typeface="Arial" pitchFamily="34" charset="0"/>
              </a:rPr>
              <a:t>Simple Entry</a:t>
            </a:r>
            <a:r>
              <a:rPr altLang="en-US" lang="en-US">
                <a:solidFill>
                  <a:srgbClr val="000000"/>
                </a:solidFill>
                <a:ea typeface="Arial" pitchFamily="34" charset="0"/>
              </a:rPr>
              <a:t> – Two accounts, one debit and one credit.</a:t>
            </a:r>
          </a:p>
          <a:p>
            <a:pPr algn="l" lvl="0">
              <a:spcBef>
                <a:spcPct val="50000"/>
              </a:spcBef>
            </a:pPr>
            <a:r>
              <a:rPr altLang="en-US" b="1" sz="2600" lang="en-US">
                <a:solidFill>
                  <a:srgbClr val="800000"/>
                </a:solidFill>
                <a:ea typeface="Arial" pitchFamily="34" charset="0"/>
              </a:rPr>
              <a:t>Compound Entry</a:t>
            </a:r>
            <a:r>
              <a:rPr altLang="en-US" lang="en-US">
                <a:solidFill>
                  <a:srgbClr val="000000"/>
                </a:solidFill>
                <a:ea typeface="Arial" pitchFamily="34" charset="0"/>
              </a:rPr>
              <a:t> – Three or more accounts.</a:t>
            </a:r>
          </a:p>
        </p:txBody>
      </p:sp>
      <p:sp>
        <p:nvSpPr>
          <p:cNvPr id="104881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Journalizing</a:t>
            </a:r>
          </a:p>
        </p:txBody>
      </p:sp>
      <p:sp>
        <p:nvSpPr>
          <p:cNvPr id="1048812" name=""/>
          <p:cNvSpPr txBox="1"/>
          <p:nvPr/>
        </p:nvSpPr>
        <p:spPr>
          <a:xfrm rot="0">
            <a:off x="685800" y="2514600"/>
            <a:ext cx="8001000" cy="11969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05000"/>
              </a:lnSpc>
              <a:spcBef>
                <a:spcPct val="50000"/>
              </a:spcBef>
            </a:pPr>
            <a:r>
              <a:rPr altLang="en-US" b="1" sz="2300" lang="en-US">
                <a:solidFill>
                  <a:srgbClr val="800000"/>
                </a:solidFill>
                <a:ea typeface="Arial" pitchFamily="34" charset="0"/>
              </a:rPr>
              <a:t>Example</a:t>
            </a:r>
            <a:r>
              <a:rPr altLang="en-US" sz="2300" lang="en-US">
                <a:solidFill>
                  <a:srgbClr val="000000"/>
                </a:solidFill>
                <a:ea typeface="Arial" pitchFamily="34" charset="0"/>
              </a:rPr>
              <a:t> – On June 15, H. Burns, purchased equipment for $15,000 by paying cash of $10,000 and the balance on account (to be paid within 30 days). </a:t>
            </a:r>
          </a:p>
        </p:txBody>
      </p:sp>
      <p:sp>
        <p:nvSpPr>
          <p:cNvPr id="1048813" name=""/>
          <p:cNvSpPr txBox="1"/>
          <p:nvPr/>
        </p:nvSpPr>
        <p:spPr>
          <a:xfrm rot="0">
            <a:off x="1371600" y="6369050"/>
            <a:ext cx="76200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Explain what a journal is and how it helps in the recording process.</a:t>
            </a:r>
          </a:p>
        </p:txBody>
      </p:sp>
      <p:pic>
        <p:nvPicPr>
          <p:cNvPr id="2097178" name=""/>
          <p:cNvPicPr>
            <a:picLocks/>
          </p:cNvPicPr>
          <p:nvPr/>
        </p:nvPicPr>
        <p:blipFill>
          <a:blip xmlns:r="http://schemas.openxmlformats.org/officeDocument/2006/relationships" r:embed="rId1"/>
          <a:srcRect l="0" t="0" r="0" b="0"/>
          <a:stretch>
            <a:fillRect/>
          </a:stretch>
        </p:blipFill>
        <p:spPr>
          <a:xfrm rot="0">
            <a:off x="1531937" y="4013200"/>
            <a:ext cx="5807075" cy="1952625"/>
          </a:xfrm>
          <a:prstGeom prst="rect"/>
          <a:solidFill>
            <a:srgbClr val="CCECFF"/>
          </a:solidFill>
          <a:ln>
            <a:noFill/>
          </a:ln>
        </p:spPr>
      </p:pic>
      <p:sp>
        <p:nvSpPr>
          <p:cNvPr id="1048814" name=""/>
          <p:cNvSpPr txBox="1"/>
          <p:nvPr/>
        </p:nvSpPr>
        <p:spPr>
          <a:xfrm rot="0">
            <a:off x="3048000" y="3984625"/>
            <a:ext cx="27432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General Journal</a:t>
            </a:r>
          </a:p>
        </p:txBody>
      </p:sp>
    </p:spTree>
  </p:cSld>
  <p:clrMapOvr>
    <a:masterClrMapping/>
  </p:clrMapOvr>
  <p:transition spd="fast" advClick="1">
    <p:wipe dir="r"/>
  </p:transition>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118" name=""/>
        <p:cNvGrpSpPr/>
        <p:nvPr/>
      </p:nvGrpSpPr>
      <p:grpSpPr>
        <a:xfrm rot="0">
          <a:off x="0" y="0"/>
          <a:ext cx="0" cy="0"/>
          <a:chOff x="0" y="0"/>
          <a:chExt cx="0" cy="0"/>
        </a:xfrm>
      </p:grpSpPr>
      <p:sp>
        <p:nvSpPr>
          <p:cNvPr id="1048815" name=""/>
          <p:cNvSpPr txBox="1"/>
          <p:nvPr/>
        </p:nvSpPr>
        <p:spPr>
          <a:xfrm rot="0">
            <a:off x="685800" y="1371600"/>
            <a:ext cx="8001000" cy="25765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03225" lvl="0" marL="403225">
              <a:lnSpc>
                <a:spcPct val="115000"/>
              </a:lnSpc>
              <a:spcAft>
                <a:spcPct val="50000"/>
              </a:spcAft>
              <a:buSzPct val="80000"/>
              <a:buFontTx/>
              <a:buBlip>
                <a:blip xmlns:r="http://schemas.openxmlformats.org/officeDocument/2006/relationships" r:embed="rId1"/>
              </a:buBlip>
            </a:pPr>
            <a:r>
              <a:rPr altLang="en-US" b="1" sz="2600" lang="en-US"/>
              <a:t>A</a:t>
            </a:r>
            <a:r>
              <a:rPr altLang="en-US" b="1" sz="2600" lang="en-US">
                <a:solidFill>
                  <a:srgbClr val="800000"/>
                </a:solidFill>
              </a:rPr>
              <a:t> General Ledger</a:t>
            </a:r>
            <a:r>
              <a:rPr altLang="en-US" sz="2600" lang="en-US"/>
              <a:t> contains the entire group of accounts maintained by a company.  </a:t>
            </a:r>
          </a:p>
          <a:p>
            <a:pPr algn="l" indent="-403225" lvl="0" marL="403225">
              <a:lnSpc>
                <a:spcPct val="115000"/>
              </a:lnSpc>
              <a:spcAft>
                <a:spcPct val="50000"/>
              </a:spcAft>
              <a:buSzPct val="80000"/>
              <a:buFontTx/>
              <a:buBlip>
                <a:blip xmlns:r="http://schemas.openxmlformats.org/officeDocument/2006/relationships" r:embed="rId1"/>
              </a:buBlip>
            </a:pPr>
            <a:r>
              <a:rPr altLang="en-US" sz="2600" lang="en-US"/>
              <a:t>The </a:t>
            </a:r>
            <a:r>
              <a:rPr altLang="en-US" b="1" sz="2600" lang="en-US">
                <a:solidFill>
                  <a:srgbClr val="800000"/>
                </a:solidFill>
              </a:rPr>
              <a:t>General Ledger</a:t>
            </a:r>
            <a:r>
              <a:rPr altLang="en-US" sz="2600" lang="en-US"/>
              <a:t> includes all the asset, liability, owner’s equity, revenue and expense accounts. </a:t>
            </a:r>
          </a:p>
        </p:txBody>
      </p:sp>
      <p:sp>
        <p:nvSpPr>
          <p:cNvPr id="104881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Ledger</a:t>
            </a:r>
          </a:p>
        </p:txBody>
      </p:sp>
      <p:sp>
        <p:nvSpPr>
          <p:cNvPr id="1048817"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5  Explain what a ledger is and how it helps in the recording process.</a:t>
            </a:r>
          </a:p>
        </p:txBody>
      </p:sp>
    </p:spTree>
  </p:cSld>
  <p:clrMapOvr>
    <a:masterClrMapping/>
  </p:clrMapOvr>
  <p:transition spd="fast" advClick="1">
    <p:wipe dir="r"/>
  </p:transition>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121" name=""/>
        <p:cNvGrpSpPr/>
        <p:nvPr/>
      </p:nvGrpSpPr>
      <p:grpSpPr>
        <a:xfrm rot="0">
          <a:off x="0" y="0"/>
          <a:ext cx="0" cy="0"/>
          <a:chOff x="0" y="0"/>
          <a:chExt cx="0" cy="0"/>
        </a:xfrm>
      </p:grpSpPr>
      <p:sp>
        <p:nvSpPr>
          <p:cNvPr id="1048820" name=""/>
          <p:cNvSpPr txBox="1"/>
          <p:nvPr/>
        </p:nvSpPr>
        <p:spPr>
          <a:xfrm rot="0">
            <a:off x="685800" y="1219200"/>
            <a:ext cx="8001000" cy="895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buSzPct val="80000"/>
              <a:buFontTx/>
              <a:buNone/>
            </a:pPr>
            <a:r>
              <a:rPr altLang="en-US" lang="en-US">
                <a:solidFill>
                  <a:srgbClr val="000000"/>
                </a:solidFill>
              </a:rPr>
              <a:t>Accounts and account numbers arranged in sequence in which they are presented in the financial statements.</a:t>
            </a:r>
          </a:p>
        </p:txBody>
      </p:sp>
      <p:sp>
        <p:nvSpPr>
          <p:cNvPr id="104882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Chart of Accounts</a:t>
            </a:r>
          </a:p>
        </p:txBody>
      </p:sp>
      <p:sp>
        <p:nvSpPr>
          <p:cNvPr id="1048822"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Explain what posting is and how it helps in the recording process.</a:t>
            </a:r>
          </a:p>
        </p:txBody>
      </p:sp>
      <p:pic>
        <p:nvPicPr>
          <p:cNvPr id="2097179" name=""/>
          <p:cNvPicPr>
            <a:picLocks/>
          </p:cNvPicPr>
          <p:nvPr/>
        </p:nvPicPr>
        <p:blipFill>
          <a:blip xmlns:r="http://schemas.openxmlformats.org/officeDocument/2006/relationships" r:embed="rId1"/>
          <a:srcRect l="0" t="0" r="0" b="0"/>
          <a:stretch>
            <a:fillRect/>
          </a:stretch>
        </p:blipFill>
        <p:spPr>
          <a:xfrm rot="0">
            <a:off x="1143000" y="2209800"/>
            <a:ext cx="7162800" cy="4025900"/>
          </a:xfrm>
          <a:prstGeom prst="rect"/>
          <a:noFill/>
          <a:ln w="28575" cap="sq" cmpd="sng">
            <a:solidFill>
              <a:schemeClr val="dk1">
                <a:alpha val="100000"/>
              </a:schemeClr>
            </a:solidFill>
            <a:prstDash val="solid"/>
            <a:round/>
          </a:ln>
        </p:spPr>
      </p:pic>
    </p:spTree>
  </p:cSld>
  <p:clrMapOvr>
    <a:masterClrMapping/>
  </p:clrMapOvr>
  <p:transition spd="fast" advClick="1">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124" name=""/>
        <p:cNvGrpSpPr/>
        <p:nvPr/>
      </p:nvGrpSpPr>
      <p:grpSpPr>
        <a:xfrm rot="0">
          <a:off x="0" y="0"/>
          <a:ext cx="0" cy="0"/>
          <a:chOff x="0" y="0"/>
          <a:chExt cx="0" cy="0"/>
        </a:xfrm>
      </p:grpSpPr>
      <p:sp>
        <p:nvSpPr>
          <p:cNvPr id="1048825" name=""/>
          <p:cNvSpPr txBox="1"/>
          <p:nvPr/>
        </p:nvSpPr>
        <p:spPr>
          <a:xfrm rot="0">
            <a:off x="685800" y="1376362"/>
            <a:ext cx="8001000" cy="1443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buSzPct val="80000"/>
              <a:buFontTx/>
              <a:buNone/>
            </a:pPr>
            <a:r>
              <a:rPr altLang="en-US" lang="en-US">
                <a:solidFill>
                  <a:srgbClr val="000000"/>
                </a:solidFill>
              </a:rPr>
              <a:t>T-account form used in accounting textbooks.</a:t>
            </a:r>
          </a:p>
          <a:p>
            <a:pPr algn="l" lvl="0">
              <a:lnSpc>
                <a:spcPct val="120000"/>
              </a:lnSpc>
              <a:spcBef>
                <a:spcPct val="30000"/>
              </a:spcBef>
              <a:buSzPct val="80000"/>
              <a:buFontTx/>
              <a:buNone/>
            </a:pPr>
            <a:r>
              <a:rPr altLang="en-US" lang="en-US">
                <a:solidFill>
                  <a:srgbClr val="000000"/>
                </a:solidFill>
              </a:rPr>
              <a:t>In practice, the account forms used in ledgers are</a:t>
            </a:r>
          </a:p>
          <a:p>
            <a:pPr algn="l" lvl="0">
              <a:lnSpc>
                <a:spcPct val="110000"/>
              </a:lnSpc>
              <a:buSzPct val="80000"/>
              <a:buFontTx/>
              <a:buNone/>
            </a:pPr>
            <a:r>
              <a:rPr altLang="en-US" lang="en-US">
                <a:solidFill>
                  <a:srgbClr val="000000"/>
                </a:solidFill>
              </a:rPr>
              <a:t>much more structured.</a:t>
            </a:r>
          </a:p>
        </p:txBody>
      </p:sp>
      <p:sp>
        <p:nvSpPr>
          <p:cNvPr id="104882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Standard Form of Account</a:t>
            </a:r>
          </a:p>
        </p:txBody>
      </p:sp>
      <p:pic>
        <p:nvPicPr>
          <p:cNvPr id="2097180" name=""/>
          <p:cNvPicPr>
            <a:picLocks/>
          </p:cNvPicPr>
          <p:nvPr/>
        </p:nvPicPr>
        <p:blipFill>
          <a:blip xmlns:r="http://schemas.openxmlformats.org/officeDocument/2006/relationships" r:embed="rId1"/>
          <a:srcRect l="0" t="0" r="0" b="0"/>
          <a:stretch>
            <a:fillRect/>
          </a:stretch>
        </p:blipFill>
        <p:spPr>
          <a:xfrm rot="0">
            <a:off x="692150" y="3186112"/>
            <a:ext cx="7800975" cy="1468437"/>
          </a:xfrm>
          <a:prstGeom prst="rect"/>
          <a:noFill/>
          <a:ln>
            <a:noFill/>
          </a:ln>
        </p:spPr>
      </p:pic>
      <p:sp>
        <p:nvSpPr>
          <p:cNvPr id="1048827"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5  Explain what a ledger is and how it helps in the recording process.</a:t>
            </a:r>
          </a:p>
        </p:txBody>
      </p:sp>
    </p:spTree>
  </p:cSld>
  <p:clrMapOvr>
    <a:masterClrMapping/>
  </p:clrMapOvr>
  <p:transition spd="fast" advClick="1">
    <p:wipe dir="r"/>
  </p:transition>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127" name=""/>
        <p:cNvGrpSpPr/>
        <p:nvPr/>
      </p:nvGrpSpPr>
      <p:grpSpPr>
        <a:xfrm rot="0">
          <a:off x="0" y="0"/>
          <a:ext cx="0" cy="0"/>
          <a:chOff x="0" y="0"/>
          <a:chExt cx="0" cy="0"/>
        </a:xfrm>
      </p:grpSpPr>
      <p:sp>
        <p:nvSpPr>
          <p:cNvPr id="1048830" name=""/>
          <p:cNvSpPr/>
          <p:nvPr/>
        </p:nvSpPr>
        <p:spPr>
          <a:xfrm rot="0">
            <a:off x="685800" y="6248400"/>
            <a:ext cx="1905000" cy="457200"/>
          </a:xfrm>
          <a:prstGeom prst="rect"/>
          <a:noFill/>
          <a:ln>
            <a:noFill/>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31" name=""/>
          <p:cNvSpPr/>
          <p:nvPr/>
        </p:nvSpPr>
        <p:spPr>
          <a:xfrm rot="0">
            <a:off x="3124200" y="6248400"/>
            <a:ext cx="2895600" cy="457200"/>
          </a:xfrm>
          <a:prstGeom prst="rect"/>
          <a:noFill/>
          <a:ln>
            <a:noFill/>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32" name=""/>
          <p:cNvSpPr txBox="1"/>
          <p:nvPr/>
        </p:nvSpPr>
        <p:spPr>
          <a:xfrm rot="0">
            <a:off x="685800" y="1187450"/>
            <a:ext cx="8001000" cy="7937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300" lang="en-US">
                <a:solidFill>
                  <a:srgbClr val="000066"/>
                </a:solidFill>
                <a:effectLst>
                  <a:outerShdw algn="tl" blurRad="38100" dir="2700000" dist="38100">
                    <a:srgbClr val="C0C0C0"/>
                  </a:outerShdw>
                </a:effectLst>
                <a:ea typeface="Arial" pitchFamily="34" charset="0"/>
              </a:rPr>
              <a:t>Posting </a:t>
            </a:r>
            <a:r>
              <a:rPr altLang="en-US" sz="2300" lang="en-US">
                <a:ea typeface="Arial" pitchFamily="34" charset="0"/>
              </a:rPr>
              <a:t>– the process of transferring amounts from the journal to the ledger accounts. </a:t>
            </a:r>
          </a:p>
        </p:txBody>
      </p:sp>
      <p:pic>
        <p:nvPicPr>
          <p:cNvPr id="2097181" name=""/>
          <p:cNvPicPr>
            <a:picLocks/>
          </p:cNvPicPr>
          <p:nvPr/>
        </p:nvPicPr>
        <p:blipFill>
          <a:blip xmlns:r="http://schemas.openxmlformats.org/officeDocument/2006/relationships" r:embed="rId1"/>
          <a:srcRect l="0" t="0" r="0" b="0"/>
          <a:stretch>
            <a:fillRect/>
          </a:stretch>
        </p:blipFill>
        <p:spPr>
          <a:xfrm rot="0">
            <a:off x="685800" y="4114800"/>
            <a:ext cx="7467600" cy="1905000"/>
          </a:xfrm>
          <a:prstGeom prst="rect"/>
          <a:noFill/>
          <a:ln>
            <a:noFill/>
          </a:ln>
        </p:spPr>
      </p:pic>
      <p:sp>
        <p:nvSpPr>
          <p:cNvPr id="1048833" name=""/>
          <p:cNvSpPr txBox="1"/>
          <p:nvPr/>
        </p:nvSpPr>
        <p:spPr>
          <a:xfrm rot="0">
            <a:off x="3200400" y="4114800"/>
            <a:ext cx="1905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800" lang="en-US"/>
              <a:t>General Ledger</a:t>
            </a:r>
          </a:p>
        </p:txBody>
      </p:sp>
      <p:pic>
        <p:nvPicPr>
          <p:cNvPr id="2097182" name=""/>
          <p:cNvPicPr>
            <a:picLocks/>
          </p:cNvPicPr>
          <p:nvPr/>
        </p:nvPicPr>
        <p:blipFill>
          <a:blip xmlns:r="http://schemas.openxmlformats.org/officeDocument/2006/relationships" r:embed="rId2"/>
          <a:srcRect l="0" t="0" r="0" b="0"/>
          <a:stretch>
            <a:fillRect/>
          </a:stretch>
        </p:blipFill>
        <p:spPr>
          <a:xfrm rot="0">
            <a:off x="685800" y="2133600"/>
            <a:ext cx="6400800" cy="1752600"/>
          </a:xfrm>
          <a:prstGeom prst="rect"/>
          <a:noFill/>
          <a:ln>
            <a:noFill/>
          </a:ln>
        </p:spPr>
      </p:pic>
      <p:sp>
        <p:nvSpPr>
          <p:cNvPr id="1048834" name=""/>
          <p:cNvSpPr txBox="1"/>
          <p:nvPr/>
        </p:nvSpPr>
        <p:spPr>
          <a:xfrm rot="0">
            <a:off x="2819400" y="2209800"/>
            <a:ext cx="21336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800" lang="en-US"/>
              <a:t>General Journal</a:t>
            </a:r>
          </a:p>
        </p:txBody>
      </p:sp>
      <p:sp>
        <p:nvSpPr>
          <p:cNvPr id="1048835" name=""/>
          <p:cNvSpPr txBox="1"/>
          <p:nvPr/>
        </p:nvSpPr>
        <p:spPr>
          <a:xfrm rot="0">
            <a:off x="838200" y="5105400"/>
            <a:ext cx="9906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lang="en-US">
                <a:solidFill>
                  <a:srgbClr val="800000"/>
                </a:solidFill>
              </a:rPr>
              <a:t>Oct. 1</a:t>
            </a:r>
          </a:p>
        </p:txBody>
      </p:sp>
      <p:sp>
        <p:nvSpPr>
          <p:cNvPr id="1048836" name=""/>
          <p:cNvSpPr txBox="1"/>
          <p:nvPr/>
        </p:nvSpPr>
        <p:spPr>
          <a:xfrm rot="0">
            <a:off x="4038600" y="5105400"/>
            <a:ext cx="6096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600" lang="en-US">
                <a:solidFill>
                  <a:srgbClr val="800000"/>
                </a:solidFill>
              </a:rPr>
              <a:t>J1</a:t>
            </a:r>
          </a:p>
        </p:txBody>
      </p:sp>
      <p:sp>
        <p:nvSpPr>
          <p:cNvPr id="1048837" name=""/>
          <p:cNvSpPr txBox="1"/>
          <p:nvPr/>
        </p:nvSpPr>
        <p:spPr>
          <a:xfrm rot="0">
            <a:off x="4800600" y="5105400"/>
            <a:ext cx="11430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600" lang="en-US">
                <a:solidFill>
                  <a:srgbClr val="800000"/>
                </a:solidFill>
              </a:rPr>
              <a:t>15,000</a:t>
            </a:r>
          </a:p>
        </p:txBody>
      </p:sp>
      <p:sp>
        <p:nvSpPr>
          <p:cNvPr id="1048838" name=""/>
          <p:cNvSpPr txBox="1"/>
          <p:nvPr/>
        </p:nvSpPr>
        <p:spPr>
          <a:xfrm rot="0">
            <a:off x="6934200" y="5105400"/>
            <a:ext cx="11430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1600" lang="en-US">
                <a:solidFill>
                  <a:srgbClr val="800000"/>
                </a:solidFill>
              </a:rPr>
              <a:t>15,000</a:t>
            </a:r>
          </a:p>
        </p:txBody>
      </p:sp>
      <p:sp>
        <p:nvSpPr>
          <p:cNvPr id="1048839" name=""/>
          <p:cNvSpPr txBox="1"/>
          <p:nvPr/>
        </p:nvSpPr>
        <p:spPr>
          <a:xfrm rot="0">
            <a:off x="4114800" y="3001962"/>
            <a:ext cx="609600" cy="2746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80000"/>
              </a:lnSpc>
              <a:spcBef>
                <a:spcPct val="30000"/>
              </a:spcBef>
            </a:pPr>
            <a:r>
              <a:rPr altLang="en-US" b="1" sz="1500" lang="en-US">
                <a:solidFill>
                  <a:srgbClr val="800000"/>
                </a:solidFill>
              </a:rPr>
              <a:t>101</a:t>
            </a:r>
          </a:p>
        </p:txBody>
      </p:sp>
      <p:sp>
        <p:nvSpPr>
          <p:cNvPr id="1048840" name=""/>
          <p:cNvSpPr txBox="1"/>
          <p:nvPr/>
        </p:nvSpPr>
        <p:spPr>
          <a:xfrm rot="0">
            <a:off x="6172200" y="2254250"/>
            <a:ext cx="762000" cy="3365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lang="en-US"/>
              <a:t>J1</a:t>
            </a:r>
          </a:p>
        </p:txBody>
      </p:sp>
      <p:sp>
        <p:nvSpPr>
          <p:cNvPr id="1048841" name=""/>
          <p:cNvSpPr/>
          <p:nvPr/>
        </p:nvSpPr>
        <p:spPr>
          <a:xfrm rot="0" flipH="1">
            <a:off x="5257800" y="3276600"/>
            <a:ext cx="76200" cy="1447800"/>
          </a:xfrm>
          <a:prstGeom prst="line"/>
          <a:noFill/>
          <a:ln w="38100" cap="sq" cmpd="sng">
            <a:solidFill>
              <a:srgbClr val="990033">
                <a:alpha val="100000"/>
              </a:srgbClr>
            </a:solidFill>
            <a:prstDash val="solid"/>
            <a:round/>
            <a:tailEnd type="triangle" w="sm" len="sm"/>
          </a:ln>
        </p:spPr>
      </p:sp>
      <p:sp>
        <p:nvSpPr>
          <p:cNvPr id="104884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Posting</a:t>
            </a:r>
          </a:p>
        </p:txBody>
      </p:sp>
      <p:sp>
        <p:nvSpPr>
          <p:cNvPr id="1048843"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Explain what posting is and how it helps in the recording process.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35"/>
                                        </p:tgtEl>
                                        <p:attrNameLst>
                                          <p:attrName>style.visibility</p:attrName>
                                        </p:attrNameLst>
                                      </p:cBhvr>
                                      <p:to>
                                        <p:strVal val="visible"/>
                                      </p:to>
                                    </p:set>
                                    <p:animEffect transition="in" filter="wipe(left)">
                                      <p:cBhvr>
                                        <p:cTn dur="500" id="7"/>
                                        <p:tgtEl>
                                          <p:spTgt spid="104883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836"/>
                                        </p:tgtEl>
                                        <p:attrNameLst>
                                          <p:attrName>style.visibility</p:attrName>
                                        </p:attrNameLst>
                                      </p:cBhvr>
                                      <p:to>
                                        <p:strVal val="visible"/>
                                      </p:to>
                                    </p:set>
                                    <p:animEffect transition="in" filter="wipe(left)">
                                      <p:cBhvr>
                                        <p:cTn dur="500" id="12"/>
                                        <p:tgtEl>
                                          <p:spTgt spid="1048836"/>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22" presetSubtype="1">
                                  <p:stCondLst>
                                    <p:cond delay="0"/>
                                  </p:stCondLst>
                                  <p:childTnLst>
                                    <p:set>
                                      <p:cBhvr>
                                        <p:cTn dur="1" fill="hold" id="16">
                                          <p:stCondLst>
                                            <p:cond delay="0"/>
                                          </p:stCondLst>
                                        </p:cTn>
                                        <p:tgtEl>
                                          <p:spTgt spid="1048841"/>
                                        </p:tgtEl>
                                        <p:attrNameLst>
                                          <p:attrName>style.visibility</p:attrName>
                                        </p:attrNameLst>
                                      </p:cBhvr>
                                      <p:to>
                                        <p:strVal val="visible"/>
                                      </p:to>
                                    </p:set>
                                    <p:animEffect transition="in" filter="wipe(up)">
                                      <p:cBhvr>
                                        <p:cTn dur="500" id="17"/>
                                        <p:tgtEl>
                                          <p:spTgt spid="1048841"/>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22" presetSubtype="8">
                                  <p:stCondLst>
                                    <p:cond delay="0"/>
                                  </p:stCondLst>
                                  <p:childTnLst>
                                    <p:set>
                                      <p:cBhvr>
                                        <p:cTn dur="1" fill="hold" id="21">
                                          <p:stCondLst>
                                            <p:cond delay="0"/>
                                          </p:stCondLst>
                                        </p:cTn>
                                        <p:tgtEl>
                                          <p:spTgt spid="1048837"/>
                                        </p:tgtEl>
                                        <p:attrNameLst>
                                          <p:attrName>style.visibility</p:attrName>
                                        </p:attrNameLst>
                                      </p:cBhvr>
                                      <p:to>
                                        <p:strVal val="visible"/>
                                      </p:to>
                                    </p:set>
                                    <p:animEffect transition="in" filter="wipe(left)">
                                      <p:cBhvr>
                                        <p:cTn dur="500" id="22"/>
                                        <p:tgtEl>
                                          <p:spTgt spid="1048837"/>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22" presetSubtype="8">
                                  <p:stCondLst>
                                    <p:cond delay="0"/>
                                  </p:stCondLst>
                                  <p:childTnLst>
                                    <p:set>
                                      <p:cBhvr>
                                        <p:cTn dur="1" fill="hold" id="26">
                                          <p:stCondLst>
                                            <p:cond delay="0"/>
                                          </p:stCondLst>
                                        </p:cTn>
                                        <p:tgtEl>
                                          <p:spTgt spid="1048838"/>
                                        </p:tgtEl>
                                        <p:attrNameLst>
                                          <p:attrName>style.visibility</p:attrName>
                                        </p:attrNameLst>
                                      </p:cBhvr>
                                      <p:to>
                                        <p:strVal val="visible"/>
                                      </p:to>
                                    </p:set>
                                    <p:animEffect transition="in" filter="wipe(left)">
                                      <p:cBhvr>
                                        <p:cTn dur="500" id="27"/>
                                        <p:tgtEl>
                                          <p:spTgt spid="1048838"/>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22" presetSubtype="8">
                                  <p:stCondLst>
                                    <p:cond delay="0"/>
                                  </p:stCondLst>
                                  <p:childTnLst>
                                    <p:set>
                                      <p:cBhvr>
                                        <p:cTn dur="1" fill="hold" id="31">
                                          <p:stCondLst>
                                            <p:cond delay="0"/>
                                          </p:stCondLst>
                                        </p:cTn>
                                        <p:tgtEl>
                                          <p:spTgt spid="1048839"/>
                                        </p:tgtEl>
                                        <p:attrNameLst>
                                          <p:attrName>style.visibility</p:attrName>
                                        </p:attrNameLst>
                                      </p:cBhvr>
                                      <p:to>
                                        <p:strVal val="visible"/>
                                      </p:to>
                                    </p:set>
                                    <p:animEffect transition="in" filter="wipe(left)">
                                      <p:cBhvr>
                                        <p:cTn dur="500" id="32"/>
                                        <p:tgtEl>
                                          <p:spTgt spid="1048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35" grpId="0" uiExpand="0" build="whole"/>
      <p:bldP spid="1048836" grpId="0" uiExpand="0" build="whole"/>
      <p:bldP spid="1048837" grpId="0" uiExpand="0" build="whole"/>
      <p:bldP spid="1048838" grpId="0" uiExpand="0" build="whole"/>
      <p:bldP spid="1048839" grpId="0" uiExpand="0" build="whole"/>
    </p:bldLst>
  </p:timing>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128" name=""/>
        <p:cNvGrpSpPr/>
        <p:nvPr/>
      </p:nvGrpSpPr>
      <p:grpSpPr>
        <a:xfrm rot="0">
          <a:off x="0" y="0"/>
          <a:ext cx="0" cy="0"/>
          <a:chOff x="0" y="0"/>
          <a:chExt cx="0" cy="0"/>
        </a:xfrm>
      </p:grpSpPr>
      <p:sp>
        <p:nvSpPr>
          <p:cNvPr id="1048844" name=""/>
          <p:cNvSpPr/>
          <p:nvPr/>
        </p:nvSpPr>
        <p:spPr>
          <a:xfrm rot="0">
            <a:off x="838200" y="1981200"/>
            <a:ext cx="8001000" cy="3276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t>Posting:</a:t>
            </a:r>
          </a:p>
          <a:p>
            <a:pPr algn="l" indent="-388937" lvl="1" marL="623887">
              <a:spcBef>
                <a:spcPct val="40000"/>
              </a:spcBef>
              <a:buClr>
                <a:schemeClr val="dk1"/>
              </a:buClr>
              <a:buSzPct val="95000"/>
              <a:buFont typeface="Wingdings" pitchFamily="2" charset="2"/>
              <a:buAutoNum type="alphaLcPeriod" startAt="1"/>
            </a:pPr>
            <a:r>
              <a:rPr altLang="en-US" sz="2600" lang="en-US"/>
              <a:t>normally occurs before journalizing.</a:t>
            </a:r>
          </a:p>
          <a:p>
            <a:pPr algn="l" indent="-388937" lvl="1" marL="623887">
              <a:spcBef>
                <a:spcPct val="40000"/>
              </a:spcBef>
              <a:buClr>
                <a:schemeClr val="dk1"/>
              </a:buClr>
              <a:buSzPct val="95000"/>
              <a:buFont typeface="Wingdings" pitchFamily="2" charset="2"/>
              <a:buAutoNum type="alphaLcPeriod" startAt="1"/>
            </a:pPr>
            <a:r>
              <a:rPr altLang="en-US" sz="2600" lang="en-US"/>
              <a:t>transfers ledger transaction data to the journal.</a:t>
            </a:r>
          </a:p>
          <a:p>
            <a:pPr algn="l" indent="-388937" lvl="1" marL="623887">
              <a:spcBef>
                <a:spcPct val="40000"/>
              </a:spcBef>
              <a:buClr>
                <a:schemeClr val="dk1"/>
              </a:buClr>
              <a:buSzPct val="95000"/>
              <a:buFont typeface="Wingdings" pitchFamily="2" charset="2"/>
              <a:buAutoNum type="alphaLcPeriod" startAt="1"/>
            </a:pPr>
            <a:r>
              <a:rPr altLang="en-US" sz="2600" lang="en-US"/>
              <a:t>is an optional step in the recording process.</a:t>
            </a:r>
          </a:p>
          <a:p>
            <a:pPr algn="l" indent="-388937" lvl="1" marL="623887">
              <a:spcBef>
                <a:spcPct val="40000"/>
              </a:spcBef>
              <a:buClr>
                <a:schemeClr val="dk1"/>
              </a:buClr>
              <a:buSzPct val="95000"/>
              <a:buFont typeface="Wingdings" pitchFamily="2" charset="2"/>
              <a:buAutoNum type="alphaLcPeriod" startAt="1"/>
            </a:pPr>
            <a:r>
              <a:rPr altLang="en-US" sz="2600" lang="en-US"/>
              <a:t>transfers journal entries to ledger accounts.</a:t>
            </a:r>
          </a:p>
        </p:txBody>
      </p:sp>
      <p:sp>
        <p:nvSpPr>
          <p:cNvPr id="1048845" name=""/>
          <p:cNvSpPr/>
          <p:nvPr/>
        </p:nvSpPr>
        <p:spPr>
          <a:xfrm rot="0">
            <a:off x="1143000" y="4648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46"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84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Posting</a:t>
            </a:r>
          </a:p>
        </p:txBody>
      </p:sp>
      <p:sp>
        <p:nvSpPr>
          <p:cNvPr id="1048848"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Explain what posting is and how it helps in the recording process.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45"/>
                                        </p:tgtEl>
                                        <p:attrNameLst>
                                          <p:attrName>style.visibility</p:attrName>
                                        </p:attrNameLst>
                                      </p:cBhvr>
                                      <p:to>
                                        <p:strVal val="visible"/>
                                      </p:to>
                                    </p:set>
                                    <p:animEffect transition="in" filter="wipe(left)">
                                      <p:cBhvr>
                                        <p:cTn dur="500" id="7"/>
                                        <p:tgtEl>
                                          <p:spTgt spid="1048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45" grpId="0" uiExpand="0" build="whole"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131" name=""/>
        <p:cNvGrpSpPr/>
        <p:nvPr/>
      </p:nvGrpSpPr>
      <p:grpSpPr>
        <a:xfrm rot="0">
          <a:off x="0" y="0"/>
          <a:ext cx="0" cy="0"/>
          <a:chOff x="0" y="0"/>
          <a:chExt cx="0" cy="0"/>
        </a:xfrm>
      </p:grpSpPr>
      <p:sp>
        <p:nvSpPr>
          <p:cNvPr id="1048851" name=""/>
          <p:cNvSpPr/>
          <p:nvPr/>
        </p:nvSpPr>
        <p:spPr>
          <a:xfrm rot="0">
            <a:off x="685800" y="6248400"/>
            <a:ext cx="1905000" cy="457200"/>
          </a:xfrm>
          <a:prstGeom prst="rect"/>
          <a:noFill/>
          <a:ln>
            <a:noFill/>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52" name=""/>
          <p:cNvSpPr/>
          <p:nvPr/>
        </p:nvSpPr>
        <p:spPr>
          <a:xfrm rot="0">
            <a:off x="3124200" y="6248400"/>
            <a:ext cx="2895600" cy="457200"/>
          </a:xfrm>
          <a:prstGeom prst="rect"/>
          <a:noFill/>
          <a:ln>
            <a:noFill/>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5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Recording Process Illustrated</a:t>
            </a:r>
          </a:p>
        </p:txBody>
      </p:sp>
      <p:sp>
        <p:nvSpPr>
          <p:cNvPr id="1048854"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Explain what posting is and how it helps in the recording process.</a:t>
            </a:r>
          </a:p>
        </p:txBody>
      </p:sp>
      <p:pic>
        <p:nvPicPr>
          <p:cNvPr id="2097183" name=""/>
          <p:cNvPicPr>
            <a:picLocks/>
          </p:cNvPicPr>
          <p:nvPr/>
        </p:nvPicPr>
        <p:blipFill>
          <a:blip xmlns:r="http://schemas.openxmlformats.org/officeDocument/2006/relationships" r:embed="rId1"/>
          <a:srcRect l="0" t="0" r="0" b="0"/>
          <a:stretch>
            <a:fillRect/>
          </a:stretch>
        </p:blipFill>
        <p:spPr>
          <a:xfrm rot="0">
            <a:off x="2890837" y="1409700"/>
            <a:ext cx="5872162" cy="4914900"/>
          </a:xfrm>
          <a:prstGeom prst="rect"/>
          <a:noFill/>
          <a:ln w="28575" cap="sq" cmpd="sng">
            <a:solidFill>
              <a:schemeClr val="dk1">
                <a:alpha val="100000"/>
              </a:schemeClr>
            </a:solidFill>
            <a:prstDash val="solid"/>
            <a:round/>
          </a:ln>
        </p:spPr>
      </p:pic>
      <p:sp>
        <p:nvSpPr>
          <p:cNvPr id="1048855" name=""/>
          <p:cNvSpPr/>
          <p:nvPr/>
        </p:nvSpPr>
        <p:spPr>
          <a:xfrm rot="0">
            <a:off x="228600" y="1279525"/>
            <a:ext cx="2514600" cy="4816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44487" lvl="0" marL="344487">
              <a:spcBef>
                <a:spcPct val="50000"/>
              </a:spcBef>
            </a:pPr>
            <a:r>
              <a:rPr altLang="en-US" sz="2000" lang="en-US"/>
              <a:t>Follow these steps:</a:t>
            </a:r>
          </a:p>
          <a:p>
            <a:pPr algn="l" indent="-344487" lvl="0" marL="344487">
              <a:spcBef>
                <a:spcPct val="50000"/>
              </a:spcBef>
            </a:pPr>
            <a:r>
              <a:rPr altLang="en-US" sz="2000" lang="en-US"/>
              <a:t>1. 	Determine what type of account is involved.</a:t>
            </a:r>
          </a:p>
          <a:p>
            <a:pPr algn="l" indent="-344487" lvl="0" marL="344487">
              <a:spcBef>
                <a:spcPct val="50000"/>
              </a:spcBef>
            </a:pPr>
            <a:r>
              <a:rPr altLang="en-US" sz="2000" lang="en-US"/>
              <a:t>2. 	Determine what items increased or decreased and by how much.</a:t>
            </a:r>
          </a:p>
          <a:p>
            <a:pPr algn="l" indent="-344487" lvl="0" marL="344487">
              <a:spcBef>
                <a:spcPct val="50000"/>
              </a:spcBef>
            </a:pPr>
            <a:r>
              <a:rPr altLang="en-US" sz="2000" lang="en-US"/>
              <a:t>3. 	Translate the increases and decreases into debits and credits.</a:t>
            </a:r>
          </a:p>
        </p:txBody>
      </p:sp>
      <p:sp>
        <p:nvSpPr>
          <p:cNvPr id="1048856" name=""/>
          <p:cNvSpPr txBox="1"/>
          <p:nvPr/>
        </p:nvSpPr>
        <p:spPr>
          <a:xfrm rot="0">
            <a:off x="7162800" y="1144587"/>
            <a:ext cx="15240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b="1" sz="1200" lang="en-US"/>
              <a:t>Illustration 2-19</a:t>
            </a:r>
          </a:p>
        </p:txBody>
      </p:sp>
    </p:spTree>
  </p:cSld>
  <p:clrMapOvr>
    <a:masterClrMapping/>
  </p:clrMapOvr>
  <p:transition spd="fast" advClick="1">
    <p:wipe dir="r"/>
  </p:transition>
</p:sld>
</file>

<file path=ppt/slides/slide32.xml><?xml version="1.0" encoding="utf-8"?>
<p:sld xmlns:a="http://schemas.openxmlformats.org/drawingml/2006/main" xmlns:r="http://schemas.openxmlformats.org/officeDocument/2006/relationships" xmlns:p="http://schemas.openxmlformats.org/presentationml/2006/main" showMasterSp="1">
  <p:cSld>
    <p:spTree>
      <p:nvGrpSpPr>
        <p:cNvPr id="132" name=""/>
        <p:cNvGrpSpPr/>
        <p:nvPr/>
      </p:nvGrpSpPr>
      <p:grpSpPr>
        <a:xfrm rot="0">
          <a:off x="0" y="0"/>
          <a:ext cx="0" cy="0"/>
          <a:chOff x="0" y="0"/>
          <a:chExt cx="0" cy="0"/>
        </a:xfrm>
      </p:grpSpPr>
      <p:sp>
        <p:nvSpPr>
          <p:cNvPr id="1048857" name=""/>
          <p:cNvSpPr txBox="1"/>
          <p:nvPr/>
        </p:nvSpPr>
        <p:spPr>
          <a:xfrm rot="0">
            <a:off x="457200" y="1550987"/>
            <a:ext cx="3200400" cy="34020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03225" lvl="0" marL="403225">
              <a:lnSpc>
                <a:spcPct val="115000"/>
              </a:lnSpc>
              <a:spcAft>
                <a:spcPct val="50000"/>
              </a:spcAft>
              <a:buSzPct val="80000"/>
              <a:buFontTx/>
              <a:buBlip>
                <a:blip xmlns:r="http://schemas.openxmlformats.org/officeDocument/2006/relationships" r:embed="rId1"/>
              </a:buBlip>
            </a:pPr>
            <a:r>
              <a:rPr altLang="en-US" lang="en-US">
                <a:solidFill>
                  <a:srgbClr val="000000"/>
                </a:solidFill>
              </a:rPr>
              <a:t>A list of accounts and their balances at a given time.</a:t>
            </a:r>
          </a:p>
          <a:p>
            <a:pPr algn="l" indent="-403225" lvl="0" marL="403225">
              <a:lnSpc>
                <a:spcPct val="115000"/>
              </a:lnSpc>
              <a:spcAft>
                <a:spcPct val="50000"/>
              </a:spcAft>
              <a:buSzPct val="80000"/>
              <a:buFontTx/>
              <a:buBlip>
                <a:blip xmlns:r="http://schemas.openxmlformats.org/officeDocument/2006/relationships" r:embed="rId1"/>
              </a:buBlip>
            </a:pPr>
            <a:r>
              <a:rPr altLang="en-US" lang="en-US"/>
              <a:t>Purpose is to prove that debits equal credits.</a:t>
            </a:r>
          </a:p>
          <a:p>
            <a:pPr algn="l" indent="-403225" lvl="0" marL="403225">
              <a:lnSpc>
                <a:spcPct val="115000"/>
              </a:lnSpc>
              <a:spcAft>
                <a:spcPct val="50000"/>
              </a:spcAft>
              <a:buSzPct val="80000"/>
              <a:buFontTx/>
              <a:buNone/>
            </a:pPr>
            <a:endParaRPr altLang="en-US" lang="en-US"/>
          </a:p>
        </p:txBody>
      </p:sp>
      <p:sp>
        <p:nvSpPr>
          <p:cNvPr id="104885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Trial Balance</a:t>
            </a:r>
          </a:p>
        </p:txBody>
      </p:sp>
      <p:sp>
        <p:nvSpPr>
          <p:cNvPr id="1048859" name=""/>
          <p:cNvSpPr txBox="1"/>
          <p:nvPr/>
        </p:nvSpPr>
        <p:spPr>
          <a:xfrm rot="0">
            <a:off x="1295400" y="6369050"/>
            <a:ext cx="7696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7  Prepare a trial balance and explain its purposes.</a:t>
            </a:r>
          </a:p>
        </p:txBody>
      </p:sp>
      <p:sp>
        <p:nvSpPr>
          <p:cNvPr id="1048860" name=""/>
          <p:cNvSpPr/>
          <p:nvPr/>
        </p:nvSpPr>
        <p:spPr>
          <a:xfrm rot="0">
            <a:off x="5014912" y="6315075"/>
            <a:ext cx="273050" cy="336550"/>
          </a:xfrm>
          <a:prstGeom prst="rect"/>
          <a:noFill/>
          <a:ln>
            <a:noFill/>
          </a:ln>
        </p:spPr>
        <p:txBody>
          <a:bodyPr bIns="45720" lIns="91440" rIns="91440" tIns="45720" wrap="none">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b="1" sz="1600" i="1" lang="en-US">
                <a:solidFill>
                  <a:schemeClr val="dk2"/>
                </a:solidFill>
                <a:effectLst>
                  <a:outerShdw algn="tl" blurRad="38100" dir="2700000" dist="38100">
                    <a:srgbClr val="C0C0C0"/>
                  </a:outerShdw>
                </a:effectLst>
              </a:rPr>
              <a:t> </a:t>
            </a:r>
          </a:p>
        </p:txBody>
      </p:sp>
      <p:pic>
        <p:nvPicPr>
          <p:cNvPr id="2097184" name=""/>
          <p:cNvPicPr>
            <a:picLocks/>
          </p:cNvPicPr>
          <p:nvPr/>
        </p:nvPicPr>
        <p:blipFill>
          <a:blip xmlns:r="http://schemas.openxmlformats.org/officeDocument/2006/relationships" r:embed="rId2"/>
          <a:srcRect l="0" t="0" r="0" b="0"/>
          <a:stretch>
            <a:fillRect/>
          </a:stretch>
        </p:blipFill>
        <p:spPr>
          <a:xfrm rot="0">
            <a:off x="3937000" y="1524000"/>
            <a:ext cx="4914900" cy="3613150"/>
          </a:xfrm>
          <a:prstGeom prst="rect"/>
          <a:noFill/>
          <a:ln w="28575" cap="sq" cmpd="sng">
            <a:solidFill>
              <a:schemeClr val="dk1">
                <a:alpha val="100000"/>
              </a:schemeClr>
            </a:solidFill>
            <a:prstDash val="solid"/>
            <a:round/>
          </a:ln>
        </p:spPr>
      </p:pic>
    </p:spTree>
  </p:cSld>
  <p:clrMapOvr>
    <a:masterClrMapping/>
  </p:clrMapOvr>
  <p:transition spd="fast" advClick="1">
    <p:wipe dir="r"/>
  </p:transition>
</p:sld>
</file>

<file path=ppt/slides/slide33.xml><?xml version="1.0" encoding="utf-8"?>
<p:sld xmlns:a="http://schemas.openxmlformats.org/drawingml/2006/main" xmlns:r="http://schemas.openxmlformats.org/officeDocument/2006/relationships" xmlns:p="http://schemas.openxmlformats.org/presentationml/2006/main" showMasterSp="1">
  <p:cSld>
    <p:spTree>
      <p:nvGrpSpPr>
        <p:cNvPr id="60" name=""/>
        <p:cNvGrpSpPr/>
        <p:nvPr/>
      </p:nvGrpSpPr>
      <p:grpSpPr>
        <a:xfrm rot="0">
          <a:off x="0" y="0"/>
          <a:ext cx="0" cy="0"/>
          <a:chOff x="0" y="0"/>
          <a:chExt cx="0" cy="0"/>
        </a:xfrm>
      </p:grpSpPr>
      <p:sp>
        <p:nvSpPr>
          <p:cNvPr id="1048599" name=""/>
          <p:cNvSpPr txBox="1"/>
          <p:nvPr/>
        </p:nvSpPr>
        <p:spPr>
          <a:xfrm rot="0">
            <a:off x="609600" y="2025650"/>
            <a:ext cx="8001000" cy="4962551"/>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spcAft>
                <a:spcPct val="30000"/>
              </a:spcAft>
              <a:buSzPct val="80000"/>
              <a:buFontTx/>
              <a:buNone/>
            </a:pPr>
            <a:r>
              <a:rPr altLang="en-US" lang="en-US"/>
              <a:t>The trial balance may balance even when </a:t>
            </a:r>
          </a:p>
          <a:p>
            <a:pPr algn="l" indent="-401637" lvl="1" marL="631825">
              <a:lnSpc>
                <a:spcPct val="110000"/>
              </a:lnSpc>
              <a:spcAft>
                <a:spcPct val="30000"/>
              </a:spcAft>
              <a:buSzPct val="95000"/>
              <a:buFontTx/>
              <a:buAutoNum type="arabicPeriod" startAt="1"/>
            </a:pPr>
            <a:r>
              <a:rPr altLang="en-US" lang="en-US"/>
              <a:t>a transaction is not journalized, </a:t>
            </a:r>
          </a:p>
          <a:p>
            <a:pPr algn="l" indent="-401637" lvl="1" marL="631825">
              <a:lnSpc>
                <a:spcPct val="110000"/>
              </a:lnSpc>
              <a:spcAft>
                <a:spcPct val="30000"/>
              </a:spcAft>
              <a:buSzPct val="95000"/>
              <a:buFontTx/>
              <a:buAutoNum type="arabicPeriod" startAt="1"/>
            </a:pPr>
            <a:r>
              <a:rPr altLang="en-US" lang="en-US"/>
              <a:t>a correct journal entry is not posted, </a:t>
            </a:r>
          </a:p>
          <a:p>
            <a:pPr algn="l" indent="-401637" lvl="1" marL="631825">
              <a:lnSpc>
                <a:spcPct val="110000"/>
              </a:lnSpc>
              <a:spcAft>
                <a:spcPct val="30000"/>
              </a:spcAft>
              <a:buSzPct val="95000"/>
              <a:buFontTx/>
              <a:buAutoNum type="arabicPeriod" startAt="1"/>
            </a:pPr>
            <a:r>
              <a:rPr altLang="en-US" lang="en-US"/>
              <a:t>a journal entry is posted twice, </a:t>
            </a:r>
          </a:p>
          <a:p>
            <a:pPr algn="l" indent="-401637" lvl="1" marL="631825">
              <a:lnSpc>
                <a:spcPct val="110000"/>
              </a:lnSpc>
              <a:spcAft>
                <a:spcPct val="30000"/>
              </a:spcAft>
              <a:buSzPct val="95000"/>
              <a:buFontTx/>
              <a:buAutoNum type="arabicPeriod" startAt="1"/>
            </a:pPr>
            <a:r>
              <a:rPr altLang="en-US" lang="en-US"/>
              <a:t>incorrect accounts are used in journalizing or posting, or </a:t>
            </a:r>
          </a:p>
          <a:p>
            <a:pPr algn="l" indent="-401637" lvl="1" marL="631825">
              <a:lnSpc>
                <a:spcPct val="110000"/>
              </a:lnSpc>
              <a:spcAft>
                <a:spcPct val="30000"/>
              </a:spcAft>
              <a:buSzPct val="95000"/>
              <a:buFontTx/>
              <a:buAutoNum type="arabicPeriod" startAt="1"/>
            </a:pPr>
            <a:r>
              <a:rPr altLang="en-US" lang="en-US"/>
              <a:t>offsetting errors are made in recording the amount of a transaction.</a:t>
            </a:r>
          </a:p>
        </p:txBody>
      </p:sp>
      <p:sp>
        <p:nvSpPr>
          <p:cNvPr id="104860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Trial Balance</a:t>
            </a:r>
          </a:p>
        </p:txBody>
      </p:sp>
      <p:sp>
        <p:nvSpPr>
          <p:cNvPr id="1048601" name=""/>
          <p:cNvSpPr txBox="1"/>
          <p:nvPr/>
        </p:nvSpPr>
        <p:spPr>
          <a:xfrm rot="0">
            <a:off x="1295400" y="6369050"/>
            <a:ext cx="76962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7  Prepare a trial balance and explain its purposes.</a:t>
            </a:r>
          </a:p>
        </p:txBody>
      </p:sp>
      <p:sp>
        <p:nvSpPr>
          <p:cNvPr id="1048602"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chemeClr val="hlink"/>
                </a:solidFill>
              </a:rPr>
              <a:t>Limitations of a Trial Balance</a:t>
            </a:r>
          </a:p>
        </p:txBody>
      </p:sp>
    </p:spTree>
  </p:cSld>
  <p:clrMapOvr>
    <a:masterClrMapping/>
  </p:clrMapOvr>
  <p:transition spd="fast" advClick="1">
    <p:wipe dir="r"/>
  </p:transition>
</p:sld>
</file>

<file path=ppt/slides/slide34.xml><?xml version="1.0" encoding="utf-8"?>
<p:sld xmlns:a="http://schemas.openxmlformats.org/drawingml/2006/main" xmlns:r="http://schemas.openxmlformats.org/officeDocument/2006/relationships" xmlns:p="http://schemas.openxmlformats.org/presentationml/2006/main" showMasterSp="1">
  <p:cSld>
    <p:spTree>
      <p:nvGrpSpPr>
        <p:cNvPr id="57" name=""/>
        <p:cNvGrpSpPr/>
        <p:nvPr/>
      </p:nvGrpSpPr>
      <p:grpSpPr>
        <a:xfrm rot="0">
          <a:off x="0" y="0"/>
          <a:ext cx="0" cy="0"/>
          <a:chOff x="0" y="0"/>
          <a:chExt cx="0" cy="0"/>
        </a:xfrm>
      </p:grpSpPr>
      <p:sp>
        <p:nvSpPr>
          <p:cNvPr id="1048592" name=""/>
          <p:cNvSpPr/>
          <p:nvPr/>
        </p:nvSpPr>
        <p:spPr>
          <a:xfrm rot="0">
            <a:off x="838200" y="1981200"/>
            <a:ext cx="8001000" cy="42672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lang="en-US"/>
              <a:t>A trial balance will not balance if:</a:t>
            </a:r>
          </a:p>
          <a:p>
            <a:pPr algn="l" indent="-388937" lvl="1" marL="623887">
              <a:spcBef>
                <a:spcPct val="40000"/>
              </a:spcBef>
              <a:buClr>
                <a:schemeClr val="dk1"/>
              </a:buClr>
              <a:buSzPct val="95000"/>
              <a:buFont typeface="Wingdings" pitchFamily="2" charset="2"/>
              <a:buAutoNum type="alphaLcPeriod" startAt="1"/>
            </a:pPr>
            <a:r>
              <a:rPr altLang="en-US" lang="en-US"/>
              <a:t>a correct journal entry is posted twice.</a:t>
            </a:r>
          </a:p>
          <a:p>
            <a:pPr algn="l" indent="-388937" lvl="1" marL="623887">
              <a:spcBef>
                <a:spcPct val="40000"/>
              </a:spcBef>
              <a:buClr>
                <a:schemeClr val="dk1"/>
              </a:buClr>
              <a:buSzPct val="95000"/>
              <a:buFont typeface="Wingdings" pitchFamily="2" charset="2"/>
              <a:buAutoNum type="alphaLcPeriod" startAt="1"/>
            </a:pPr>
            <a:r>
              <a:rPr altLang="en-US" lang="en-US"/>
              <a:t>the purchase of supplies on account is debited to Supplies and credited to Cash.</a:t>
            </a:r>
          </a:p>
          <a:p>
            <a:pPr algn="l" indent="-388937" lvl="1" marL="623887">
              <a:spcBef>
                <a:spcPct val="40000"/>
              </a:spcBef>
              <a:buClr>
                <a:schemeClr val="dk1"/>
              </a:buClr>
              <a:buSzPct val="95000"/>
              <a:buFont typeface="Wingdings" pitchFamily="2" charset="2"/>
              <a:buAutoNum type="alphaLcPeriod" startAt="1"/>
            </a:pPr>
            <a:r>
              <a:rPr altLang="en-US" lang="en-US"/>
              <a:t>a $100 cash drawing by the owner is debited to Owner’s Drawing for $1,000 and credited to Cash for $100. </a:t>
            </a:r>
          </a:p>
          <a:p>
            <a:pPr algn="l" indent="-388937" lvl="1" marL="623887">
              <a:spcBef>
                <a:spcPct val="40000"/>
              </a:spcBef>
              <a:buClr>
                <a:schemeClr val="dk1"/>
              </a:buClr>
              <a:buSzPct val="95000"/>
              <a:buFont typeface="Wingdings" pitchFamily="2" charset="2"/>
              <a:buAutoNum type="alphaLcPeriod" startAt="1"/>
            </a:pPr>
            <a:r>
              <a:rPr altLang="en-US" lang="en-US"/>
              <a:t>a $450 payment on account is debited to Accounts Payable for $45 and credited to Cash for $45.</a:t>
            </a:r>
          </a:p>
        </p:txBody>
      </p:sp>
      <p:sp>
        <p:nvSpPr>
          <p:cNvPr id="1048593" name=""/>
          <p:cNvSpPr/>
          <p:nvPr/>
        </p:nvSpPr>
        <p:spPr>
          <a:xfrm rot="0">
            <a:off x="1143000" y="39624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4"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59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Trial Balance</a:t>
            </a:r>
          </a:p>
        </p:txBody>
      </p:sp>
      <p:sp>
        <p:nvSpPr>
          <p:cNvPr id="1048596" name=""/>
          <p:cNvSpPr txBox="1"/>
          <p:nvPr/>
        </p:nvSpPr>
        <p:spPr>
          <a:xfrm rot="0">
            <a:off x="1295400" y="6369050"/>
            <a:ext cx="76962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7  Prepare a trial balance and explain its purposes.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593"/>
                                        </p:tgtEl>
                                        <p:attrNameLst>
                                          <p:attrName>style.visibility</p:attrName>
                                        </p:attrNameLst>
                                      </p:cBhvr>
                                      <p:to>
                                        <p:strVal val="visible"/>
                                      </p:to>
                                    </p:set>
                                    <p:animEffect transition="in" filter="wipe(left)">
                                      <p:cBhvr>
                                        <p:cTn dur="500" id="7"/>
                                        <p:tgtEl>
                                          <p:spTgt spid="1048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3" grpId="0" uiExpand="0" build="whole"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1">
  <p:cSld>
    <p:spTree>
      <p:nvGrpSpPr>
        <p:cNvPr id="53" name=""/>
        <p:cNvGrpSpPr/>
        <p:nvPr/>
      </p:nvGrpSpPr>
      <p:grpSpPr>
        <a:xfrm rot="0">
          <a:off x="0" y="0"/>
          <a:ext cx="0" cy="0"/>
          <a:chOff x="0" y="0"/>
          <a:chExt cx="0" cy="0"/>
        </a:xfrm>
      </p:grpSpPr>
      <p:sp>
        <p:nvSpPr>
          <p:cNvPr id="1048584" name=""/>
          <p:cNvSpPr txBox="1"/>
          <p:nvPr/>
        </p:nvSpPr>
        <p:spPr>
          <a:xfrm rot="0">
            <a:off x="685800" y="1905000"/>
            <a:ext cx="7772400" cy="561949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05000"/>
              </a:lnSpc>
              <a:spcBef>
                <a:spcPct val="30000"/>
              </a:spcBef>
              <a:buSzPct val="80000"/>
              <a:buFontTx/>
              <a:buNone/>
            </a:pPr>
            <a:r>
              <a:rPr altLang="en-US" b="1" sz="2200" lang="en-US">
                <a:solidFill>
                  <a:srgbClr val="800000"/>
                </a:solidFill>
              </a:rPr>
              <a:t>Q2-19</a:t>
            </a:r>
            <a:r>
              <a:rPr altLang="en-US" b="1" sz="2200" lang="en-US">
                <a:solidFill>
                  <a:srgbClr val="000000"/>
                </a:solidFill>
              </a:rPr>
              <a:t>. </a:t>
            </a:r>
            <a:r>
              <a:rPr altLang="en-US" sz="2200" lang="en-US">
                <a:solidFill>
                  <a:srgbClr val="000000"/>
                </a:solidFill>
              </a:rPr>
              <a:t>Jim Benes is confused about how accounting information flows through the accounting system.  He believes the flow of information is as follows.</a:t>
            </a:r>
          </a:p>
          <a:p>
            <a:pPr algn="l" indent="-333375" lvl="1" marL="568325">
              <a:lnSpc>
                <a:spcPct val="105000"/>
              </a:lnSpc>
              <a:spcBef>
                <a:spcPct val="30000"/>
              </a:spcBef>
              <a:buSzPct val="95000"/>
              <a:buFontTx/>
              <a:buAutoNum type="alphaLcPeriod" startAt="1"/>
            </a:pPr>
            <a:r>
              <a:rPr altLang="en-US" sz="2200" lang="en-US">
                <a:solidFill>
                  <a:srgbClr val="000000"/>
                </a:solidFill>
              </a:rPr>
              <a:t>Debits and credits posted to the ledger.</a:t>
            </a:r>
          </a:p>
          <a:p>
            <a:pPr algn="l" indent="-333375" lvl="1" marL="568325">
              <a:lnSpc>
                <a:spcPct val="105000"/>
              </a:lnSpc>
              <a:spcBef>
                <a:spcPct val="15000"/>
              </a:spcBef>
              <a:buSzPct val="95000"/>
              <a:buFontTx/>
              <a:buAutoNum type="alphaLcPeriod" startAt="1"/>
            </a:pPr>
            <a:r>
              <a:rPr altLang="en-US" sz="2200" lang="en-US">
                <a:solidFill>
                  <a:srgbClr val="000000"/>
                </a:solidFill>
              </a:rPr>
              <a:t>Business transaction occurs. </a:t>
            </a:r>
          </a:p>
          <a:p>
            <a:pPr algn="l" indent="-333375" lvl="1" marL="568325">
              <a:lnSpc>
                <a:spcPct val="105000"/>
              </a:lnSpc>
              <a:spcBef>
                <a:spcPct val="15000"/>
              </a:spcBef>
              <a:buSzPct val="95000"/>
              <a:buFontTx/>
              <a:buAutoNum type="alphaLcPeriod" startAt="1"/>
            </a:pPr>
            <a:r>
              <a:rPr altLang="en-US" sz="2200" lang="en-US">
                <a:solidFill>
                  <a:srgbClr val="000000"/>
                </a:solidFill>
              </a:rPr>
              <a:t>Information entered in the journal.</a:t>
            </a:r>
          </a:p>
          <a:p>
            <a:pPr algn="l" indent="-333375" lvl="1" marL="568325">
              <a:lnSpc>
                <a:spcPct val="105000"/>
              </a:lnSpc>
              <a:spcBef>
                <a:spcPct val="15000"/>
              </a:spcBef>
              <a:buSzPct val="95000"/>
              <a:buFontTx/>
              <a:buAutoNum type="alphaLcPeriod" startAt="1"/>
            </a:pPr>
            <a:r>
              <a:rPr altLang="en-US" sz="2200" lang="en-US">
                <a:solidFill>
                  <a:srgbClr val="000000"/>
                </a:solidFill>
              </a:rPr>
              <a:t>Financial statements are prepared.</a:t>
            </a:r>
          </a:p>
          <a:p>
            <a:pPr algn="l" indent="-333375" lvl="1" marL="568325">
              <a:lnSpc>
                <a:spcPct val="105000"/>
              </a:lnSpc>
              <a:spcBef>
                <a:spcPct val="15000"/>
              </a:spcBef>
              <a:buSzPct val="95000"/>
              <a:buFontTx/>
              <a:buAutoNum type="alphaLcPeriod" startAt="1"/>
            </a:pPr>
            <a:r>
              <a:rPr altLang="en-US" sz="2200" lang="en-US">
                <a:solidFill>
                  <a:srgbClr val="000000"/>
                </a:solidFill>
              </a:rPr>
              <a:t>Trial balance is prepared.</a:t>
            </a:r>
          </a:p>
          <a:p>
            <a:pPr algn="l" lvl="0">
              <a:lnSpc>
                <a:spcPct val="105000"/>
              </a:lnSpc>
              <a:spcBef>
                <a:spcPct val="30000"/>
              </a:spcBef>
              <a:buSzPct val="80000"/>
              <a:buFontTx/>
              <a:buNone/>
            </a:pPr>
            <a:r>
              <a:rPr altLang="en-US" sz="2200" lang="en-US">
                <a:solidFill>
                  <a:srgbClr val="000000"/>
                </a:solidFill>
              </a:rPr>
              <a:t>Is Jim correct?  If not, indicate to Jim the proper flow of the information.</a:t>
            </a:r>
          </a:p>
          <a:p>
            <a:pPr algn="l" lvl="0">
              <a:lnSpc>
                <a:spcPct val="105000"/>
              </a:lnSpc>
              <a:spcBef>
                <a:spcPct val="30000"/>
              </a:spcBef>
              <a:buSzPct val="80000"/>
              <a:buFontTx/>
              <a:buNone/>
            </a:pPr>
            <a:r>
              <a:rPr altLang="en-US" sz="2200" lang="en-US">
                <a:solidFill>
                  <a:srgbClr val="000000"/>
                </a:solidFill>
              </a:rPr>
              <a:t>				See notes page for discussion</a:t>
            </a:r>
          </a:p>
        </p:txBody>
      </p:sp>
      <p:sp>
        <p:nvSpPr>
          <p:cNvPr id="104858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Recording Process</a:t>
            </a:r>
          </a:p>
        </p:txBody>
      </p:sp>
      <p:sp>
        <p:nvSpPr>
          <p:cNvPr id="1048586"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Discussion Question</a:t>
            </a:r>
          </a:p>
        </p:txBody>
      </p:sp>
      <p:sp>
        <p:nvSpPr>
          <p:cNvPr id="1048587" name=""/>
          <p:cNvSpPr txBox="1"/>
          <p:nvPr/>
        </p:nvSpPr>
        <p:spPr>
          <a:xfrm rot="0">
            <a:off x="1295400" y="6369050"/>
            <a:ext cx="76962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7  Prepare a trial balance and explain its purposes.</a:t>
            </a:r>
          </a:p>
        </p:txBody>
      </p:sp>
    </p:spTree>
  </p:cSld>
  <p:clrMapOvr>
    <a:masterClrMapping/>
  </p:clrMapOvr>
  <p:transition spd="fast" advClick="1">
    <p:wipe dir="r"/>
  </p:transition>
</p:sld>
</file>

<file path=ppt/slides/slide36.xml><?xml version="1.0" encoding="utf-8"?>
<p:sld xmlns:a="http://schemas.openxmlformats.org/drawingml/2006/main" xmlns:r="http://schemas.openxmlformats.org/officeDocument/2006/relationships" xmlns:p="http://schemas.openxmlformats.org/presentationml/2006/main" showMasterSp="1">
  <p:cSld>
    <p:spTree>
      <p:nvGrpSpPr>
        <p:cNvPr id="49" name=""/>
        <p:cNvGrpSpPr/>
        <p:nvPr/>
      </p:nvGrpSpPr>
      <p:grpSpPr>
        <a:xfrm rot="0">
          <a:off x="0" y="0"/>
          <a:ext cx="0" cy="0"/>
          <a:chOff x="0" y="0"/>
          <a:chExt cx="0" cy="0"/>
        </a:xfrm>
      </p:grpSpPr>
      <p:sp>
        <p:nvSpPr>
          <p:cNvPr id="1048579" name=""/>
          <p:cNvSpPr/>
          <p:nvPr/>
        </p:nvSpPr>
        <p:spPr>
          <a:xfrm rot="0">
            <a:off x="838200" y="1447800"/>
            <a:ext cx="7772400" cy="3825749"/>
          </a:xfrm>
          <a:prstGeom prst="rect"/>
          <a:noFill/>
          <a:ln>
            <a:noFill/>
          </a:ln>
        </p:spPr>
        <p:txBody>
          <a:bodyPr bIns="46038" lIns="92075" rIns="92075" tIns="46038">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2000" lang="en-US"/>
              <a:t>Copyright © 2008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104858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indent="0" lvl="0" marL="109537"/>
            <a:r>
              <a:rPr altLang="en-US" lang="en-US">
                <a:solidFill>
                  <a:srgbClr val="FFCC00"/>
                </a:solidFill>
                <a:effectLst>
                  <a:outerShdw algn="tl" blurRad="38100" dir="2700000" dist="38100">
                    <a:srgbClr val="C0C0C0"/>
                  </a:outerShdw>
                </a:effectLst>
              </a:rPr>
              <a:t>Copyright</a:t>
            </a:r>
          </a:p>
        </p:txBody>
      </p:sp>
    </p:spTree>
  </p:cSld>
  <p:clrMapOvr>
    <a:masterClrMapping/>
  </p:clrMapOvr>
  <p:transition spd="fast" advClick="1">
    <p:wipe dir="r"/>
  </p:transition>
</p:sld>
</file>

<file path=ppt/theme/theme1.xml><?xml version="1.0" encoding="utf-8"?>
<a:theme xmlns:a="http://schemas.openxmlformats.org/drawingml/2006/main" name="Office 主题">
  <a:themeElements>
    <a:clrScheme name="Default Color Scheme">
      <a:dk1>
        <a:srgbClr val="000000"/>
      </a:dk1>
      <a:lt1>
        <a:srgbClr val="FFFFFF"/>
      </a:lt1>
      <a:dk2>
        <a:srgbClr val="000000"/>
      </a:dk2>
      <a:lt2>
        <a:srgbClr val="0000FF"/>
      </a:lt2>
      <a:accent1>
        <a:srgbClr val="00FFFF"/>
      </a:accent1>
      <a:accent2>
        <a:srgbClr val="FF0000"/>
      </a:accent2>
      <a:accent3>
        <a:srgbClr val="FFFFFF"/>
      </a:accent3>
      <a:accent4>
        <a:srgbClr val="000000"/>
      </a:accent4>
      <a:accent5>
        <a:srgbClr val="000000"/>
      </a:accent5>
      <a:accent6>
        <a:srgbClr val="000000"/>
      </a:accent6>
      <a:hlink>
        <a:srgbClr val="000099"/>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000000"/>
        </a:accent5>
        <a:accent6>
          <a:srgbClr val="000000"/>
        </a:accent6>
        <a:hlink>
          <a:srgbClr val="CCCCFF"/>
        </a:hlink>
        <a:folHlink>
          <a:srgbClr val="B2B2B2"/>
        </a:folHlink>
      </a:clrScheme>
    </a:extraClrScheme>
    <a:extraClrScheme>
      <a:clrScheme name="Default Color Scheme 2">
        <a:dk1>
          <a:srgbClr val="FFFFFF"/>
        </a:dk1>
        <a:lt1>
          <a:srgbClr val="0000FF"/>
        </a:lt1>
        <a:dk2>
          <a:srgbClr val="000000"/>
        </a:dk2>
        <a:lt2>
          <a:srgbClr val="FFFF00"/>
        </a:lt2>
        <a:accent1>
          <a:srgbClr val="FF9900"/>
        </a:accent1>
        <a:accent2>
          <a:srgbClr val="00FFFF"/>
        </a:accent2>
        <a:accent3>
          <a:srgbClr val="0000FF"/>
        </a:accent3>
        <a:accent4>
          <a:srgbClr val="FFFFFF"/>
        </a:accent4>
        <a:accent5>
          <a:srgbClr val="000000"/>
        </a:accent5>
        <a:accent6>
          <a:srgbClr val="000000"/>
        </a:accent6>
        <a:hlink>
          <a:srgbClr val="FF0000"/>
        </a:hlink>
        <a:folHlink>
          <a:srgbClr val="969696"/>
        </a:folHlink>
      </a:clrScheme>
    </a:extraClrScheme>
    <a:extraClrScheme>
      <a:clrScheme name="Default Color Scheme 3">
        <a:dk1>
          <a:srgbClr val="000000"/>
        </a:dk1>
        <a:lt1>
          <a:srgbClr val="FFFFCC"/>
        </a:lt1>
        <a:dk2>
          <a:srgbClr val="666633"/>
        </a:dk2>
        <a:lt2>
          <a:srgbClr val="808000"/>
        </a:lt2>
        <a:accent1>
          <a:srgbClr val="339933"/>
        </a:accent1>
        <a:accent2>
          <a:srgbClr val="800000"/>
        </a:accent2>
        <a:accent3>
          <a:srgbClr val="FFFFCC"/>
        </a:accent3>
        <a:accent4>
          <a:srgbClr val="000000"/>
        </a:accent4>
        <a:accent5>
          <a:srgbClr val="000000"/>
        </a:accent5>
        <a:accent6>
          <a:srgbClr val="000000"/>
        </a:accent6>
        <a:hlink>
          <a:srgbClr val="0033CC"/>
        </a:hlink>
        <a:folHlink>
          <a:srgbClr val="FFCC66"/>
        </a:folHlink>
      </a:clrScheme>
    </a:extraClrScheme>
    <a:extraClrScheme>
      <a:clrScheme name="Default Color Scheme 4">
        <a:dk1>
          <a:srgbClr val="000000"/>
        </a:dk1>
        <a:lt1>
          <a:srgbClr val="FFFFFF"/>
        </a:lt1>
        <a:dk2>
          <a:srgbClr val="333333"/>
        </a:dk2>
        <a:lt2>
          <a:srgbClr val="000000"/>
        </a:lt2>
        <a:accent1>
          <a:srgbClr val="DDDDDD"/>
        </a:accent1>
        <a:accent2>
          <a:srgbClr val="808080"/>
        </a:accent2>
        <a:accent3>
          <a:srgbClr val="FFFFFF"/>
        </a:accent3>
        <a:accent4>
          <a:srgbClr val="000000"/>
        </a:accent4>
        <a:accent5>
          <a:srgbClr val="000000"/>
        </a:accent5>
        <a:accent6>
          <a:srgbClr val="000000"/>
        </a:accent6>
        <a:hlink>
          <a:srgbClr val="4D4D4D"/>
        </a:hlink>
        <a:folHlink>
          <a:srgbClr val="EAEAEA"/>
        </a:folHlink>
      </a:clrScheme>
    </a:extraClrScheme>
    <a:extraClrScheme>
      <a:clrScheme name="Default Color Scheme 5">
        <a:dk1>
          <a:srgbClr val="000000"/>
        </a:dk1>
        <a:lt1>
          <a:srgbClr val="FFFFFF"/>
        </a:lt1>
        <a:dk2>
          <a:srgbClr val="808080"/>
        </a:dk2>
        <a:lt2>
          <a:srgbClr val="000000"/>
        </a:lt2>
        <a:accent1>
          <a:srgbClr val="FFCC66"/>
        </a:accent1>
        <a:accent2>
          <a:srgbClr val="0000FF"/>
        </a:accent2>
        <a:accent3>
          <a:srgbClr val="FFFFFF"/>
        </a:accent3>
        <a:accent4>
          <a:srgbClr val="000000"/>
        </a:accent4>
        <a:accent5>
          <a:srgbClr val="000000"/>
        </a:accent5>
        <a:accent6>
          <a:srgbClr val="000000"/>
        </a:accent6>
        <a:hlink>
          <a:srgbClr val="CC00CC"/>
        </a:hlink>
        <a:folHlink>
          <a:srgbClr val="C0C0C0"/>
        </a:folHlink>
      </a:clrScheme>
    </a:extraClrScheme>
    <a:extraClrScheme>
      <a:clrScheme name="Default Color Scheme 6">
        <a:dk1>
          <a:srgbClr val="000000"/>
        </a:dk1>
        <a:lt1>
          <a:srgbClr val="FFFFFF"/>
        </a:lt1>
        <a:dk2>
          <a:srgbClr val="808080"/>
        </a:dk2>
        <a:lt2>
          <a:srgbClr val="000000"/>
        </a:lt2>
        <a:accent1>
          <a:srgbClr val="C0C0C0"/>
        </a:accent1>
        <a:accent2>
          <a:srgbClr val="0066FF"/>
        </a:accent2>
        <a:accent3>
          <a:srgbClr val="FFFFFF"/>
        </a:accent3>
        <a:accent4>
          <a:srgbClr val="000000"/>
        </a:accent4>
        <a:accent5>
          <a:srgbClr val="000000"/>
        </a:accent5>
        <a:accent6>
          <a:srgbClr val="000000"/>
        </a:accent6>
        <a:hlink>
          <a:srgbClr val="FF0000"/>
        </a:hlink>
        <a:folHlink>
          <a:srgbClr val="009900"/>
        </a:folHlink>
      </a:clrScheme>
    </a:extraClrScheme>
    <a:extraClrScheme>
      <a:clrScheme name="Default Color Scheme 7">
        <a:dk1>
          <a:srgbClr val="000000"/>
        </a:dk1>
        <a:lt1>
          <a:srgbClr val="FFFFFF"/>
        </a:lt1>
        <a:dk2>
          <a:srgbClr val="808080"/>
        </a:dk2>
        <a:lt2>
          <a:srgbClr val="000000"/>
        </a:lt2>
        <a:accent1>
          <a:srgbClr val="3399FF"/>
        </a:accent1>
        <a:accent2>
          <a:srgbClr val="99FFCC"/>
        </a:accent2>
        <a:accent3>
          <a:srgbClr val="FFFFFF"/>
        </a:accent3>
        <a:accent4>
          <a:srgbClr val="000000"/>
        </a:accent4>
        <a:accent5>
          <a:srgbClr val="000000"/>
        </a:accent5>
        <a:accent6>
          <a:srgbClr val="000000"/>
        </a:accent6>
        <a:hlink>
          <a:srgbClr val="CC00CC"/>
        </a:hlink>
        <a:folHlink>
          <a:srgbClr val="B2B2B2"/>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
      <a:dk1>
        <a:srgbClr val="000000"/>
      </a:dk1>
      <a:lt1>
        <a:srgbClr val="FFFFFF"/>
      </a:lt1>
      <a:dk2>
        <a:srgbClr val="919191"/>
      </a:dk2>
      <a:lt2>
        <a:srgbClr val="000000"/>
      </a:lt2>
      <a:accent1>
        <a:srgbClr val="618FFD"/>
      </a:accent1>
      <a:accent2>
        <a:srgbClr val="00AE00"/>
      </a:accent2>
      <a:accent3>
        <a:srgbClr val="FFFFFF"/>
      </a:accent3>
      <a:accent4>
        <a:srgbClr val="000000"/>
      </a:accent4>
      <a:accent5>
        <a:srgbClr val="000000"/>
      </a:accent5>
      <a:accent6>
        <a:srgbClr val="0000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Override1.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    Financial Accounting and Accounting Standards</dc:title>
  <dc:creator>Coby Harmon</dc:creator>
  <cp:lastModifiedBy>SUT</cp:lastModifiedBy>
  <dcterms:created xsi:type="dcterms:W3CDTF">1997-03-28T12:03:02Z</dcterms:created>
  <dcterms:modified xsi:type="dcterms:W3CDTF">2021-01-22T13:22:30Z</dcterms:modified>
</cp:coreProperties>
</file>