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theme/themeOverride1.xml" ContentType="application/vnd.openxmlformats-officedocument.themeOverr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9.xml" ContentType="application/vnd.openxmlformats-officedocument.presentationml.notesSlide+xml"/>
  <Override PartName="/ppt/slides/slide15.xml" ContentType="application/vnd.openxmlformats-officedocument.presentationml.slide+xml"/>
  <Override PartName="/ppt/notesSlides/notesSlide10.xml" ContentType="application/vnd.openxmlformats-officedocument.presentationml.notesSlide+xml"/>
  <Override PartName="/ppt/slides/slide16.xml" ContentType="application/vnd.openxmlformats-officedocument.presentationml.slide+xml"/>
  <Override PartName="/ppt/notesSlides/notesSlide11.xml" ContentType="application/vnd.openxmlformats-officedocument.presentationml.notes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12.xml" ContentType="application/vnd.openxmlformats-officedocument.presentationml.notesSlide+xml"/>
  <Override PartName="/ppt/slides/slide22.xml" ContentType="application/vnd.openxmlformats-officedocument.presentationml.slide+xml"/>
  <Override PartName="/ppt/notesSlides/notesSlide13.xml" ContentType="application/vnd.openxmlformats-officedocument.presentationml.notesSlide+xml"/>
  <Override PartName="/ppt/slides/slide23.xml" ContentType="application/vnd.openxmlformats-officedocument.presentationml.slide+xml"/>
  <Override PartName="/ppt/notesSlides/notesSlide14.xml" ContentType="application/vnd.openxmlformats-officedocument.presentationml.notesSlide+xml"/>
  <Override PartName="/ppt/slides/slide24.xml" ContentType="application/vnd.openxmlformats-officedocument.presentationml.slide+xml"/>
  <Override PartName="/ppt/notesSlides/notesSlide15.xml" ContentType="application/vnd.openxmlformats-officedocument.presentationml.notesSlide+xml"/>
  <Override PartName="/ppt/slides/slide25.xml" ContentType="application/vnd.openxmlformats-officedocument.presentationml.slide+xml"/>
  <Override PartName="/ppt/notesSlides/notesSlide16.xml" ContentType="application/vnd.openxmlformats-officedocument.presentationml.notesSlide+xml"/>
  <Override PartName="/ppt/slides/slide26.xml" ContentType="application/vnd.openxmlformats-officedocument.presentationml.slide+xml"/>
  <Override PartName="/ppt/notesSlides/notesSlide17.xml" ContentType="application/vnd.openxmlformats-officedocument.presentationml.notesSlide+xml"/>
  <Override PartName="/ppt/slides/slide27.xml" ContentType="application/vnd.openxmlformats-officedocument.presentationml.slide+xml"/>
  <Override PartName="/ppt/notesSlides/notesSlide18.xml" ContentType="application/vnd.openxmlformats-officedocument.presentationml.notesSlide+xml"/>
  <Override PartName="/ppt/slides/slide28.xml" ContentType="application/vnd.openxmlformats-officedocument.presentationml.slide+xml"/>
  <Override PartName="/ppt/slides/slide29.xml" ContentType="application/vnd.openxmlformats-officedocument.presentationml.slide+xml"/>
  <Override PartName="/ppt/notesSlides/notesSlide19.xml" ContentType="application/vnd.openxmlformats-officedocument.presentationml.notesSlide+xml"/>
  <Override PartName="/ppt/slides/slide30.xml" ContentType="application/vnd.openxmlformats-officedocument.presentationml.slide+xml"/>
  <Override PartName="/ppt/theme/themeOverride2.xml" ContentType="application/vnd.openxmlformats-officedocument.themeOverride+xml"/>
  <Override PartName="/ppt/notesSlides/notesSlide20.xml" ContentType="application/vnd.openxmlformats-officedocument.presentationml.notesSlide+xml"/>
  <Override PartName="/ppt/slides/slide31.xml" ContentType="application/vnd.openxmlformats-officedocument.presentationml.slide+xml"/>
  <Override PartName="/ppt/theme/themeOverride3.xml" ContentType="application/vnd.openxmlformats-officedocument.themeOverride+xml"/>
  <Override PartName="/ppt/slides/slide32.xml" ContentType="application/vnd.openxmlformats-officedocument.presentationml.slide+xml"/>
  <Override PartName="/ppt/theme/themeOverride4.xml" ContentType="application/vnd.openxmlformats-officedocument.themeOverride+xml"/>
  <Override PartName="/ppt/slides/slide33.xml" ContentType="application/vnd.openxmlformats-officedocument.presentationml.slide+xml"/>
  <Override PartName="/ppt/theme/themeOverride5.xml" ContentType="application/vnd.openxmlformats-officedocument.themeOverride+xml"/>
  <Override PartName="/ppt/slides/slide34.xml" ContentType="application/vnd.openxmlformats-officedocument.presentationml.slide+xml"/>
  <Override PartName="/ppt/theme/themeOverride6.xml" ContentType="application/vnd.openxmlformats-officedocument.themeOverride+xml"/>
  <Override PartName="/ppt/slides/slide35.xml" ContentType="application/vnd.openxmlformats-officedocument.presentationml.slide+xml"/>
  <Override PartName="/ppt/theme/themeOverride7.xml" ContentType="application/vnd.openxmlformats-officedocument.themeOverride+xml"/>
  <Override PartName="/ppt/slides/slide36.xml" ContentType="application/vnd.openxmlformats-officedocument.presentationml.slide+xml"/>
  <Override PartName="/ppt/theme/themeOverride8.xml" ContentType="application/vnd.openxmlformats-officedocument.themeOverride+xml"/>
  <Override PartName="/ppt/slides/slide37.xml" ContentType="application/vnd.openxmlformats-officedocument.presentationml.slide+xml"/>
  <Override PartName="/ppt/theme/themeOverride9.xml" ContentType="application/vnd.openxmlformats-officedocument.themeOverride+xml"/>
  <Override PartName="/ppt/slides/slide38.xml" ContentType="application/vnd.openxmlformats-officedocument.presentationml.slide+xml"/>
  <Override PartName="/ppt/theme/themeOverride10.xml" ContentType="application/vnd.openxmlformats-officedocument.themeOverr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Slides/notesSlide21.xml" ContentType="application/vnd.openxmlformats-officedocument.presentationml.notesSlide+xml"/>
  <Override PartName="/ppt/slides/slide46.xml" ContentType="application/vnd.openxmlformats-officedocument.presentationml.slide+xml"/>
  <Override PartName="/ppt/notesSlides/notesSlide22.xml" ContentType="application/vnd.openxmlformats-officedocument.presentationml.notesSlide+xml"/>
  <Override PartName="/ppt/slides/slide47.xml" ContentType="application/vnd.openxmlformats-officedocument.presentationml.slide+xml"/>
  <Override PartName="/ppt/notesSlides/notesSlide23.xml" ContentType="application/vnd.openxmlformats-officedocument.presentationml.notesSlide+xml"/>
  <Override PartName="/ppt/slides/slide48.xml" ContentType="application/vnd.openxmlformats-officedocument.presentationml.slide+xml"/>
  <Override PartName="/ppt/notesSlides/notesSlide24.xml" ContentType="application/vnd.openxmlformats-officedocument.presentationml.notesSlide+xml"/>
  <Override PartName="/ppt/slides/slide49.xml" ContentType="application/vnd.openxmlformats-officedocument.presentationml.slide+xml"/>
  <Override PartName="/ppt/notesSlides/notesSlide25.xml" ContentType="application/vnd.openxmlformats-officedocument.presentationml.notesSlide+xml"/>
  <Override PartName="/ppt/slides/slide50.xml" ContentType="application/vnd.openxmlformats-officedocument.presentationml.slide+xml"/>
  <Override PartName="/ppt/slides/slide51.xml" ContentType="application/vnd.openxmlformats-officedocument.presentationml.slide+xml"/>
  <Override PartName="/ppt/notesSlides/notesSlide26.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Lst>
  <p:notesMasterIdLst>
    <p:notesMasterId r:id="rId2"/>
  </p:notesMasterIdLst>
  <p:handoutMasterIdLst>
    <p:handoutMasterId r:id="rId3"/>
  </p:handoutMasterIdLst>
  <p:sldIdLst>
    <p:sldId id="256" r:id="rId4"/>
    <p:sldId id="257" r:id="rId5"/>
    <p:sldId id="258" r:id="rId6"/>
    <p:sldId id="259" r:id="rId7"/>
    <p:sldId id="260" r:id="rId8"/>
    <p:sldId id="261" r:id="rId9"/>
    <p:sldId id="262" r:id="rId10"/>
    <p:sldId id="263" r:id="rId11"/>
    <p:sldId id="264"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type="screen4x3" cy="6858000" cx="9144000"/>
  <p:notesSz cx="7004050" cy="9290050"/>
  <p:defaultTex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1" snapVertSplitter="0" vertBarState="restored" horzBarState="maximized" preferSingleView="0">
    <p:restoredLeft sz="15620"/>
    <p:restoredTop sz="94660"/>
  </p:normalViewPr>
  <p:slideViewPr>
    <p:cSldViewPr showGuides="0" snapToGrid="1" snapToObjects="0">
      <p:cViewPr varScale="0">
        <p:scale>
          <a:sx n="75" d="100"/>
          <a:sy n="75" d="100"/>
        </p:scale>
        <p:origin x="-600" y="658"/>
      </p:cViewPr>
      <p:guideLst>
        <p:guide orient="horz" pos="2925"/>
        <p:guide orient="vert" pos="2206"/>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tableStyles" Target="tableStyles.xml"/><Relationship Id="rId56" Type="http://schemas.openxmlformats.org/officeDocument/2006/relationships/presProps" Target="presProps.xml"/><Relationship Id="rId5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181" name=""/>
        <p:cNvGrpSpPr/>
        <p:nvPr/>
      </p:nvGrpSpPr>
      <p:grpSpPr>
        <a:xfrm rot="0">
          <a:off x="0" y="0"/>
          <a:ext cx="0" cy="0"/>
          <a:chOff x="0" y="0"/>
          <a:chExt cx="0" cy="0"/>
        </a:xfrm>
      </p:grpSpPr>
    </p:spTree>
  </p:cSld>
  <p:clrMap accent1="dk1" accent2="dk1" accent3="dk1" accent4="dk1" accent5="dk1" accent6="dk1" bg1="dk1" bg2="dk1" tx1="dk1" tx2="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79" name=""/>
        <p:cNvGrpSpPr/>
        <p:nvPr/>
      </p:nvGrpSpPr>
      <p:grpSpPr>
        <a:xfrm rot="0">
          <a:off x="0" y="0"/>
          <a:ext cx="0" cy="0"/>
          <a:chOff x="0" y="0"/>
          <a:chExt cx="0" cy="0"/>
        </a:xfrm>
      </p:grpSpPr>
      <p:sp>
        <p:nvSpPr>
          <p:cNvPr id="1049332" name=""/>
          <p:cNvSpPr/>
          <p:nvPr>
            <p:ph type="body" sz="quarter" idx="3"/>
          </p:nvPr>
        </p:nvSpPr>
        <p:spPr>
          <a:xfrm rot="0">
            <a:off x="388937" y="4413250"/>
            <a:ext cx="6303962" cy="4179887"/>
          </a:xfrm>
          <a:prstGeom prst="rect"/>
          <a:noFill/>
          <a:ln>
            <a:noFill/>
          </a:ln>
        </p:spPr>
        <p:txBody>
          <a:bodyPr bIns="45130" lIns="91871" rIns="91871" tIns="45130"/>
          <a:p>
            <a:pPr lvl="0"/>
            <a:r>
              <a:rPr altLang="en-US" lang="en-US"/>
              <a:t>Click to edit Master notes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9333" name=""/>
          <p:cNvSpPr/>
          <p:nvPr>
            <p:ph type="sldImg" sz="full" idx="2"/>
          </p:nvPr>
        </p:nvSpPr>
        <p:spPr>
          <a:xfrm rot="0">
            <a:off x="1189037" y="703262"/>
            <a:ext cx="4627562" cy="3470275"/>
          </a:xfrm>
          <a:prstGeom prst="rect"/>
          <a:noFill/>
          <a:ln w="12700" cap="flat" cmpd="sng">
            <a:solidFill>
              <a:schemeClr val="dk1">
                <a:alpha val="100000"/>
              </a:schemeClr>
            </a:solidFill>
            <a:prstDash val="solid"/>
            <a:round/>
          </a:ln>
        </p:spPr>
        <p:txBody>
          <a:bodyPr anchor="ctr" bIns="45720" lIns="91440" rIns="91440" tIns="45720"/>
          <a:p/>
        </p:txBody>
      </p:sp>
    </p:spTree>
  </p:cSld>
  <p:clrMap accent1="dk1" accent2="dk1" accent3="dk1" accent4="dk1" accent5="dk1" accent6="dk1" bg1="dk1" bg2="dk1" tx1="dk1" tx2="dk1" hlink="dk1" folHlink="dk1"/>
  <p:notesStyle>
    <a:lvl1pPr algn="l" fontAlgn="base" indent="0" latinLnBrk="1" marL="0" rtl="0">
      <a:lnSpc>
        <a:spcPct val="100000"/>
      </a:lnSpc>
      <a:spcBef>
        <a:spcPct val="30000"/>
      </a:spcBef>
      <a:spcAft>
        <a:spcPct val="0"/>
      </a:spcAft>
      <a:buFontTx/>
      <a:buNone/>
      <a:defRPr baseline="0" b="0" sz="1400" i="0">
        <a:solidFill>
          <a:schemeClr val="dk1"/>
        </a:solidFill>
        <a:latin typeface="Arial" pitchFamily="34" charset="0"/>
        <a:sym typeface="Times New Roman" pitchFamily="18" charset="0"/>
      </a:defRPr>
    </a:lvl1pPr>
    <a:lvl2pPr algn="l" fontAlgn="base" indent="0" latinLnBrk="1" marL="457200" rtl="0">
      <a:lnSpc>
        <a:spcPct val="100000"/>
      </a:lnSpc>
      <a:spcBef>
        <a:spcPct val="30000"/>
      </a:spcBef>
      <a:spcAft>
        <a:spcPct val="0"/>
      </a:spcAft>
      <a:buFontTx/>
      <a:buNone/>
      <a:defRPr baseline="0" b="0" sz="1400" i="0">
        <a:solidFill>
          <a:schemeClr val="dk1"/>
        </a:solidFill>
        <a:latin typeface="Arial" pitchFamily="34" charset="0"/>
        <a:sym typeface="Times New Roman" pitchFamily="18" charset="0"/>
      </a:defRPr>
    </a:lvl2pPr>
    <a:lvl3pPr algn="l" fontAlgn="base" indent="0" latinLnBrk="1" marL="914400" rtl="0">
      <a:lnSpc>
        <a:spcPct val="100000"/>
      </a:lnSpc>
      <a:spcBef>
        <a:spcPct val="30000"/>
      </a:spcBef>
      <a:spcAft>
        <a:spcPct val="0"/>
      </a:spcAft>
      <a:buFontTx/>
      <a:buNone/>
      <a:defRPr baseline="0" b="0" sz="1400" i="0">
        <a:solidFill>
          <a:schemeClr val="dk1"/>
        </a:solidFill>
        <a:latin typeface="Arial" pitchFamily="34" charset="0"/>
        <a:sym typeface="Times New Roman" pitchFamily="18" charset="0"/>
      </a:defRPr>
    </a:lvl3pPr>
    <a:lvl4pPr algn="l" fontAlgn="base" indent="0" latinLnBrk="1" marL="1371600" rtl="0">
      <a:lnSpc>
        <a:spcPct val="100000"/>
      </a:lnSpc>
      <a:spcBef>
        <a:spcPct val="30000"/>
      </a:spcBef>
      <a:spcAft>
        <a:spcPct val="0"/>
      </a:spcAft>
      <a:buFontTx/>
      <a:buNone/>
      <a:defRPr baseline="0" b="0" sz="1400" i="0">
        <a:solidFill>
          <a:schemeClr val="dk1"/>
        </a:solidFill>
        <a:latin typeface="Arial" pitchFamily="34" charset="0"/>
        <a:sym typeface="Times New Roman" pitchFamily="18" charset="0"/>
      </a:defRPr>
    </a:lvl4pPr>
    <a:lvl5pPr algn="l" fontAlgn="base" indent="0" latinLnBrk="1" marL="1828800" rtl="0">
      <a:lnSpc>
        <a:spcPct val="100000"/>
      </a:lnSpc>
      <a:spcBef>
        <a:spcPct val="30000"/>
      </a:spcBef>
      <a:spcAft>
        <a:spcPct val="0"/>
      </a:spcAft>
      <a:buFontTx/>
      <a:buNone/>
      <a:defRPr baseline="0" b="0" sz="1400" i="0">
        <a:solidFill>
          <a:schemeClr val="dk1"/>
        </a:solidFill>
        <a:latin typeface="Arial" pitchFamily="34" charset="0"/>
        <a:sym typeface="Times New Roman" pitchFamily="18" charset="0"/>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rot="0">
          <a:off x="0" y="0"/>
          <a:ext cx="0" cy="0"/>
          <a:chOff x="0" y="0"/>
          <a:chExt cx="0" cy="0"/>
        </a:xfrm>
      </p:grpSpPr>
      <p:sp>
        <p:nvSpPr>
          <p:cNvPr id="1048669" name=""/>
          <p:cNvSpPr/>
          <p:nvPr>
            <p:ph type="sldImg" sz="full" idx="0"/>
          </p:nvPr>
        </p:nvSpPr>
        <p:spPr>
          <a:xfrm rot="0">
            <a:off x="1189037" y="703262"/>
            <a:ext cx="4627562" cy="3470275"/>
          </a:xfrm>
          <a:prstGeom prst="rect"/>
        </p:spPr>
        <p:txBody>
          <a:bodyPr anchor="ctr" bIns="45720" lIns="91440" rIns="91440" tIns="45720"/>
          <a:p/>
        </p:txBody>
      </p:sp>
      <p:sp>
        <p:nvSpPr>
          <p:cNvPr id="1048670" name=""/>
          <p:cNvSpPr/>
          <p:nvPr>
            <p:ph type="body" sz="full" idx="1"/>
          </p:nvPr>
        </p:nvSpPr>
        <p:spPr>
          <a:xfrm rot="0">
            <a:off x="388937" y="4413250"/>
            <a:ext cx="6303962" cy="4179887"/>
          </a:xfrm>
          <a:prstGeom prst="rect"/>
          <a:noFill/>
        </p:spPr>
        <p:txBody>
          <a:bodyPr anchor="t" bIns="45130" lIns="91871" rIns="91871" tIns="45130"/>
          <a:p>
            <a:pPr lvl="0"/>
            <a:r>
              <a:rPr altLang="en-US" b="1" sz="1200" lang="en-US"/>
              <a:t>1.  On the topic, “Challenges Facing Financial Accounting,” what did the AICPA Special Committee on Financial Reporting suggest should be included in future financial statements?</a:t>
            </a:r>
          </a:p>
          <a:p>
            <a:pPr lvl="0">
              <a:buFontTx/>
              <a:buChar char="•"/>
            </a:pPr>
            <a:r>
              <a:rPr altLang="en-US" b="1" sz="1200" lang="en-US"/>
              <a:t>Non-financial</a:t>
            </a:r>
            <a:r>
              <a:rPr altLang="en-US" b="1" sz="1000" lang="en-US"/>
              <a:t> </a:t>
            </a:r>
            <a:r>
              <a:rPr altLang="en-US" b="1" sz="1200" lang="en-US"/>
              <a:t>Measurements</a:t>
            </a:r>
            <a:r>
              <a:rPr altLang="en-US" b="1" sz="1000" lang="en-US"/>
              <a:t> (customer satisfaction indexes, backlog information, and reject rates on goods purchases).</a:t>
            </a:r>
          </a:p>
          <a:p>
            <a:pPr lvl="0">
              <a:buFontTx/>
              <a:buChar char="•"/>
            </a:pPr>
            <a:r>
              <a:rPr altLang="en-US" b="1" sz="1200" lang="en-US"/>
              <a:t>Forward-looking Information</a:t>
            </a:r>
            <a:r>
              <a:rPr altLang="en-US" b="1" sz="1000" lang="en-US"/>
              <a:t> </a:t>
            </a:r>
          </a:p>
          <a:p>
            <a:pPr lvl="0">
              <a:buFontTx/>
              <a:buChar char="•"/>
            </a:pPr>
            <a:r>
              <a:rPr altLang="en-US" b="1" sz="1200" lang="en-US"/>
              <a:t>Soft Assets</a:t>
            </a:r>
            <a:r>
              <a:rPr altLang="en-US" b="1" sz="1000" lang="en-US"/>
              <a:t> (a company’s know-how, market dominance, marketing setup, well-trained employees, and brand image).</a:t>
            </a:r>
          </a:p>
          <a:p>
            <a:pPr lvl="0">
              <a:buFontTx/>
              <a:buChar char="•"/>
            </a:pPr>
            <a:r>
              <a:rPr altLang="en-US" b="1" sz="1200" lang="en-US"/>
              <a:t>Timeliness</a:t>
            </a:r>
            <a:r>
              <a:rPr altLang="en-US" b="1" sz="1000" lang="en-US"/>
              <a:t> (no real time financial information)</a:t>
            </a:r>
          </a:p>
          <a:p>
            <a:pPr lvl="0">
              <a:buFontTx/>
              <a:buChar char="•"/>
            </a:pPr>
            <a:endParaRPr altLang="en-US" b="1" sz="1000"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rot="0">
          <a:off x="0" y="0"/>
          <a:ext cx="0" cy="0"/>
          <a:chOff x="0" y="0"/>
          <a:chExt cx="0" cy="0"/>
        </a:xfrm>
      </p:grpSpPr>
      <p:sp>
        <p:nvSpPr>
          <p:cNvPr id="1048659" name=""/>
          <p:cNvSpPr/>
          <p:nvPr>
            <p:ph type="sldImg" sz="full" idx="0"/>
          </p:nvPr>
        </p:nvSpPr>
        <p:spPr>
          <a:xfrm rot="0">
            <a:off x="1190625" y="703262"/>
            <a:ext cx="4625975" cy="3470275"/>
          </a:xfrm>
          <a:prstGeom prst="rect"/>
        </p:spPr>
        <p:txBody>
          <a:bodyPr anchor="ctr" bIns="45720" lIns="91440" rIns="91440" tIns="45720"/>
          <a:p/>
        </p:txBody>
      </p:sp>
      <p:sp>
        <p:nvSpPr>
          <p:cNvPr id="1048660" name=""/>
          <p:cNvSpPr/>
          <p:nvPr>
            <p:ph type="body" sz="full" idx="1"/>
          </p:nvPr>
        </p:nvSpPr>
        <p:spPr>
          <a:xfrm rot="0">
            <a:off x="466725" y="4413250"/>
            <a:ext cx="5992812" cy="4179887"/>
          </a:xfrm>
          <a:prstGeom prst="rect"/>
          <a:noFill/>
        </p:spPr>
        <p:txBody>
          <a:bodyPr anchor="t" bIns="45130" lIns="91871" rIns="91871" tIns="45130"/>
          <a:p>
            <a:pPr lvl="0"/>
            <a:r>
              <a:rPr altLang="en-US" b="1" lang="en-US">
                <a:latin typeface="Times New Roman" pitchFamily="18" charset="0"/>
              </a:rPr>
              <a:t>Service Cost - </a:t>
            </a:r>
            <a:r>
              <a:rPr altLang="en-US" lang="en-US">
                <a:latin typeface="Times New Roman" pitchFamily="18" charset="0"/>
              </a:rPr>
              <a:t>Actuaries compute service cost as the present value of the new benefits earned by employees during the year.  Future salary levels considered in calculation.</a:t>
            </a:r>
          </a:p>
          <a:p>
            <a:pPr lvl="0"/>
            <a:r>
              <a:rPr altLang="en-US" b="1" lang="en-US">
                <a:latin typeface="Times New Roman" pitchFamily="18" charset="0"/>
              </a:rPr>
              <a:t>Interest on Liability</a:t>
            </a:r>
            <a:r>
              <a:rPr altLang="en-US" lang="en-US">
                <a:latin typeface="Times New Roman" pitchFamily="18" charset="0"/>
              </a:rPr>
              <a:t> - Interest accrues each year on the PBO just as it does on any discounted debt.</a:t>
            </a:r>
          </a:p>
          <a:p>
            <a:pPr lvl="0"/>
            <a:r>
              <a:rPr altLang="en-US" b="1" lang="en-US">
                <a:latin typeface="Times New Roman" pitchFamily="18" charset="0"/>
              </a:rPr>
              <a:t>Actual Return on Plan Assets - </a:t>
            </a:r>
            <a:r>
              <a:rPr altLang="en-US" lang="en-US">
                <a:latin typeface="Times New Roman" pitchFamily="18" charset="0"/>
              </a:rPr>
              <a:t>Increase in pension funds from interest, dividends, and realized and unrealized changes in the fair market value of the plan assets.</a:t>
            </a:r>
          </a:p>
          <a:p>
            <a:pPr lvl="0"/>
            <a:r>
              <a:rPr altLang="en-US" b="1" lang="en-US">
                <a:latin typeface="Times New Roman" pitchFamily="18" charset="0"/>
              </a:rPr>
              <a:t>Amortization of Unrecognized Prior Service Cost - </a:t>
            </a:r>
            <a:r>
              <a:rPr altLang="en-US" lang="en-US">
                <a:latin typeface="Times New Roman" pitchFamily="18" charset="0"/>
              </a:rPr>
              <a:t>The cost of providing retroactive benefits is allocated to pension expense in the future, specifically to the remaining service-years of the affected employees.</a:t>
            </a:r>
          </a:p>
          <a:p>
            <a:pPr lvl="0"/>
            <a:r>
              <a:rPr altLang="en-US" b="1" lang="en-US">
                <a:latin typeface="Times New Roman" pitchFamily="18" charset="0"/>
              </a:rPr>
              <a:t>Gain or Loss - </a:t>
            </a:r>
            <a:r>
              <a:rPr altLang="en-US" lang="en-US">
                <a:latin typeface="Times New Roman" pitchFamily="18" charset="0"/>
              </a:rPr>
              <a:t>Volatility in pension expense can be caused by sudden and large changes in the market value of plan assets and by changes in the projected benefit obligation.  Two items comprise the gain or loss:</a:t>
            </a:r>
          </a:p>
          <a:p>
            <a:pPr lvl="0">
              <a:buFontTx/>
              <a:buChar char="•"/>
            </a:pPr>
            <a:r>
              <a:rPr altLang="en-US" lang="en-US">
                <a:latin typeface="Times New Roman" pitchFamily="18" charset="0"/>
              </a:rPr>
              <a:t> difference between the actual return and the expected return on plan assets and,</a:t>
            </a:r>
          </a:p>
          <a:p>
            <a:pPr lvl="0">
              <a:buFontTx/>
              <a:buChar char="•"/>
            </a:pPr>
            <a:r>
              <a:rPr altLang="en-US" lang="en-US">
                <a:latin typeface="Times New Roman" pitchFamily="18" charset="0"/>
              </a:rPr>
              <a:t> amortization of the unrecognized net gain or loss from previous periods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rot="0">
          <a:off x="0" y="0"/>
          <a:ext cx="0" cy="0"/>
          <a:chOff x="0" y="0"/>
          <a:chExt cx="0" cy="0"/>
        </a:xfrm>
      </p:grpSpPr>
      <p:sp>
        <p:nvSpPr>
          <p:cNvPr id="1048618" name=""/>
          <p:cNvSpPr/>
          <p:nvPr>
            <p:ph type="sldImg" sz="full" idx="0"/>
          </p:nvPr>
        </p:nvSpPr>
        <p:spPr>
          <a:xfrm rot="0">
            <a:off x="1189037" y="703262"/>
            <a:ext cx="4627562" cy="3470275"/>
          </a:xfrm>
          <a:prstGeom prst="rect"/>
        </p:spPr>
        <p:txBody>
          <a:bodyPr anchor="ctr" bIns="45720" lIns="91440" rIns="91440" tIns="45720"/>
          <a:p/>
        </p:txBody>
      </p:sp>
      <p:sp>
        <p:nvSpPr>
          <p:cNvPr id="104861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rot="0">
          <a:off x="0" y="0"/>
          <a:ext cx="0" cy="0"/>
          <a:chOff x="0" y="0"/>
          <a:chExt cx="0" cy="0"/>
        </a:xfrm>
      </p:grpSpPr>
      <p:sp>
        <p:nvSpPr>
          <p:cNvPr id="1048586" name=""/>
          <p:cNvSpPr/>
          <p:nvPr>
            <p:ph type="sldImg" sz="full" idx="0"/>
          </p:nvPr>
        </p:nvSpPr>
        <p:spPr>
          <a:xfrm rot="0">
            <a:off x="1189037" y="703262"/>
            <a:ext cx="4627562" cy="3470275"/>
          </a:xfrm>
          <a:prstGeom prst="rect"/>
        </p:spPr>
        <p:txBody>
          <a:bodyPr anchor="ctr" bIns="45720" lIns="91440" rIns="91440" tIns="45720"/>
          <a:p/>
        </p:txBody>
      </p:sp>
      <p:sp>
        <p:nvSpPr>
          <p:cNvPr id="1048587"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rot="0">
          <a:off x="0" y="0"/>
          <a:ext cx="0" cy="0"/>
          <a:chOff x="0" y="0"/>
          <a:chExt cx="0" cy="0"/>
        </a:xfrm>
      </p:grpSpPr>
      <p:sp>
        <p:nvSpPr>
          <p:cNvPr id="1048613" name=""/>
          <p:cNvSpPr/>
          <p:nvPr>
            <p:ph type="sldImg" sz="full" idx="0"/>
          </p:nvPr>
        </p:nvSpPr>
        <p:spPr>
          <a:xfrm rot="0">
            <a:off x="1190625" y="703262"/>
            <a:ext cx="4627562" cy="3470275"/>
          </a:xfrm>
          <a:prstGeom prst="rect"/>
        </p:spPr>
        <p:txBody>
          <a:bodyPr anchor="ctr" bIns="45720" lIns="91440" rIns="91440" tIns="45720"/>
          <a:p/>
        </p:txBody>
      </p:sp>
      <p:sp>
        <p:nvSpPr>
          <p:cNvPr id="1048614"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rot="0">
          <a:off x="0" y="0"/>
          <a:ext cx="0" cy="0"/>
          <a:chOff x="0" y="0"/>
          <a:chExt cx="0" cy="0"/>
        </a:xfrm>
      </p:grpSpPr>
      <p:sp>
        <p:nvSpPr>
          <p:cNvPr id="1048642" name=""/>
          <p:cNvSpPr/>
          <p:nvPr>
            <p:ph type="sldImg" sz="full" idx="0"/>
          </p:nvPr>
        </p:nvSpPr>
        <p:spPr>
          <a:xfrm rot="0">
            <a:off x="1190625" y="703262"/>
            <a:ext cx="4627562" cy="3470275"/>
          </a:xfrm>
          <a:prstGeom prst="rect"/>
        </p:spPr>
        <p:txBody>
          <a:bodyPr anchor="ctr" bIns="45720" lIns="91440" rIns="91440" tIns="45720"/>
          <a:p/>
        </p:txBody>
      </p:sp>
      <p:sp>
        <p:nvSpPr>
          <p:cNvPr id="1048643"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rot="0">
          <a:off x="0" y="0"/>
          <a:ext cx="0" cy="0"/>
          <a:chOff x="0" y="0"/>
          <a:chExt cx="0" cy="0"/>
        </a:xfrm>
      </p:grpSpPr>
      <p:sp>
        <p:nvSpPr>
          <p:cNvPr id="1048665" name=""/>
          <p:cNvSpPr/>
          <p:nvPr>
            <p:ph type="sldImg" sz="full" idx="0"/>
          </p:nvPr>
        </p:nvSpPr>
        <p:spPr>
          <a:xfrm rot="0">
            <a:off x="1189037" y="703262"/>
            <a:ext cx="4627562" cy="3470275"/>
          </a:xfrm>
          <a:prstGeom prst="rect"/>
        </p:spPr>
        <p:txBody>
          <a:bodyPr anchor="ctr" bIns="45720" lIns="91440" rIns="91440" tIns="45720"/>
          <a:p/>
        </p:txBody>
      </p:sp>
      <p:sp>
        <p:nvSpPr>
          <p:cNvPr id="1048666" name=""/>
          <p:cNvSpPr/>
          <p:nvPr>
            <p:ph type="body" sz="full" idx="1"/>
          </p:nvPr>
        </p:nvSpPr>
        <p:spPr>
          <a:xfrm rot="0">
            <a:off x="388937" y="4413250"/>
            <a:ext cx="6303962" cy="4179887"/>
          </a:xfrm>
          <a:prstGeom prst="rect"/>
          <a:noFill/>
        </p:spPr>
        <p:txBody>
          <a:bodyPr anchor="t" bIns="45130" lIns="91871" rIns="91871" tIns="45130"/>
          <a:p>
            <a:pPr lvl="0">
              <a:lnSpc>
                <a:spcPct val="125000"/>
              </a:lnSpc>
            </a:pPr>
            <a:r>
              <a:rPr altLang="en-US" b="1" sz="1600" lang="en-US">
                <a:latin typeface="Comic Sans MS" pitchFamily="66" charset="0"/>
              </a:rPr>
              <a:t>Question 1 (textbook)  </a:t>
            </a:r>
            <a:r>
              <a:rPr altLang="en-US" sz="1600" lang="en-US">
                <a:latin typeface="Comic Sans MS" pitchFamily="66" charset="0"/>
              </a:rPr>
              <a:t>Yes, this is correct. Virtually every organization and person in our society uses accounting information. Businesses, investors, creditors, government agencies, and not-for-profit organizations must use accounting information to operate effectively.</a:t>
            </a:r>
          </a:p>
          <a:p>
            <a:pPr lvl="0">
              <a:lnSpc>
                <a:spcPct val="125000"/>
              </a:lnSpc>
            </a:pPr>
            <a:endParaRPr altLang="en-US" sz="1600" lang="en-US">
              <a:latin typeface="Comic Sans MS" pitchFamily="66"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rot="0">
          <a:off x="0" y="0"/>
          <a:ext cx="0" cy="0"/>
          <a:chOff x="0" y="0"/>
          <a:chExt cx="0" cy="0"/>
        </a:xfrm>
      </p:grpSpPr>
      <p:sp>
        <p:nvSpPr>
          <p:cNvPr id="1048678" name=""/>
          <p:cNvSpPr/>
          <p:nvPr>
            <p:ph type="sldImg" sz="full" idx="0"/>
          </p:nvPr>
        </p:nvSpPr>
        <p:spPr>
          <a:xfrm rot="0">
            <a:off x="1189037" y="703262"/>
            <a:ext cx="4627562" cy="3470275"/>
          </a:xfrm>
          <a:prstGeom prst="rect"/>
        </p:spPr>
        <p:txBody>
          <a:bodyPr anchor="ctr" bIns="45720" lIns="91440" rIns="91440" tIns="45720"/>
          <a:p/>
        </p:txBody>
      </p:sp>
      <p:sp>
        <p:nvSpPr>
          <p:cNvPr id="104867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96" name=""/>
        <p:cNvGrpSpPr/>
        <p:nvPr/>
      </p:nvGrpSpPr>
      <p:grpSpPr>
        <a:xfrm rot="0">
          <a:off x="0" y="0"/>
          <a:ext cx="0" cy="0"/>
          <a:chOff x="0" y="0"/>
          <a:chExt cx="0" cy="0"/>
        </a:xfrm>
      </p:grpSpPr>
      <p:sp>
        <p:nvSpPr>
          <p:cNvPr id="1048710" name=""/>
          <p:cNvSpPr/>
          <p:nvPr>
            <p:ph type="sldImg" sz="full" idx="0"/>
          </p:nvPr>
        </p:nvSpPr>
        <p:spPr>
          <a:xfrm rot="0">
            <a:off x="1189037" y="703262"/>
            <a:ext cx="4625975" cy="3470275"/>
          </a:xfrm>
          <a:prstGeom prst="rect"/>
        </p:spPr>
        <p:txBody>
          <a:bodyPr anchor="ctr" bIns="45720" lIns="91440" rIns="91440" tIns="45720"/>
          <a:p/>
        </p:txBody>
      </p:sp>
      <p:sp>
        <p:nvSpPr>
          <p:cNvPr id="1048711"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99" name=""/>
        <p:cNvGrpSpPr/>
        <p:nvPr/>
      </p:nvGrpSpPr>
      <p:grpSpPr>
        <a:xfrm rot="0">
          <a:off x="0" y="0"/>
          <a:ext cx="0" cy="0"/>
          <a:chOff x="0" y="0"/>
          <a:chExt cx="0" cy="0"/>
        </a:xfrm>
      </p:grpSpPr>
      <p:sp>
        <p:nvSpPr>
          <p:cNvPr id="1048717" name=""/>
          <p:cNvSpPr/>
          <p:nvPr>
            <p:ph type="sldImg" sz="full" idx="0"/>
          </p:nvPr>
        </p:nvSpPr>
        <p:spPr>
          <a:xfrm rot="0">
            <a:off x="1189037" y="703262"/>
            <a:ext cx="4625975" cy="3470275"/>
          </a:xfrm>
          <a:prstGeom prst="rect"/>
        </p:spPr>
        <p:txBody>
          <a:bodyPr anchor="ctr" bIns="45720" lIns="91440" rIns="91440" tIns="45720"/>
          <a:p/>
        </p:txBody>
      </p:sp>
      <p:sp>
        <p:nvSpPr>
          <p:cNvPr id="1048718"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02" name=""/>
        <p:cNvGrpSpPr/>
        <p:nvPr/>
      </p:nvGrpSpPr>
      <p:grpSpPr>
        <a:xfrm rot="0">
          <a:off x="0" y="0"/>
          <a:ext cx="0" cy="0"/>
          <a:chOff x="0" y="0"/>
          <a:chExt cx="0" cy="0"/>
        </a:xfrm>
      </p:grpSpPr>
      <p:sp>
        <p:nvSpPr>
          <p:cNvPr id="1048727" name=""/>
          <p:cNvSpPr/>
          <p:nvPr>
            <p:ph type="sldImg" sz="full" idx="0"/>
          </p:nvPr>
        </p:nvSpPr>
        <p:spPr>
          <a:xfrm rot="0">
            <a:off x="1190625" y="703262"/>
            <a:ext cx="4625975" cy="3470275"/>
          </a:xfrm>
          <a:prstGeom prst="rect"/>
        </p:spPr>
        <p:txBody>
          <a:bodyPr anchor="ctr" bIns="45720" lIns="91440" rIns="91440" tIns="45720"/>
          <a:p/>
        </p:txBody>
      </p:sp>
      <p:sp>
        <p:nvSpPr>
          <p:cNvPr id="1048728" name=""/>
          <p:cNvSpPr/>
          <p:nvPr>
            <p:ph type="body" sz="full" idx="1"/>
          </p:nvPr>
        </p:nvSpPr>
        <p:spPr>
          <a:xfrm rot="0">
            <a:off x="466725" y="4413250"/>
            <a:ext cx="5992812" cy="4179887"/>
          </a:xfrm>
          <a:prstGeom prst="rect"/>
          <a:noFill/>
        </p:spPr>
        <p:txBody>
          <a:bodyPr anchor="t" bIns="45130" lIns="91871" rIns="91871" tIns="45130"/>
          <a:p>
            <a:pPr lvl="0"/>
            <a:r>
              <a:rPr altLang="en-US" b="1" lang="en-US">
                <a:latin typeface="Times New Roman" pitchFamily="18" charset="0"/>
              </a:rPr>
              <a:t>Service Cost - </a:t>
            </a:r>
            <a:r>
              <a:rPr altLang="en-US" lang="en-US">
                <a:latin typeface="Times New Roman" pitchFamily="18" charset="0"/>
              </a:rPr>
              <a:t>Actuaries compute service cost as the present value of the new benefits earned by employees during the year.  Future salary levels considered in calculation.</a:t>
            </a:r>
          </a:p>
          <a:p>
            <a:pPr lvl="0"/>
            <a:r>
              <a:rPr altLang="en-US" b="1" lang="en-US">
                <a:latin typeface="Times New Roman" pitchFamily="18" charset="0"/>
              </a:rPr>
              <a:t>Interest on Liability</a:t>
            </a:r>
            <a:r>
              <a:rPr altLang="en-US" lang="en-US">
                <a:latin typeface="Times New Roman" pitchFamily="18" charset="0"/>
              </a:rPr>
              <a:t> - Interest accrues each year on the PBO just as it does on any discounted debt.</a:t>
            </a:r>
          </a:p>
          <a:p>
            <a:pPr lvl="0"/>
            <a:r>
              <a:rPr altLang="en-US" b="1" lang="en-US">
                <a:latin typeface="Times New Roman" pitchFamily="18" charset="0"/>
              </a:rPr>
              <a:t>Actual Return on Plan Assets - </a:t>
            </a:r>
            <a:r>
              <a:rPr altLang="en-US" lang="en-US">
                <a:latin typeface="Times New Roman" pitchFamily="18" charset="0"/>
              </a:rPr>
              <a:t>Increase in pension funds from interest, dividends, and realized and unrealized changes in the fair market value of the plan assets.</a:t>
            </a:r>
          </a:p>
          <a:p>
            <a:pPr lvl="0"/>
            <a:r>
              <a:rPr altLang="en-US" b="1" lang="en-US">
                <a:latin typeface="Times New Roman" pitchFamily="18" charset="0"/>
              </a:rPr>
              <a:t>Amortization of Unrecognized Prior Service Cost - </a:t>
            </a:r>
            <a:r>
              <a:rPr altLang="en-US" lang="en-US">
                <a:latin typeface="Times New Roman" pitchFamily="18" charset="0"/>
              </a:rPr>
              <a:t>The cost of providing retroactive benefits is allocated to pension expense in the future, specifically to the remaining service-years of the affected employees.</a:t>
            </a:r>
          </a:p>
          <a:p>
            <a:pPr lvl="0"/>
            <a:r>
              <a:rPr altLang="en-US" b="1" lang="en-US">
                <a:latin typeface="Times New Roman" pitchFamily="18" charset="0"/>
              </a:rPr>
              <a:t>Gain or Loss - </a:t>
            </a:r>
            <a:r>
              <a:rPr altLang="en-US" lang="en-US">
                <a:latin typeface="Times New Roman" pitchFamily="18" charset="0"/>
              </a:rPr>
              <a:t>Volatility in pension expense can be caused by sudden and large changes in the market value of plan assets and by changes in the projected benefit obligation.  Two items comprise the gain or loss:</a:t>
            </a:r>
          </a:p>
          <a:p>
            <a:pPr lvl="0">
              <a:buFontTx/>
              <a:buChar char="•"/>
            </a:pPr>
            <a:r>
              <a:rPr altLang="en-US" lang="en-US">
                <a:latin typeface="Times New Roman" pitchFamily="18" charset="0"/>
              </a:rPr>
              <a:t> difference between the actual return and the expected return on plan assets and,</a:t>
            </a:r>
          </a:p>
          <a:p>
            <a:pPr lvl="0">
              <a:buFontTx/>
              <a:buChar char="•"/>
            </a:pPr>
            <a:r>
              <a:rPr altLang="en-US" lang="en-US">
                <a:latin typeface="Times New Roman" pitchFamily="18" charset="0"/>
              </a:rPr>
              <a:t> amortization of the unrecognized net gain or loss from previous periods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a:xfrm rot="0">
          <a:off x="0" y="0"/>
          <a:ext cx="0" cy="0"/>
          <a:chOff x="0" y="0"/>
          <a:chExt cx="0" cy="0"/>
        </a:xfrm>
      </p:grpSpPr>
      <p:sp>
        <p:nvSpPr>
          <p:cNvPr id="1048757" name=""/>
          <p:cNvSpPr/>
          <p:nvPr>
            <p:ph type="sldImg" sz="full" idx="0"/>
          </p:nvPr>
        </p:nvSpPr>
        <p:spPr>
          <a:xfrm rot="0">
            <a:off x="1182687" y="698500"/>
            <a:ext cx="4640262" cy="3479800"/>
          </a:xfrm>
          <a:prstGeom prst="rect"/>
        </p:spPr>
        <p:txBody>
          <a:bodyPr anchor="ctr" bIns="45720" lIns="91440" rIns="91440" tIns="45720"/>
          <a:p/>
        </p:txBody>
      </p:sp>
      <p:sp>
        <p:nvSpPr>
          <p:cNvPr id="1048758" name=""/>
          <p:cNvSpPr/>
          <p:nvPr>
            <p:ph type="body" sz="full" idx="1"/>
          </p:nvPr>
        </p:nvSpPr>
        <p:spPr>
          <a:xfrm rot="0">
            <a:off x="933450" y="4413250"/>
            <a:ext cx="5137150" cy="4179887"/>
          </a:xfrm>
          <a:prstGeom prst="rect"/>
          <a:noFill/>
        </p:spPr>
        <p:txBody>
          <a:bodyPr anchor="t" bIns="46876" lIns="93751" rIns="93751" tIns="46876"/>
          <a:p>
            <a:endParaRPr altLang="en-US"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13" name=""/>
        <p:cNvGrpSpPr/>
        <p:nvPr/>
      </p:nvGrpSpPr>
      <p:grpSpPr>
        <a:xfrm rot="0">
          <a:off x="0" y="0"/>
          <a:ext cx="0" cy="0"/>
          <a:chOff x="0" y="0"/>
          <a:chExt cx="0" cy="0"/>
        </a:xfrm>
      </p:grpSpPr>
      <p:sp>
        <p:nvSpPr>
          <p:cNvPr id="1048770" name=""/>
          <p:cNvSpPr/>
          <p:nvPr>
            <p:ph type="sldImg" sz="full" idx="0"/>
          </p:nvPr>
        </p:nvSpPr>
        <p:spPr>
          <a:xfrm rot="0">
            <a:off x="1182687" y="698500"/>
            <a:ext cx="4640262" cy="3479800"/>
          </a:xfrm>
          <a:prstGeom prst="rect"/>
        </p:spPr>
        <p:txBody>
          <a:bodyPr anchor="ctr" bIns="45720" lIns="91440" rIns="91440" tIns="45720"/>
          <a:p/>
        </p:txBody>
      </p:sp>
      <p:sp>
        <p:nvSpPr>
          <p:cNvPr id="1048771" name=""/>
          <p:cNvSpPr/>
          <p:nvPr>
            <p:ph type="body" sz="full" idx="1"/>
          </p:nvPr>
        </p:nvSpPr>
        <p:spPr>
          <a:xfrm rot="0">
            <a:off x="933450" y="4413250"/>
            <a:ext cx="5137150" cy="4179887"/>
          </a:xfrm>
          <a:prstGeom prst="rect"/>
          <a:noFill/>
        </p:spPr>
        <p:txBody>
          <a:bodyPr anchor="t" bIns="46876" lIns="93751" rIns="93751" tIns="46876"/>
          <a:p>
            <a:endParaRPr altLang="en-US"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16" name=""/>
        <p:cNvGrpSpPr/>
        <p:nvPr/>
      </p:nvGrpSpPr>
      <p:grpSpPr>
        <a:xfrm rot="0">
          <a:off x="0" y="0"/>
          <a:ext cx="0" cy="0"/>
          <a:chOff x="0" y="0"/>
          <a:chExt cx="0" cy="0"/>
        </a:xfrm>
      </p:grpSpPr>
      <p:sp>
        <p:nvSpPr>
          <p:cNvPr id="1048783" name=""/>
          <p:cNvSpPr/>
          <p:nvPr>
            <p:ph type="sldImg" sz="full" idx="0"/>
          </p:nvPr>
        </p:nvSpPr>
        <p:spPr>
          <a:xfrm rot="0">
            <a:off x="1182687" y="698500"/>
            <a:ext cx="4640262" cy="3479800"/>
          </a:xfrm>
          <a:prstGeom prst="rect"/>
        </p:spPr>
        <p:txBody>
          <a:bodyPr anchor="ctr" bIns="45720" lIns="91440" rIns="91440" tIns="45720"/>
          <a:p/>
        </p:txBody>
      </p:sp>
      <p:sp>
        <p:nvSpPr>
          <p:cNvPr id="1048784" name=""/>
          <p:cNvSpPr/>
          <p:nvPr>
            <p:ph type="body" sz="full" idx="1"/>
          </p:nvPr>
        </p:nvSpPr>
        <p:spPr>
          <a:xfrm rot="0">
            <a:off x="933450" y="4413250"/>
            <a:ext cx="5137150" cy="4179887"/>
          </a:xfrm>
          <a:prstGeom prst="rect"/>
          <a:noFill/>
        </p:spPr>
        <p:txBody>
          <a:bodyPr anchor="t" bIns="46876" lIns="93751" rIns="93751" tIns="46876"/>
          <a:p>
            <a:endParaRPr altLang="en-US"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19" name=""/>
        <p:cNvGrpSpPr/>
        <p:nvPr/>
      </p:nvGrpSpPr>
      <p:grpSpPr>
        <a:xfrm rot="0">
          <a:off x="0" y="0"/>
          <a:ext cx="0" cy="0"/>
          <a:chOff x="0" y="0"/>
          <a:chExt cx="0" cy="0"/>
        </a:xfrm>
      </p:grpSpPr>
      <p:sp>
        <p:nvSpPr>
          <p:cNvPr id="1048796" name=""/>
          <p:cNvSpPr/>
          <p:nvPr>
            <p:ph type="sldImg" sz="full" idx="0"/>
          </p:nvPr>
        </p:nvSpPr>
        <p:spPr>
          <a:xfrm rot="0">
            <a:off x="1182687" y="698500"/>
            <a:ext cx="4640262" cy="3479800"/>
          </a:xfrm>
          <a:prstGeom prst="rect"/>
        </p:spPr>
        <p:txBody>
          <a:bodyPr anchor="ctr" bIns="45720" lIns="91440" rIns="91440" tIns="45720"/>
          <a:p/>
        </p:txBody>
      </p:sp>
      <p:sp>
        <p:nvSpPr>
          <p:cNvPr id="1048797" name=""/>
          <p:cNvSpPr/>
          <p:nvPr>
            <p:ph type="body" sz="full" idx="1"/>
          </p:nvPr>
        </p:nvSpPr>
        <p:spPr>
          <a:xfrm rot="0">
            <a:off x="933450" y="4413250"/>
            <a:ext cx="5137150" cy="4179887"/>
          </a:xfrm>
          <a:prstGeom prst="rect"/>
          <a:noFill/>
        </p:spPr>
        <p:txBody>
          <a:bodyPr anchor="t" bIns="46876" lIns="93751" rIns="93751" tIns="46876"/>
          <a:p>
            <a:endParaRPr altLang="en-US"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22" name=""/>
        <p:cNvGrpSpPr/>
        <p:nvPr/>
      </p:nvGrpSpPr>
      <p:grpSpPr>
        <a:xfrm rot="0">
          <a:off x="0" y="0"/>
          <a:ext cx="0" cy="0"/>
          <a:chOff x="0" y="0"/>
          <a:chExt cx="0" cy="0"/>
        </a:xfrm>
      </p:grpSpPr>
      <p:sp>
        <p:nvSpPr>
          <p:cNvPr id="1048802" name=""/>
          <p:cNvSpPr/>
          <p:nvPr>
            <p:ph type="sldImg" sz="full" idx="0"/>
          </p:nvPr>
        </p:nvSpPr>
        <p:spPr>
          <a:xfrm rot="0">
            <a:off x="1189037" y="703262"/>
            <a:ext cx="4627562" cy="3470275"/>
          </a:xfrm>
          <a:prstGeom prst="rect"/>
        </p:spPr>
        <p:txBody>
          <a:bodyPr anchor="ctr" bIns="45720" lIns="91440" rIns="91440" tIns="45720"/>
          <a:p/>
        </p:txBody>
      </p:sp>
      <p:sp>
        <p:nvSpPr>
          <p:cNvPr id="1048803"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25" name=""/>
        <p:cNvGrpSpPr/>
        <p:nvPr/>
      </p:nvGrpSpPr>
      <p:grpSpPr>
        <a:xfrm rot="0">
          <a:off x="0" y="0"/>
          <a:ext cx="0" cy="0"/>
          <a:chOff x="0" y="0"/>
          <a:chExt cx="0" cy="0"/>
        </a:xfrm>
      </p:grpSpPr>
      <p:sp>
        <p:nvSpPr>
          <p:cNvPr id="1048808" name=""/>
          <p:cNvSpPr/>
          <p:nvPr>
            <p:ph type="sldImg" sz="full" idx="0"/>
          </p:nvPr>
        </p:nvSpPr>
        <p:spPr>
          <a:xfrm rot="0">
            <a:off x="1189037" y="703262"/>
            <a:ext cx="4627562" cy="3470275"/>
          </a:xfrm>
          <a:prstGeom prst="rect"/>
        </p:spPr>
        <p:txBody>
          <a:bodyPr anchor="ctr" bIns="45720" lIns="91440" rIns="91440" tIns="45720"/>
          <a:p/>
        </p:txBody>
      </p:sp>
      <p:sp>
        <p:nvSpPr>
          <p:cNvPr id="104880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28" name=""/>
        <p:cNvGrpSpPr/>
        <p:nvPr/>
      </p:nvGrpSpPr>
      <p:grpSpPr>
        <a:xfrm rot="0">
          <a:off x="0" y="0"/>
          <a:ext cx="0" cy="0"/>
          <a:chOff x="0" y="0"/>
          <a:chExt cx="0" cy="0"/>
        </a:xfrm>
      </p:grpSpPr>
      <p:sp>
        <p:nvSpPr>
          <p:cNvPr id="1048813" name=""/>
          <p:cNvSpPr/>
          <p:nvPr>
            <p:ph type="sldImg" sz="full" idx="0"/>
          </p:nvPr>
        </p:nvSpPr>
        <p:spPr>
          <a:xfrm rot="0">
            <a:off x="1189037" y="703262"/>
            <a:ext cx="4627562" cy="3470275"/>
          </a:xfrm>
          <a:prstGeom prst="rect"/>
        </p:spPr>
        <p:txBody>
          <a:bodyPr anchor="ctr" bIns="45720" lIns="91440" rIns="91440" tIns="45720"/>
          <a:p/>
        </p:txBody>
      </p:sp>
      <p:sp>
        <p:nvSpPr>
          <p:cNvPr id="1048814"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rot="0">
          <a:off x="0" y="0"/>
          <a:ext cx="0" cy="0"/>
          <a:chOff x="0" y="0"/>
          <a:chExt cx="0" cy="0"/>
        </a:xfrm>
      </p:grpSpPr>
      <p:sp>
        <p:nvSpPr>
          <p:cNvPr id="1048835" name=""/>
          <p:cNvSpPr/>
          <p:nvPr>
            <p:ph type="sldImg" sz="full" idx="0"/>
          </p:nvPr>
        </p:nvSpPr>
        <p:spPr>
          <a:xfrm rot="0">
            <a:off x="1189037" y="703262"/>
            <a:ext cx="4627562" cy="3470275"/>
          </a:xfrm>
          <a:prstGeom prst="rect"/>
        </p:spPr>
        <p:txBody>
          <a:bodyPr anchor="ctr" bIns="45720" lIns="91440" rIns="91440" tIns="45720"/>
          <a:p/>
        </p:txBody>
      </p:sp>
      <p:sp>
        <p:nvSpPr>
          <p:cNvPr id="1048836" name=""/>
          <p:cNvSpPr/>
          <p:nvPr>
            <p:ph type="body" sz="full" idx="1"/>
          </p:nvPr>
        </p:nvSpPr>
        <p:spPr>
          <a:xfrm rot="0">
            <a:off x="388937" y="4413250"/>
            <a:ext cx="6303962" cy="4179887"/>
          </a:xfrm>
          <a:prstGeom prst="rect"/>
          <a:noFill/>
        </p:spPr>
        <p:txBody>
          <a:bodyPr anchor="t" bIns="45130" lIns="91871" rIns="91871" tIns="45130"/>
          <a:p>
            <a:pPr lvl="0">
              <a:lnSpc>
                <a:spcPct val="125000"/>
              </a:lnSpc>
            </a:pPr>
            <a:r>
              <a:rPr altLang="en-US" b="1" sz="1600" lang="en-US">
                <a:latin typeface="Comic Sans MS" pitchFamily="66" charset="0"/>
              </a:rPr>
              <a:t>Question 18 (Chapter 1)</a:t>
            </a:r>
            <a:r>
              <a:rPr altLang="en-US" sz="1600" lang="en-US">
                <a:latin typeface="Comic Sans MS" pitchFamily="66" charset="0"/>
              </a:rPr>
              <a:t>  No, this treatment is not proper. While the transactions does involve a receipt of cash, it does not represent revenues. Revenues are the gross increase in owner’s equity resulting from business activities entered into for the purpose of earning income. This transactions is simply an additional investment made by the owner in the business.</a:t>
            </a:r>
          </a:p>
          <a:p>
            <a:pPr lvl="0">
              <a:lnSpc>
                <a:spcPct val="125000"/>
              </a:lnSpc>
            </a:pPr>
            <a:endParaRPr altLang="en-US" sz="1600" lang="en-US">
              <a:latin typeface="Comic Sans MS" pitchFamily="66"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35" name=""/>
        <p:cNvGrpSpPr/>
        <p:nvPr/>
      </p:nvGrpSpPr>
      <p:grpSpPr>
        <a:xfrm rot="0">
          <a:off x="0" y="0"/>
          <a:ext cx="0" cy="0"/>
          <a:chOff x="0" y="0"/>
          <a:chExt cx="0" cy="0"/>
        </a:xfrm>
      </p:grpSpPr>
      <p:sp>
        <p:nvSpPr>
          <p:cNvPr id="1048865" name=""/>
          <p:cNvSpPr/>
          <p:nvPr>
            <p:ph type="sldImg" sz="full" idx="0"/>
          </p:nvPr>
        </p:nvSpPr>
        <p:spPr>
          <a:xfrm rot="0">
            <a:off x="1189037" y="703262"/>
            <a:ext cx="4627562" cy="3470275"/>
          </a:xfrm>
          <a:prstGeom prst="rect"/>
        </p:spPr>
        <p:txBody>
          <a:bodyPr anchor="ctr" bIns="45720" lIns="91440" rIns="91440" tIns="45720"/>
          <a:p/>
        </p:txBody>
      </p:sp>
      <p:sp>
        <p:nvSpPr>
          <p:cNvPr id="1048866"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52" name=""/>
        <p:cNvGrpSpPr/>
        <p:nvPr/>
      </p:nvGrpSpPr>
      <p:grpSpPr>
        <a:xfrm rot="0">
          <a:off x="0" y="0"/>
          <a:ext cx="0" cy="0"/>
          <a:chOff x="0" y="0"/>
          <a:chExt cx="0" cy="0"/>
        </a:xfrm>
      </p:grpSpPr>
      <p:sp>
        <p:nvSpPr>
          <p:cNvPr id="1049269" name=""/>
          <p:cNvSpPr/>
          <p:nvPr>
            <p:ph type="sldImg" sz="full" idx="0"/>
          </p:nvPr>
        </p:nvSpPr>
        <p:spPr>
          <a:xfrm rot="0">
            <a:off x="1189037" y="703262"/>
            <a:ext cx="4627562" cy="3470275"/>
          </a:xfrm>
          <a:prstGeom prst="rect"/>
        </p:spPr>
        <p:txBody>
          <a:bodyPr anchor="ctr" bIns="45720" lIns="91440" rIns="91440" tIns="45720"/>
          <a:p/>
        </p:txBody>
      </p:sp>
      <p:sp>
        <p:nvSpPr>
          <p:cNvPr id="1049270"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55" name=""/>
        <p:cNvGrpSpPr/>
        <p:nvPr/>
      </p:nvGrpSpPr>
      <p:grpSpPr>
        <a:xfrm rot="0">
          <a:off x="0" y="0"/>
          <a:ext cx="0" cy="0"/>
          <a:chOff x="0" y="0"/>
          <a:chExt cx="0" cy="0"/>
        </a:xfrm>
      </p:grpSpPr>
      <p:sp>
        <p:nvSpPr>
          <p:cNvPr id="1049278" name=""/>
          <p:cNvSpPr/>
          <p:nvPr>
            <p:ph type="sldImg" sz="full" idx="0"/>
          </p:nvPr>
        </p:nvSpPr>
        <p:spPr>
          <a:xfrm rot="0">
            <a:off x="1189037" y="703262"/>
            <a:ext cx="4627562" cy="3470275"/>
          </a:xfrm>
          <a:prstGeom prst="rect"/>
        </p:spPr>
        <p:txBody>
          <a:bodyPr anchor="ctr" bIns="45720" lIns="91440" rIns="91440" tIns="45720"/>
          <a:p/>
        </p:txBody>
      </p:sp>
      <p:sp>
        <p:nvSpPr>
          <p:cNvPr id="104927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58" name=""/>
        <p:cNvGrpSpPr/>
        <p:nvPr/>
      </p:nvGrpSpPr>
      <p:grpSpPr>
        <a:xfrm rot="0">
          <a:off x="0" y="0"/>
          <a:ext cx="0" cy="0"/>
          <a:chOff x="0" y="0"/>
          <a:chExt cx="0" cy="0"/>
        </a:xfrm>
      </p:grpSpPr>
      <p:sp>
        <p:nvSpPr>
          <p:cNvPr id="1049285" name=""/>
          <p:cNvSpPr/>
          <p:nvPr>
            <p:ph type="sldImg" sz="full" idx="0"/>
          </p:nvPr>
        </p:nvSpPr>
        <p:spPr>
          <a:xfrm rot="0">
            <a:off x="1189037" y="703262"/>
            <a:ext cx="4627562" cy="3470275"/>
          </a:xfrm>
          <a:prstGeom prst="rect"/>
        </p:spPr>
        <p:txBody>
          <a:bodyPr anchor="ctr" bIns="45720" lIns="91440" rIns="91440" tIns="45720"/>
          <a:p/>
        </p:txBody>
      </p:sp>
      <p:sp>
        <p:nvSpPr>
          <p:cNvPr id="1049286"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62" name=""/>
        <p:cNvGrpSpPr/>
        <p:nvPr/>
      </p:nvGrpSpPr>
      <p:grpSpPr>
        <a:xfrm rot="0">
          <a:off x="0" y="0"/>
          <a:ext cx="0" cy="0"/>
          <a:chOff x="0" y="0"/>
          <a:chExt cx="0" cy="0"/>
        </a:xfrm>
      </p:grpSpPr>
      <p:sp>
        <p:nvSpPr>
          <p:cNvPr id="1049292" name=""/>
          <p:cNvSpPr/>
          <p:nvPr>
            <p:ph type="sldImg" sz="full" idx="0"/>
          </p:nvPr>
        </p:nvSpPr>
        <p:spPr>
          <a:xfrm rot="0">
            <a:off x="1189037" y="703262"/>
            <a:ext cx="4627562" cy="3470275"/>
          </a:xfrm>
          <a:prstGeom prst="rect"/>
        </p:spPr>
        <p:txBody>
          <a:bodyPr anchor="ctr" bIns="45720" lIns="91440" rIns="91440" tIns="45720"/>
          <a:p/>
        </p:txBody>
      </p:sp>
      <p:sp>
        <p:nvSpPr>
          <p:cNvPr id="1049293"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65" name=""/>
        <p:cNvGrpSpPr/>
        <p:nvPr/>
      </p:nvGrpSpPr>
      <p:grpSpPr>
        <a:xfrm rot="0">
          <a:off x="0" y="0"/>
          <a:ext cx="0" cy="0"/>
          <a:chOff x="0" y="0"/>
          <a:chExt cx="0" cy="0"/>
        </a:xfrm>
      </p:grpSpPr>
      <p:sp>
        <p:nvSpPr>
          <p:cNvPr id="1049298" name=""/>
          <p:cNvSpPr/>
          <p:nvPr>
            <p:ph type="sldImg" sz="full" idx="0"/>
          </p:nvPr>
        </p:nvSpPr>
        <p:spPr>
          <a:xfrm rot="0">
            <a:off x="1189037" y="703262"/>
            <a:ext cx="4627562" cy="3470275"/>
          </a:xfrm>
          <a:prstGeom prst="rect"/>
        </p:spPr>
        <p:txBody>
          <a:bodyPr anchor="ctr" bIns="45720" lIns="91440" rIns="91440" tIns="45720"/>
          <a:p/>
        </p:txBody>
      </p:sp>
      <p:sp>
        <p:nvSpPr>
          <p:cNvPr id="1049299" name=""/>
          <p:cNvSpPr/>
          <p:nvPr>
            <p:ph type="body" sz="full" idx="1"/>
          </p:nvPr>
        </p:nvSpPr>
        <p:spPr>
          <a:xfrm rot="0">
            <a:off x="388937" y="4413250"/>
            <a:ext cx="6303962" cy="4179887"/>
          </a:xfrm>
          <a:prstGeom prst="rect"/>
          <a:noFill/>
        </p:spPr>
        <p:txBody>
          <a:bodyPr anchor="t" bIns="45130" lIns="91871" rIns="91871" tIns="45130"/>
          <a:p>
            <a:pPr lvl="0">
              <a:lnSpc>
                <a:spcPct val="125000"/>
              </a:lnSpc>
            </a:pPr>
            <a:r>
              <a:rPr altLang="en-US" b="1" sz="1600" lang="en-US">
                <a:latin typeface="Comic Sans MS" pitchFamily="66" charset="0"/>
              </a:rPr>
              <a:t>Question 19 (textbook)</a:t>
            </a:r>
            <a:r>
              <a:rPr altLang="en-US" sz="1600" lang="en-US">
                <a:latin typeface="Comic Sans MS" pitchFamily="66" charset="0"/>
              </a:rPr>
              <a:t>  Y e s . Net income does appear on the income statement — it is the result of subtracting expenses from revenues. In addition, net income appears in the statement of owner’s equity—it is shown as an addition to the beginning-of-period capital. Indirectly, the net income of a company is also included in the balance sheet. It is included in the capital account which appears in the owner’s equity section of the balance sheet.</a:t>
            </a:r>
          </a:p>
          <a:p>
            <a:pPr lvl="0">
              <a:lnSpc>
                <a:spcPct val="125000"/>
              </a:lnSpc>
            </a:pPr>
            <a:endParaRPr altLang="en-US" sz="1600" lang="en-US">
              <a:latin typeface="Comic Sans MS" pitchFamily="66" charset="0"/>
            </a:endParaRPr>
          </a:p>
          <a:p>
            <a:pPr lvl="0">
              <a:lnSpc>
                <a:spcPct val="125000"/>
              </a:lnSpc>
            </a:pPr>
            <a:endParaRPr altLang="en-US" sz="1600" lang="en-US">
              <a:latin typeface="Comic Sans MS" pitchFamily="66"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69" name=""/>
        <p:cNvGrpSpPr/>
        <p:nvPr/>
      </p:nvGrpSpPr>
      <p:grpSpPr>
        <a:xfrm rot="0">
          <a:off x="0" y="0"/>
          <a:ext cx="0" cy="0"/>
          <a:chOff x="0" y="0"/>
          <a:chExt cx="0" cy="0"/>
        </a:xfrm>
      </p:grpSpPr>
      <p:sp>
        <p:nvSpPr>
          <p:cNvPr id="1049308" name=""/>
          <p:cNvSpPr/>
          <p:nvPr>
            <p:ph type="sldImg" sz="full" idx="0"/>
          </p:nvPr>
        </p:nvSpPr>
        <p:spPr>
          <a:xfrm rot="0">
            <a:off x="1182687" y="698500"/>
            <a:ext cx="4638675" cy="3479800"/>
          </a:xfrm>
          <a:prstGeom prst="rect"/>
        </p:spPr>
        <p:txBody>
          <a:bodyPr anchor="ctr" bIns="45720" lIns="91440" rIns="91440" tIns="45720"/>
          <a:p/>
        </p:txBody>
      </p:sp>
      <p:sp>
        <p:nvSpPr>
          <p:cNvPr id="1049309" name=""/>
          <p:cNvSpPr/>
          <p:nvPr>
            <p:ph type="body" sz="full" idx="1"/>
          </p:nvPr>
        </p:nvSpPr>
        <p:spPr>
          <a:xfrm rot="0">
            <a:off x="933450" y="4413250"/>
            <a:ext cx="5137150" cy="4179887"/>
          </a:xfrm>
          <a:prstGeom prst="rect"/>
          <a:noFill/>
        </p:spPr>
        <p:txBody>
          <a:bodyPr anchor="t" bIns="46742" lIns="93482" rIns="93482" tIns="46742"/>
          <a:p>
            <a:endParaRPr altLang="en-US"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76" name=""/>
        <p:cNvGrpSpPr/>
        <p:nvPr/>
      </p:nvGrpSpPr>
      <p:grpSpPr>
        <a:xfrm>
          <a:off x="0" y="0"/>
          <a:ext cx="0" cy="0"/>
          <a:chOff x="0" y="0"/>
          <a:chExt cx="0" cy="0"/>
        </a:xfrm>
      </p:grpSpPr>
      <p:sp>
        <p:nvSpPr>
          <p:cNvPr id="1049328"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9329"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US"/>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 name=""/>
        <p:cNvGrpSpPr/>
        <p:nvPr/>
      </p:nvGrpSpPr>
      <p:grpSpPr>
        <a:xfrm>
          <a:off x="0" y="0"/>
          <a:ext cx="0" cy="0"/>
          <a:chOff x="0" y="0"/>
          <a:chExt cx="0" cy="0"/>
        </a:xfrm>
      </p:grpSpPr>
      <p:sp>
        <p:nvSpPr>
          <p:cNvPr id="1048584" name="Title 1"/>
          <p:cNvSpPr>
            <a:spLocks noGrp="1"/>
          </p:cNvSpPr>
          <p:nvPr>
            <p:ph type="title"/>
          </p:nvPr>
        </p:nvSpPr>
        <p:spPr/>
        <p:txBody>
          <a:bodyPr/>
          <a:p>
            <a:r>
              <a:rPr lang="en-US" smtClean="0"/>
              <a:t>Click to edit Master title style</a:t>
            </a:r>
            <a:endParaRPr lang="en-US"/>
          </a:p>
        </p:txBody>
      </p:sp>
      <p:sp>
        <p:nvSpPr>
          <p:cNvPr id="1048585"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74" name=""/>
        <p:cNvGrpSpPr/>
        <p:nvPr/>
      </p:nvGrpSpPr>
      <p:grpSpPr>
        <a:xfrm>
          <a:off x="0" y="0"/>
          <a:ext cx="0" cy="0"/>
          <a:chOff x="0" y="0"/>
          <a:chExt cx="0" cy="0"/>
        </a:xfrm>
      </p:grpSpPr>
      <p:sp>
        <p:nvSpPr>
          <p:cNvPr id="1049323"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9324"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75" name=""/>
        <p:cNvGrpSpPr/>
        <p:nvPr/>
      </p:nvGrpSpPr>
      <p:grpSpPr>
        <a:xfrm>
          <a:off x="0" y="0"/>
          <a:ext cx="0" cy="0"/>
          <a:chOff x="0" y="0"/>
          <a:chExt cx="0" cy="0"/>
        </a:xfrm>
      </p:grpSpPr>
      <p:sp>
        <p:nvSpPr>
          <p:cNvPr id="1049325" name="Title 1"/>
          <p:cNvSpPr>
            <a:spLocks noGrp="1"/>
          </p:cNvSpPr>
          <p:nvPr>
            <p:ph type="title"/>
          </p:nvPr>
        </p:nvSpPr>
        <p:spPr/>
        <p:txBody>
          <a:bodyPr/>
          <a:p>
            <a:r>
              <a:rPr lang="en-US" smtClean="0"/>
              <a:t>Click to edit Master title style</a:t>
            </a:r>
            <a:endParaRPr lang="en-US"/>
          </a:p>
        </p:txBody>
      </p:sp>
      <p:sp>
        <p:nvSpPr>
          <p:cNvPr id="1049326" name="Content Placeholder 2"/>
          <p:cNvSpPr>
            <a:spLocks noGrp="1"/>
          </p:cNvSpPr>
          <p:nvPr>
            <p:ph sz="half" idx="1"/>
          </p:nvPr>
        </p:nvSpPr>
        <p:spPr>
          <a:xfrm>
            <a:off x="3810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327" name="Content Placeholder 3"/>
          <p:cNvSpPr>
            <a:spLocks noGrp="1"/>
          </p:cNvSpPr>
          <p:nvPr>
            <p:ph sz="half" idx="2"/>
          </p:nvPr>
        </p:nvSpPr>
        <p:spPr>
          <a:xfrm>
            <a:off x="46482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73" name=""/>
        <p:cNvGrpSpPr/>
        <p:nvPr/>
      </p:nvGrpSpPr>
      <p:grpSpPr>
        <a:xfrm>
          <a:off x="0" y="0"/>
          <a:ext cx="0" cy="0"/>
          <a:chOff x="0" y="0"/>
          <a:chExt cx="0" cy="0"/>
        </a:xfrm>
      </p:grpSpPr>
      <p:sp>
        <p:nvSpPr>
          <p:cNvPr id="1049318" name="Title 1"/>
          <p:cNvSpPr>
            <a:spLocks noGrp="1"/>
          </p:cNvSpPr>
          <p:nvPr>
            <p:ph type="title"/>
          </p:nvPr>
        </p:nvSpPr>
        <p:spPr>
          <a:xfrm>
            <a:off x="457200" y="274638"/>
            <a:ext cx="8229600" cy="1143000"/>
          </a:xfrm>
        </p:spPr>
        <p:txBody>
          <a:bodyPr/>
          <a:p>
            <a:r>
              <a:rPr lang="en-US" smtClean="0"/>
              <a:t>Click to edit Master title style</a:t>
            </a:r>
            <a:endParaRPr lang="en-US"/>
          </a:p>
        </p:txBody>
      </p:sp>
      <p:sp>
        <p:nvSpPr>
          <p:cNvPr id="1049319"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320"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321"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322"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08" name=""/>
        <p:cNvGrpSpPr/>
        <p:nvPr/>
      </p:nvGrpSpPr>
      <p:grpSpPr>
        <a:xfrm>
          <a:off x="0" y="0"/>
          <a:ext cx="0" cy="0"/>
          <a:chOff x="0" y="0"/>
          <a:chExt cx="0" cy="0"/>
        </a:xfrm>
      </p:grpSpPr>
      <p:sp>
        <p:nvSpPr>
          <p:cNvPr id="1048756" name="Title 1"/>
          <p:cNvSpPr>
            <a:spLocks noGrp="1"/>
          </p:cNvSpPr>
          <p:nvPr>
            <p:ph type="title"/>
          </p:nvPr>
        </p:nvSpPr>
        <p:spPr/>
        <p:txBody>
          <a:bodyPr/>
          <a:p>
            <a:r>
              <a:rPr lang="en-US" smtClean="0"/>
              <a:t>Click to edit Master title style</a:t>
            </a:r>
            <a:endParaRPr lang="en-US"/>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60" name=""/>
        <p:cNvGrpSpPr/>
        <p:nvPr/>
      </p:nvGrpSpPr>
      <p:grpSpPr>
        <a:xfrm>
          <a:off x="0" y="0"/>
          <a:ext cx="0" cy="0"/>
          <a:chOff x="0" y="0"/>
          <a:chExt cx="0" cy="0"/>
        </a:xfrm>
      </p:grpSpPr>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70" name=""/>
        <p:cNvGrpSpPr/>
        <p:nvPr/>
      </p:nvGrpSpPr>
      <p:grpSpPr>
        <a:xfrm>
          <a:off x="0" y="0"/>
          <a:ext cx="0" cy="0"/>
          <a:chOff x="0" y="0"/>
          <a:chExt cx="0" cy="0"/>
        </a:xfrm>
      </p:grpSpPr>
      <p:sp>
        <p:nvSpPr>
          <p:cNvPr id="1049310"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931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312"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72" name=""/>
        <p:cNvGrpSpPr/>
        <p:nvPr/>
      </p:nvGrpSpPr>
      <p:grpSpPr>
        <a:xfrm>
          <a:off x="0" y="0"/>
          <a:ext cx="0" cy="0"/>
          <a:chOff x="0" y="0"/>
          <a:chExt cx="0" cy="0"/>
        </a:xfrm>
      </p:grpSpPr>
      <p:sp>
        <p:nvSpPr>
          <p:cNvPr id="1049315"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9316" name="Picture Placeholder 2"/>
          <p:cNvSpPr>
            <a:spLocks noGrp="1"/>
          </p:cNvSpPr>
          <p:nvPr>
            <p:ph type="pic" idx="1"/>
          </p:nvPr>
        </p:nvSpPr>
        <p:spPr>
          <a:xfrm>
            <a:off x="1792288" y="612775"/>
            <a:ext cx="5486400" cy="4114800"/>
          </a:xfrm>
        </p:spPr>
        <p:txBody>
          <a:bodyPr anchor="t" anchorCtr="0" bIns="46038" compatLnSpc="1" lIns="182562" numCol="1" rIns="182562" tIns="46038"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
                <a:schemeClr val="accent2"/>
              </a:buClr>
              <a:buSzPct val="75000"/>
              <a:buFont typeface="Wingdings" pitchFamily="2" charset="2"/>
              <a:buNone/>
            </a:pPr>
            <a:endParaRPr baseline="0" b="1" cap="none" sz="3200" i="0" kern="0" kumimoji="0" lang="en-US" noProof="0" normalizeH="0" spc="0" strike="noStrike" u="none" smtClean="0">
              <a:ln>
                <a:noFill/>
              </a:ln>
              <a:solidFill>
                <a:schemeClr val="bg2"/>
              </a:solidFill>
              <a:effectLst>
                <a:outerShdw algn="tl" blurRad="38100" dir="2700000" dist="38100">
                  <a:srgbClr val="C0C0C0"/>
                </a:outerShdw>
              </a:effectLst>
              <a:uLnTx/>
              <a:uFillTx/>
              <a:latin typeface="+mn-lt"/>
              <a:ea typeface="+mn-ea"/>
              <a:cs typeface="+mn-cs"/>
            </a:endParaRPr>
          </a:p>
        </p:txBody>
      </p:sp>
      <p:sp>
        <p:nvSpPr>
          <p:cNvPr id="1049317"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77" name=""/>
        <p:cNvGrpSpPr/>
        <p:nvPr/>
      </p:nvGrpSpPr>
      <p:grpSpPr>
        <a:xfrm>
          <a:off x="0" y="0"/>
          <a:ext cx="0" cy="0"/>
          <a:chOff x="0" y="0"/>
          <a:chExt cx="0" cy="0"/>
        </a:xfrm>
      </p:grpSpPr>
      <p:sp>
        <p:nvSpPr>
          <p:cNvPr id="1049330" name="Title 1"/>
          <p:cNvSpPr>
            <a:spLocks noGrp="1"/>
          </p:cNvSpPr>
          <p:nvPr>
            <p:ph type="title"/>
          </p:nvPr>
        </p:nvSpPr>
        <p:spPr/>
        <p:txBody>
          <a:bodyPr/>
          <a:p>
            <a:r>
              <a:rPr lang="en-US" smtClean="0"/>
              <a:t>Click to edit Master title style</a:t>
            </a:r>
            <a:endParaRPr lang="en-US"/>
          </a:p>
        </p:txBody>
      </p:sp>
      <p:sp>
        <p:nvSpPr>
          <p:cNvPr id="1049331"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71" name=""/>
        <p:cNvGrpSpPr/>
        <p:nvPr/>
      </p:nvGrpSpPr>
      <p:grpSpPr>
        <a:xfrm>
          <a:off x="0" y="0"/>
          <a:ext cx="0" cy="0"/>
          <a:chOff x="0" y="0"/>
          <a:chExt cx="0" cy="0"/>
        </a:xfrm>
      </p:grpSpPr>
      <p:sp>
        <p:nvSpPr>
          <p:cNvPr id="1049313" name="Vertical Title 1"/>
          <p:cNvSpPr>
            <a:spLocks noGrp="1"/>
          </p:cNvSpPr>
          <p:nvPr>
            <p:ph type="title" orient="vert"/>
          </p:nvPr>
        </p:nvSpPr>
        <p:spPr>
          <a:xfrm>
            <a:off x="6667500" y="354013"/>
            <a:ext cx="2095500" cy="5589587"/>
          </a:xfrm>
        </p:spPr>
        <p:txBody>
          <a:bodyPr vert="eaVert"/>
          <a:p>
            <a:r>
              <a:rPr lang="en-US" smtClean="0"/>
              <a:t>Click to edit Master title style</a:t>
            </a:r>
            <a:endParaRPr lang="en-US"/>
          </a:p>
        </p:txBody>
      </p:sp>
      <p:sp>
        <p:nvSpPr>
          <p:cNvPr id="1049314" name="Vertical Text Placeholder 2"/>
          <p:cNvSpPr>
            <a:spLocks noGrp="1"/>
          </p:cNvSpPr>
          <p:nvPr>
            <p:ph type="body" orient="vert" idx="1"/>
          </p:nvPr>
        </p:nvSpPr>
        <p:spPr>
          <a:xfrm>
            <a:off x="381000" y="354013"/>
            <a:ext cx="6134100" cy="5589587"/>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22" name=""/>
        <p:cNvGrpSpPr/>
        <p:nvPr/>
      </p:nvGrpSpPr>
      <p:grpSpPr>
        <a:xfrm rot="0">
          <a:off x="0" y="0"/>
          <a:ext cx="0" cy="0"/>
          <a:chOff x="0" y="0"/>
          <a:chExt cx="0" cy="0"/>
        </a:xfrm>
      </p:grpSpPr>
      <p:sp>
        <p:nvSpPr>
          <p:cNvPr id="1048576" name=""/>
          <p:cNvSpPr/>
          <p:nvPr>
            <p:ph type="title" sz="full" idx="0"/>
          </p:nvPr>
        </p:nvSpPr>
        <p:spPr>
          <a:xfrm rot="0">
            <a:off x="1149350" y="354012"/>
            <a:ext cx="7607300" cy="560387"/>
          </a:xfrm>
          <a:prstGeom prst="rect"/>
          <a:solidFill>
            <a:srgbClr val="003399"/>
          </a:solidFill>
          <a:ln w="63500" cap="flat" cmpd="sng">
            <a:solidFill>
              <a:srgbClr val="54385C">
                <a:alpha val="100000"/>
              </a:srgbClr>
            </a:solidFill>
            <a:prstDash val="solid"/>
            <a:round/>
          </a:ln>
        </p:spPr>
        <p:txBody>
          <a:bodyPr anchor="ctr" bIns="46038" lIns="92075" rIns="92075" tIns="46038"/>
          <a:p>
            <a:pPr lvl="0"/>
            <a:r>
              <a:rPr altLang="en-US" lang="en-US"/>
              <a:t>Click to edit Master title style</a:t>
            </a:r>
          </a:p>
        </p:txBody>
      </p:sp>
      <p:sp>
        <p:nvSpPr>
          <p:cNvPr id="1048577" name=""/>
          <p:cNvSpPr/>
          <p:nvPr>
            <p:ph type="body" sz="full" idx="1"/>
          </p:nvPr>
        </p:nvSpPr>
        <p:spPr>
          <a:xfrm rot="0">
            <a:off x="381000" y="1143000"/>
            <a:ext cx="8382000" cy="4800600"/>
          </a:xfrm>
          <a:prstGeom prst="rect"/>
          <a:noFill/>
          <a:ln>
            <a:noFill/>
          </a:ln>
        </p:spPr>
        <p:txBody>
          <a:bodyPr bIns="46038" lIns="182562" rIns="182562" tIns="46038"/>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578" name=""/>
          <p:cNvSpPr txBox="1"/>
          <p:nvPr/>
        </p:nvSpPr>
        <p:spPr>
          <a:xfrm rot="0">
            <a:off x="152400" y="6248400"/>
            <a:ext cx="838200" cy="457200"/>
          </a:xfrm>
          <a:prstGeom prst="rect"/>
          <a:noFill/>
          <a:ln>
            <a:noFill/>
          </a:ln>
        </p:spPr>
        <p:txBody>
          <a:bodyPr bIns="45720" lIns="91440" rIns="91440" tIns="45720">
            <a:spAutoFit/>
          </a:bodyPr>
          <a:lstStyle>
            <a:lvl1pPr algn="l" eaLnBrk="1" fontAlgn="base" hangingPunct="1" indent="0" latinLnBrk="1" marL="0" rtl="0">
              <a:lnSpc>
                <a:spcPct val="100000"/>
              </a:lnSpc>
              <a:spcBef>
                <a:spcPct val="0"/>
              </a:spcBef>
              <a:spcAft>
                <a:spcPct val="0"/>
              </a:spcAft>
              <a:buFontTx/>
              <a:buNone/>
              <a:defRPr baseline="0" b="0" sz="1800" i="0">
                <a:solidFill>
                  <a:schemeClr val="dk1"/>
                </a:solidFill>
                <a:latin typeface="Arial" pitchFamily="34" charset="0"/>
                <a:sym typeface="Times New Roman" pitchFamily="18" charset="0"/>
              </a:defRPr>
            </a:lvl1pPr>
            <a:lvl2pPr algn="l" eaLnBrk="1" fontAlgn="base" hangingPunct="1" indent="0" latinLnBrk="1" marL="457200" rtl="0">
              <a:lnSpc>
                <a:spcPct val="100000"/>
              </a:lnSpc>
              <a:spcBef>
                <a:spcPct val="0"/>
              </a:spcBef>
              <a:spcAft>
                <a:spcPct val="0"/>
              </a:spcAft>
              <a:buFontTx/>
              <a:buNone/>
              <a:defRPr baseline="0" b="0" sz="1800" i="0">
                <a:solidFill>
                  <a:schemeClr val="dk1"/>
                </a:solidFill>
                <a:latin typeface="Arial" pitchFamily="34" charset="0"/>
                <a:sym typeface="Times New Roman" pitchFamily="18" charset="0"/>
              </a:defRPr>
            </a:lvl2pPr>
            <a:lvl3pPr algn="l" eaLnBrk="1" fontAlgn="base" hangingPunct="1" indent="0" latinLnBrk="1" marL="914400" rtl="0">
              <a:lnSpc>
                <a:spcPct val="100000"/>
              </a:lnSpc>
              <a:spcBef>
                <a:spcPct val="0"/>
              </a:spcBef>
              <a:spcAft>
                <a:spcPct val="0"/>
              </a:spcAft>
              <a:buFontTx/>
              <a:buNone/>
              <a:defRPr baseline="0" b="0" sz="1800" i="0">
                <a:solidFill>
                  <a:schemeClr val="dk1"/>
                </a:solidFill>
                <a:latin typeface="Arial" pitchFamily="34" charset="0"/>
                <a:sym typeface="Times New Roman" pitchFamily="18" charset="0"/>
              </a:defRPr>
            </a:lvl3pPr>
            <a:lvl4pPr algn="l" eaLnBrk="1" fontAlgn="base" hangingPunct="1" indent="0" latinLnBrk="1" marL="1371600" rtl="0">
              <a:lnSpc>
                <a:spcPct val="100000"/>
              </a:lnSpc>
              <a:spcBef>
                <a:spcPct val="0"/>
              </a:spcBef>
              <a:spcAft>
                <a:spcPct val="0"/>
              </a:spcAft>
              <a:buFontTx/>
              <a:buNone/>
              <a:defRPr baseline="0" b="0" sz="1800" i="0">
                <a:solidFill>
                  <a:schemeClr val="dk1"/>
                </a:solidFill>
                <a:latin typeface="Arial" pitchFamily="34" charset="0"/>
                <a:sym typeface="Times New Roman" pitchFamily="18" charset="0"/>
              </a:defRPr>
            </a:lvl4pPr>
            <a:lvl5pPr algn="l" eaLnBrk="1" fontAlgn="base" hangingPunct="1" indent="0" latinLnBrk="1" marL="1828800" rtl="0">
              <a:lnSpc>
                <a:spcPct val="100000"/>
              </a:lnSpc>
              <a:spcBef>
                <a:spcPct val="0"/>
              </a:spcBef>
              <a:spcAft>
                <a:spcPct val="0"/>
              </a:spcAft>
              <a:buFontTx/>
              <a:buNone/>
              <a:defRPr baseline="0" b="0" sz="1800" i="0">
                <a:solidFill>
                  <a:schemeClr val="dk1"/>
                </a:solidFill>
                <a:latin typeface="Arial" pitchFamily="34" charset="0"/>
                <a:sym typeface="Times New Roman" pitchFamily="18" charset="0"/>
              </a:defRPr>
            </a:lvl5pPr>
          </a:lstStyle>
          <a:p>
            <a:pPr lvl="0">
              <a:spcBef>
                <a:spcPct val="50000"/>
              </a:spcBef>
            </a:pPr>
            <a:r>
              <a:rPr altLang="en-US" b="1" sz="1200" lang="en-US">
                <a:latin typeface="Arial" pitchFamily="34" charset="0"/>
              </a:rPr>
              <a:t>Chapter 1-</a:t>
            </a:r>
            <a:fld id="{566ABCEB-ACFC-4714-9973-3DA970169C29}" type="slidenum">
              <a:rPr altLang="en-US" b="1" sz="1200" lang="en-US">
                <a:latin typeface="Arial" pitchFamily="34" charset="0"/>
              </a:rPr>
              <a:pPr lvl="0">
                <a:spcBef>
                  <a:spcPct val="50000"/>
                </a:spcBef>
              </a:pPr>
            </a:fld>
            <a:endParaRPr altLang="en-US" b="1" sz="1200" lang="en-US">
              <a:latin typeface="Arial" pitchFamily="34" charset="0"/>
            </a:endParaRPr>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mj-lt"/>
          <a:ea typeface="+mj-ea"/>
          <a:cs typeface="+mj-cs"/>
        </a:defRPr>
      </a:lvl1pPr>
      <a:lvl2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2pPr>
      <a:lvl3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3pPr>
      <a:lvl4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4pPr>
      <a:lvl5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5pPr>
      <a:lvl6pPr algn="ctr" eaLnBrk="0" fontAlgn="base" hangingPunct="0" marL="4572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6pPr>
      <a:lvl7pPr algn="ctr" eaLnBrk="0" fontAlgn="base" hangingPunct="0" marL="9144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7pPr>
      <a:lvl8pPr algn="ctr" eaLnBrk="0" fontAlgn="base" hangingPunct="0" marL="13716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8pPr>
      <a:lvl9pPr algn="ctr" eaLnBrk="0" fontAlgn="base" hangingPunct="0" marL="18288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9pPr>
    </p:titleStyle>
    <p:bodyStyle>
      <a:lvl1pPr algn="l" eaLnBrk="0" fontAlgn="base" hangingPunct="0" indent="-342900" marL="342900" rtl="0">
        <a:spcBef>
          <a:spcPct val="20000"/>
        </a:spcBef>
        <a:spcAft>
          <a:spcPct val="0"/>
        </a:spcAft>
        <a:buClr>
          <a:schemeClr val="accent2"/>
        </a:buClr>
        <a:buSzPct val="75000"/>
        <a:buFont typeface="Wingdings" pitchFamily="2" charset="2"/>
        <a:buChar char="l"/>
        <a:defRPr b="1" sz="2800">
          <a:solidFill>
            <a:schemeClr val="bg2"/>
          </a:solidFill>
          <a:effectLst>
            <a:outerShdw algn="tl" blurRad="38100" dir="2700000" dist="38100">
              <a:srgbClr val="C0C0C0"/>
            </a:outerShdw>
          </a:effectLst>
          <a:latin typeface="+mn-lt"/>
          <a:ea typeface="+mn-ea"/>
          <a:cs typeface="+mn-cs"/>
        </a:defRPr>
      </a:lvl1pPr>
      <a:lvl2pPr algn="l" eaLnBrk="0" fontAlgn="base" hangingPunct="0" indent="-285750" marL="742950" rtl="0">
        <a:spcBef>
          <a:spcPct val="20000"/>
        </a:spcBef>
        <a:spcAft>
          <a:spcPct val="0"/>
        </a:spcAft>
        <a:buClr>
          <a:schemeClr val="accent2"/>
        </a:buClr>
        <a:buSzPct val="75000"/>
        <a:buFont typeface="Wingdings" pitchFamily="2" charset="2"/>
        <a:buChar char="l"/>
        <a:defRPr b="1" sz="2400">
          <a:solidFill>
            <a:schemeClr val="bg2"/>
          </a:solidFill>
          <a:effectLst>
            <a:outerShdw algn="tl" blurRad="38100" dir="2700000" dist="38100">
              <a:srgbClr val="C0C0C0"/>
            </a:outerShdw>
          </a:effectLst>
          <a:latin typeface="+mn-lt"/>
        </a:defRPr>
      </a:lvl2pPr>
      <a:lvl3pPr algn="l" eaLnBrk="0" fontAlgn="base" hangingPunct="0" indent="-228600" marL="11430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3pPr>
      <a:lvl4pPr algn="l" eaLnBrk="0" fontAlgn="base" hangingPunct="0" indent="-228600" marL="16002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4pPr>
      <a:lvl5pPr algn="l" eaLnBrk="0" fontAlgn="base" hangingPunct="0" indent="-228600" marL="20574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5pPr>
      <a:lvl6pPr algn="l" eaLnBrk="0" fontAlgn="base" hangingPunct="0" indent="-228600" marL="25146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6pPr>
      <a:lvl7pPr algn="l" eaLnBrk="0" fontAlgn="base" hangingPunct="0" indent="-228600" marL="29718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7pPr>
      <a:lvl8pPr algn="l" eaLnBrk="0" fontAlgn="base" hangingPunct="0" indent="-228600" marL="34290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8pPr>
      <a:lvl9pPr algn="l" eaLnBrk="0" fontAlgn="base" hangingPunct="0" indent="-228600" marL="38862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hyperlink" Target="http://www.fasb.org/" TargetMode="External"/><Relationship Id="rId3" Type="http://schemas.openxmlformats.org/officeDocument/2006/relationships/image" Target="../media/image7.png"/><Relationship Id="rId4" Type="http://schemas.openxmlformats.org/officeDocument/2006/relationships/hyperlink" Target="http://www.sec.gov/" TargetMode="External"/><Relationship Id="rId5" Type="http://schemas.openxmlformats.org/officeDocument/2006/relationships/hyperlink" Target="http://www.iasb.org/" TargetMode="External"/><Relationship Id="rId6" Type="http://schemas.openxmlformats.org/officeDocument/2006/relationships/image" Target="../media/image8.png"/><Relationship Id="rId7"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themeOverride" Target="../theme/themeOverride8.xml"/><Relationship Id="rId2"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themeOverride" Target="../theme/themeOverride9.xml"/><Relationship Id="rId2"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themeOverride" Target="../theme/themeOverride10.xml"/><Relationship Id="rId2"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emf"/><Relationship Id="rId3"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image" Target="../media/image13.emf"/><Relationship Id="rId2" Type="http://schemas.openxmlformats.org/officeDocument/2006/relationships/image" Target="../media/image14.emf"/><Relationship Id="rId3"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image" Target="../media/image15.emf"/><Relationship Id="rId2" Type="http://schemas.openxmlformats.org/officeDocument/2006/relationships/image" Target="../media/image1.png"/><Relationship Id="rId3"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image" Target="../media/image16.emf"/><Relationship Id="rId2" Type="http://schemas.openxmlformats.org/officeDocument/2006/relationships/image" Target="../media/image17.emf"/><Relationship Id="rId3"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8.emf"/><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image" Target="../media/image19.emf"/><Relationship Id="rId2" Type="http://schemas.openxmlformats.org/officeDocument/2006/relationships/image" Target="../media/image20.emf"/><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image" Target="../media/image21.emf"/><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86" name=""/>
        <p:cNvGrpSpPr/>
        <p:nvPr/>
      </p:nvGrpSpPr>
      <p:grpSpPr>
        <a:xfrm rot="0">
          <a:off x="0" y="0"/>
          <a:ext cx="0" cy="0"/>
          <a:chOff x="0" y="0"/>
          <a:chExt cx="0" cy="0"/>
        </a:xfrm>
      </p:grpSpPr>
      <p:sp>
        <p:nvSpPr>
          <p:cNvPr id="1048671" name=""/>
          <p:cNvSpPr/>
          <p:nvPr>
            <p:ph type="title" sz="full" idx="0"/>
          </p:nvPr>
        </p:nvSpPr>
        <p:spPr>
          <a:xfrm rot="0">
            <a:off x="768350" y="381000"/>
            <a:ext cx="7607300" cy="838200"/>
          </a:xfrm>
          <a:prstGeom prst="rect"/>
          <a:solidFill>
            <a:srgbClr val="003399"/>
          </a:solidFill>
          <a:ln w="63500" cap="flat" cmpd="sng">
            <a:solidFill>
              <a:srgbClr val="54385C">
                <a:alpha val="100000"/>
              </a:srgbClr>
            </a:solidFill>
            <a:prstDash val="solid"/>
            <a:round/>
          </a:ln>
        </p:spPr>
        <p:txBody>
          <a:bodyPr anchor="ctr" bIns="46038" lIns="92075" rIns="92075" tIns="46038"/>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lvl="0"/>
            <a:r>
              <a:rPr altLang="en-US" sz="4000" lang="en-US">
                <a:solidFill>
                  <a:schemeClr val="lt1"/>
                </a:solidFill>
                <a:effectLst>
                  <a:outerShdw algn="tl" blurRad="38100" dir="2700000" dist="38100">
                    <a:srgbClr val="C0C0C0"/>
                  </a:outerShdw>
                </a:effectLst>
              </a:rPr>
              <a:t>CHAPTER </a:t>
            </a:r>
            <a:r>
              <a:rPr altLang="en-US" sz="4000" lang="en-US">
                <a:solidFill>
                  <a:srgbClr val="FFFF00"/>
                </a:solidFill>
                <a:effectLst>
                  <a:outerShdw algn="tl" blurRad="38100" dir="2700000" dist="38100">
                    <a:srgbClr val="C0C0C0"/>
                  </a:outerShdw>
                </a:effectLst>
              </a:rPr>
              <a:t>1</a:t>
            </a:r>
          </a:p>
        </p:txBody>
      </p:sp>
      <p:sp>
        <p:nvSpPr>
          <p:cNvPr id="1048672" name=""/>
          <p:cNvSpPr/>
          <p:nvPr>
            <p:ph type="body" sz="full" idx="1"/>
          </p:nvPr>
        </p:nvSpPr>
        <p:spPr>
          <a:xfrm rot="0">
            <a:off x="381000" y="1981200"/>
            <a:ext cx="8382000" cy="4267200"/>
          </a:xfrm>
          <a:prstGeom prst="rect"/>
          <a:noFill/>
          <a:ln>
            <a:noFill/>
          </a:ln>
        </p:spPr>
        <p:txBody>
          <a:bodyPr anchor="t" bIns="46038" lIns="182562" rIns="182562" tIns="46038"/>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34" charset="0"/>
                <a:sym typeface="Times New Roman" pitchFamily="18"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34" charset="0"/>
                <a:sym typeface="Times New Roman" pitchFamily="18"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5pPr>
          </a:lstStyle>
          <a:p>
            <a:pPr algn="ctr" lvl="0">
              <a:buNone/>
            </a:pPr>
            <a:r>
              <a:rPr altLang="en-US" sz="6600" lang="en-US">
                <a:solidFill>
                  <a:srgbClr val="800000"/>
                </a:solidFill>
                <a:effectLst>
                  <a:outerShdw algn="tl" blurRad="38100" dir="2700000" dist="38100">
                    <a:srgbClr val="C0C0C0"/>
                  </a:outerShdw>
                </a:effectLst>
              </a:rPr>
              <a:t>ACCOUNTING IN ACTION</a:t>
            </a:r>
          </a:p>
        </p:txBody>
      </p:sp>
      <p:sp>
        <p:nvSpPr>
          <p:cNvPr id="1048673" name=""/>
          <p:cNvSpPr txBox="1"/>
          <p:nvPr/>
        </p:nvSpPr>
        <p:spPr>
          <a:xfrm rot="0">
            <a:off x="1371600" y="56388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000" lang="en-US"/>
              <a:t>Accounting Principles,  Eighth Edition</a:t>
            </a:r>
          </a:p>
        </p:txBody>
      </p:sp>
    </p:spTree>
  </p:cSld>
  <p:clrMapOvr>
    <a:masterClrMapping/>
  </p:clrMapOvr>
  <p:transition spd="fast" advClick="1">
    <p:wipe dir="r"/>
  </p:transition>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83" name=""/>
        <p:cNvGrpSpPr/>
        <p:nvPr/>
      </p:nvGrpSpPr>
      <p:grpSpPr>
        <a:xfrm rot="0">
          <a:off x="0" y="0"/>
          <a:ext cx="0" cy="0"/>
          <a:chOff x="0" y="0"/>
          <a:chExt cx="0" cy="0"/>
        </a:xfrm>
      </p:grpSpPr>
      <p:sp>
        <p:nvSpPr>
          <p:cNvPr id="1048667" name=""/>
          <p:cNvSpPr/>
          <p:nvPr>
            <p:ph type="body" sz="full" idx="1"/>
          </p:nvPr>
        </p:nvSpPr>
        <p:spPr>
          <a:xfrm rot="0">
            <a:off x="622300" y="1371600"/>
            <a:ext cx="8216900" cy="4794250"/>
          </a:xfrm>
          <a:prstGeom prst="rect"/>
          <a:noFill/>
          <a:ln>
            <a:noFill/>
          </a:ln>
        </p:spPr>
        <p:txBody>
          <a:bodyPr anchor="t" bIns="44450" lIns="90488" rIns="90488" tIns="44450"/>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34" charset="0"/>
                <a:sym typeface="Times New Roman" pitchFamily="18"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34" charset="0"/>
                <a:sym typeface="Times New Roman" pitchFamily="18"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5pPr>
          </a:lstStyle>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Explain what accounting is.</a:t>
            </a:r>
          </a:p>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Identify the users and uses of accounting.</a:t>
            </a:r>
          </a:p>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Understand why ethics is a fundamental business concept.</a:t>
            </a:r>
          </a:p>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Explain generally accepted accounting principles and the cost principle.</a:t>
            </a:r>
          </a:p>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Explain the monetary unit assumption and the economic entity assumption.</a:t>
            </a:r>
          </a:p>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State the accounting equation, and define assets, liabilities, and owner’s equity.</a:t>
            </a:r>
          </a:p>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Analyze the effects of business transactions on the accounting equation.</a:t>
            </a:r>
          </a:p>
          <a:p>
            <a:pPr indent="-533400" lvl="0" marL="533400">
              <a:lnSpc>
                <a:spcPct val="90000"/>
              </a:lnSpc>
              <a:spcBef>
                <a:spcPct val="40000"/>
              </a:spcBef>
              <a:buClr>
                <a:srgbClr val="000066"/>
              </a:buClr>
              <a:buFont typeface="Wingdings" pitchFamily="2" charset="2"/>
              <a:buAutoNum type="arabicPeriod" startAt="1"/>
            </a:pPr>
            <a:r>
              <a:rPr altLang="en-US" b="0" sz="2100" lang="en-US">
                <a:solidFill>
                  <a:srgbClr val="000000"/>
                </a:solidFill>
                <a:latin typeface="Comic Sans MS" pitchFamily="66" charset="0"/>
              </a:rPr>
              <a:t>Understand the four financial statements and how they are prepared.</a:t>
            </a:r>
          </a:p>
        </p:txBody>
      </p:sp>
      <p:sp>
        <p:nvSpPr>
          <p:cNvPr id="104866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indent="0" lvl="0" marL="109537"/>
            <a:r>
              <a:rPr altLang="en-US" lang="en-US">
                <a:solidFill>
                  <a:srgbClr val="FFCC00"/>
                </a:solidFill>
                <a:effectLst>
                  <a:outerShdw algn="tl" blurRad="38100" dir="2700000" dist="38100">
                    <a:srgbClr val="C0C0C0"/>
                  </a:outerShdw>
                </a:effectLst>
              </a:rPr>
              <a:t>Study Objectives</a:t>
            </a:r>
          </a:p>
        </p:txBody>
      </p:sp>
    </p:spTree>
  </p:cSld>
  <p:clrMapOvr>
    <a:masterClrMapping/>
  </p:clrMapOvr>
  <p:transition spd="fast" advClick="1">
    <p:wipe dir="r"/>
  </p:transition>
  <p:timing/>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77" name=""/>
        <p:cNvGrpSpPr/>
        <p:nvPr/>
      </p:nvGrpSpPr>
      <p:grpSpPr>
        <a:xfrm rot="0">
          <a:off x="0" y="0"/>
          <a:ext cx="0" cy="0"/>
          <a:chOff x="0" y="0"/>
          <a:chExt cx="0" cy="0"/>
        </a:xfrm>
      </p:grpSpPr>
      <p:sp>
        <p:nvSpPr>
          <p:cNvPr id="1048644" name=""/>
          <p:cNvSpPr/>
          <p:nvPr/>
        </p:nvSpPr>
        <p:spPr>
          <a:xfrm rot="0" flipH="1">
            <a:off x="4495800" y="1093787"/>
            <a:ext cx="76200" cy="430212"/>
          </a:xfrm>
          <a:custGeom>
            <a:avLst/>
            <a:gdLst>
              <a:gd name="l" fmla="*/ 0 w 1"/>
              <a:gd name="t" fmla="*/ 0 h 175"/>
              <a:gd name="r" fmla="*/ 1 w 1"/>
              <a:gd name="b" fmla="*/ 175 h 175"/>
            </a:gdLst>
            <a:ahLst/>
            <a:rect l="l" t="t" r="r" b="b"/>
            <a:pathLst>
              <a:path w="1" h="175">
                <a:moveTo>
                  <a:pt x="0" y="0"/>
                </a:moveTo>
                <a:lnTo>
                  <a:pt x="0" y="175"/>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45" name=""/>
          <p:cNvSpPr/>
          <p:nvPr/>
        </p:nvSpPr>
        <p:spPr>
          <a:xfrm rot="0">
            <a:off x="8151812"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46" name=""/>
          <p:cNvSpPr/>
          <p:nvPr/>
        </p:nvSpPr>
        <p:spPr>
          <a:xfrm rot="0">
            <a:off x="1065212"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47" name=""/>
          <p:cNvSpPr/>
          <p:nvPr/>
        </p:nvSpPr>
        <p:spPr>
          <a:xfrm rot="0">
            <a:off x="1066800" y="1524000"/>
            <a:ext cx="7102475" cy="14287"/>
          </a:xfrm>
          <a:custGeom>
            <a:avLst/>
            <a:gdLst>
              <a:gd name="l" fmla="*/ 0 w 4474"/>
              <a:gd name="t" fmla="*/ 0 h 9"/>
              <a:gd name="r" fmla="*/ 4474 w 4474"/>
              <a:gd name="b" fmla="*/ 9 h 9"/>
            </a:gdLst>
            <a:ahLst/>
            <a:rect l="l" t="t" r="r" b="b"/>
            <a:pathLst>
              <a:path w="4474" h="9">
                <a:moveTo>
                  <a:pt x="0" y="9"/>
                </a:moveTo>
                <a:lnTo>
                  <a:pt x="4474"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48" name=""/>
          <p:cNvSpPr/>
          <p:nvPr/>
        </p:nvSpPr>
        <p:spPr>
          <a:xfrm rot="0">
            <a:off x="381000" y="457200"/>
            <a:ext cx="83820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0" lvl="0" marL="109537"/>
            <a:r>
              <a:rPr altLang="en-US" b="1" sz="3000" i="1" lang="en-US">
                <a:solidFill>
                  <a:schemeClr val="lt1"/>
                </a:solidFill>
                <a:effectLst>
                  <a:outerShdw algn="tl" blurRad="38100" dir="2700000" dist="38100">
                    <a:srgbClr val="C0C0C0"/>
                  </a:outerShdw>
                </a:effectLst>
                <a:latin typeface="Comic Sans MS" pitchFamily="66" charset="0"/>
              </a:rPr>
              <a:t>Accounting in Action</a:t>
            </a:r>
          </a:p>
        </p:txBody>
      </p:sp>
      <p:sp>
        <p:nvSpPr>
          <p:cNvPr id="1048649" name=""/>
          <p:cNvSpPr/>
          <p:nvPr/>
        </p:nvSpPr>
        <p:spPr>
          <a:xfrm rot="0">
            <a:off x="2057400" y="3048000"/>
            <a:ext cx="1676400" cy="23622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Ethics in financial reporting</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Generally accepted accounting principles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Assumptions</a:t>
            </a:r>
          </a:p>
        </p:txBody>
      </p:sp>
      <p:sp>
        <p:nvSpPr>
          <p:cNvPr id="1048650" name=""/>
          <p:cNvSpPr/>
          <p:nvPr/>
        </p:nvSpPr>
        <p:spPr>
          <a:xfrm rot="0">
            <a:off x="304800" y="1885950"/>
            <a:ext cx="1600200" cy="1085850"/>
          </a:xfrm>
          <a:prstGeom prst="rect"/>
          <a:solidFill>
            <a:srgbClr val="0035A0"/>
          </a:solidFill>
          <a:ln w="57150" cap="flat" cmpd="sng">
            <a:solidFill>
              <a:schemeClr val="dk1">
                <a:alpha val="100000"/>
              </a:schemeClr>
            </a:solidFill>
            <a:prstDash val="solid"/>
            <a:round/>
          </a:ln>
          <a:effectLst>
            <a:outerShdw algn="ctr" dir="5400000" dist="381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5000"/>
              </a:lnSpc>
              <a:spcBef>
                <a:spcPct val="35000"/>
              </a:spcBef>
              <a:buClr>
                <a:schemeClr val="accent2"/>
              </a:buClr>
              <a:buSzPct val="75000"/>
              <a:buFont typeface="Wingdings" pitchFamily="2" charset="2"/>
              <a:buNone/>
            </a:pPr>
            <a:r>
              <a:rPr altLang="en-US" b="1" sz="1600" lang="en-US">
                <a:solidFill>
                  <a:schemeClr val="lt1"/>
                </a:solidFill>
                <a:effectLst>
                  <a:outerShdw algn="tl" blurRad="38100" dir="2700000" dist="38100">
                    <a:srgbClr val="C0C0C0"/>
                  </a:outerShdw>
                </a:effectLst>
                <a:latin typeface="Arial" pitchFamily="34" charset="0"/>
              </a:rPr>
              <a:t>What is Accounting?</a:t>
            </a:r>
          </a:p>
        </p:txBody>
      </p:sp>
      <p:sp>
        <p:nvSpPr>
          <p:cNvPr id="1048651" name=""/>
          <p:cNvSpPr/>
          <p:nvPr/>
        </p:nvSpPr>
        <p:spPr>
          <a:xfrm rot="0">
            <a:off x="2057400" y="1885950"/>
            <a:ext cx="1600200" cy="1085850"/>
          </a:xfrm>
          <a:prstGeom prst="rect"/>
          <a:solidFill>
            <a:srgbClr val="0035A0"/>
          </a:solidFill>
          <a:ln w="57150" cap="flat" cmpd="sng">
            <a:solidFill>
              <a:schemeClr val="dk1">
                <a:alpha val="100000"/>
              </a:schemeClr>
            </a:solidFill>
            <a:prstDash val="solid"/>
            <a:round/>
          </a:ln>
          <a:effectLst>
            <a:outerShdw algn="ctr" dir="5400000" dist="381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5000"/>
              </a:lnSpc>
              <a:spcBef>
                <a:spcPct val="35000"/>
              </a:spcBef>
              <a:buClr>
                <a:schemeClr val="accent2"/>
              </a:buClr>
              <a:buSzPct val="75000"/>
              <a:buFont typeface="Wingdings" pitchFamily="2" charset="2"/>
              <a:buNone/>
            </a:pPr>
            <a:r>
              <a:rPr altLang="en-US" b="1" sz="1600" lang="en-US">
                <a:solidFill>
                  <a:schemeClr val="lt1"/>
                </a:solidFill>
                <a:effectLst>
                  <a:outerShdw algn="tl" blurRad="38100" dir="2700000" dist="38100">
                    <a:srgbClr val="C0C0C0"/>
                  </a:outerShdw>
                </a:effectLst>
                <a:latin typeface="Arial" pitchFamily="34" charset="0"/>
              </a:rPr>
              <a:t>The Building Blocks of Accounting</a:t>
            </a:r>
          </a:p>
        </p:txBody>
      </p:sp>
      <p:sp>
        <p:nvSpPr>
          <p:cNvPr id="1048652" name=""/>
          <p:cNvSpPr/>
          <p:nvPr/>
        </p:nvSpPr>
        <p:spPr>
          <a:xfrm rot="0">
            <a:off x="3810000" y="1885950"/>
            <a:ext cx="1600200" cy="1085850"/>
          </a:xfrm>
          <a:prstGeom prst="rect"/>
          <a:solidFill>
            <a:srgbClr val="0035A0"/>
          </a:solidFill>
          <a:ln w="57150" cap="flat" cmpd="sng">
            <a:solidFill>
              <a:schemeClr val="dk1">
                <a:alpha val="100000"/>
              </a:schemeClr>
            </a:solidFill>
            <a:prstDash val="solid"/>
            <a:round/>
          </a:ln>
          <a:effectLst>
            <a:outerShdw algn="ctr" dir="5400000" dist="381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5000"/>
              </a:lnSpc>
              <a:spcBef>
                <a:spcPct val="35000"/>
              </a:spcBef>
              <a:buClr>
                <a:schemeClr val="accent2"/>
              </a:buClr>
              <a:buSzPct val="75000"/>
              <a:buFont typeface="Wingdings" pitchFamily="2" charset="2"/>
              <a:buNone/>
            </a:pPr>
            <a:r>
              <a:rPr altLang="en-US" b="1" sz="1600" lang="en-US">
                <a:solidFill>
                  <a:schemeClr val="lt1"/>
                </a:solidFill>
                <a:effectLst>
                  <a:outerShdw algn="tl" blurRad="38100" dir="2700000" dist="38100">
                    <a:srgbClr val="C0C0C0"/>
                  </a:outerShdw>
                </a:effectLst>
                <a:latin typeface="Arial" pitchFamily="34" charset="0"/>
              </a:rPr>
              <a:t>The Basic Accounting Equation</a:t>
            </a:r>
          </a:p>
        </p:txBody>
      </p:sp>
      <p:sp>
        <p:nvSpPr>
          <p:cNvPr id="1048653" name=""/>
          <p:cNvSpPr/>
          <p:nvPr/>
        </p:nvSpPr>
        <p:spPr>
          <a:xfrm rot="0">
            <a:off x="5562600" y="1885950"/>
            <a:ext cx="1600200" cy="1085850"/>
          </a:xfrm>
          <a:prstGeom prst="rect"/>
          <a:solidFill>
            <a:srgbClr val="0035A0"/>
          </a:solidFill>
          <a:ln w="57150" cap="flat" cmpd="sng">
            <a:solidFill>
              <a:schemeClr val="dk1">
                <a:alpha val="100000"/>
              </a:schemeClr>
            </a:solidFill>
            <a:prstDash val="solid"/>
            <a:round/>
          </a:ln>
          <a:effectLst>
            <a:outerShdw algn="ctr" dir="5400000" dist="381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25000"/>
              </a:spcBef>
              <a:buClr>
                <a:schemeClr val="accent2"/>
              </a:buClr>
              <a:buSzPct val="75000"/>
              <a:buFont typeface="Wingdings" pitchFamily="2" charset="2"/>
              <a:buNone/>
            </a:pPr>
            <a:r>
              <a:rPr altLang="en-US" b="1" sz="1600" lang="en-US">
                <a:solidFill>
                  <a:schemeClr val="lt1"/>
                </a:solidFill>
                <a:effectLst>
                  <a:outerShdw algn="tl" blurRad="38100" dir="2700000" dist="38100">
                    <a:srgbClr val="C0C0C0"/>
                  </a:outerShdw>
                </a:effectLst>
                <a:latin typeface="Arial" pitchFamily="34" charset="0"/>
              </a:rPr>
              <a:t>Using the Basic Accounting Equation</a:t>
            </a:r>
          </a:p>
        </p:txBody>
      </p:sp>
      <p:sp>
        <p:nvSpPr>
          <p:cNvPr id="1048654" name=""/>
          <p:cNvSpPr/>
          <p:nvPr/>
        </p:nvSpPr>
        <p:spPr>
          <a:xfrm rot="0">
            <a:off x="7315200" y="1885950"/>
            <a:ext cx="1676400" cy="1085850"/>
          </a:xfrm>
          <a:prstGeom prst="rect"/>
          <a:solidFill>
            <a:srgbClr val="0035A0"/>
          </a:solidFill>
          <a:ln w="57150" cap="flat" cmpd="sng">
            <a:solidFill>
              <a:schemeClr val="dk1">
                <a:alpha val="100000"/>
              </a:schemeClr>
            </a:solidFill>
            <a:prstDash val="solid"/>
            <a:round/>
          </a:ln>
          <a:effectLst>
            <a:outerShdw algn="ctr" dir="5400000" dist="381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5000"/>
              </a:lnSpc>
              <a:spcBef>
                <a:spcPct val="35000"/>
              </a:spcBef>
              <a:buClr>
                <a:schemeClr val="accent2"/>
              </a:buClr>
              <a:buSzPct val="75000"/>
              <a:buFont typeface="Wingdings" pitchFamily="2" charset="2"/>
              <a:buNone/>
            </a:pPr>
            <a:r>
              <a:rPr altLang="en-US" b="1" sz="1600" lang="en-US">
                <a:solidFill>
                  <a:schemeClr val="lt1"/>
                </a:solidFill>
                <a:effectLst>
                  <a:outerShdw algn="tl" blurRad="38100" dir="2700000" dist="38100">
                    <a:srgbClr val="C0C0C0"/>
                  </a:outerShdw>
                </a:effectLst>
                <a:latin typeface="Arial" pitchFamily="34" charset="0"/>
              </a:rPr>
              <a:t>Financial Statements</a:t>
            </a:r>
          </a:p>
        </p:txBody>
      </p:sp>
      <p:sp>
        <p:nvSpPr>
          <p:cNvPr id="1048655" name=""/>
          <p:cNvSpPr/>
          <p:nvPr/>
        </p:nvSpPr>
        <p:spPr>
          <a:xfrm rot="0">
            <a:off x="228600" y="3048000"/>
            <a:ext cx="1752600" cy="15240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Three activities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Who uses accounting data</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endParaRPr altLang="en-US" sz="1600" lang="en-US">
              <a:effectLst>
                <a:outerShdw algn="tl" blurRad="38100" dir="2700000" dist="38100">
                  <a:srgbClr val="C0C0C0"/>
                </a:outerShdw>
              </a:effectLst>
              <a:latin typeface="Arial" pitchFamily="34" charset="0"/>
            </a:endParaRPr>
          </a:p>
        </p:txBody>
      </p:sp>
      <p:sp>
        <p:nvSpPr>
          <p:cNvPr id="1048656" name=""/>
          <p:cNvSpPr/>
          <p:nvPr/>
        </p:nvSpPr>
        <p:spPr>
          <a:xfrm rot="0">
            <a:off x="3810000" y="3048000"/>
            <a:ext cx="1676400" cy="13716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Assets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Liabilities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Owner’s equity</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endParaRPr altLang="en-US" sz="1600" lang="en-US">
              <a:effectLst>
                <a:outerShdw algn="tl" blurRad="38100" dir="2700000" dist="38100">
                  <a:srgbClr val="C0C0C0"/>
                </a:outerShdw>
              </a:effectLst>
              <a:latin typeface="Arial" pitchFamily="34" charset="0"/>
            </a:endParaRP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endParaRPr altLang="en-US" sz="1600" lang="en-US">
              <a:effectLst>
                <a:outerShdw algn="tl" blurRad="38100" dir="2700000" dist="38100">
                  <a:srgbClr val="C0C0C0"/>
                </a:outerShdw>
              </a:effectLst>
              <a:latin typeface="Arial" pitchFamily="34" charset="0"/>
            </a:endParaRPr>
          </a:p>
        </p:txBody>
      </p:sp>
      <p:sp>
        <p:nvSpPr>
          <p:cNvPr id="1048657" name=""/>
          <p:cNvSpPr/>
          <p:nvPr/>
        </p:nvSpPr>
        <p:spPr>
          <a:xfrm rot="0">
            <a:off x="5562600" y="3048000"/>
            <a:ext cx="1676400" cy="12954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Transaction analysis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Summary of transactions</a:t>
            </a:r>
          </a:p>
        </p:txBody>
      </p:sp>
      <p:sp>
        <p:nvSpPr>
          <p:cNvPr id="1048658" name=""/>
          <p:cNvSpPr/>
          <p:nvPr/>
        </p:nvSpPr>
        <p:spPr>
          <a:xfrm rot="0">
            <a:off x="7315200" y="3048000"/>
            <a:ext cx="1676400" cy="26670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Income statement</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Owner’s equity statement</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Balance sheet</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600" lang="en-US">
                <a:effectLst>
                  <a:outerShdw algn="tl" blurRad="38100" dir="2700000" dist="38100">
                    <a:srgbClr val="C0C0C0"/>
                  </a:outerShdw>
                </a:effectLst>
                <a:latin typeface="Arial" pitchFamily="34" charset="0"/>
              </a:rPr>
              <a:t>Statement of cash flows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endParaRPr altLang="en-US" sz="1600" lang="en-US">
              <a:effectLst>
                <a:outerShdw algn="tl" blurRad="38100" dir="2700000" dist="38100">
                  <a:srgbClr val="C0C0C0"/>
                </a:outerShdw>
              </a:effectLst>
              <a:latin typeface="Arial" pitchFamily="34" charset="0"/>
            </a:endParaRPr>
          </a:p>
        </p:txBody>
      </p:sp>
    </p:spTree>
  </p:cSld>
  <p:clrMapOvr>
    <a:masterClrMapping/>
  </p:clrMapOvr>
  <p:transition spd="fast" advClick="1">
    <p:wipe dir="r"/>
  </p:transition>
  <p:timing/>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71" name=""/>
        <p:cNvGrpSpPr/>
        <p:nvPr/>
      </p:nvGrpSpPr>
      <p:grpSpPr>
        <a:xfrm rot="0">
          <a:off x="0" y="0"/>
          <a:ext cx="0" cy="0"/>
          <a:chOff x="0" y="0"/>
          <a:chExt cx="0" cy="0"/>
        </a:xfrm>
      </p:grpSpPr>
      <p:sp>
        <p:nvSpPr>
          <p:cNvPr id="104861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What is Accounting?</a:t>
            </a:r>
          </a:p>
        </p:txBody>
      </p:sp>
      <p:sp>
        <p:nvSpPr>
          <p:cNvPr id="1048616" name=""/>
          <p:cNvSpPr txBox="1"/>
          <p:nvPr/>
        </p:nvSpPr>
        <p:spPr>
          <a:xfrm rot="0">
            <a:off x="3276600" y="6369050"/>
            <a:ext cx="57150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1  Explain what accounting is.</a:t>
            </a:r>
          </a:p>
        </p:txBody>
      </p:sp>
      <p:sp>
        <p:nvSpPr>
          <p:cNvPr id="1048617" name=""/>
          <p:cNvSpPr/>
          <p:nvPr/>
        </p:nvSpPr>
        <p:spPr>
          <a:xfrm rot="0">
            <a:off x="609600" y="1487487"/>
            <a:ext cx="8153400" cy="3008312"/>
          </a:xfrm>
          <a:prstGeom prst="rect"/>
          <a:noFill/>
          <a:ln>
            <a:noFill/>
          </a:ln>
        </p:spPr>
        <p:txBody>
          <a:bodyP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2150" lvl="0" marL="692150">
              <a:spcBef>
                <a:spcPct val="50000"/>
              </a:spcBef>
              <a:buSzPct val="95000"/>
              <a:buFontTx/>
              <a:buNone/>
            </a:pPr>
            <a:r>
              <a:rPr altLang="en-US" b="1" sz="2800" lang="en-US">
                <a:latin typeface="Comic Sans MS" pitchFamily="66" charset="0"/>
              </a:rPr>
              <a:t>The purpose of accounting is to:</a:t>
            </a:r>
          </a:p>
          <a:p>
            <a:pPr algn="l" indent="-692150" lvl="0" marL="692150">
              <a:spcBef>
                <a:spcPct val="50000"/>
              </a:spcBef>
              <a:buClr>
                <a:srgbClr val="000066"/>
              </a:buClr>
              <a:buSzPct val="95000"/>
              <a:buFontTx/>
              <a:buAutoNum type="arabicParenBoth" startAt="1"/>
            </a:pPr>
            <a:r>
              <a:rPr altLang="en-US" b="1" sz="2800" lang="en-US">
                <a:solidFill>
                  <a:srgbClr val="800000"/>
                </a:solidFill>
                <a:effectLst>
                  <a:outerShdw algn="tl" blurRad="38100" dir="2700000" dist="38100">
                    <a:srgbClr val="C0C0C0"/>
                  </a:outerShdw>
                </a:effectLst>
                <a:latin typeface="Comic Sans MS" pitchFamily="66" charset="0"/>
              </a:rPr>
              <a:t>identify</a:t>
            </a:r>
            <a:r>
              <a:rPr altLang="en-US" b="1" sz="2800" lang="en-US">
                <a:latin typeface="Comic Sans MS" pitchFamily="66" charset="0"/>
              </a:rPr>
              <a:t>, </a:t>
            </a:r>
            <a:r>
              <a:rPr altLang="en-US" b="1" sz="2800" lang="en-US">
                <a:solidFill>
                  <a:srgbClr val="800000"/>
                </a:solidFill>
                <a:effectLst>
                  <a:outerShdw algn="tl" blurRad="38100" dir="2700000" dist="38100">
                    <a:srgbClr val="C0C0C0"/>
                  </a:outerShdw>
                </a:effectLst>
                <a:latin typeface="Comic Sans MS" pitchFamily="66" charset="0"/>
              </a:rPr>
              <a:t>record</a:t>
            </a:r>
            <a:r>
              <a:rPr altLang="en-US" b="1" sz="2800" lang="en-US">
                <a:latin typeface="Comic Sans MS" pitchFamily="66" charset="0"/>
              </a:rPr>
              <a:t>, and </a:t>
            </a:r>
            <a:r>
              <a:rPr altLang="en-US" b="1" sz="2800" lang="en-US">
                <a:solidFill>
                  <a:srgbClr val="800000"/>
                </a:solidFill>
                <a:effectLst>
                  <a:outerShdw algn="tl" blurRad="38100" dir="2700000" dist="38100">
                    <a:srgbClr val="C0C0C0"/>
                  </a:outerShdw>
                </a:effectLst>
                <a:latin typeface="Comic Sans MS" pitchFamily="66" charset="0"/>
              </a:rPr>
              <a:t>communicate</a:t>
            </a:r>
            <a:r>
              <a:rPr altLang="en-US" b="1" sz="2800" lang="en-US">
                <a:latin typeface="Comic Sans MS" pitchFamily="66" charset="0"/>
              </a:rPr>
              <a:t> the economic events of an</a:t>
            </a:r>
          </a:p>
          <a:p>
            <a:pPr algn="l" indent="-692150" lvl="0" marL="692150">
              <a:spcBef>
                <a:spcPct val="50000"/>
              </a:spcBef>
              <a:buClr>
                <a:srgbClr val="000066"/>
              </a:buClr>
              <a:buSzPct val="95000"/>
              <a:buFontTx/>
              <a:buAutoNum type="arabicParenBoth" startAt="1"/>
            </a:pPr>
            <a:r>
              <a:rPr altLang="en-US" b="1" sz="2800" lang="en-US">
                <a:latin typeface="Comic Sans MS" pitchFamily="66" charset="0"/>
              </a:rPr>
              <a:t>organization to</a:t>
            </a:r>
          </a:p>
          <a:p>
            <a:pPr algn="l" indent="-692150" lvl="0" marL="692150">
              <a:spcBef>
                <a:spcPct val="50000"/>
              </a:spcBef>
              <a:buClr>
                <a:srgbClr val="000066"/>
              </a:buClr>
              <a:buSzPct val="95000"/>
              <a:buFontTx/>
              <a:buAutoNum type="arabicParenBoth" startAt="1"/>
            </a:pPr>
            <a:r>
              <a:rPr altLang="en-US" b="1" sz="2800" lang="en-US">
                <a:latin typeface="Comic Sans MS" pitchFamily="66" charset="0"/>
              </a:rPr>
              <a:t>interested users.	</a:t>
            </a:r>
          </a:p>
        </p:txBody>
      </p:sp>
    </p:spTree>
  </p:cSld>
  <p:clrMapOvr>
    <a:masterClrMapping/>
  </p:clrMapOvr>
  <p:transition spd="fast" advClick="1">
    <p:wipe dir="r"/>
  </p:transition>
  <p:timing/>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23" name=""/>
        <p:cNvGrpSpPr/>
        <p:nvPr/>
      </p:nvGrpSpPr>
      <p:grpSpPr>
        <a:xfrm rot="0">
          <a:off x="0" y="0"/>
          <a:ext cx="0" cy="0"/>
          <a:chOff x="0" y="0"/>
          <a:chExt cx="0" cy="0"/>
        </a:xfrm>
      </p:grpSpPr>
      <p:sp>
        <p:nvSpPr>
          <p:cNvPr id="1048579" name=""/>
          <p:cNvSpPr txBox="1"/>
          <p:nvPr/>
        </p:nvSpPr>
        <p:spPr>
          <a:xfrm rot="0">
            <a:off x="685800" y="1295400"/>
            <a:ext cx="7772400" cy="82515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5000"/>
              </a:lnSpc>
              <a:spcBef>
                <a:spcPct val="30000"/>
              </a:spcBef>
              <a:buSzPct val="80000"/>
              <a:buFontTx/>
              <a:buNone/>
            </a:pPr>
            <a:r>
              <a:rPr altLang="en-US" b="1" sz="2900" lang="en-US">
                <a:solidFill>
                  <a:srgbClr val="000066"/>
                </a:solidFill>
                <a:latin typeface="Comic Sans MS" pitchFamily="66" charset="0"/>
              </a:rPr>
              <a:t>Three Activities</a:t>
            </a:r>
          </a:p>
        </p:txBody>
      </p:sp>
      <p:sp>
        <p:nvSpPr>
          <p:cNvPr id="104858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What is Accounting?</a:t>
            </a:r>
          </a:p>
        </p:txBody>
      </p:sp>
      <p:sp>
        <p:nvSpPr>
          <p:cNvPr id="1048581" name=""/>
          <p:cNvSpPr txBox="1"/>
          <p:nvPr/>
        </p:nvSpPr>
        <p:spPr>
          <a:xfrm rot="0">
            <a:off x="3276600" y="6369050"/>
            <a:ext cx="57150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1  Explain what accounting is.</a:t>
            </a:r>
          </a:p>
        </p:txBody>
      </p:sp>
      <p:pic>
        <p:nvPicPr>
          <p:cNvPr id="2097152" name=""/>
          <p:cNvPicPr>
            <a:picLocks/>
          </p:cNvPicPr>
          <p:nvPr/>
        </p:nvPicPr>
        <p:blipFill>
          <a:blip xmlns:r="http://schemas.openxmlformats.org/officeDocument/2006/relationships" r:embed="rId1"/>
          <a:srcRect l="0" t="0" r="0" b="0"/>
          <a:stretch>
            <a:fillRect/>
          </a:stretch>
        </p:blipFill>
        <p:spPr>
          <a:xfrm rot="0">
            <a:off x="304800" y="2397125"/>
            <a:ext cx="2824162" cy="2251075"/>
          </a:xfrm>
          <a:prstGeom prst="rect"/>
          <a:noFill/>
          <a:ln>
            <a:noFill/>
          </a:ln>
        </p:spPr>
      </p:pic>
      <p:pic>
        <p:nvPicPr>
          <p:cNvPr id="2097153" name=""/>
          <p:cNvPicPr>
            <a:picLocks/>
          </p:cNvPicPr>
          <p:nvPr/>
        </p:nvPicPr>
        <p:blipFill>
          <a:blip xmlns:r="http://schemas.openxmlformats.org/officeDocument/2006/relationships" r:embed="rId2"/>
          <a:srcRect l="0" t="0" r="0" b="0"/>
          <a:stretch>
            <a:fillRect/>
          </a:stretch>
        </p:blipFill>
        <p:spPr>
          <a:xfrm rot="0">
            <a:off x="3200400" y="2001837"/>
            <a:ext cx="3048000" cy="2265362"/>
          </a:xfrm>
          <a:prstGeom prst="rect"/>
          <a:noFill/>
          <a:ln>
            <a:noFill/>
          </a:ln>
        </p:spPr>
      </p:pic>
      <p:pic>
        <p:nvPicPr>
          <p:cNvPr id="2097154" name=""/>
          <p:cNvPicPr>
            <a:picLocks/>
          </p:cNvPicPr>
          <p:nvPr/>
        </p:nvPicPr>
        <p:blipFill>
          <a:blip xmlns:r="http://schemas.openxmlformats.org/officeDocument/2006/relationships" r:embed="rId3"/>
          <a:srcRect l="0" t="0" r="0" b="0"/>
          <a:stretch>
            <a:fillRect/>
          </a:stretch>
        </p:blipFill>
        <p:spPr>
          <a:xfrm rot="0">
            <a:off x="6324600" y="1600200"/>
            <a:ext cx="2362200" cy="2235200"/>
          </a:xfrm>
          <a:prstGeom prst="rect"/>
          <a:noFill/>
          <a:ln>
            <a:noFill/>
          </a:ln>
        </p:spPr>
      </p:pic>
      <p:pic>
        <p:nvPicPr>
          <p:cNvPr id="2097155" name=""/>
          <p:cNvPicPr>
            <a:picLocks/>
          </p:cNvPicPr>
          <p:nvPr/>
        </p:nvPicPr>
        <p:blipFill>
          <a:blip xmlns:r="http://schemas.openxmlformats.org/officeDocument/2006/relationships" r:embed="rId4"/>
          <a:srcRect l="0" t="0" r="0" b="0"/>
          <a:stretch>
            <a:fillRect/>
          </a:stretch>
        </p:blipFill>
        <p:spPr>
          <a:xfrm rot="0">
            <a:off x="6096000" y="4038600"/>
            <a:ext cx="2701925" cy="2273300"/>
          </a:xfrm>
          <a:prstGeom prst="rect"/>
          <a:noFill/>
          <a:ln>
            <a:noFill/>
          </a:ln>
        </p:spPr>
      </p:pic>
      <p:sp>
        <p:nvSpPr>
          <p:cNvPr id="1048582" name=""/>
          <p:cNvSpPr txBox="1"/>
          <p:nvPr/>
        </p:nvSpPr>
        <p:spPr>
          <a:xfrm rot="0">
            <a:off x="4038600" y="1295400"/>
            <a:ext cx="1600200" cy="581914"/>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r>
              <a:rPr altLang="en-US" b="1" sz="1200" lang="en-US">
                <a:latin typeface="Comic Sans MS" pitchFamily="66" charset="0"/>
              </a:rPr>
              <a:t>Illustration 1-1</a:t>
            </a:r>
          </a:p>
          <a:p>
            <a:pPr algn="l" lvl="0"/>
            <a:r>
              <a:rPr altLang="en-US" sz="1200" lang="en-US">
                <a:latin typeface="Comic Sans MS" pitchFamily="66" charset="0"/>
              </a:rPr>
              <a:t>Accounting process</a:t>
            </a:r>
          </a:p>
        </p:txBody>
      </p:sp>
      <p:sp>
        <p:nvSpPr>
          <p:cNvPr id="1048583" name=""/>
          <p:cNvSpPr/>
          <p:nvPr/>
        </p:nvSpPr>
        <p:spPr>
          <a:xfrm rot="0">
            <a:off x="914400" y="4876800"/>
            <a:ext cx="4648200" cy="1219200"/>
          </a:xfrm>
          <a:prstGeom prst="bevel"/>
          <a:solidFill>
            <a:srgbClr val="FFFFCC"/>
          </a:solidFill>
          <a:ln w="127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
              </a:spcBef>
            </a:pPr>
            <a:r>
              <a:rPr altLang="en-US" sz="2000" lang="en-US">
                <a:latin typeface="Comic Sans MS" pitchFamily="66" charset="0"/>
              </a:rPr>
              <a:t>The accounting process </a:t>
            </a:r>
            <a:r>
              <a:rPr altLang="en-US" b="1" sz="2000" lang="en-US">
                <a:solidFill>
                  <a:srgbClr val="800000"/>
                </a:solidFill>
                <a:latin typeface="Comic Sans MS" pitchFamily="66" charset="0"/>
              </a:rPr>
              <a:t>includes</a:t>
            </a:r>
            <a:r>
              <a:rPr altLang="en-US" b="1" sz="2000" lang="en-US">
                <a:latin typeface="Comic Sans MS" pitchFamily="66" charset="0"/>
              </a:rPr>
              <a:t> </a:t>
            </a:r>
          </a:p>
          <a:p>
            <a:pPr lvl="0">
              <a:spcBef>
                <a:spcPct val="5000"/>
              </a:spcBef>
            </a:pPr>
            <a:r>
              <a:rPr altLang="en-US" sz="2000" lang="en-US">
                <a:latin typeface="Comic Sans MS" pitchFamily="66" charset="0"/>
              </a:rPr>
              <a:t>the bookkeeping function.</a:t>
            </a:r>
          </a:p>
        </p:txBody>
      </p:sp>
    </p:spTree>
  </p:cSld>
  <p:clrMapOvr>
    <a:masterClrMapping/>
  </p:clrMapOvr>
  <p:transition spd="fast" advClick="1">
    <p:wipe dir="r"/>
  </p:transition>
  <p:timing/>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68" name=""/>
        <p:cNvGrpSpPr/>
        <p:nvPr/>
      </p:nvGrpSpPr>
      <p:grpSpPr>
        <a:xfrm rot="0">
          <a:off x="0" y="0"/>
          <a:ext cx="0" cy="0"/>
          <a:chOff x="0" y="0"/>
          <a:chExt cx="0" cy="0"/>
        </a:xfrm>
      </p:grpSpPr>
      <p:sp>
        <p:nvSpPr>
          <p:cNvPr id="1048588" name=""/>
          <p:cNvSpPr/>
          <p:nvPr/>
        </p:nvSpPr>
        <p:spPr>
          <a:xfrm rot="0">
            <a:off x="2590800" y="1295400"/>
            <a:ext cx="2133600" cy="990600"/>
          </a:xfrm>
          <a:prstGeom prst="ellipse"/>
          <a:solidFill>
            <a:srgbClr val="99CC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589" name=""/>
          <p:cNvSpPr txBox="1"/>
          <p:nvPr/>
        </p:nvSpPr>
        <p:spPr>
          <a:xfrm rot="0">
            <a:off x="2667000" y="1524000"/>
            <a:ext cx="21336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latin typeface="Comic Sans MS" pitchFamily="66" charset="0"/>
              </a:rPr>
              <a:t>Management</a:t>
            </a:r>
          </a:p>
        </p:txBody>
      </p:sp>
      <p:sp>
        <p:nvSpPr>
          <p:cNvPr id="1048590" name=""/>
          <p:cNvSpPr txBox="1"/>
          <p:nvPr/>
        </p:nvSpPr>
        <p:spPr>
          <a:xfrm rot="0">
            <a:off x="2362200" y="2590800"/>
            <a:ext cx="4648200" cy="2192782"/>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There are two broad groups of users of financial information:  internal users and external users.</a:t>
            </a:r>
          </a:p>
        </p:txBody>
      </p:sp>
      <p:sp>
        <p:nvSpPr>
          <p:cNvPr id="1048591" name=""/>
          <p:cNvSpPr/>
          <p:nvPr/>
        </p:nvSpPr>
        <p:spPr>
          <a:xfrm rot="0">
            <a:off x="228600" y="1828800"/>
            <a:ext cx="2438400" cy="1295400"/>
          </a:xfrm>
          <a:prstGeom prst="ellipse"/>
          <a:solidFill>
            <a:srgbClr val="99CC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592" name=""/>
          <p:cNvSpPr txBox="1"/>
          <p:nvPr/>
        </p:nvSpPr>
        <p:spPr>
          <a:xfrm rot="0">
            <a:off x="381000" y="2057400"/>
            <a:ext cx="2133600" cy="10137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Human Resources</a:t>
            </a:r>
          </a:p>
        </p:txBody>
      </p:sp>
      <p:sp>
        <p:nvSpPr>
          <p:cNvPr id="1048593" name=""/>
          <p:cNvSpPr/>
          <p:nvPr/>
        </p:nvSpPr>
        <p:spPr>
          <a:xfrm rot="0">
            <a:off x="4953000" y="1219200"/>
            <a:ext cx="1981200" cy="914400"/>
          </a:xfrm>
          <a:prstGeom prst="ellipse"/>
          <a:solidFill>
            <a:srgbClr val="FFFF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594" name=""/>
          <p:cNvSpPr txBox="1"/>
          <p:nvPr/>
        </p:nvSpPr>
        <p:spPr>
          <a:xfrm rot="0">
            <a:off x="5257800" y="1447800"/>
            <a:ext cx="14478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IRS</a:t>
            </a:r>
          </a:p>
        </p:txBody>
      </p:sp>
      <p:sp>
        <p:nvSpPr>
          <p:cNvPr id="1048595" name=""/>
          <p:cNvSpPr/>
          <p:nvPr/>
        </p:nvSpPr>
        <p:spPr>
          <a:xfrm rot="0">
            <a:off x="6858000" y="1676400"/>
            <a:ext cx="2133600" cy="1066800"/>
          </a:xfrm>
          <a:prstGeom prst="ellipse"/>
          <a:solidFill>
            <a:srgbClr val="FFFF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596" name=""/>
          <p:cNvSpPr/>
          <p:nvPr/>
        </p:nvSpPr>
        <p:spPr>
          <a:xfrm rot="0">
            <a:off x="7086600" y="2895600"/>
            <a:ext cx="1905000" cy="1143000"/>
          </a:xfrm>
          <a:prstGeom prst="ellipse"/>
          <a:solidFill>
            <a:srgbClr val="FFFF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597" name=""/>
          <p:cNvSpPr txBox="1"/>
          <p:nvPr/>
        </p:nvSpPr>
        <p:spPr>
          <a:xfrm rot="0">
            <a:off x="7162800" y="3048000"/>
            <a:ext cx="1752600" cy="10137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Labor Unions</a:t>
            </a:r>
          </a:p>
        </p:txBody>
      </p:sp>
      <p:sp>
        <p:nvSpPr>
          <p:cNvPr id="1048598" name=""/>
          <p:cNvSpPr/>
          <p:nvPr/>
        </p:nvSpPr>
        <p:spPr>
          <a:xfrm rot="0">
            <a:off x="5029200" y="4953000"/>
            <a:ext cx="2209800" cy="990600"/>
          </a:xfrm>
          <a:prstGeom prst="ellipse"/>
          <a:solidFill>
            <a:srgbClr val="FFFF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599" name=""/>
          <p:cNvSpPr txBox="1"/>
          <p:nvPr/>
        </p:nvSpPr>
        <p:spPr>
          <a:xfrm rot="0">
            <a:off x="5181600" y="5257800"/>
            <a:ext cx="19050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SEC</a:t>
            </a:r>
          </a:p>
        </p:txBody>
      </p:sp>
      <p:sp>
        <p:nvSpPr>
          <p:cNvPr id="1048600" name=""/>
          <p:cNvSpPr/>
          <p:nvPr/>
        </p:nvSpPr>
        <p:spPr>
          <a:xfrm rot="0">
            <a:off x="609600" y="4495800"/>
            <a:ext cx="2133600" cy="1066800"/>
          </a:xfrm>
          <a:prstGeom prst="ellipse"/>
          <a:solidFill>
            <a:srgbClr val="99CC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01" name=""/>
          <p:cNvSpPr txBox="1"/>
          <p:nvPr/>
        </p:nvSpPr>
        <p:spPr>
          <a:xfrm rot="0">
            <a:off x="762000" y="4800600"/>
            <a:ext cx="19050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Marketing</a:t>
            </a:r>
          </a:p>
        </p:txBody>
      </p:sp>
      <p:sp>
        <p:nvSpPr>
          <p:cNvPr id="1048602" name=""/>
          <p:cNvSpPr/>
          <p:nvPr/>
        </p:nvSpPr>
        <p:spPr>
          <a:xfrm rot="0">
            <a:off x="228600" y="3352800"/>
            <a:ext cx="2057400" cy="990600"/>
          </a:xfrm>
          <a:prstGeom prst="ellipse"/>
          <a:solidFill>
            <a:srgbClr val="99CC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03" name=""/>
          <p:cNvSpPr txBox="1"/>
          <p:nvPr/>
        </p:nvSpPr>
        <p:spPr>
          <a:xfrm rot="0">
            <a:off x="304800" y="3581400"/>
            <a:ext cx="19050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Finance</a:t>
            </a:r>
          </a:p>
        </p:txBody>
      </p:sp>
      <p:sp>
        <p:nvSpPr>
          <p:cNvPr id="1048604" name=""/>
          <p:cNvSpPr/>
          <p:nvPr/>
        </p:nvSpPr>
        <p:spPr>
          <a:xfrm rot="0">
            <a:off x="7010400" y="4267200"/>
            <a:ext cx="1905000" cy="990600"/>
          </a:xfrm>
          <a:prstGeom prst="ellipse"/>
          <a:solidFill>
            <a:srgbClr val="FFFFFF"/>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05" name=""/>
          <p:cNvSpPr txBox="1"/>
          <p:nvPr/>
        </p:nvSpPr>
        <p:spPr>
          <a:xfrm rot="0">
            <a:off x="6934200" y="1981200"/>
            <a:ext cx="19812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Investors</a:t>
            </a:r>
          </a:p>
        </p:txBody>
      </p:sp>
      <p:sp>
        <p:nvSpPr>
          <p:cNvPr id="1048606" name=""/>
          <p:cNvSpPr txBox="1"/>
          <p:nvPr/>
        </p:nvSpPr>
        <p:spPr>
          <a:xfrm rot="0">
            <a:off x="7086600" y="4495800"/>
            <a:ext cx="17526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Creditors</a:t>
            </a:r>
          </a:p>
        </p:txBody>
      </p:sp>
      <p:sp>
        <p:nvSpPr>
          <p:cNvPr id="104860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Who Uses Accounting Data?</a:t>
            </a:r>
          </a:p>
        </p:txBody>
      </p:sp>
      <p:sp>
        <p:nvSpPr>
          <p:cNvPr id="1048608" name=""/>
          <p:cNvSpPr txBox="1"/>
          <p:nvPr/>
        </p:nvSpPr>
        <p:spPr>
          <a:xfrm rot="0">
            <a:off x="3276600" y="6369050"/>
            <a:ext cx="57150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2  Identify the users and uses of accounting.</a:t>
            </a:r>
          </a:p>
        </p:txBody>
      </p:sp>
      <p:sp>
        <p:nvSpPr>
          <p:cNvPr id="1048609" name=""/>
          <p:cNvSpPr/>
          <p:nvPr/>
        </p:nvSpPr>
        <p:spPr>
          <a:xfrm rot="0">
            <a:off x="2667000" y="5105400"/>
            <a:ext cx="2133600" cy="1066800"/>
          </a:xfrm>
          <a:prstGeom prst="ellipse"/>
          <a:solidFill>
            <a:schemeClr val="lt1"/>
          </a:solidFill>
          <a:ln w="381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10" name=""/>
          <p:cNvSpPr txBox="1"/>
          <p:nvPr/>
        </p:nvSpPr>
        <p:spPr>
          <a:xfrm rot="0">
            <a:off x="2819400" y="5410200"/>
            <a:ext cx="19050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Comic Sans MS" pitchFamily="66" charset="0"/>
              </a:rPr>
              <a:t>Customers</a:t>
            </a:r>
          </a:p>
        </p:txBody>
      </p:sp>
      <p:sp>
        <p:nvSpPr>
          <p:cNvPr id="1048611" name=""/>
          <p:cNvSpPr txBox="1"/>
          <p:nvPr/>
        </p:nvSpPr>
        <p:spPr>
          <a:xfrm rot="0">
            <a:off x="76200" y="1219200"/>
            <a:ext cx="2438400" cy="5819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solidFill>
                  <a:srgbClr val="800000"/>
                </a:solidFill>
                <a:latin typeface="Comic Sans MS" pitchFamily="66" charset="0"/>
              </a:rPr>
              <a:t>Internal Users</a:t>
            </a:r>
          </a:p>
        </p:txBody>
      </p:sp>
      <p:sp>
        <p:nvSpPr>
          <p:cNvPr id="1048612" name=""/>
          <p:cNvSpPr txBox="1"/>
          <p:nvPr/>
        </p:nvSpPr>
        <p:spPr>
          <a:xfrm rot="0">
            <a:off x="7391400" y="5486400"/>
            <a:ext cx="1600200" cy="1013714"/>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solidFill>
                  <a:srgbClr val="800000"/>
                </a:solidFill>
                <a:latin typeface="Comic Sans MS" pitchFamily="66" charset="0"/>
              </a:rPr>
              <a:t>External Users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590"/>
                                        </p:tgtEl>
                                        <p:attrNameLst>
                                          <p:attrName>style.visibility</p:attrName>
                                        </p:attrNameLst>
                                      </p:cBhvr>
                                      <p:to>
                                        <p:strVal val="visible"/>
                                      </p:to>
                                    </p:set>
                                    <p:animEffect transition="in" filter="wipe(left)">
                                      <p:cBhvr>
                                        <p:cTn dur="500" id="7"/>
                                        <p:tgtEl>
                                          <p:spTgt spid="1048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0" grpId="0" uiExpand="0" build="whole"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74" name=""/>
        <p:cNvGrpSpPr/>
        <p:nvPr/>
      </p:nvGrpSpPr>
      <p:grpSpPr>
        <a:xfrm rot="0">
          <a:off x="0" y="0"/>
          <a:ext cx="0" cy="0"/>
          <a:chOff x="0" y="0"/>
          <a:chExt cx="0" cy="0"/>
        </a:xfrm>
      </p:grpSpPr>
      <p:sp>
        <p:nvSpPr>
          <p:cNvPr id="1048620" name=""/>
          <p:cNvSpPr/>
          <p:nvPr>
            <p:ph type="body" sz="full" idx="1"/>
          </p:nvPr>
        </p:nvSpPr>
        <p:spPr>
          <a:xfrm rot="0">
            <a:off x="304800" y="1219200"/>
            <a:ext cx="4953000" cy="457200"/>
          </a:xfrm>
          <a:prstGeom prst="rect"/>
          <a:solidFill>
            <a:srgbClr val="FFFFCC">
              <a:alpha val="100000"/>
            </a:srgbClr>
          </a:solidFill>
          <a:ln w="38100" cap="flat" cmpd="sng">
            <a:solidFill>
              <a:srgbClr val="800000">
                <a:alpha val="100000"/>
              </a:srgbClr>
            </a:solidFill>
            <a:prstDash val="solid"/>
            <a:round/>
          </a:ln>
        </p:spPr>
        <p:txBody>
          <a:bodyPr anchor="t" bIns="46038" lIns="182562" rIns="182562" tIns="46038"/>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34" charset="0"/>
                <a:sym typeface="Times New Roman" pitchFamily="18"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34" charset="0"/>
                <a:sym typeface="Times New Roman" pitchFamily="18"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34" charset="0"/>
                <a:sym typeface="Times New Roman" pitchFamily="18" charset="0"/>
              </a:defRPr>
            </a:lvl5pPr>
          </a:lstStyle>
          <a:p>
            <a:pPr lvl="0">
              <a:lnSpc>
                <a:spcPct val="90000"/>
              </a:lnSpc>
              <a:buNone/>
            </a:pPr>
            <a:r>
              <a:rPr altLang="en-US" b="0" sz="2400" lang="en-US">
                <a:solidFill>
                  <a:schemeClr val="dk1"/>
                </a:solidFill>
                <a:latin typeface="Comic Sans MS" pitchFamily="66" charset="0"/>
              </a:rPr>
              <a:t>Common Questions Asked</a:t>
            </a:r>
          </a:p>
        </p:txBody>
      </p:sp>
      <p:sp>
        <p:nvSpPr>
          <p:cNvPr id="1048621" name=""/>
          <p:cNvSpPr/>
          <p:nvPr/>
        </p:nvSpPr>
        <p:spPr>
          <a:xfrm rot="0">
            <a:off x="5410200" y="1219200"/>
            <a:ext cx="3352800" cy="457200"/>
          </a:xfrm>
          <a:prstGeom prst="rect"/>
          <a:solidFill>
            <a:srgbClr val="FFFFCC"/>
          </a:solidFill>
          <a:ln w="38100" cap="flat" cmpd="sng">
            <a:solidFill>
              <a:srgbClr val="800000">
                <a:alpha val="100000"/>
              </a:srgbClr>
            </a:solidFill>
            <a:prstDash val="solid"/>
            <a:round/>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342900" lvl="0" marL="342900">
              <a:lnSpc>
                <a:spcPct val="90000"/>
              </a:lnSpc>
              <a:spcBef>
                <a:spcPct val="20000"/>
              </a:spcBef>
              <a:buClr>
                <a:schemeClr val="accent2"/>
              </a:buClr>
              <a:buSzPct val="75000"/>
              <a:buFont typeface="Wingdings" pitchFamily="2" charset="2"/>
              <a:buNone/>
            </a:pPr>
            <a:r>
              <a:rPr altLang="en-US" lang="en-US">
                <a:latin typeface="Comic Sans MS" pitchFamily="66" charset="0"/>
              </a:rPr>
              <a:t>User</a:t>
            </a:r>
          </a:p>
        </p:txBody>
      </p:sp>
      <p:sp>
        <p:nvSpPr>
          <p:cNvPr id="1048622" name=""/>
          <p:cNvSpPr/>
          <p:nvPr/>
        </p:nvSpPr>
        <p:spPr>
          <a:xfrm rot="0">
            <a:off x="304800" y="1752600"/>
            <a:ext cx="3810000" cy="6858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42900" lvl="0" marL="342900">
              <a:lnSpc>
                <a:spcPct val="90000"/>
              </a:lnSpc>
              <a:spcBef>
                <a:spcPct val="20000"/>
              </a:spcBef>
              <a:buClr>
                <a:schemeClr val="accent2"/>
              </a:buClr>
              <a:buSzPct val="75000"/>
              <a:buFont typeface="Wingdings" pitchFamily="2" charset="2"/>
              <a:buNone/>
            </a:pPr>
            <a:r>
              <a:rPr altLang="en-US" sz="2000" lang="en-US">
                <a:latin typeface="Comic Sans MS" pitchFamily="66" charset="0"/>
              </a:rPr>
              <a:t>1. 	Can we afford to give our employees a pay raise?</a:t>
            </a:r>
          </a:p>
        </p:txBody>
      </p:sp>
      <p:sp>
        <p:nvSpPr>
          <p:cNvPr id="1048623" name=""/>
          <p:cNvSpPr/>
          <p:nvPr/>
        </p:nvSpPr>
        <p:spPr>
          <a:xfrm rot="0">
            <a:off x="5562600" y="1905000"/>
            <a:ext cx="3048000" cy="3810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342900" lvl="0" marL="342900">
              <a:lnSpc>
                <a:spcPct val="90000"/>
              </a:lnSpc>
              <a:spcBef>
                <a:spcPct val="175000"/>
              </a:spcBef>
              <a:buClr>
                <a:schemeClr val="accent2"/>
              </a:buClr>
              <a:buSzPct val="75000"/>
              <a:buFont typeface="Wingdings" pitchFamily="2" charset="2"/>
              <a:buNone/>
            </a:pPr>
            <a:r>
              <a:rPr altLang="en-US" b="1" lang="en-US">
                <a:solidFill>
                  <a:srgbClr val="000066"/>
                </a:solidFill>
                <a:latin typeface="Comic Sans MS" pitchFamily="66" charset="0"/>
              </a:rPr>
              <a:t>Human Resources</a:t>
            </a:r>
          </a:p>
        </p:txBody>
      </p:sp>
      <p:sp>
        <p:nvSpPr>
          <p:cNvPr id="1048624" name=""/>
          <p:cNvSpPr/>
          <p:nvPr/>
        </p:nvSpPr>
        <p:spPr>
          <a:xfrm rot="0">
            <a:off x="304800" y="2514600"/>
            <a:ext cx="3810000" cy="6858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42900" lvl="0" marL="342900">
              <a:lnSpc>
                <a:spcPct val="90000"/>
              </a:lnSpc>
              <a:spcBef>
                <a:spcPct val="20000"/>
              </a:spcBef>
              <a:buClr>
                <a:schemeClr val="accent2"/>
              </a:buClr>
              <a:buSzPct val="75000"/>
              <a:buFont typeface="Wingdings" pitchFamily="2" charset="2"/>
              <a:buNone/>
            </a:pPr>
            <a:r>
              <a:rPr altLang="en-US" sz="2000" lang="en-US">
                <a:latin typeface="Comic Sans MS" pitchFamily="66" charset="0"/>
              </a:rPr>
              <a:t>2. 	Did the company earn a satisfactory income?</a:t>
            </a:r>
          </a:p>
        </p:txBody>
      </p:sp>
      <p:sp>
        <p:nvSpPr>
          <p:cNvPr id="1048625" name=""/>
          <p:cNvSpPr/>
          <p:nvPr/>
        </p:nvSpPr>
        <p:spPr>
          <a:xfrm rot="0">
            <a:off x="304800" y="3276600"/>
            <a:ext cx="4114800" cy="6096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42900" lvl="0" marL="342900">
              <a:lnSpc>
                <a:spcPct val="90000"/>
              </a:lnSpc>
              <a:spcBef>
                <a:spcPct val="20000"/>
              </a:spcBef>
              <a:buClr>
                <a:schemeClr val="accent2"/>
              </a:buClr>
              <a:buSzPct val="75000"/>
              <a:buFont typeface="Wingdings" pitchFamily="2" charset="2"/>
              <a:buNone/>
            </a:pPr>
            <a:r>
              <a:rPr altLang="en-US" sz="2000" lang="en-US">
                <a:latin typeface="Comic Sans MS" pitchFamily="66" charset="0"/>
              </a:rPr>
              <a:t>3. 	Do we need to borrow in the near future?</a:t>
            </a:r>
          </a:p>
        </p:txBody>
      </p:sp>
      <p:sp>
        <p:nvSpPr>
          <p:cNvPr id="1048626" name=""/>
          <p:cNvSpPr/>
          <p:nvPr/>
        </p:nvSpPr>
        <p:spPr>
          <a:xfrm rot="0">
            <a:off x="304800" y="3962400"/>
            <a:ext cx="4419600" cy="6858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42900" lvl="0" marL="342900">
              <a:lnSpc>
                <a:spcPct val="90000"/>
              </a:lnSpc>
              <a:spcBef>
                <a:spcPct val="20000"/>
              </a:spcBef>
              <a:buClr>
                <a:schemeClr val="accent2"/>
              </a:buClr>
              <a:buSzPct val="75000"/>
              <a:buFont typeface="Wingdings" pitchFamily="2" charset="2"/>
              <a:buNone/>
            </a:pPr>
            <a:r>
              <a:rPr altLang="en-US" sz="2000" lang="en-US">
                <a:latin typeface="Comic Sans MS" pitchFamily="66" charset="0"/>
              </a:rPr>
              <a:t>4. 	Is cash sufficient to pay dividends to the stockholders?</a:t>
            </a:r>
          </a:p>
        </p:txBody>
      </p:sp>
      <p:sp>
        <p:nvSpPr>
          <p:cNvPr id="1048627" name=""/>
          <p:cNvSpPr/>
          <p:nvPr/>
        </p:nvSpPr>
        <p:spPr>
          <a:xfrm rot="0">
            <a:off x="304800" y="4724400"/>
            <a:ext cx="4267200" cy="6858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42900" lvl="0" marL="342900">
              <a:lnSpc>
                <a:spcPct val="90000"/>
              </a:lnSpc>
              <a:spcBef>
                <a:spcPct val="20000"/>
              </a:spcBef>
              <a:buClr>
                <a:schemeClr val="accent2"/>
              </a:buClr>
              <a:buSzPct val="75000"/>
              <a:buFont typeface="Wingdings" pitchFamily="2" charset="2"/>
              <a:buNone/>
            </a:pPr>
            <a:r>
              <a:rPr altLang="en-US" sz="2000" lang="en-US">
                <a:latin typeface="Comic Sans MS" pitchFamily="66" charset="0"/>
              </a:rPr>
              <a:t>5. 	What price for our product will maximize net income?</a:t>
            </a:r>
          </a:p>
        </p:txBody>
      </p:sp>
      <p:sp>
        <p:nvSpPr>
          <p:cNvPr id="1048628" name=""/>
          <p:cNvSpPr/>
          <p:nvPr/>
        </p:nvSpPr>
        <p:spPr>
          <a:xfrm rot="0">
            <a:off x="4724400" y="1981200"/>
            <a:ext cx="609600" cy="228600"/>
          </a:xfrm>
          <a:prstGeom prst="notchedRightArrow">
            <a:avLst>
              <a:gd name="adj1" fmla="val 50000"/>
              <a:gd name="adj2" fmla="val 66666"/>
            </a:avLst>
          </a:prstGeom>
          <a:solidFill>
            <a:srgbClr val="990000"/>
          </a:solidFill>
          <a:ln w="127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29" name=""/>
          <p:cNvSpPr/>
          <p:nvPr/>
        </p:nvSpPr>
        <p:spPr>
          <a:xfrm rot="0">
            <a:off x="4724400" y="2743200"/>
            <a:ext cx="609600" cy="228600"/>
          </a:xfrm>
          <a:prstGeom prst="notchedRightArrow">
            <a:avLst>
              <a:gd name="adj1" fmla="val 50000"/>
              <a:gd name="adj2" fmla="val 66666"/>
            </a:avLst>
          </a:prstGeom>
          <a:solidFill>
            <a:srgbClr val="990000"/>
          </a:solidFill>
          <a:ln w="127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3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Who Uses Accounting Data?</a:t>
            </a:r>
          </a:p>
        </p:txBody>
      </p:sp>
      <p:sp>
        <p:nvSpPr>
          <p:cNvPr id="1048631" name=""/>
          <p:cNvSpPr txBox="1"/>
          <p:nvPr/>
        </p:nvSpPr>
        <p:spPr>
          <a:xfrm rot="0">
            <a:off x="3276600" y="6369050"/>
            <a:ext cx="57150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2  Identify the users and uses of accounting.</a:t>
            </a:r>
          </a:p>
        </p:txBody>
      </p:sp>
      <p:sp>
        <p:nvSpPr>
          <p:cNvPr id="1048632" name=""/>
          <p:cNvSpPr/>
          <p:nvPr/>
        </p:nvSpPr>
        <p:spPr>
          <a:xfrm rot="0">
            <a:off x="304800" y="5486400"/>
            <a:ext cx="4191000" cy="6858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42900" lvl="0" marL="342900">
              <a:lnSpc>
                <a:spcPct val="90000"/>
              </a:lnSpc>
              <a:spcBef>
                <a:spcPct val="20000"/>
              </a:spcBef>
              <a:buClr>
                <a:schemeClr val="accent2"/>
              </a:buClr>
              <a:buSzPct val="75000"/>
              <a:buFont typeface="Wingdings" pitchFamily="2" charset="2"/>
              <a:buNone/>
            </a:pPr>
            <a:r>
              <a:rPr altLang="en-US" sz="2000" lang="en-US">
                <a:latin typeface="Comic Sans MS" pitchFamily="66" charset="0"/>
              </a:rPr>
              <a:t>6. 	Will the company be able to pay its short-term debts?</a:t>
            </a:r>
          </a:p>
        </p:txBody>
      </p:sp>
      <p:sp>
        <p:nvSpPr>
          <p:cNvPr id="1048633" name=""/>
          <p:cNvSpPr/>
          <p:nvPr/>
        </p:nvSpPr>
        <p:spPr>
          <a:xfrm rot="0">
            <a:off x="5562600" y="2667000"/>
            <a:ext cx="3048000" cy="3810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342900" lvl="0" marL="342900">
              <a:lnSpc>
                <a:spcPct val="90000"/>
              </a:lnSpc>
              <a:spcBef>
                <a:spcPct val="175000"/>
              </a:spcBef>
              <a:buClr>
                <a:schemeClr val="accent2"/>
              </a:buClr>
              <a:buSzPct val="75000"/>
              <a:buFont typeface="Wingdings" pitchFamily="2" charset="2"/>
              <a:buNone/>
            </a:pPr>
            <a:r>
              <a:rPr altLang="en-US" b="1" lang="en-US">
                <a:solidFill>
                  <a:srgbClr val="000066"/>
                </a:solidFill>
                <a:latin typeface="Comic Sans MS" pitchFamily="66" charset="0"/>
              </a:rPr>
              <a:t>Investors</a:t>
            </a:r>
          </a:p>
        </p:txBody>
      </p:sp>
      <p:sp>
        <p:nvSpPr>
          <p:cNvPr id="1048634" name=""/>
          <p:cNvSpPr/>
          <p:nvPr/>
        </p:nvSpPr>
        <p:spPr>
          <a:xfrm rot="0">
            <a:off x="4724400" y="3505200"/>
            <a:ext cx="609600" cy="228600"/>
          </a:xfrm>
          <a:prstGeom prst="notchedRightArrow">
            <a:avLst>
              <a:gd name="adj1" fmla="val 50000"/>
              <a:gd name="adj2" fmla="val 66666"/>
            </a:avLst>
          </a:prstGeom>
          <a:solidFill>
            <a:srgbClr val="990000"/>
          </a:solidFill>
          <a:ln w="127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35" name=""/>
          <p:cNvSpPr/>
          <p:nvPr/>
        </p:nvSpPr>
        <p:spPr>
          <a:xfrm rot="0">
            <a:off x="5562600" y="3429000"/>
            <a:ext cx="3048000" cy="3810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342900" lvl="0" marL="342900">
              <a:lnSpc>
                <a:spcPct val="90000"/>
              </a:lnSpc>
              <a:spcBef>
                <a:spcPct val="175000"/>
              </a:spcBef>
              <a:buClr>
                <a:schemeClr val="accent2"/>
              </a:buClr>
              <a:buSzPct val="75000"/>
              <a:buFont typeface="Wingdings" pitchFamily="2" charset="2"/>
              <a:buNone/>
            </a:pPr>
            <a:r>
              <a:rPr altLang="en-US" b="1" lang="en-US">
                <a:solidFill>
                  <a:srgbClr val="000066"/>
                </a:solidFill>
                <a:latin typeface="Comic Sans MS" pitchFamily="66" charset="0"/>
              </a:rPr>
              <a:t>Management</a:t>
            </a:r>
          </a:p>
        </p:txBody>
      </p:sp>
      <p:sp>
        <p:nvSpPr>
          <p:cNvPr id="1048636" name=""/>
          <p:cNvSpPr/>
          <p:nvPr/>
        </p:nvSpPr>
        <p:spPr>
          <a:xfrm rot="0">
            <a:off x="4724400" y="4191000"/>
            <a:ext cx="609600" cy="228600"/>
          </a:xfrm>
          <a:prstGeom prst="notchedRightArrow">
            <a:avLst>
              <a:gd name="adj1" fmla="val 50000"/>
              <a:gd name="adj2" fmla="val 66666"/>
            </a:avLst>
          </a:prstGeom>
          <a:solidFill>
            <a:srgbClr val="990000"/>
          </a:solidFill>
          <a:ln w="127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37" name=""/>
          <p:cNvSpPr/>
          <p:nvPr/>
        </p:nvSpPr>
        <p:spPr>
          <a:xfrm rot="0">
            <a:off x="5562600" y="4114800"/>
            <a:ext cx="3048000" cy="3810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342900" lvl="0" marL="342900">
              <a:lnSpc>
                <a:spcPct val="90000"/>
              </a:lnSpc>
              <a:spcBef>
                <a:spcPct val="175000"/>
              </a:spcBef>
              <a:buClr>
                <a:schemeClr val="accent2"/>
              </a:buClr>
              <a:buSzPct val="75000"/>
              <a:buFont typeface="Wingdings" pitchFamily="2" charset="2"/>
              <a:buNone/>
            </a:pPr>
            <a:r>
              <a:rPr altLang="en-US" b="1" lang="en-US">
                <a:solidFill>
                  <a:srgbClr val="000066"/>
                </a:solidFill>
                <a:latin typeface="Comic Sans MS" pitchFamily="66" charset="0"/>
              </a:rPr>
              <a:t>Finance</a:t>
            </a:r>
          </a:p>
        </p:txBody>
      </p:sp>
      <p:sp>
        <p:nvSpPr>
          <p:cNvPr id="1048638" name=""/>
          <p:cNvSpPr/>
          <p:nvPr/>
        </p:nvSpPr>
        <p:spPr>
          <a:xfrm rot="0">
            <a:off x="4724400" y="4953000"/>
            <a:ext cx="609600" cy="228600"/>
          </a:xfrm>
          <a:prstGeom prst="notchedRightArrow">
            <a:avLst>
              <a:gd name="adj1" fmla="val 50000"/>
              <a:gd name="adj2" fmla="val 66666"/>
            </a:avLst>
          </a:prstGeom>
          <a:solidFill>
            <a:srgbClr val="990000"/>
          </a:solidFill>
          <a:ln w="127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39" name=""/>
          <p:cNvSpPr/>
          <p:nvPr/>
        </p:nvSpPr>
        <p:spPr>
          <a:xfrm rot="0">
            <a:off x="5562600" y="4876800"/>
            <a:ext cx="3048000" cy="3810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342900" lvl="0" marL="342900">
              <a:lnSpc>
                <a:spcPct val="90000"/>
              </a:lnSpc>
              <a:spcBef>
                <a:spcPct val="175000"/>
              </a:spcBef>
              <a:buClr>
                <a:schemeClr val="accent2"/>
              </a:buClr>
              <a:buSzPct val="75000"/>
              <a:buFont typeface="Wingdings" pitchFamily="2" charset="2"/>
              <a:buNone/>
            </a:pPr>
            <a:r>
              <a:rPr altLang="en-US" b="1" lang="en-US">
                <a:solidFill>
                  <a:srgbClr val="000066"/>
                </a:solidFill>
                <a:latin typeface="Comic Sans MS" pitchFamily="66" charset="0"/>
              </a:rPr>
              <a:t>Marketing</a:t>
            </a:r>
          </a:p>
        </p:txBody>
      </p:sp>
      <p:sp>
        <p:nvSpPr>
          <p:cNvPr id="1048640" name=""/>
          <p:cNvSpPr/>
          <p:nvPr/>
        </p:nvSpPr>
        <p:spPr>
          <a:xfrm rot="0">
            <a:off x="4724400" y="5715000"/>
            <a:ext cx="609600" cy="228600"/>
          </a:xfrm>
          <a:prstGeom prst="notchedRightArrow">
            <a:avLst>
              <a:gd name="adj1" fmla="val 50000"/>
              <a:gd name="adj2" fmla="val 66666"/>
            </a:avLst>
          </a:prstGeom>
          <a:solidFill>
            <a:srgbClr val="990000"/>
          </a:solidFill>
          <a:ln w="12700" cap="flat"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41" name=""/>
          <p:cNvSpPr/>
          <p:nvPr/>
        </p:nvSpPr>
        <p:spPr>
          <a:xfrm rot="0">
            <a:off x="5562600" y="5638800"/>
            <a:ext cx="3048000" cy="3810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indent="-342900" lvl="0" marL="342900">
              <a:lnSpc>
                <a:spcPct val="90000"/>
              </a:lnSpc>
              <a:spcBef>
                <a:spcPct val="175000"/>
              </a:spcBef>
              <a:buClr>
                <a:schemeClr val="accent2"/>
              </a:buClr>
              <a:buSzPct val="75000"/>
              <a:buFont typeface="Wingdings" pitchFamily="2" charset="2"/>
              <a:buNone/>
            </a:pPr>
            <a:r>
              <a:rPr altLang="en-US" b="1" lang="en-US">
                <a:solidFill>
                  <a:srgbClr val="000066"/>
                </a:solidFill>
                <a:latin typeface="Comic Sans MS" pitchFamily="66" charset="0"/>
              </a:rPr>
              <a:t>Creditors</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623"/>
                                        </p:tgtEl>
                                        <p:attrNameLst>
                                          <p:attrName>style.visibility</p:attrName>
                                        </p:attrNameLst>
                                      </p:cBhvr>
                                      <p:to>
                                        <p:strVal val="visible"/>
                                      </p:to>
                                    </p:set>
                                    <p:animEffect transition="in" filter="wipe(left)">
                                      <p:cBhvr>
                                        <p:cTn dur="500" id="7"/>
                                        <p:tgtEl>
                                          <p:spTgt spid="1048623"/>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633"/>
                                        </p:tgtEl>
                                        <p:attrNameLst>
                                          <p:attrName>style.visibility</p:attrName>
                                        </p:attrNameLst>
                                      </p:cBhvr>
                                      <p:to>
                                        <p:strVal val="visible"/>
                                      </p:to>
                                    </p:set>
                                    <p:animEffect transition="in" filter="wipe(left)">
                                      <p:cBhvr>
                                        <p:cTn dur="500" id="12"/>
                                        <p:tgtEl>
                                          <p:spTgt spid="1048633"/>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8635"/>
                                        </p:tgtEl>
                                        <p:attrNameLst>
                                          <p:attrName>style.visibility</p:attrName>
                                        </p:attrNameLst>
                                      </p:cBhvr>
                                      <p:to>
                                        <p:strVal val="visible"/>
                                      </p:to>
                                    </p:set>
                                    <p:animEffect transition="in" filter="wipe(left)">
                                      <p:cBhvr>
                                        <p:cTn dur="500" id="17"/>
                                        <p:tgtEl>
                                          <p:spTgt spid="1048635"/>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22" presetSubtype="8">
                                  <p:stCondLst>
                                    <p:cond delay="0"/>
                                  </p:stCondLst>
                                  <p:childTnLst>
                                    <p:set>
                                      <p:cBhvr>
                                        <p:cTn dur="1" fill="hold" id="21">
                                          <p:stCondLst>
                                            <p:cond delay="0"/>
                                          </p:stCondLst>
                                        </p:cTn>
                                        <p:tgtEl>
                                          <p:spTgt spid="1048637"/>
                                        </p:tgtEl>
                                        <p:attrNameLst>
                                          <p:attrName>style.visibility</p:attrName>
                                        </p:attrNameLst>
                                      </p:cBhvr>
                                      <p:to>
                                        <p:strVal val="visible"/>
                                      </p:to>
                                    </p:set>
                                    <p:animEffect transition="in" filter="wipe(left)">
                                      <p:cBhvr>
                                        <p:cTn dur="500" id="22"/>
                                        <p:tgtEl>
                                          <p:spTgt spid="1048637"/>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22" presetSubtype="8">
                                  <p:stCondLst>
                                    <p:cond delay="0"/>
                                  </p:stCondLst>
                                  <p:childTnLst>
                                    <p:set>
                                      <p:cBhvr>
                                        <p:cTn dur="1" fill="hold" id="26">
                                          <p:stCondLst>
                                            <p:cond delay="0"/>
                                          </p:stCondLst>
                                        </p:cTn>
                                        <p:tgtEl>
                                          <p:spTgt spid="1048639"/>
                                        </p:tgtEl>
                                        <p:attrNameLst>
                                          <p:attrName>style.visibility</p:attrName>
                                        </p:attrNameLst>
                                      </p:cBhvr>
                                      <p:to>
                                        <p:strVal val="visible"/>
                                      </p:to>
                                    </p:set>
                                    <p:animEffect transition="in" filter="wipe(left)">
                                      <p:cBhvr>
                                        <p:cTn dur="500" id="27"/>
                                        <p:tgtEl>
                                          <p:spTgt spid="1048639"/>
                                        </p:tgtEl>
                                      </p:cBhvr>
                                    </p:animEffect>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22" presetSubtype="8">
                                  <p:stCondLst>
                                    <p:cond delay="0"/>
                                  </p:stCondLst>
                                  <p:childTnLst>
                                    <p:set>
                                      <p:cBhvr>
                                        <p:cTn dur="1" fill="hold" id="31">
                                          <p:stCondLst>
                                            <p:cond delay="0"/>
                                          </p:stCondLst>
                                        </p:cTn>
                                        <p:tgtEl>
                                          <p:spTgt spid="1048641"/>
                                        </p:tgtEl>
                                        <p:attrNameLst>
                                          <p:attrName>style.visibility</p:attrName>
                                        </p:attrNameLst>
                                      </p:cBhvr>
                                      <p:to>
                                        <p:strVal val="visible"/>
                                      </p:to>
                                    </p:set>
                                    <p:animEffect transition="in" filter="wipe(left)">
                                      <p:cBhvr>
                                        <p:cTn dur="500" id="32"/>
                                        <p:tgtEl>
                                          <p:spTgt spid="1048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3" grpId="0" uiExpand="0" build="whole"/>
      <p:bldP spid="1048633" grpId="0" uiExpand="0" build="whole"/>
      <p:bldP spid="1048635" grpId="0" uiExpand="0" build="whole"/>
      <p:bldP spid="1048637" grpId="0" uiExpand="0" build="whole"/>
      <p:bldP spid="1048639" grpId="0" uiExpand="0" build="whole"/>
      <p:bldP spid="1048641" grpId="0" uiExpand="0" build="whole"/>
    </p:bldLst>
  </p:timing>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80" name=""/>
        <p:cNvGrpSpPr/>
        <p:nvPr/>
      </p:nvGrpSpPr>
      <p:grpSpPr>
        <a:xfrm rot="0">
          <a:off x="0" y="0"/>
          <a:ext cx="0" cy="0"/>
          <a:chOff x="0" y="0"/>
          <a:chExt cx="0" cy="0"/>
        </a:xfrm>
      </p:grpSpPr>
      <p:sp>
        <p:nvSpPr>
          <p:cNvPr id="1048661" name=""/>
          <p:cNvSpPr txBox="1"/>
          <p:nvPr/>
        </p:nvSpPr>
        <p:spPr>
          <a:xfrm rot="0">
            <a:off x="685800" y="1295400"/>
            <a:ext cx="7772400" cy="6286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0000"/>
              </a:lnSpc>
              <a:spcBef>
                <a:spcPct val="70000"/>
              </a:spcBef>
              <a:buSzPct val="80000"/>
              <a:buFontTx/>
              <a:buNone/>
            </a:pPr>
            <a:r>
              <a:rPr altLang="en-US" b="1" sz="3200" lang="en-US">
                <a:solidFill>
                  <a:srgbClr val="800000"/>
                </a:solidFill>
                <a:latin typeface="Comic Sans MS" pitchFamily="66" charset="0"/>
              </a:rPr>
              <a:t>Discussion Question</a:t>
            </a:r>
          </a:p>
        </p:txBody>
      </p:sp>
      <p:sp>
        <p:nvSpPr>
          <p:cNvPr id="1048662" name=""/>
          <p:cNvSpPr txBox="1"/>
          <p:nvPr/>
        </p:nvSpPr>
        <p:spPr>
          <a:xfrm rot="0">
            <a:off x="1066800" y="6292850"/>
            <a:ext cx="7924800" cy="4127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3  Understand why ethics is a fundamental business concept</a:t>
            </a:r>
            <a:r>
              <a:rPr altLang="en-US" sz="2100" lang="en-US">
                <a:solidFill>
                  <a:srgbClr val="000000"/>
                </a:solidFill>
                <a:latin typeface="Comic Sans MS" pitchFamily="66" charset="0"/>
              </a:rPr>
              <a:t>.</a:t>
            </a:r>
          </a:p>
        </p:txBody>
      </p:sp>
      <p:sp>
        <p:nvSpPr>
          <p:cNvPr id="1048663" name=""/>
          <p:cNvSpPr txBox="1"/>
          <p:nvPr/>
        </p:nvSpPr>
        <p:spPr>
          <a:xfrm rot="0">
            <a:off x="685800" y="1905000"/>
            <a:ext cx="7772400" cy="43211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20000"/>
              </a:lnSpc>
              <a:spcBef>
                <a:spcPct val="70000"/>
              </a:spcBef>
              <a:buSzPct val="80000"/>
              <a:buFontTx/>
              <a:buNone/>
            </a:pPr>
            <a:r>
              <a:rPr altLang="en-US" b="1" lang="en-US">
                <a:solidFill>
                  <a:srgbClr val="800000"/>
                </a:solidFill>
                <a:latin typeface="Comic Sans MS" pitchFamily="66" charset="0"/>
              </a:rPr>
              <a:t>Q1</a:t>
            </a:r>
            <a:r>
              <a:rPr altLang="en-US" b="1" lang="en-US">
                <a:solidFill>
                  <a:srgbClr val="000000"/>
                </a:solidFill>
                <a:latin typeface="Comic Sans MS" pitchFamily="66" charset="0"/>
              </a:rPr>
              <a:t>. </a:t>
            </a:r>
            <a:r>
              <a:rPr altLang="en-US" lang="en-US">
                <a:solidFill>
                  <a:srgbClr val="000000"/>
                </a:solidFill>
                <a:latin typeface="Comic Sans MS" pitchFamily="66" charset="0"/>
              </a:rPr>
              <a:t>“Accounting is ingrained in our society and it is vital to our economic system.” Do you agree? Explain.</a:t>
            </a:r>
          </a:p>
          <a:p>
            <a:pPr algn="l" lvl="0">
              <a:lnSpc>
                <a:spcPct val="120000"/>
              </a:lnSpc>
              <a:spcBef>
                <a:spcPct val="70000"/>
              </a:spcBef>
              <a:buSzPct val="80000"/>
              <a:buFontTx/>
              <a:buNone/>
            </a:pPr>
            <a:endParaRPr altLang="en-US" lang="en-US">
              <a:solidFill>
                <a:srgbClr val="000000"/>
              </a:solidFill>
              <a:latin typeface="Comic Sans MS" pitchFamily="66" charset="0"/>
            </a:endParaRPr>
          </a:p>
          <a:p>
            <a:pPr algn="l" lvl="0">
              <a:lnSpc>
                <a:spcPct val="120000"/>
              </a:lnSpc>
              <a:spcBef>
                <a:spcPct val="70000"/>
              </a:spcBef>
              <a:buSzPct val="80000"/>
              <a:buFontTx/>
              <a:buNone/>
            </a:pPr>
            <a:endParaRPr altLang="en-US" lang="en-US">
              <a:solidFill>
                <a:srgbClr val="000000"/>
              </a:solidFill>
              <a:latin typeface="Comic Sans MS" pitchFamily="66" charset="0"/>
            </a:endParaRPr>
          </a:p>
          <a:p>
            <a:pPr algn="l" lvl="0">
              <a:lnSpc>
                <a:spcPct val="120000"/>
              </a:lnSpc>
              <a:spcBef>
                <a:spcPct val="70000"/>
              </a:spcBef>
              <a:buSzPct val="80000"/>
              <a:buFontTx/>
              <a:buNone/>
            </a:pPr>
            <a:endParaRPr altLang="en-US" lang="en-US">
              <a:solidFill>
                <a:srgbClr val="000000"/>
              </a:solidFill>
              <a:latin typeface="Comic Sans MS" pitchFamily="66" charset="0"/>
            </a:endParaRPr>
          </a:p>
          <a:p>
            <a:pPr algn="l" lvl="0">
              <a:lnSpc>
                <a:spcPct val="120000"/>
              </a:lnSpc>
              <a:spcBef>
                <a:spcPct val="70000"/>
              </a:spcBef>
              <a:buSzPct val="80000"/>
              <a:buFontTx/>
              <a:buNone/>
            </a:pPr>
            <a:endParaRPr altLang="en-US" lang="en-US">
              <a:solidFill>
                <a:srgbClr val="000000"/>
              </a:solidFill>
              <a:latin typeface="Comic Sans MS" pitchFamily="66" charset="0"/>
            </a:endParaRPr>
          </a:p>
          <a:p>
            <a:pPr algn="l" lvl="0">
              <a:lnSpc>
                <a:spcPct val="120000"/>
              </a:lnSpc>
              <a:spcBef>
                <a:spcPct val="70000"/>
              </a:spcBef>
              <a:buSzPct val="80000"/>
              <a:buFontTx/>
              <a:buNone/>
            </a:pPr>
            <a:r>
              <a:rPr altLang="en-US" sz="2000" lang="en-US">
                <a:solidFill>
                  <a:srgbClr val="000000"/>
                </a:solidFill>
                <a:latin typeface="Comic Sans MS" pitchFamily="66" charset="0"/>
              </a:rPr>
              <a:t>See notes page for discussion</a:t>
            </a:r>
          </a:p>
        </p:txBody>
      </p:sp>
      <p:sp>
        <p:nvSpPr>
          <p:cNvPr id="104866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Who Uses Accounting Data?</a:t>
            </a:r>
          </a:p>
        </p:txBody>
      </p:sp>
    </p:spTree>
  </p:cSld>
  <p:clrMapOvr>
    <a:masterClrMapping/>
  </p:clrMapOvr>
  <p:transition spd="fast" advClick="1">
    <p:wipe dir="r"/>
  </p:transition>
  <p:timing/>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87" name=""/>
        <p:cNvGrpSpPr/>
        <p:nvPr/>
      </p:nvGrpSpPr>
      <p:grpSpPr>
        <a:xfrm rot="0">
          <a:off x="0" y="0"/>
          <a:ext cx="0" cy="0"/>
          <a:chOff x="0" y="0"/>
          <a:chExt cx="0" cy="0"/>
        </a:xfrm>
      </p:grpSpPr>
      <p:sp>
        <p:nvSpPr>
          <p:cNvPr id="104867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Building Blocks of Accounting</a:t>
            </a:r>
          </a:p>
        </p:txBody>
      </p:sp>
      <p:sp>
        <p:nvSpPr>
          <p:cNvPr id="1048675" name=""/>
          <p:cNvSpPr txBox="1"/>
          <p:nvPr/>
        </p:nvSpPr>
        <p:spPr>
          <a:xfrm rot="0">
            <a:off x="685800" y="1295400"/>
            <a:ext cx="7772400" cy="5826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5000"/>
              </a:lnSpc>
              <a:spcBef>
                <a:spcPct val="30000"/>
              </a:spcBef>
              <a:buSzPct val="80000"/>
              <a:buFontTx/>
              <a:buNone/>
            </a:pPr>
            <a:r>
              <a:rPr altLang="en-US" b="1" sz="2800" lang="en-US">
                <a:solidFill>
                  <a:srgbClr val="000066"/>
                </a:solidFill>
                <a:latin typeface="Comic Sans MS" pitchFamily="66" charset="0"/>
              </a:rPr>
              <a:t>Ethics In Financial Reporting</a:t>
            </a:r>
          </a:p>
        </p:txBody>
      </p:sp>
      <p:sp>
        <p:nvSpPr>
          <p:cNvPr id="1048676" name=""/>
          <p:cNvSpPr txBox="1"/>
          <p:nvPr/>
        </p:nvSpPr>
        <p:spPr>
          <a:xfrm rot="0">
            <a:off x="1066800" y="6292850"/>
            <a:ext cx="7924800" cy="4127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3  Understand why ethics is a fundamental business concept</a:t>
            </a:r>
            <a:r>
              <a:rPr altLang="en-US" sz="2100" lang="en-US">
                <a:solidFill>
                  <a:srgbClr val="000000"/>
                </a:solidFill>
                <a:latin typeface="Comic Sans MS" pitchFamily="66" charset="0"/>
              </a:rPr>
              <a:t>.</a:t>
            </a:r>
          </a:p>
        </p:txBody>
      </p:sp>
      <p:sp>
        <p:nvSpPr>
          <p:cNvPr id="1048677" name=""/>
          <p:cNvSpPr txBox="1"/>
          <p:nvPr/>
        </p:nvSpPr>
        <p:spPr>
          <a:xfrm rot="0">
            <a:off x="685800" y="1905000"/>
            <a:ext cx="7772400" cy="41148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5000"/>
              </a:lnSpc>
              <a:spcBef>
                <a:spcPct val="60000"/>
              </a:spcBef>
              <a:buSzPct val="80000"/>
              <a:buFontTx/>
              <a:buNone/>
            </a:pPr>
            <a:r>
              <a:rPr altLang="en-US" lang="en-US">
                <a:solidFill>
                  <a:srgbClr val="000000"/>
                </a:solidFill>
                <a:latin typeface="Comic Sans MS" pitchFamily="66" charset="0"/>
              </a:rPr>
              <a:t>Standards of conduct by which one’s actions are judged as right or wrong, honest or dishonest, fair or not fair, are </a:t>
            </a:r>
            <a:r>
              <a:rPr altLang="en-US" b="1" lang="en-US">
                <a:solidFill>
                  <a:srgbClr val="800000"/>
                </a:solidFill>
                <a:latin typeface="Comic Sans MS" pitchFamily="66" charset="0"/>
              </a:rPr>
              <a:t>Ethics</a:t>
            </a:r>
            <a:r>
              <a:rPr altLang="en-US" lang="en-US">
                <a:solidFill>
                  <a:srgbClr val="000000"/>
                </a:solidFill>
                <a:latin typeface="Comic Sans MS" pitchFamily="66" charset="0"/>
              </a:rPr>
              <a:t>.</a:t>
            </a:r>
          </a:p>
          <a:p>
            <a:pPr algn="l" indent="-460374" lvl="1" marL="690562">
              <a:lnSpc>
                <a:spcPct val="115000"/>
              </a:lnSpc>
              <a:spcBef>
                <a:spcPct val="60000"/>
              </a:spcBef>
              <a:buSzPct val="80000"/>
              <a:buFontTx/>
              <a:buBlip>
                <a:blip xmlns:r="http://schemas.openxmlformats.org/officeDocument/2006/relationships" r:embed="rId1"/>
              </a:buBlip>
            </a:pPr>
            <a:r>
              <a:rPr altLang="en-US" lang="en-US">
                <a:solidFill>
                  <a:srgbClr val="000000"/>
                </a:solidFill>
                <a:latin typeface="Comic Sans MS" pitchFamily="66" charset="0"/>
              </a:rPr>
              <a:t>Recent financial scandals include:  </a:t>
            </a:r>
            <a:r>
              <a:rPr altLang="en-US" lang="en-US">
                <a:solidFill>
                  <a:srgbClr val="800000"/>
                </a:solidFill>
                <a:latin typeface="Comic Sans MS" pitchFamily="66" charset="0"/>
              </a:rPr>
              <a:t>Enron</a:t>
            </a:r>
            <a:r>
              <a:rPr altLang="en-US" lang="en-US">
                <a:solidFill>
                  <a:srgbClr val="000000"/>
                </a:solidFill>
                <a:latin typeface="Comic Sans MS" pitchFamily="66" charset="0"/>
              </a:rPr>
              <a:t>, </a:t>
            </a:r>
            <a:r>
              <a:rPr altLang="en-US" lang="en-US">
                <a:solidFill>
                  <a:srgbClr val="800000"/>
                </a:solidFill>
                <a:latin typeface="Comic Sans MS" pitchFamily="66" charset="0"/>
              </a:rPr>
              <a:t>WorldCom</a:t>
            </a:r>
            <a:r>
              <a:rPr altLang="en-US" lang="en-US">
                <a:solidFill>
                  <a:srgbClr val="000000"/>
                </a:solidFill>
                <a:latin typeface="Comic Sans MS" pitchFamily="66" charset="0"/>
              </a:rPr>
              <a:t>, </a:t>
            </a:r>
            <a:r>
              <a:rPr altLang="en-US" lang="en-US">
                <a:solidFill>
                  <a:srgbClr val="800000"/>
                </a:solidFill>
                <a:latin typeface="Comic Sans MS" pitchFamily="66" charset="0"/>
              </a:rPr>
              <a:t>HealthSouth</a:t>
            </a:r>
            <a:r>
              <a:rPr altLang="en-US" lang="en-US">
                <a:solidFill>
                  <a:srgbClr val="000000"/>
                </a:solidFill>
                <a:latin typeface="Comic Sans MS" pitchFamily="66" charset="0"/>
              </a:rPr>
              <a:t>, </a:t>
            </a:r>
            <a:r>
              <a:rPr altLang="en-US" lang="en-US">
                <a:solidFill>
                  <a:srgbClr val="800000"/>
                </a:solidFill>
                <a:latin typeface="Comic Sans MS" pitchFamily="66" charset="0"/>
              </a:rPr>
              <a:t>AIG</a:t>
            </a:r>
            <a:r>
              <a:rPr altLang="en-US" lang="en-US">
                <a:solidFill>
                  <a:srgbClr val="000000"/>
                </a:solidFill>
                <a:latin typeface="Comic Sans MS" pitchFamily="66" charset="0"/>
              </a:rPr>
              <a:t>, and others.</a:t>
            </a:r>
          </a:p>
          <a:p>
            <a:pPr algn="l" indent="-460374" lvl="1" marL="690562">
              <a:lnSpc>
                <a:spcPct val="115000"/>
              </a:lnSpc>
              <a:spcBef>
                <a:spcPct val="60000"/>
              </a:spcBef>
              <a:buSzPct val="80000"/>
              <a:buFontTx/>
              <a:buBlip>
                <a:blip xmlns:r="http://schemas.openxmlformats.org/officeDocument/2006/relationships" r:embed="rId1"/>
              </a:buBlip>
            </a:pPr>
            <a:r>
              <a:rPr altLang="en-US" lang="en-US">
                <a:solidFill>
                  <a:srgbClr val="000000"/>
                </a:solidFill>
                <a:latin typeface="Comic Sans MS" pitchFamily="66" charset="0"/>
              </a:rPr>
              <a:t>Congress passedSarbanes-Oxley Act of 2002. </a:t>
            </a:r>
          </a:p>
          <a:p>
            <a:pPr algn="l" indent="-460374" lvl="1" marL="690562">
              <a:lnSpc>
                <a:spcPct val="115000"/>
              </a:lnSpc>
              <a:spcBef>
                <a:spcPct val="60000"/>
              </a:spcBef>
              <a:buSzPct val="80000"/>
              <a:buFontTx/>
              <a:buBlip>
                <a:blip xmlns:r="http://schemas.openxmlformats.org/officeDocument/2006/relationships" r:embed="rId1"/>
              </a:buBlip>
            </a:pPr>
            <a:r>
              <a:rPr altLang="en-US" lang="en-US">
                <a:solidFill>
                  <a:srgbClr val="000000"/>
                </a:solidFill>
                <a:latin typeface="Comic Sans MS" pitchFamily="66" charset="0"/>
              </a:rPr>
              <a:t>Effective financial reporting depends on sound ethical behavior.</a:t>
            </a:r>
          </a:p>
        </p:txBody>
      </p:sp>
    </p:spTree>
  </p:cSld>
  <p:clrMapOvr>
    <a:masterClrMapping/>
  </p:clrMapOvr>
  <p:transition spd="fast" advClick="1">
    <p:wipe dir="r"/>
  </p:transition>
  <p:timing/>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90" name=""/>
        <p:cNvGrpSpPr/>
        <p:nvPr/>
      </p:nvGrpSpPr>
      <p:grpSpPr>
        <a:xfrm rot="0">
          <a:off x="0" y="0"/>
          <a:ext cx="0" cy="0"/>
          <a:chOff x="0" y="0"/>
          <a:chExt cx="0" cy="0"/>
        </a:xfrm>
      </p:grpSpPr>
      <p:sp>
        <p:nvSpPr>
          <p:cNvPr id="1048680" name=""/>
          <p:cNvSpPr/>
          <p:nvPr/>
        </p:nvSpPr>
        <p:spPr>
          <a:xfrm rot="0">
            <a:off x="838200" y="1981200"/>
            <a:ext cx="7696200" cy="31242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lang="en-US">
                <a:latin typeface="Comic Sans MS" pitchFamily="66" charset="0"/>
              </a:rPr>
              <a:t>Ethics are the standards of conduct by which one's actions are judged as: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right or wrong.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honest or dishonest.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fair or not fair.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all of these options.</a:t>
            </a:r>
          </a:p>
        </p:txBody>
      </p:sp>
      <p:sp>
        <p:nvSpPr>
          <p:cNvPr id="1048681"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
        <p:nvSpPr>
          <p:cNvPr id="104868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Ethics</a:t>
            </a:r>
          </a:p>
        </p:txBody>
      </p:sp>
      <p:sp>
        <p:nvSpPr>
          <p:cNvPr id="1048683" name=""/>
          <p:cNvSpPr txBox="1"/>
          <p:nvPr/>
        </p:nvSpPr>
        <p:spPr>
          <a:xfrm rot="0">
            <a:off x="1066800" y="6292850"/>
            <a:ext cx="7924800" cy="4127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3  Understand why ethics is a fundamental business concept</a:t>
            </a:r>
            <a:r>
              <a:rPr altLang="en-US" sz="2100" lang="en-US">
                <a:solidFill>
                  <a:srgbClr val="000000"/>
                </a:solidFill>
                <a:latin typeface="Comic Sans MS" pitchFamily="66" charset="0"/>
              </a:rPr>
              <a:t>.</a:t>
            </a:r>
          </a:p>
        </p:txBody>
      </p:sp>
    </p:spTree>
  </p:cSld>
  <p:clrMapOvr>
    <a:masterClrMapping/>
  </p:clrMapOvr>
  <p:transition spd="fast" advClick="1">
    <p:wipe dir="r"/>
  </p:transition>
  <p:timing/>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91" name=""/>
        <p:cNvGrpSpPr/>
        <p:nvPr/>
      </p:nvGrpSpPr>
      <p:grpSpPr>
        <a:xfrm rot="0">
          <a:off x="0" y="0"/>
          <a:ext cx="0" cy="0"/>
          <a:chOff x="0" y="0"/>
          <a:chExt cx="0" cy="0"/>
        </a:xfrm>
      </p:grpSpPr>
      <p:sp>
        <p:nvSpPr>
          <p:cNvPr id="1048684" name=""/>
          <p:cNvSpPr/>
          <p:nvPr/>
        </p:nvSpPr>
        <p:spPr>
          <a:xfrm rot="0">
            <a:off x="838200" y="1981200"/>
            <a:ext cx="7696200" cy="31242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lang="en-US">
                <a:latin typeface="Comic Sans MS" pitchFamily="66" charset="0"/>
              </a:rPr>
              <a:t>Ethics are the standards of conduct by which one's actions are judged as: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right or wrong.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honest or dishonest.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fair or not fair. </a:t>
            </a:r>
          </a:p>
          <a:p>
            <a:pPr algn="l" indent="-401637" lvl="1" marL="631825">
              <a:spcBef>
                <a:spcPct val="40000"/>
              </a:spcBef>
              <a:buClr>
                <a:schemeClr val="dk1"/>
              </a:buClr>
              <a:buFont typeface="Wingdings" pitchFamily="2" charset="2"/>
              <a:buAutoNum type="alphaLcPeriod" startAt="1"/>
            </a:pPr>
            <a:r>
              <a:rPr altLang="en-US" lang="en-US">
                <a:latin typeface="Comic Sans MS" pitchFamily="66" charset="0"/>
              </a:rPr>
              <a:t>all of these options.</a:t>
            </a:r>
          </a:p>
        </p:txBody>
      </p:sp>
      <p:sp>
        <p:nvSpPr>
          <p:cNvPr id="1048685" name=""/>
          <p:cNvSpPr/>
          <p:nvPr/>
        </p:nvSpPr>
        <p:spPr>
          <a:xfrm rot="0">
            <a:off x="1143000" y="44196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86"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
        <p:nvSpPr>
          <p:cNvPr id="104868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Ethics</a:t>
            </a:r>
          </a:p>
        </p:txBody>
      </p:sp>
      <p:sp>
        <p:nvSpPr>
          <p:cNvPr id="1048688" name=""/>
          <p:cNvSpPr txBox="1"/>
          <p:nvPr/>
        </p:nvSpPr>
        <p:spPr>
          <a:xfrm rot="0">
            <a:off x="1066800" y="6292850"/>
            <a:ext cx="7924800" cy="4127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3  Understand why ethics is a fundamental business concept</a:t>
            </a:r>
            <a:r>
              <a:rPr altLang="en-US" sz="2100" lang="en-US">
                <a:solidFill>
                  <a:srgbClr val="000000"/>
                </a:solidFill>
                <a:latin typeface="Comic Sans MS" pitchFamily="66" charset="0"/>
              </a:rPr>
              <a:t>.</a:t>
            </a:r>
          </a:p>
        </p:txBody>
      </p:sp>
    </p:spTree>
  </p:cSld>
  <p:clrMapOvr>
    <a:masterClrMapping/>
  </p:clrMapOvr>
  <p:transition spd="fast" advClick="1">
    <p:wipe dir="r"/>
  </p:transition>
  <p:timing/>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92" name=""/>
        <p:cNvGrpSpPr/>
        <p:nvPr/>
      </p:nvGrpSpPr>
      <p:grpSpPr>
        <a:xfrm rot="0">
          <a:off x="0" y="0"/>
          <a:ext cx="0" cy="0"/>
          <a:chOff x="0" y="0"/>
          <a:chExt cx="0" cy="0"/>
        </a:xfrm>
      </p:grpSpPr>
      <p:sp>
        <p:nvSpPr>
          <p:cNvPr id="1048689" name=""/>
          <p:cNvSpPr txBox="1"/>
          <p:nvPr/>
        </p:nvSpPr>
        <p:spPr>
          <a:xfrm rot="0">
            <a:off x="838200" y="1752600"/>
            <a:ext cx="2362200" cy="1125537"/>
          </a:xfrm>
          <a:prstGeom prst="rect"/>
          <a:solidFill>
            <a:srgbClr val="FFFFFF"/>
          </a:solidFill>
          <a:ln w="28575" cap="sq" cmpd="sng">
            <a:solidFill>
              <a:schemeClr val="dk1">
                <a:alpha val="100000"/>
              </a:schemeClr>
            </a:solidFill>
            <a:prstDash val="solid"/>
            <a:round/>
          </a:ln>
          <a:effectLst>
            <a:outerShdw algn="ctr" dir="2699999" dist="35921" kx="0" sx="100000" sy="100000">
              <a:schemeClr val="dk2">
                <a:alpha val="100000"/>
              </a:schemeClr>
            </a:outerShdw>
          </a:effectLst>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2200" lang="en-US">
                <a:latin typeface="Comic Sans MS" pitchFamily="66" charset="0"/>
              </a:rPr>
              <a:t>Various users need financial information</a:t>
            </a:r>
          </a:p>
        </p:txBody>
      </p:sp>
      <p:sp>
        <p:nvSpPr>
          <p:cNvPr id="1048690" name=""/>
          <p:cNvSpPr txBox="1"/>
          <p:nvPr/>
        </p:nvSpPr>
        <p:spPr>
          <a:xfrm rot="0">
            <a:off x="228600" y="3886200"/>
            <a:ext cx="3657600" cy="17668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2200" lang="en-US">
                <a:latin typeface="Comic Sans MS" pitchFamily="66" charset="0"/>
              </a:rPr>
              <a:t>The accounting profession has attempted to develop a set of standards that are generally accepted and universally practiced.</a:t>
            </a:r>
          </a:p>
        </p:txBody>
      </p:sp>
      <p:sp>
        <p:nvSpPr>
          <p:cNvPr id="1048691" name=""/>
          <p:cNvSpPr/>
          <p:nvPr/>
        </p:nvSpPr>
        <p:spPr>
          <a:xfrm rot="0">
            <a:off x="3733800" y="2209800"/>
            <a:ext cx="838200" cy="304800"/>
          </a:xfrm>
          <a:custGeom>
            <a:avLst/>
            <a:gdLst>
              <a:gd name="l" fmla="*/ 3375 w 21600"/>
              <a:gd name="t" fmla="*/ 5400 h 21600"/>
              <a:gd name="r" fmla="*/ 18900 w 21600"/>
              <a:gd name="b" fmla="*/ 16200 h 21600"/>
            </a:gdLst>
            <a:ah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path>
            </a:pathLst>
          </a:custGeom>
          <a:solidFill>
            <a:srgbClr val="990033"/>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92" name=""/>
          <p:cNvSpPr txBox="1"/>
          <p:nvPr/>
        </p:nvSpPr>
        <p:spPr>
          <a:xfrm rot="0">
            <a:off x="4953000" y="1524000"/>
            <a:ext cx="3505200" cy="1617662"/>
          </a:xfrm>
          <a:prstGeom prst="rect"/>
          <a:solidFill>
            <a:srgbClr val="FFFFFF"/>
          </a:solidFill>
          <a:ln w="28575" cap="sq" cmpd="sng">
            <a:solidFill>
              <a:schemeClr val="dk1">
                <a:alpha val="100000"/>
              </a:schemeClr>
            </a:solidFill>
            <a:prstDash val="solid"/>
            <a:round/>
          </a:ln>
          <a:effectLst>
            <a:outerShdw algn="ctr" dir="2699999" dist="35921" kx="0" sx="100000" sy="100000">
              <a:schemeClr val="dk2">
                <a:alpha val="100000"/>
              </a:schemeClr>
            </a:outerShdw>
          </a:effectLst>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34950" lvl="0" marL="346075">
              <a:spcBef>
                <a:spcPct val="10000"/>
              </a:spcBef>
            </a:pPr>
            <a:r>
              <a:rPr altLang="en-US" sz="2200" lang="en-US">
                <a:latin typeface="Comic Sans MS" pitchFamily="66" charset="0"/>
              </a:rPr>
              <a:t>Financial Statements</a:t>
            </a:r>
          </a:p>
          <a:p>
            <a:pPr algn="l" indent="-234950" lvl="0" marL="346075">
              <a:lnSpc>
                <a:spcPct val="105000"/>
              </a:lnSpc>
              <a:spcBef>
                <a:spcPct val="20000"/>
              </a:spcBef>
              <a:buSzPct val="90000"/>
              <a:buFontTx/>
              <a:buBlip>
                <a:blip xmlns:r="http://schemas.openxmlformats.org/officeDocument/2006/relationships" r:embed="rId1"/>
              </a:buBlip>
            </a:pPr>
            <a:r>
              <a:rPr altLang="en-US" sz="1400" lang="en-US">
                <a:latin typeface="Comic Sans MS" pitchFamily="66" charset="0"/>
              </a:rPr>
              <a:t>Balance Sheet</a:t>
            </a:r>
          </a:p>
          <a:p>
            <a:pPr algn="l" indent="-234950" lvl="0" marL="346075">
              <a:lnSpc>
                <a:spcPct val="105000"/>
              </a:lnSpc>
              <a:buSzPct val="90000"/>
              <a:buFontTx/>
              <a:buBlip>
                <a:blip xmlns:r="http://schemas.openxmlformats.org/officeDocument/2006/relationships" r:embed="rId1"/>
              </a:buBlip>
            </a:pPr>
            <a:r>
              <a:rPr altLang="en-US" sz="1400" lang="en-US">
                <a:latin typeface="Comic Sans MS" pitchFamily="66" charset="0"/>
              </a:rPr>
              <a:t>Income Statement</a:t>
            </a:r>
          </a:p>
          <a:p>
            <a:pPr algn="l" indent="-234950" lvl="0" marL="346075">
              <a:lnSpc>
                <a:spcPct val="105000"/>
              </a:lnSpc>
              <a:buSzPct val="90000"/>
              <a:buFontTx/>
              <a:buBlip>
                <a:blip xmlns:r="http://schemas.openxmlformats.org/officeDocument/2006/relationships" r:embed="rId1"/>
              </a:buBlip>
            </a:pPr>
            <a:r>
              <a:rPr altLang="en-US" sz="1400" lang="en-US">
                <a:latin typeface="Comic Sans MS" pitchFamily="66" charset="0"/>
              </a:rPr>
              <a:t>Statement of Owner’s Equity</a:t>
            </a:r>
          </a:p>
          <a:p>
            <a:pPr algn="l" indent="-234950" lvl="0" marL="346075">
              <a:lnSpc>
                <a:spcPct val="105000"/>
              </a:lnSpc>
              <a:buSzPct val="90000"/>
              <a:buFontTx/>
              <a:buBlip>
                <a:blip xmlns:r="http://schemas.openxmlformats.org/officeDocument/2006/relationships" r:embed="rId1"/>
              </a:buBlip>
            </a:pPr>
            <a:r>
              <a:rPr altLang="en-US" sz="1400" lang="en-US">
                <a:latin typeface="Comic Sans MS" pitchFamily="66" charset="0"/>
              </a:rPr>
              <a:t>Statement of Cash Flows</a:t>
            </a:r>
          </a:p>
          <a:p>
            <a:pPr algn="l" indent="-234950" lvl="0" marL="346075">
              <a:lnSpc>
                <a:spcPct val="105000"/>
              </a:lnSpc>
              <a:spcAft>
                <a:spcPct val="25000"/>
              </a:spcAft>
              <a:buSzPct val="90000"/>
              <a:buFontTx/>
              <a:buBlip>
                <a:blip xmlns:r="http://schemas.openxmlformats.org/officeDocument/2006/relationships" r:embed="rId1"/>
              </a:buBlip>
            </a:pPr>
            <a:r>
              <a:rPr altLang="en-US" sz="1400" lang="en-US">
                <a:latin typeface="Comic Sans MS" pitchFamily="66" charset="0"/>
              </a:rPr>
              <a:t>Note Disclosure</a:t>
            </a:r>
          </a:p>
        </p:txBody>
      </p:sp>
      <p:sp>
        <p:nvSpPr>
          <p:cNvPr id="1048693" name=""/>
          <p:cNvSpPr/>
          <p:nvPr/>
        </p:nvSpPr>
        <p:spPr>
          <a:xfrm rot="0">
            <a:off x="5105400" y="4114800"/>
            <a:ext cx="3200400" cy="1600200"/>
          </a:xfrm>
          <a:prstGeom prst="rect"/>
          <a:solidFill>
            <a:srgbClr val="003399"/>
          </a:solidFill>
          <a:ln w="381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b="1" lang="en-US">
                <a:solidFill>
                  <a:srgbClr val="FFFF00"/>
                </a:solidFill>
                <a:effectLst>
                  <a:outerShdw algn="tl" blurRad="38100" dir="2700000" dist="38100">
                    <a:srgbClr val="C0C0C0"/>
                  </a:outerShdw>
                </a:effectLst>
                <a:latin typeface="Comic Sans MS" pitchFamily="66" charset="0"/>
              </a:rPr>
              <a:t>Generally Accepted Accounting Principles (GAAP)</a:t>
            </a:r>
          </a:p>
        </p:txBody>
      </p:sp>
      <p:sp>
        <p:nvSpPr>
          <p:cNvPr id="1048694" name=""/>
          <p:cNvSpPr/>
          <p:nvPr/>
        </p:nvSpPr>
        <p:spPr>
          <a:xfrm rot="0">
            <a:off x="4038600" y="4724400"/>
            <a:ext cx="762000" cy="228600"/>
          </a:xfrm>
          <a:custGeom>
            <a:avLst/>
            <a:gdLst>
              <a:gd name="l" fmla="*/ 3375 w 21600"/>
              <a:gd name="t" fmla="*/ 5400 h 21600"/>
              <a:gd name="r" fmla="*/ 18900 w 21600"/>
              <a:gd name="b" fmla="*/ 16200 h 21600"/>
            </a:gdLst>
            <a:ah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path>
            </a:pathLst>
          </a:custGeom>
          <a:solidFill>
            <a:srgbClr val="990033"/>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95" name=""/>
          <p:cNvSpPr/>
          <p:nvPr/>
        </p:nvSpPr>
        <p:spPr>
          <a:xfrm rot="16200000">
            <a:off x="6400800" y="3505200"/>
            <a:ext cx="533400" cy="228600"/>
          </a:xfrm>
          <a:custGeom>
            <a:avLst/>
            <a:gdLst>
              <a:gd name="l" fmla="*/ 3375 w 21600"/>
              <a:gd name="t" fmla="*/ 5400 h 21600"/>
              <a:gd name="r" fmla="*/ 18900 w 21600"/>
              <a:gd name="b" fmla="*/ 16200 h 21600"/>
            </a:gdLst>
            <a:ahLst/>
            <a:rect l="l" t="t"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path>
            </a:pathLst>
          </a:custGeom>
          <a:solidFill>
            <a:srgbClr val="990033"/>
          </a:solidFill>
          <a:ln w="12700" cap="sq" cmpd="sng">
            <a:solidFill>
              <a:schemeClr val="dk1">
                <a:alpha val="100000"/>
              </a:schemeClr>
            </a:solidFill>
            <a:prstDash val="solid"/>
            <a:round/>
          </a:ln>
        </p:spPr>
        <p:txBody>
          <a:bodyPr anchor="ctr" bIns="45720" lIns="91440" rIns="91440" tIns="45720" vert="eaVert"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9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Building Blocks of Accounting</a:t>
            </a:r>
          </a:p>
        </p:txBody>
      </p:sp>
      <p:sp>
        <p:nvSpPr>
          <p:cNvPr id="1048697"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4  Explain generally accepted accounting principles and the cost principle.</a:t>
            </a:r>
          </a:p>
        </p:txBody>
      </p:sp>
    </p:spTree>
  </p:cSld>
  <p:clrMapOvr>
    <a:masterClrMapping/>
  </p:clrMapOvr>
  <p:transition spd="fast" advClick="1">
    <p:wipe dir="r"/>
  </p:transition>
  <p:timing/>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93" name=""/>
        <p:cNvGrpSpPr/>
        <p:nvPr/>
      </p:nvGrpSpPr>
      <p:grpSpPr>
        <a:xfrm rot="0">
          <a:off x="0" y="0"/>
          <a:ext cx="0" cy="0"/>
          <a:chOff x="0" y="0"/>
          <a:chExt cx="0" cy="0"/>
        </a:xfrm>
      </p:grpSpPr>
      <p:sp>
        <p:nvSpPr>
          <p:cNvPr id="1048698" name=""/>
          <p:cNvSpPr/>
          <p:nvPr/>
        </p:nvSpPr>
        <p:spPr>
          <a:xfrm rot="0">
            <a:off x="388937" y="4724400"/>
            <a:ext cx="8382000" cy="1219200"/>
          </a:xfrm>
          <a:prstGeom prst="rect"/>
          <a:solidFill>
            <a:srgbClr val="F9EFA5"/>
          </a:solidFill>
          <a:ln w="28575"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699" name=""/>
          <p:cNvSpPr/>
          <p:nvPr/>
        </p:nvSpPr>
        <p:spPr>
          <a:xfrm rot="0">
            <a:off x="388937" y="3352800"/>
            <a:ext cx="8382000" cy="1219200"/>
          </a:xfrm>
          <a:prstGeom prst="rect"/>
          <a:solidFill>
            <a:srgbClr val="F9EFA5"/>
          </a:solidFill>
          <a:ln w="28575"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700" name=""/>
          <p:cNvSpPr/>
          <p:nvPr/>
        </p:nvSpPr>
        <p:spPr>
          <a:xfrm rot="0">
            <a:off x="388937" y="1981200"/>
            <a:ext cx="8382000" cy="1219200"/>
          </a:xfrm>
          <a:prstGeom prst="rect"/>
          <a:solidFill>
            <a:srgbClr val="F9EFA5"/>
          </a:solidFill>
          <a:ln w="28575"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701" name=""/>
          <p:cNvSpPr txBox="1"/>
          <p:nvPr/>
        </p:nvSpPr>
        <p:spPr>
          <a:xfrm rot="0">
            <a:off x="609600" y="1295400"/>
            <a:ext cx="8229600" cy="44465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5000"/>
              </a:lnSpc>
              <a:spcBef>
                <a:spcPct val="50000"/>
              </a:spcBef>
              <a:spcAft>
                <a:spcPct val="30000"/>
              </a:spcAft>
              <a:buSzPct val="75000"/>
              <a:buFontTx/>
              <a:buNone/>
            </a:pPr>
            <a:r>
              <a:rPr altLang="en-US" b="1" sz="2800" lang="en-US">
                <a:solidFill>
                  <a:srgbClr val="000066"/>
                </a:solidFill>
                <a:latin typeface="Comic Sans MS" pitchFamily="66" charset="0"/>
              </a:rPr>
              <a:t>Organizations Involved in Standard Setting:</a:t>
            </a:r>
          </a:p>
          <a:p>
            <a:pPr algn="l" indent="0" lvl="1" marL="747712">
              <a:lnSpc>
                <a:spcPct val="115000"/>
              </a:lnSpc>
              <a:spcBef>
                <a:spcPct val="50000"/>
              </a:spcBef>
              <a:buSzPct val="75000"/>
              <a:buFontTx/>
              <a:buNone/>
            </a:pPr>
            <a:r>
              <a:rPr altLang="en-US" sz="2600" lang="en-US">
                <a:latin typeface="Comic Sans MS" pitchFamily="66" charset="0"/>
              </a:rPr>
              <a:t>Securities and Exchange Commission (SEC)</a:t>
            </a:r>
          </a:p>
          <a:p>
            <a:pPr algn="l" lvl="0">
              <a:lnSpc>
                <a:spcPct val="115000"/>
              </a:lnSpc>
              <a:spcBef>
                <a:spcPct val="50000"/>
              </a:spcBef>
              <a:buSzPct val="75000"/>
              <a:buFontTx/>
              <a:buNone/>
            </a:pPr>
            <a:endParaRPr altLang="en-US" sz="2600" lang="en-US">
              <a:latin typeface="Comic Sans MS" pitchFamily="66" charset="0"/>
            </a:endParaRPr>
          </a:p>
          <a:p>
            <a:pPr algn="l" indent="0" lvl="1" marL="747712">
              <a:lnSpc>
                <a:spcPct val="115000"/>
              </a:lnSpc>
              <a:spcBef>
                <a:spcPct val="50000"/>
              </a:spcBef>
              <a:buSzPct val="75000"/>
              <a:buFontTx/>
              <a:buNone/>
            </a:pPr>
            <a:r>
              <a:rPr altLang="en-US" sz="2600" lang="en-US">
                <a:latin typeface="Comic Sans MS" pitchFamily="66" charset="0"/>
              </a:rPr>
              <a:t>Financial Accounting Standards Board (FASB)</a:t>
            </a:r>
          </a:p>
          <a:p>
            <a:pPr algn="l" lvl="0">
              <a:lnSpc>
                <a:spcPct val="115000"/>
              </a:lnSpc>
              <a:spcBef>
                <a:spcPct val="50000"/>
              </a:spcBef>
              <a:buSzPct val="75000"/>
              <a:buFontTx/>
              <a:buNone/>
            </a:pPr>
            <a:endParaRPr altLang="en-US" sz="2600" lang="en-US">
              <a:latin typeface="Comic Sans MS" pitchFamily="66" charset="0"/>
            </a:endParaRPr>
          </a:p>
          <a:p>
            <a:pPr algn="l" indent="0" lvl="1" marL="747712">
              <a:lnSpc>
                <a:spcPct val="115000"/>
              </a:lnSpc>
              <a:spcBef>
                <a:spcPct val="50000"/>
              </a:spcBef>
              <a:buSzPct val="75000"/>
              <a:buFontTx/>
              <a:buNone/>
            </a:pPr>
            <a:r>
              <a:rPr altLang="en-US" sz="2600" lang="en-US">
                <a:latin typeface="Comic Sans MS" pitchFamily="66" charset="0"/>
              </a:rPr>
              <a:t>International Accounting Standards Board (IASB)</a:t>
            </a:r>
          </a:p>
        </p:txBody>
      </p:sp>
      <p:sp>
        <p:nvSpPr>
          <p:cNvPr id="1048702"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4  Explain generally accepted accounting principles and the cost principle.</a:t>
            </a:r>
          </a:p>
        </p:txBody>
      </p:sp>
      <p:sp>
        <p:nvSpPr>
          <p:cNvPr id="104870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Building Blocks of Accounting</a:t>
            </a:r>
          </a:p>
        </p:txBody>
      </p:sp>
      <p:pic>
        <p:nvPicPr>
          <p:cNvPr id="2097156" name="" descr="SECInternet"/>
          <p:cNvPicPr>
            <a:picLocks/>
          </p:cNvPicPr>
          <p:nvPr/>
        </p:nvPicPr>
        <p:blipFill>
          <a:blip xmlns:r="http://schemas.openxmlformats.org/officeDocument/2006/relationships" r:embed="rId1"/>
          <a:srcRect l="0" t="0" r="0" b="0"/>
          <a:stretch>
            <a:fillRect/>
          </a:stretch>
        </p:blipFill>
        <p:spPr>
          <a:xfrm rot="0">
            <a:off x="541337" y="2209800"/>
            <a:ext cx="754062" cy="762000"/>
          </a:xfrm>
          <a:prstGeom prst="rect"/>
          <a:noFill/>
          <a:ln>
            <a:noFill/>
          </a:ln>
        </p:spPr>
      </p:pic>
      <p:sp>
        <p:nvSpPr>
          <p:cNvPr id="1048704" name=""/>
          <p:cNvSpPr txBox="1"/>
          <p:nvPr/>
        </p:nvSpPr>
        <p:spPr>
          <a:xfrm rot="0">
            <a:off x="3048000" y="4022725"/>
            <a:ext cx="2895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2000" lang="en-US">
                <a:latin typeface="Comic Sans MS" pitchFamily="66" charset="0"/>
                <a:hlinkClick r:id="rId2"/>
              </a:rPr>
              <a:t>http://www.fasb.org/</a:t>
            </a:r>
          </a:p>
        </p:txBody>
      </p:sp>
      <p:pic>
        <p:nvPicPr>
          <p:cNvPr id="2097157" name=""/>
          <p:cNvPicPr>
            <a:picLocks/>
          </p:cNvPicPr>
          <p:nvPr/>
        </p:nvPicPr>
        <p:blipFill>
          <a:blip xmlns:r="http://schemas.openxmlformats.org/officeDocument/2006/relationships" r:embed="rId3"/>
          <a:srcRect l="0" t="0" r="0" b="0"/>
          <a:stretch>
            <a:fillRect/>
          </a:stretch>
        </p:blipFill>
        <p:spPr>
          <a:xfrm rot="0">
            <a:off x="596900" y="3505200"/>
            <a:ext cx="622300" cy="762000"/>
          </a:xfrm>
          <a:prstGeom prst="rect"/>
          <a:noFill/>
          <a:ln>
            <a:noFill/>
          </a:ln>
        </p:spPr>
      </p:pic>
      <p:sp>
        <p:nvSpPr>
          <p:cNvPr id="1048705" name=""/>
          <p:cNvSpPr txBox="1"/>
          <p:nvPr/>
        </p:nvSpPr>
        <p:spPr>
          <a:xfrm rot="0">
            <a:off x="3048000" y="2727325"/>
            <a:ext cx="2895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2000" lang="en-US">
                <a:latin typeface="Comic Sans MS" pitchFamily="66" charset="0"/>
                <a:hlinkClick r:id="rId4"/>
              </a:rPr>
              <a:t>http://www.sec.gov/</a:t>
            </a:r>
          </a:p>
        </p:txBody>
      </p:sp>
      <p:sp>
        <p:nvSpPr>
          <p:cNvPr id="1048706" name=""/>
          <p:cNvSpPr txBox="1"/>
          <p:nvPr/>
        </p:nvSpPr>
        <p:spPr>
          <a:xfrm rot="0">
            <a:off x="3048000" y="5318125"/>
            <a:ext cx="28956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2000" lang="en-US">
                <a:latin typeface="Comic Sans MS" pitchFamily="66" charset="0"/>
                <a:hlinkClick r:id="rId5"/>
              </a:rPr>
              <a:t>http://www.iasb.org/</a:t>
            </a:r>
          </a:p>
        </p:txBody>
      </p:sp>
      <p:pic>
        <p:nvPicPr>
          <p:cNvPr id="2097158" name=""/>
          <p:cNvPicPr>
            <a:picLocks/>
          </p:cNvPicPr>
          <p:nvPr/>
        </p:nvPicPr>
        <p:blipFill>
          <a:blip xmlns:r="http://schemas.openxmlformats.org/officeDocument/2006/relationships" r:embed="rId6"/>
          <a:srcRect l="0" t="0" r="0" b="0"/>
          <a:stretch>
            <a:fillRect/>
          </a:stretch>
        </p:blipFill>
        <p:spPr>
          <a:xfrm rot="0">
            <a:off x="609600" y="4922837"/>
            <a:ext cx="587375" cy="563562"/>
          </a:xfrm>
          <a:prstGeom prst="rect"/>
          <a:noFill/>
          <a:ln>
            <a:noFill/>
          </a:ln>
        </p:spPr>
      </p:pic>
    </p:spTree>
  </p:cSld>
  <p:clrMapOvr>
    <a:masterClrMapping/>
  </p:clrMapOvr>
  <p:transition spd="fast" advClick="1">
    <p:wipe dir="r"/>
  </p:transition>
  <p:timing/>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94" name=""/>
        <p:cNvGrpSpPr/>
        <p:nvPr/>
      </p:nvGrpSpPr>
      <p:grpSpPr>
        <a:xfrm rot="0">
          <a:off x="0" y="0"/>
          <a:ext cx="0" cy="0"/>
          <a:chOff x="0" y="0"/>
          <a:chExt cx="0" cy="0"/>
        </a:xfrm>
      </p:grpSpPr>
      <p:sp>
        <p:nvSpPr>
          <p:cNvPr id="1048707" name=""/>
          <p:cNvSpPr txBox="1"/>
          <p:nvPr/>
        </p:nvSpPr>
        <p:spPr>
          <a:xfrm rot="0">
            <a:off x="533400" y="1371600"/>
            <a:ext cx="8458200" cy="407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0" lvl="0" marL="111125">
              <a:lnSpc>
                <a:spcPct val="110000"/>
              </a:lnSpc>
              <a:spcBef>
                <a:spcPct val="30000"/>
              </a:spcBef>
              <a:spcAft>
                <a:spcPct val="20000"/>
              </a:spcAft>
              <a:buSzPct val="80000"/>
              <a:buFontTx/>
              <a:buNone/>
            </a:pPr>
            <a:r>
              <a:rPr altLang="en-US" b="1" sz="2600" lang="en-US">
                <a:solidFill>
                  <a:srgbClr val="800000"/>
                </a:solidFill>
                <a:latin typeface="Comic Sans MS" pitchFamily="66" charset="0"/>
              </a:rPr>
              <a:t>Cost Principle (Historical)</a:t>
            </a:r>
            <a:r>
              <a:rPr altLang="en-US" lang="en-US">
                <a:latin typeface="Comic Sans MS" pitchFamily="66" charset="0"/>
              </a:rPr>
              <a:t> – dictates that companies record assets at their cost.</a:t>
            </a:r>
          </a:p>
          <a:p>
            <a:pPr algn="l" indent="0" lvl="0" marL="111125">
              <a:lnSpc>
                <a:spcPct val="110000"/>
              </a:lnSpc>
              <a:spcBef>
                <a:spcPct val="30000"/>
              </a:spcBef>
              <a:spcAft>
                <a:spcPct val="20000"/>
              </a:spcAft>
              <a:buSzPct val="80000"/>
              <a:buFontTx/>
              <a:buNone/>
            </a:pPr>
            <a:r>
              <a:rPr altLang="en-US" lang="en-US">
                <a:latin typeface="Comic Sans MS" pitchFamily="66" charset="0"/>
              </a:rPr>
              <a:t>Issues:</a:t>
            </a:r>
          </a:p>
          <a:p>
            <a:pPr algn="l" indent="-548640" lvl="1" marL="914400">
              <a:lnSpc>
                <a:spcPct val="110000"/>
              </a:lnSpc>
              <a:spcBef>
                <a:spcPct val="30000"/>
              </a:spcBef>
              <a:spcAft>
                <a:spcPct val="20000"/>
              </a:spcAft>
              <a:buSzPct val="80000"/>
              <a:buFontTx/>
              <a:buBlip>
                <a:blip xmlns:r="http://schemas.openxmlformats.org/officeDocument/2006/relationships" r:embed="rId1"/>
              </a:buBlip>
            </a:pPr>
            <a:r>
              <a:rPr altLang="en-US" lang="en-US">
                <a:latin typeface="Comic Sans MS" pitchFamily="66" charset="0"/>
              </a:rPr>
              <a:t>Reported at cost when purchased and also over the time the asset is held.</a:t>
            </a:r>
          </a:p>
          <a:p>
            <a:pPr algn="l" indent="-548640" lvl="1" marL="914400">
              <a:lnSpc>
                <a:spcPct val="110000"/>
              </a:lnSpc>
              <a:spcBef>
                <a:spcPct val="30000"/>
              </a:spcBef>
              <a:spcAft>
                <a:spcPct val="20000"/>
              </a:spcAft>
              <a:buSzPct val="80000"/>
              <a:buFontTx/>
              <a:buBlip>
                <a:blip xmlns:r="http://schemas.openxmlformats.org/officeDocument/2006/relationships" r:embed="rId1"/>
              </a:buBlip>
            </a:pPr>
            <a:r>
              <a:rPr altLang="en-US" lang="en-US">
                <a:latin typeface="Comic Sans MS" pitchFamily="66" charset="0"/>
              </a:rPr>
              <a:t>Cost easily verified, whereas market value is often subjective. </a:t>
            </a:r>
          </a:p>
          <a:p>
            <a:pPr algn="l" indent="-548640" lvl="1" marL="914400">
              <a:lnSpc>
                <a:spcPct val="110000"/>
              </a:lnSpc>
              <a:spcBef>
                <a:spcPct val="30000"/>
              </a:spcBef>
              <a:spcAft>
                <a:spcPct val="20000"/>
              </a:spcAft>
              <a:buSzPct val="80000"/>
              <a:buFontTx/>
              <a:buBlip>
                <a:blip xmlns:r="http://schemas.openxmlformats.org/officeDocument/2006/relationships" r:embed="rId1"/>
              </a:buBlip>
            </a:pPr>
            <a:r>
              <a:rPr altLang="en-US" lang="en-US">
                <a:latin typeface="Comic Sans MS" pitchFamily="66" charset="0"/>
              </a:rPr>
              <a:t>Fair value information may be more useful. </a:t>
            </a:r>
          </a:p>
        </p:txBody>
      </p:sp>
      <p:sp>
        <p:nvSpPr>
          <p:cNvPr id="104870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Building Blocks of Accounting</a:t>
            </a:r>
          </a:p>
        </p:txBody>
      </p:sp>
      <p:sp>
        <p:nvSpPr>
          <p:cNvPr id="1048709"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4  Explain generally accepted accounting principles and the cost principle.</a:t>
            </a:r>
          </a:p>
        </p:txBody>
      </p:sp>
    </p:spTree>
  </p:cSld>
  <p:clrMapOvr>
    <a:masterClrMapping/>
  </p:clrMapOvr>
  <p:transition spd="fast" advClick="1">
    <p:wipe dir="r"/>
  </p:transition>
  <p:timing/>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97" name=""/>
        <p:cNvGrpSpPr/>
        <p:nvPr/>
      </p:nvGrpSpPr>
      <p:grpSpPr>
        <a:xfrm rot="0">
          <a:off x="0" y="0"/>
          <a:ext cx="0" cy="0"/>
          <a:chOff x="0" y="0"/>
          <a:chExt cx="0" cy="0"/>
        </a:xfrm>
      </p:grpSpPr>
      <p:sp>
        <p:nvSpPr>
          <p:cNvPr id="1048712" name=""/>
          <p:cNvSpPr txBox="1"/>
          <p:nvPr/>
        </p:nvSpPr>
        <p:spPr>
          <a:xfrm rot="0">
            <a:off x="533400" y="1371600"/>
            <a:ext cx="8229600" cy="46958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0" lvl="0" marL="111125">
              <a:lnSpc>
                <a:spcPct val="110000"/>
              </a:lnSpc>
              <a:spcBef>
                <a:spcPct val="30000"/>
              </a:spcBef>
              <a:spcAft>
                <a:spcPct val="20000"/>
              </a:spcAft>
              <a:buSzPct val="80000"/>
              <a:buFontTx/>
              <a:buNone/>
            </a:pPr>
            <a:r>
              <a:rPr altLang="en-US" b="1" sz="2600" lang="en-US">
                <a:solidFill>
                  <a:srgbClr val="800000"/>
                </a:solidFill>
                <a:latin typeface="Comic Sans MS" pitchFamily="66" charset="0"/>
              </a:rPr>
              <a:t>Monetary Unit Assumption</a:t>
            </a:r>
            <a:r>
              <a:rPr altLang="en-US" lang="en-US">
                <a:latin typeface="Comic Sans MS" pitchFamily="66" charset="0"/>
              </a:rPr>
              <a:t> – include in the accounting records only transaction data that can be expressed in terms of money.</a:t>
            </a:r>
          </a:p>
          <a:p>
            <a:pPr algn="l" indent="0" lvl="0" marL="111125">
              <a:spcBef>
                <a:spcPct val="30000"/>
              </a:spcBef>
            </a:pPr>
            <a:r>
              <a:rPr altLang="en-US" b="1" sz="2600" lang="en-US">
                <a:solidFill>
                  <a:srgbClr val="800000"/>
                </a:solidFill>
                <a:latin typeface="Comic Sans MS" pitchFamily="66" charset="0"/>
              </a:rPr>
              <a:t>Economic Entity Assumption</a:t>
            </a:r>
            <a:r>
              <a:rPr altLang="en-US" lang="en-US">
                <a:latin typeface="Comic Sans MS" pitchFamily="66" charset="0"/>
              </a:rPr>
              <a:t> – requires that activities of the entity be kept separate and distinct from the activities of its owner and all other economic entities.</a:t>
            </a:r>
          </a:p>
          <a:p>
            <a:pPr algn="l" indent="-548640" lvl="1" marL="914400">
              <a:lnSpc>
                <a:spcPct val="110000"/>
              </a:lnSpc>
              <a:spcBef>
                <a:spcPct val="30000"/>
              </a:spcBef>
              <a:spcAft>
                <a:spcPct val="20000"/>
              </a:spcAft>
              <a:buSzPct val="80000"/>
              <a:buFontTx/>
              <a:buBlip>
                <a:blip xmlns:r="http://schemas.openxmlformats.org/officeDocument/2006/relationships" r:embed="rId1"/>
              </a:buBlip>
            </a:pPr>
            <a:r>
              <a:rPr altLang="en-US" lang="en-US">
                <a:latin typeface="Comic Sans MS" pitchFamily="66" charset="0"/>
              </a:rPr>
              <a:t>Proprietorship.</a:t>
            </a:r>
          </a:p>
          <a:p>
            <a:pPr algn="l" indent="-548640" lvl="1" marL="914400">
              <a:lnSpc>
                <a:spcPct val="110000"/>
              </a:lnSpc>
              <a:spcBef>
                <a:spcPct val="30000"/>
              </a:spcBef>
              <a:spcAft>
                <a:spcPct val="20000"/>
              </a:spcAft>
              <a:buSzPct val="80000"/>
              <a:buFontTx/>
              <a:buBlip>
                <a:blip xmlns:r="http://schemas.openxmlformats.org/officeDocument/2006/relationships" r:embed="rId1"/>
              </a:buBlip>
            </a:pPr>
            <a:r>
              <a:rPr altLang="en-US" lang="en-US">
                <a:latin typeface="Comic Sans MS" pitchFamily="66" charset="0"/>
              </a:rPr>
              <a:t>Partnership. </a:t>
            </a:r>
          </a:p>
          <a:p>
            <a:pPr algn="l" indent="-548640" lvl="1" marL="914400">
              <a:lnSpc>
                <a:spcPct val="110000"/>
              </a:lnSpc>
              <a:spcBef>
                <a:spcPct val="30000"/>
              </a:spcBef>
              <a:spcAft>
                <a:spcPct val="20000"/>
              </a:spcAft>
              <a:buSzPct val="80000"/>
              <a:buFontTx/>
              <a:buBlip>
                <a:blip xmlns:r="http://schemas.openxmlformats.org/officeDocument/2006/relationships" r:embed="rId1"/>
              </a:buBlip>
            </a:pPr>
            <a:r>
              <a:rPr altLang="en-US" lang="en-US">
                <a:latin typeface="Comic Sans MS" pitchFamily="66" charset="0"/>
              </a:rPr>
              <a:t>Corporation.</a:t>
            </a:r>
          </a:p>
        </p:txBody>
      </p:sp>
      <p:sp>
        <p:nvSpPr>
          <p:cNvPr id="104871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Assumptions</a:t>
            </a:r>
          </a:p>
        </p:txBody>
      </p:sp>
      <p:sp>
        <p:nvSpPr>
          <p:cNvPr id="1048714" name=""/>
          <p:cNvSpPr txBox="1"/>
          <p:nvPr/>
        </p:nvSpPr>
        <p:spPr>
          <a:xfrm rot="0">
            <a:off x="4343400" y="6248400"/>
            <a:ext cx="4724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5  Explain the monetary unit assumption and the economic entity assumption.</a:t>
            </a:r>
          </a:p>
        </p:txBody>
      </p:sp>
      <p:sp>
        <p:nvSpPr>
          <p:cNvPr id="1048715" name=""/>
          <p:cNvSpPr/>
          <p:nvPr/>
        </p:nvSpPr>
        <p:spPr>
          <a:xfrm rot="0">
            <a:off x="3886200" y="4495800"/>
            <a:ext cx="381000" cy="1447800"/>
          </a:xfrm>
          <a:prstGeom prst="rightBrace"/>
          <a:noFill/>
          <a:ln w="28575"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716" name=""/>
          <p:cNvSpPr txBox="1"/>
          <p:nvPr/>
        </p:nvSpPr>
        <p:spPr>
          <a:xfrm rot="0">
            <a:off x="4800600" y="4746625"/>
            <a:ext cx="3276600" cy="892175"/>
          </a:xfrm>
          <a:prstGeom prst="rect"/>
          <a:solidFill>
            <a:srgbClr val="FFFF99"/>
          </a:solidFill>
          <a:ln w="38100"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500" lang="en-US">
                <a:latin typeface="Comic Sans MS" pitchFamily="66" charset="0"/>
              </a:rPr>
              <a:t>Forms of    Business Ownership</a:t>
            </a:r>
          </a:p>
        </p:txBody>
      </p:sp>
    </p:spTree>
  </p:cSld>
  <p:clrMapOvr>
    <a:masterClrMapping/>
  </p:clrMapOvr>
  <p:transition spd="fast" advClick="1">
    <p:wipe dir="r"/>
  </p:transition>
  <p:timing/>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100" name=""/>
        <p:cNvGrpSpPr/>
        <p:nvPr/>
      </p:nvGrpSpPr>
      <p:grpSpPr>
        <a:xfrm rot="0">
          <a:off x="0" y="0"/>
          <a:ext cx="0" cy="0"/>
          <a:chOff x="0" y="0"/>
          <a:chExt cx="0" cy="0"/>
        </a:xfrm>
      </p:grpSpPr>
      <p:sp>
        <p:nvSpPr>
          <p:cNvPr id="1048719" name=""/>
          <p:cNvSpPr/>
          <p:nvPr/>
        </p:nvSpPr>
        <p:spPr>
          <a:xfrm rot="0">
            <a:off x="685800" y="1371600"/>
            <a:ext cx="2362200" cy="762000"/>
          </a:xfrm>
          <a:prstGeom prst="rect"/>
          <a:solidFill>
            <a:srgbClr val="F9EFA5"/>
          </a:solidFill>
          <a:ln w="57150" cap="flat" cmpd="sng">
            <a:solidFill>
              <a:schemeClr val="dk1">
                <a:alpha val="100000"/>
              </a:schemeClr>
            </a:solidFill>
            <a:prstDash val="solid"/>
            <a:round/>
          </a:ln>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15000"/>
              </a:spcBef>
              <a:buClr>
                <a:schemeClr val="accent2"/>
              </a:buClr>
              <a:buSzPct val="75000"/>
              <a:buFont typeface="Wingdings" pitchFamily="2" charset="2"/>
              <a:buNone/>
            </a:pPr>
            <a:r>
              <a:rPr altLang="en-US" b="1" lang="en-US">
                <a:solidFill>
                  <a:srgbClr val="800000"/>
                </a:solidFill>
                <a:latin typeface="Comic Sans MS" pitchFamily="66" charset="0"/>
              </a:rPr>
              <a:t>Proprietorship</a:t>
            </a:r>
          </a:p>
        </p:txBody>
      </p:sp>
      <p:sp>
        <p:nvSpPr>
          <p:cNvPr id="1048720" name=""/>
          <p:cNvSpPr/>
          <p:nvPr/>
        </p:nvSpPr>
        <p:spPr>
          <a:xfrm rot="0">
            <a:off x="3429000" y="1371600"/>
            <a:ext cx="2362200" cy="762000"/>
          </a:xfrm>
          <a:prstGeom prst="rect"/>
          <a:solidFill>
            <a:srgbClr val="F9EFA5"/>
          </a:solidFill>
          <a:ln w="57150" cap="flat" cmpd="sng">
            <a:solidFill>
              <a:schemeClr val="dk1">
                <a:alpha val="100000"/>
              </a:schemeClr>
            </a:solidFill>
            <a:prstDash val="solid"/>
            <a:round/>
          </a:ln>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15000"/>
              </a:spcBef>
              <a:buClr>
                <a:schemeClr val="accent2"/>
              </a:buClr>
              <a:buSzPct val="75000"/>
              <a:buFont typeface="Wingdings" pitchFamily="2" charset="2"/>
              <a:buNone/>
            </a:pPr>
            <a:r>
              <a:rPr altLang="en-US" b="1" lang="en-US">
                <a:solidFill>
                  <a:srgbClr val="800000"/>
                </a:solidFill>
                <a:latin typeface="Comic Sans MS" pitchFamily="66" charset="0"/>
              </a:rPr>
              <a:t>Partnership</a:t>
            </a:r>
          </a:p>
        </p:txBody>
      </p:sp>
      <p:sp>
        <p:nvSpPr>
          <p:cNvPr id="1048721" name=""/>
          <p:cNvSpPr/>
          <p:nvPr/>
        </p:nvSpPr>
        <p:spPr>
          <a:xfrm rot="0">
            <a:off x="6145212" y="1390650"/>
            <a:ext cx="2465387" cy="762000"/>
          </a:xfrm>
          <a:prstGeom prst="rect"/>
          <a:solidFill>
            <a:srgbClr val="F9EFA5"/>
          </a:solidFill>
          <a:ln w="57150" cap="flat" cmpd="sng">
            <a:solidFill>
              <a:schemeClr val="dk1">
                <a:alpha val="100000"/>
              </a:schemeClr>
            </a:solidFill>
            <a:prstDash val="solid"/>
            <a:round/>
          </a:ln>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15000"/>
              </a:spcBef>
              <a:buClr>
                <a:schemeClr val="accent2"/>
              </a:buClr>
              <a:buSzPct val="75000"/>
              <a:buFont typeface="Wingdings" pitchFamily="2" charset="2"/>
              <a:buNone/>
            </a:pPr>
            <a:r>
              <a:rPr altLang="en-US" b="1" lang="en-US">
                <a:solidFill>
                  <a:srgbClr val="800000"/>
                </a:solidFill>
                <a:latin typeface="Comic Sans MS" pitchFamily="66" charset="0"/>
              </a:rPr>
              <a:t>Corporation</a:t>
            </a:r>
          </a:p>
        </p:txBody>
      </p:sp>
      <p:sp>
        <p:nvSpPr>
          <p:cNvPr id="1048722" name=""/>
          <p:cNvSpPr/>
          <p:nvPr/>
        </p:nvSpPr>
        <p:spPr>
          <a:xfrm rot="0">
            <a:off x="3429000" y="2228850"/>
            <a:ext cx="2455862" cy="4017962"/>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Owned by two or more persons.</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Often retail and service-type businesses</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Generally unlimited personal liability</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Partnership agreement</a:t>
            </a:r>
          </a:p>
        </p:txBody>
      </p:sp>
      <p:sp>
        <p:nvSpPr>
          <p:cNvPr id="1048723" name=""/>
          <p:cNvSpPr/>
          <p:nvPr/>
        </p:nvSpPr>
        <p:spPr>
          <a:xfrm rot="0">
            <a:off x="6145212" y="2228850"/>
            <a:ext cx="2455862" cy="401955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Ownership divided into shares of stock</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Separate legal entity organized under state corporation law</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Limited liability</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endParaRPr altLang="en-US" sz="2000" lang="en-US">
              <a:effectLst>
                <a:outerShdw algn="tl" blurRad="38100" dir="2700000" dist="38100">
                  <a:srgbClr val="C0C0C0"/>
                </a:outerShdw>
              </a:effectLst>
              <a:latin typeface="Comic Sans MS" pitchFamily="66" charset="0"/>
            </a:endParaRPr>
          </a:p>
        </p:txBody>
      </p:sp>
      <p:sp>
        <p:nvSpPr>
          <p:cNvPr id="104872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indent="0" lvl="0" marL="109537"/>
            <a:r>
              <a:rPr altLang="en-US" lang="en-US">
                <a:solidFill>
                  <a:schemeClr val="lt1"/>
                </a:solidFill>
                <a:effectLst>
                  <a:outerShdw algn="tl" blurRad="38100" dir="2700000" dist="38100">
                    <a:srgbClr val="C0C0C0"/>
                  </a:outerShdw>
                </a:effectLst>
              </a:rPr>
              <a:t>Forms of Business Ownership</a:t>
            </a:r>
          </a:p>
        </p:txBody>
      </p:sp>
      <p:sp>
        <p:nvSpPr>
          <p:cNvPr id="1048725" name=""/>
          <p:cNvSpPr/>
          <p:nvPr/>
        </p:nvSpPr>
        <p:spPr>
          <a:xfrm rot="0">
            <a:off x="685800" y="2209800"/>
            <a:ext cx="2455862" cy="40386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Generally owned by one person.</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Often small service-type businesses</a:t>
            </a:r>
          </a:p>
          <a:p>
            <a:pPr algn="l" indent="-228600" lvl="0" marL="228600">
              <a:lnSpc>
                <a:spcPct val="110000"/>
              </a:lnSpc>
              <a:spcBef>
                <a:spcPct val="45000"/>
              </a:spcBef>
              <a:buClr>
                <a:srgbClr val="CC0000"/>
              </a:buClr>
              <a:buSzPct val="75000"/>
              <a:buFont typeface="Wingdings" pitchFamily="2" charset="2"/>
              <a:buBlip>
                <a:blip xmlns:r="http://schemas.openxmlformats.org/officeDocument/2006/relationships" r:embed="rId1"/>
              </a:buBlip>
            </a:pPr>
            <a:r>
              <a:rPr altLang="en-US" sz="2000" lang="en-US">
                <a:effectLst>
                  <a:outerShdw algn="tl" blurRad="38100" dir="2700000" dist="38100">
                    <a:srgbClr val="C0C0C0"/>
                  </a:outerShdw>
                </a:effectLst>
                <a:latin typeface="Comic Sans MS" pitchFamily="66" charset="0"/>
              </a:rPr>
              <a:t>Owner receives any profits, suffers any losses, and is personally liable for all debts.</a:t>
            </a:r>
          </a:p>
        </p:txBody>
      </p:sp>
      <p:sp>
        <p:nvSpPr>
          <p:cNvPr id="1048726" name=""/>
          <p:cNvSpPr txBox="1"/>
          <p:nvPr/>
        </p:nvSpPr>
        <p:spPr>
          <a:xfrm rot="0">
            <a:off x="4343400" y="6248400"/>
            <a:ext cx="4724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5  Explain the monetary unit assumption and the economic entity assumption.</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1">
                                  <p:stCondLst>
                                    <p:cond delay="0"/>
                                  </p:stCondLst>
                                  <p:childTnLst>
                                    <p:set>
                                      <p:cBhvr>
                                        <p:cTn dur="1" fill="hold" id="6">
                                          <p:stCondLst>
                                            <p:cond delay="0"/>
                                          </p:stCondLst>
                                        </p:cTn>
                                        <p:tgtEl>
                                          <p:spTgt spid="1048725"/>
                                        </p:tgtEl>
                                        <p:attrNameLst>
                                          <p:attrName>style.visibility</p:attrName>
                                        </p:attrNameLst>
                                      </p:cBhvr>
                                      <p:to>
                                        <p:strVal val="visible"/>
                                      </p:to>
                                    </p:set>
                                    <p:animEffect transition="in" filter="wipe(up)">
                                      <p:cBhvr>
                                        <p:cTn dur="500" id="7"/>
                                        <p:tgtEl>
                                          <p:spTgt spid="104872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1">
                                  <p:stCondLst>
                                    <p:cond delay="0"/>
                                  </p:stCondLst>
                                  <p:childTnLst>
                                    <p:set>
                                      <p:cBhvr>
                                        <p:cTn dur="1" fill="hold" id="11">
                                          <p:stCondLst>
                                            <p:cond delay="0"/>
                                          </p:stCondLst>
                                        </p:cTn>
                                        <p:tgtEl>
                                          <p:spTgt spid="1048722"/>
                                        </p:tgtEl>
                                        <p:attrNameLst>
                                          <p:attrName>style.visibility</p:attrName>
                                        </p:attrNameLst>
                                      </p:cBhvr>
                                      <p:to>
                                        <p:strVal val="visible"/>
                                      </p:to>
                                    </p:set>
                                    <p:animEffect transition="in" filter="wipe(up)">
                                      <p:cBhvr>
                                        <p:cTn dur="500" id="12"/>
                                        <p:tgtEl>
                                          <p:spTgt spid="1048722"/>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1">
                                  <p:stCondLst>
                                    <p:cond delay="0"/>
                                  </p:stCondLst>
                                  <p:childTnLst>
                                    <p:set>
                                      <p:cBhvr>
                                        <p:cTn dur="1" fill="hold" id="16">
                                          <p:stCondLst>
                                            <p:cond delay="0"/>
                                          </p:stCondLst>
                                        </p:cTn>
                                        <p:tgtEl>
                                          <p:spTgt spid="1048723"/>
                                        </p:tgtEl>
                                        <p:attrNameLst>
                                          <p:attrName>style.visibility</p:attrName>
                                        </p:attrNameLst>
                                      </p:cBhvr>
                                      <p:to>
                                        <p:strVal val="visible"/>
                                      </p:to>
                                    </p:set>
                                    <p:animEffect transition="in" filter="wipe(up)">
                                      <p:cBhvr>
                                        <p:cTn dur="500" id="17"/>
                                        <p:tgtEl>
                                          <p:spTgt spid="1048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2" grpId="0" uiExpand="0" build="whole"/>
      <p:bldP spid="1048723" grpId="0" uiExpand="0" build="whole"/>
      <p:bldP spid="1048725" grpId="0" uiExpand="0" build="whole"/>
    </p:bldLst>
  </p:timing>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103" name=""/>
        <p:cNvGrpSpPr/>
        <p:nvPr/>
      </p:nvGrpSpPr>
      <p:grpSpPr>
        <a:xfrm rot="0">
          <a:off x="0" y="0"/>
          <a:ext cx="0" cy="0"/>
          <a:chOff x="0" y="0"/>
          <a:chExt cx="0" cy="0"/>
        </a:xfrm>
      </p:grpSpPr>
      <p:sp>
        <p:nvSpPr>
          <p:cNvPr id="1048729" name=""/>
          <p:cNvSpPr/>
          <p:nvPr/>
        </p:nvSpPr>
        <p:spPr>
          <a:xfrm rot="0">
            <a:off x="838200" y="1981200"/>
            <a:ext cx="7696200" cy="33528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sz="2600" lang="en-US">
                <a:latin typeface="Comic Sans MS" pitchFamily="66" charset="0"/>
              </a:rPr>
              <a:t>Combining the activities of Kellogg and General Mills would violate the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cost principle.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economic entity assumption.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monetary unit assumption.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ethics principle.</a:t>
            </a:r>
          </a:p>
        </p:txBody>
      </p:sp>
      <p:sp>
        <p:nvSpPr>
          <p:cNvPr id="104873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Assumptions</a:t>
            </a:r>
          </a:p>
        </p:txBody>
      </p:sp>
      <p:sp>
        <p:nvSpPr>
          <p:cNvPr id="1048731" name=""/>
          <p:cNvSpPr txBox="1"/>
          <p:nvPr/>
        </p:nvSpPr>
        <p:spPr>
          <a:xfrm rot="0">
            <a:off x="4343400" y="6248400"/>
            <a:ext cx="4724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5  Explain the monetary unit assumption and the economic entity assumption.</a:t>
            </a:r>
          </a:p>
        </p:txBody>
      </p:sp>
      <p:sp>
        <p:nvSpPr>
          <p:cNvPr id="1048732"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Tree>
  </p:cSld>
  <p:clrMapOvr>
    <a:masterClrMapping/>
  </p:clrMapOvr>
  <p:transition spd="fast" advClick="1">
    <p:wipe dir="r"/>
  </p:transition>
  <p:timing/>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104" name=""/>
        <p:cNvGrpSpPr/>
        <p:nvPr/>
      </p:nvGrpSpPr>
      <p:grpSpPr>
        <a:xfrm rot="0">
          <a:off x="0" y="0"/>
          <a:ext cx="0" cy="0"/>
          <a:chOff x="0" y="0"/>
          <a:chExt cx="0" cy="0"/>
        </a:xfrm>
      </p:grpSpPr>
      <p:sp>
        <p:nvSpPr>
          <p:cNvPr id="1048733" name=""/>
          <p:cNvSpPr/>
          <p:nvPr/>
        </p:nvSpPr>
        <p:spPr>
          <a:xfrm rot="0">
            <a:off x="838200" y="1981200"/>
            <a:ext cx="7696200" cy="33528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sz="2600" lang="en-US">
                <a:latin typeface="Comic Sans MS" pitchFamily="66" charset="0"/>
              </a:rPr>
              <a:t>Combining the activities of Kellogg and General Mills would violate the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cost principle.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economic entity assumption.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monetary unit assumption.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ethics principle.</a:t>
            </a:r>
          </a:p>
        </p:txBody>
      </p:sp>
      <p:sp>
        <p:nvSpPr>
          <p:cNvPr id="1048734" name=""/>
          <p:cNvSpPr/>
          <p:nvPr/>
        </p:nvSpPr>
        <p:spPr>
          <a:xfrm rot="0">
            <a:off x="1143000" y="35052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73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Assumptions</a:t>
            </a:r>
          </a:p>
        </p:txBody>
      </p:sp>
      <p:sp>
        <p:nvSpPr>
          <p:cNvPr id="1048736" name=""/>
          <p:cNvSpPr txBox="1"/>
          <p:nvPr/>
        </p:nvSpPr>
        <p:spPr>
          <a:xfrm rot="0">
            <a:off x="4343400" y="6248400"/>
            <a:ext cx="4724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5  Explain the monetary unit assumption and the economic entity assumption.</a:t>
            </a:r>
          </a:p>
        </p:txBody>
      </p:sp>
      <p:sp>
        <p:nvSpPr>
          <p:cNvPr id="1048737"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Tree>
  </p:cSld>
  <p:clrMapOvr>
    <a:masterClrMapping/>
  </p:clrMapOvr>
  <p:transition spd="fast" advClick="1">
    <p:wipe dir="r"/>
  </p:transition>
  <p:timing/>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105" name=""/>
        <p:cNvGrpSpPr/>
        <p:nvPr/>
      </p:nvGrpSpPr>
      <p:grpSpPr>
        <a:xfrm rot="0">
          <a:off x="0" y="0"/>
          <a:ext cx="0" cy="0"/>
          <a:chOff x="0" y="0"/>
          <a:chExt cx="0" cy="0"/>
        </a:xfrm>
      </p:grpSpPr>
      <p:sp>
        <p:nvSpPr>
          <p:cNvPr id="1048738" name=""/>
          <p:cNvSpPr/>
          <p:nvPr/>
        </p:nvSpPr>
        <p:spPr>
          <a:xfrm rot="0">
            <a:off x="838200" y="1981200"/>
            <a:ext cx="7696200" cy="37338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sz="2600" lang="en-US">
                <a:latin typeface="Comic Sans MS" pitchFamily="66" charset="0"/>
              </a:rPr>
              <a:t>A business organized as a separate legal entity under state law having ownership divided into shares of stock is a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proprietorship.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partnership.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corporation.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sole proprietorship.</a:t>
            </a:r>
          </a:p>
        </p:txBody>
      </p:sp>
      <p:sp>
        <p:nvSpPr>
          <p:cNvPr id="1048739" name=""/>
          <p:cNvSpPr txBox="1"/>
          <p:nvPr/>
        </p:nvSpPr>
        <p:spPr>
          <a:xfrm rot="0">
            <a:off x="4343400" y="6248400"/>
            <a:ext cx="4724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5  Explain the monetary unit assumption and the economic entity assumption.</a:t>
            </a:r>
          </a:p>
        </p:txBody>
      </p:sp>
      <p:sp>
        <p:nvSpPr>
          <p:cNvPr id="104874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Forms of Business Ownership</a:t>
            </a:r>
          </a:p>
        </p:txBody>
      </p:sp>
      <p:sp>
        <p:nvSpPr>
          <p:cNvPr id="1048741"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Tree>
  </p:cSld>
  <p:clrMapOvr>
    <a:masterClrMapping/>
  </p:clrMapOvr>
  <p:transition spd="fast" advClick="1">
    <p:wipe dir="r"/>
  </p:transition>
  <p:timing/>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106" name=""/>
        <p:cNvGrpSpPr/>
        <p:nvPr/>
      </p:nvGrpSpPr>
      <p:grpSpPr>
        <a:xfrm rot="0">
          <a:off x="0" y="0"/>
          <a:ext cx="0" cy="0"/>
          <a:chOff x="0" y="0"/>
          <a:chExt cx="0" cy="0"/>
        </a:xfrm>
      </p:grpSpPr>
      <p:sp>
        <p:nvSpPr>
          <p:cNvPr id="1048742" name=""/>
          <p:cNvSpPr/>
          <p:nvPr/>
        </p:nvSpPr>
        <p:spPr>
          <a:xfrm rot="0">
            <a:off x="838200" y="1981200"/>
            <a:ext cx="7696200" cy="37338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sz="2600" lang="en-US">
                <a:latin typeface="Comic Sans MS" pitchFamily="66" charset="0"/>
              </a:rPr>
              <a:t>A business organized as a separate legal entity under state law having ownership divided into shares of stock is a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proprietorship.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partnership.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corporation.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sole proprietorship.</a:t>
            </a:r>
          </a:p>
        </p:txBody>
      </p:sp>
      <p:sp>
        <p:nvSpPr>
          <p:cNvPr id="1048743" name=""/>
          <p:cNvSpPr/>
          <p:nvPr/>
        </p:nvSpPr>
        <p:spPr>
          <a:xfrm rot="0">
            <a:off x="1143000" y="44958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744" name=""/>
          <p:cNvSpPr txBox="1"/>
          <p:nvPr/>
        </p:nvSpPr>
        <p:spPr>
          <a:xfrm rot="0">
            <a:off x="4343400" y="6248400"/>
            <a:ext cx="4724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5  Explain the monetary unit assumption and the economic entity assumption.</a:t>
            </a:r>
          </a:p>
        </p:txBody>
      </p:sp>
      <p:sp>
        <p:nvSpPr>
          <p:cNvPr id="104874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Forms of Business Ownership</a:t>
            </a:r>
          </a:p>
        </p:txBody>
      </p:sp>
      <p:sp>
        <p:nvSpPr>
          <p:cNvPr id="1048746"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Tree>
  </p:cSld>
  <p:clrMapOvr>
    <a:masterClrMapping/>
  </p:clrMapOvr>
  <p:transition spd="fast" advClick="1">
    <p:wipe dir="r"/>
  </p:transition>
  <p:timing/>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107" name=""/>
        <p:cNvGrpSpPr/>
        <p:nvPr/>
      </p:nvGrpSpPr>
      <p:grpSpPr>
        <a:xfrm rot="0">
          <a:off x="0" y="0"/>
          <a:ext cx="0" cy="0"/>
          <a:chOff x="0" y="0"/>
          <a:chExt cx="0" cy="0"/>
        </a:xfrm>
      </p:grpSpPr>
      <p:sp>
        <p:nvSpPr>
          <p:cNvPr id="1048747" name=""/>
          <p:cNvSpPr/>
          <p:nvPr/>
        </p:nvSpPr>
        <p:spPr>
          <a:xfrm rot="0">
            <a:off x="762000" y="1600200"/>
            <a:ext cx="2057400" cy="914400"/>
          </a:xfrm>
          <a:prstGeom prst="rect"/>
          <a:solidFill>
            <a:srgbClr val="F9EFA5"/>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Assets</a:t>
            </a:r>
          </a:p>
        </p:txBody>
      </p:sp>
      <p:sp>
        <p:nvSpPr>
          <p:cNvPr id="1048748" name=""/>
          <p:cNvSpPr txBox="1"/>
          <p:nvPr/>
        </p:nvSpPr>
        <p:spPr>
          <a:xfrm rot="0">
            <a:off x="3733800" y="1600200"/>
            <a:ext cx="2057400" cy="9144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Liabilities</a:t>
            </a:r>
          </a:p>
        </p:txBody>
      </p:sp>
      <p:sp>
        <p:nvSpPr>
          <p:cNvPr id="1048749" name=""/>
          <p:cNvSpPr txBox="1"/>
          <p:nvPr/>
        </p:nvSpPr>
        <p:spPr>
          <a:xfrm rot="0">
            <a:off x="6400800" y="1600200"/>
            <a:ext cx="2057400" cy="9144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Owner’s Equity</a:t>
            </a:r>
          </a:p>
        </p:txBody>
      </p:sp>
      <p:sp>
        <p:nvSpPr>
          <p:cNvPr id="1048750" name=""/>
          <p:cNvSpPr/>
          <p:nvPr/>
        </p:nvSpPr>
        <p:spPr>
          <a:xfrm rot="0">
            <a:off x="3078162" y="1831975"/>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latin typeface="Arial" pitchFamily="34" charset="0"/>
              </a:rPr>
              <a:t>=</a:t>
            </a:r>
          </a:p>
        </p:txBody>
      </p:sp>
      <p:sp>
        <p:nvSpPr>
          <p:cNvPr id="1048751" name=""/>
          <p:cNvSpPr/>
          <p:nvPr/>
        </p:nvSpPr>
        <p:spPr>
          <a:xfrm rot="0">
            <a:off x="5867400" y="1817687"/>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Arial" pitchFamily="34" charset="0"/>
              </a:rPr>
              <a:t>+</a:t>
            </a:r>
          </a:p>
        </p:txBody>
      </p:sp>
      <p:sp>
        <p:nvSpPr>
          <p:cNvPr id="1048752" name=""/>
          <p:cNvSpPr txBox="1"/>
          <p:nvPr/>
        </p:nvSpPr>
        <p:spPr>
          <a:xfrm rot="0">
            <a:off x="1295400" y="3581400"/>
            <a:ext cx="16764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endParaRPr altLang="en-US" lang="en-US"/>
          </a:p>
        </p:txBody>
      </p:sp>
      <p:sp>
        <p:nvSpPr>
          <p:cNvPr id="1048753" name=""/>
          <p:cNvSpPr/>
          <p:nvPr/>
        </p:nvSpPr>
        <p:spPr>
          <a:xfrm rot="0">
            <a:off x="609600" y="2895600"/>
            <a:ext cx="8001000" cy="3048000"/>
          </a:xfrm>
          <a:prstGeom prst="rect"/>
          <a:noFill/>
          <a:ln>
            <a:noFill/>
          </a:ln>
        </p:spPr>
        <p:txBody>
          <a:bodyPr bIns="46038" lIns="92075" rIns="92075"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0000"/>
              </a:lnSpc>
              <a:spcBef>
                <a:spcPct val="70000"/>
              </a:spcBef>
              <a:buClr>
                <a:schemeClr val="accent2"/>
              </a:buClr>
              <a:buSzPct val="75000"/>
              <a:buFont typeface="Wingdings" pitchFamily="2" charset="2"/>
              <a:buNone/>
            </a:pPr>
            <a:r>
              <a:rPr altLang="en-US" lang="en-US">
                <a:solidFill>
                  <a:schemeClr val="dk2"/>
                </a:solidFill>
                <a:latin typeface="Comic Sans MS" pitchFamily="66" charset="0"/>
              </a:rPr>
              <a:t>Provides the </a:t>
            </a:r>
            <a:r>
              <a:rPr altLang="en-US" b="1" lang="en-US">
                <a:solidFill>
                  <a:srgbClr val="000066"/>
                </a:solidFill>
                <a:latin typeface="Comic Sans MS" pitchFamily="66" charset="0"/>
              </a:rPr>
              <a:t>underlying framework</a:t>
            </a:r>
            <a:r>
              <a:rPr altLang="en-US" b="1" lang="en-US">
                <a:solidFill>
                  <a:schemeClr val="dk2"/>
                </a:solidFill>
                <a:latin typeface="Comic Sans MS" pitchFamily="66" charset="0"/>
              </a:rPr>
              <a:t> </a:t>
            </a:r>
            <a:r>
              <a:rPr altLang="en-US" lang="en-US">
                <a:solidFill>
                  <a:schemeClr val="dk2"/>
                </a:solidFill>
                <a:latin typeface="Comic Sans MS" pitchFamily="66" charset="0"/>
              </a:rPr>
              <a:t>for recording and summarizing economic events.</a:t>
            </a:r>
          </a:p>
          <a:p>
            <a:pPr algn="l" lvl="0">
              <a:lnSpc>
                <a:spcPct val="110000"/>
              </a:lnSpc>
              <a:spcBef>
                <a:spcPct val="70000"/>
              </a:spcBef>
              <a:buClr>
                <a:schemeClr val="accent2"/>
              </a:buClr>
              <a:buSzPct val="75000"/>
              <a:buFont typeface="Wingdings" pitchFamily="2" charset="2"/>
              <a:buNone/>
            </a:pPr>
            <a:r>
              <a:rPr altLang="en-US" lang="en-US">
                <a:solidFill>
                  <a:schemeClr val="dk2"/>
                </a:solidFill>
                <a:latin typeface="Comic Sans MS" pitchFamily="66" charset="0"/>
              </a:rPr>
              <a:t>Assets are claimed by either creditors or owners.</a:t>
            </a:r>
          </a:p>
          <a:p>
            <a:pPr algn="l" lvl="0">
              <a:lnSpc>
                <a:spcPct val="110000"/>
              </a:lnSpc>
              <a:spcBef>
                <a:spcPct val="70000"/>
              </a:spcBef>
              <a:buClr>
                <a:schemeClr val="accent2"/>
              </a:buClr>
              <a:buSzPct val="75000"/>
              <a:buFont typeface="Wingdings" pitchFamily="2" charset="2"/>
              <a:buNone/>
            </a:pPr>
            <a:r>
              <a:rPr altLang="en-US" lang="en-US">
                <a:solidFill>
                  <a:schemeClr val="dk2"/>
                </a:solidFill>
                <a:latin typeface="Comic Sans MS" pitchFamily="66" charset="0"/>
              </a:rPr>
              <a:t>Claims of creditors must be paid before ownership claims.</a:t>
            </a:r>
          </a:p>
        </p:txBody>
      </p:sp>
      <p:sp>
        <p:nvSpPr>
          <p:cNvPr id="104875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Basic Accounting Equation</a:t>
            </a:r>
          </a:p>
        </p:txBody>
      </p:sp>
      <p:sp>
        <p:nvSpPr>
          <p:cNvPr id="1048755" name=""/>
          <p:cNvSpPr txBox="1"/>
          <p:nvPr/>
        </p:nvSpPr>
        <p:spPr>
          <a:xfrm rot="0">
            <a:off x="3886200" y="6248400"/>
            <a:ext cx="51816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6 	State the accounting equation, and define assets, liabilities, and owner’s equity.</a:t>
            </a:r>
          </a:p>
        </p:txBody>
      </p:sp>
    </p:spTree>
  </p:cSld>
  <p:clrMapOvr>
    <a:masterClrMapping/>
  </p:clrMapOvr>
  <p:transition spd="fast" advClick="1">
    <p:wipe dir="r"/>
  </p:transition>
  <p:timing/>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111" name=""/>
        <p:cNvGrpSpPr/>
        <p:nvPr/>
      </p:nvGrpSpPr>
      <p:grpSpPr>
        <a:xfrm rot="0">
          <a:off x="0" y="0"/>
          <a:ext cx="0" cy="0"/>
          <a:chOff x="0" y="0"/>
          <a:chExt cx="0" cy="0"/>
        </a:xfrm>
      </p:grpSpPr>
      <p:sp>
        <p:nvSpPr>
          <p:cNvPr id="1048759" name=""/>
          <p:cNvSpPr/>
          <p:nvPr/>
        </p:nvSpPr>
        <p:spPr>
          <a:xfrm rot="0">
            <a:off x="762000" y="1600200"/>
            <a:ext cx="2057400" cy="914400"/>
          </a:xfrm>
          <a:prstGeom prst="rect"/>
          <a:solidFill>
            <a:schemeClr val="lt1"/>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Assets</a:t>
            </a:r>
          </a:p>
        </p:txBody>
      </p:sp>
      <p:sp>
        <p:nvSpPr>
          <p:cNvPr id="1048760" name=""/>
          <p:cNvSpPr txBox="1"/>
          <p:nvPr/>
        </p:nvSpPr>
        <p:spPr>
          <a:xfrm rot="0">
            <a:off x="3733800" y="1600200"/>
            <a:ext cx="2057400" cy="9144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Liabilities</a:t>
            </a:r>
          </a:p>
        </p:txBody>
      </p:sp>
      <p:sp>
        <p:nvSpPr>
          <p:cNvPr id="1048761" name=""/>
          <p:cNvSpPr txBox="1"/>
          <p:nvPr/>
        </p:nvSpPr>
        <p:spPr>
          <a:xfrm rot="0">
            <a:off x="6400800" y="1600200"/>
            <a:ext cx="2057400" cy="9144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Owner’s Equity</a:t>
            </a:r>
          </a:p>
        </p:txBody>
      </p:sp>
      <p:sp>
        <p:nvSpPr>
          <p:cNvPr id="1048762" name=""/>
          <p:cNvSpPr/>
          <p:nvPr/>
        </p:nvSpPr>
        <p:spPr>
          <a:xfrm rot="0">
            <a:off x="3078162" y="1831975"/>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latin typeface="Arial" pitchFamily="34" charset="0"/>
              </a:rPr>
              <a:t>=</a:t>
            </a:r>
          </a:p>
        </p:txBody>
      </p:sp>
      <p:sp>
        <p:nvSpPr>
          <p:cNvPr id="1048763" name=""/>
          <p:cNvSpPr/>
          <p:nvPr/>
        </p:nvSpPr>
        <p:spPr>
          <a:xfrm rot="0">
            <a:off x="5867400" y="1817687"/>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Arial" pitchFamily="34" charset="0"/>
              </a:rPr>
              <a:t>+</a:t>
            </a:r>
          </a:p>
        </p:txBody>
      </p:sp>
      <p:sp>
        <p:nvSpPr>
          <p:cNvPr id="1048764" name=""/>
          <p:cNvSpPr txBox="1"/>
          <p:nvPr/>
        </p:nvSpPr>
        <p:spPr>
          <a:xfrm rot="0">
            <a:off x="1295400" y="3581400"/>
            <a:ext cx="16764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endParaRPr altLang="en-US" lang="en-US"/>
          </a:p>
        </p:txBody>
      </p:sp>
      <p:sp>
        <p:nvSpPr>
          <p:cNvPr id="1048765" name=""/>
          <p:cNvSpPr/>
          <p:nvPr/>
        </p:nvSpPr>
        <p:spPr>
          <a:xfrm rot="0">
            <a:off x="609600" y="2895600"/>
            <a:ext cx="8001000" cy="914400"/>
          </a:xfrm>
          <a:prstGeom prst="rect"/>
          <a:noFill/>
          <a:ln>
            <a:noFill/>
          </a:ln>
        </p:spPr>
        <p:txBody>
          <a:bodyPr bIns="46038" lIns="92075" rIns="92075"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0000"/>
              </a:lnSpc>
              <a:spcBef>
                <a:spcPct val="20000"/>
              </a:spcBef>
              <a:buClr>
                <a:schemeClr val="accent2"/>
              </a:buClr>
              <a:buSzPct val="75000"/>
              <a:buFont typeface="Wingdings" pitchFamily="2" charset="2"/>
              <a:buNone/>
            </a:pPr>
            <a:r>
              <a:rPr altLang="en-US" lang="en-US">
                <a:solidFill>
                  <a:schemeClr val="dk2"/>
                </a:solidFill>
                <a:latin typeface="Comic Sans MS" pitchFamily="66" charset="0"/>
              </a:rPr>
              <a:t>Provides the </a:t>
            </a:r>
            <a:r>
              <a:rPr altLang="en-US" b="1" lang="en-US">
                <a:solidFill>
                  <a:srgbClr val="000066"/>
                </a:solidFill>
                <a:latin typeface="Comic Sans MS" pitchFamily="66" charset="0"/>
              </a:rPr>
              <a:t>underlying framework</a:t>
            </a:r>
            <a:r>
              <a:rPr altLang="en-US" b="1" lang="en-US">
                <a:solidFill>
                  <a:schemeClr val="dk2"/>
                </a:solidFill>
                <a:latin typeface="Comic Sans MS" pitchFamily="66" charset="0"/>
              </a:rPr>
              <a:t> </a:t>
            </a:r>
            <a:r>
              <a:rPr altLang="en-US" lang="en-US">
                <a:solidFill>
                  <a:schemeClr val="dk2"/>
                </a:solidFill>
                <a:latin typeface="Comic Sans MS" pitchFamily="66" charset="0"/>
              </a:rPr>
              <a:t>for recording and summarizing economic events.</a:t>
            </a:r>
          </a:p>
        </p:txBody>
      </p:sp>
      <p:sp>
        <p:nvSpPr>
          <p:cNvPr id="104876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Basic Accounting Equation</a:t>
            </a:r>
          </a:p>
        </p:txBody>
      </p:sp>
      <p:sp>
        <p:nvSpPr>
          <p:cNvPr id="1048767" name=""/>
          <p:cNvSpPr txBox="1"/>
          <p:nvPr/>
        </p:nvSpPr>
        <p:spPr>
          <a:xfrm rot="0">
            <a:off x="3886200" y="6248400"/>
            <a:ext cx="51816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6 	State the accounting equation, and define assets, liabilities, and owner’s equity.</a:t>
            </a:r>
          </a:p>
        </p:txBody>
      </p:sp>
      <p:sp>
        <p:nvSpPr>
          <p:cNvPr id="1048768" name=""/>
          <p:cNvSpPr txBox="1"/>
          <p:nvPr/>
        </p:nvSpPr>
        <p:spPr>
          <a:xfrm rot="0">
            <a:off x="533400" y="4556125"/>
            <a:ext cx="8229600" cy="14636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548640" lvl="1" marL="914400">
              <a:spcBef>
                <a:spcPct val="30000"/>
              </a:spcBef>
              <a:spcAft>
                <a:spcPct val="10000"/>
              </a:spcAft>
              <a:buSzPct val="80000"/>
              <a:buFontTx/>
              <a:buBlip>
                <a:blip xmlns:r="http://schemas.openxmlformats.org/officeDocument/2006/relationships" r:embed="rId1"/>
              </a:buBlip>
            </a:pPr>
            <a:r>
              <a:rPr altLang="en-US" lang="en-US">
                <a:solidFill>
                  <a:schemeClr val="dk2"/>
                </a:solidFill>
                <a:latin typeface="Comic Sans MS" pitchFamily="66" charset="0"/>
              </a:rPr>
              <a:t>Resources a business owns.</a:t>
            </a:r>
          </a:p>
          <a:p>
            <a:pPr algn="l" indent="-548640" lvl="1" marL="914400">
              <a:lnSpc>
                <a:spcPct val="105000"/>
              </a:lnSpc>
              <a:spcBef>
                <a:spcPct val="20000"/>
              </a:spcBef>
              <a:spcAft>
                <a:spcPct val="15000"/>
              </a:spcAft>
              <a:buSzPct val="80000"/>
              <a:buFontTx/>
              <a:buBlip>
                <a:blip xmlns:r="http://schemas.openxmlformats.org/officeDocument/2006/relationships" r:embed="rId1"/>
              </a:buBlip>
            </a:pPr>
            <a:r>
              <a:rPr altLang="en-US" lang="en-US">
                <a:solidFill>
                  <a:schemeClr val="dk2"/>
                </a:solidFill>
                <a:latin typeface="Comic Sans MS" pitchFamily="66" charset="0"/>
              </a:rPr>
              <a:t>Provide future services or benefits.</a:t>
            </a:r>
          </a:p>
          <a:p>
            <a:pPr algn="l" indent="-548640" lvl="1" marL="914400">
              <a:lnSpc>
                <a:spcPct val="105000"/>
              </a:lnSpc>
              <a:spcBef>
                <a:spcPct val="20000"/>
              </a:spcBef>
              <a:spcAft>
                <a:spcPct val="15000"/>
              </a:spcAft>
              <a:buSzPct val="80000"/>
              <a:buFontTx/>
              <a:buBlip>
                <a:blip xmlns:r="http://schemas.openxmlformats.org/officeDocument/2006/relationships" r:embed="rId1"/>
              </a:buBlip>
            </a:pPr>
            <a:r>
              <a:rPr altLang="en-US" lang="en-US">
                <a:solidFill>
                  <a:schemeClr val="dk2"/>
                </a:solidFill>
                <a:latin typeface="Comic Sans MS" pitchFamily="66" charset="0"/>
              </a:rPr>
              <a:t>Cash, Supplies, Equipment, etc.</a:t>
            </a:r>
          </a:p>
        </p:txBody>
      </p:sp>
      <p:sp>
        <p:nvSpPr>
          <p:cNvPr id="1048769" name=""/>
          <p:cNvSpPr/>
          <p:nvPr/>
        </p:nvSpPr>
        <p:spPr>
          <a:xfrm rot="0">
            <a:off x="762000" y="3962400"/>
            <a:ext cx="1371600" cy="457200"/>
          </a:xfrm>
          <a:prstGeom prst="rect"/>
          <a:solidFill>
            <a:srgbClr val="F9EFA5"/>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5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Assets</a:t>
            </a:r>
          </a:p>
        </p:txBody>
      </p:sp>
    </p:spTree>
  </p:cSld>
  <p:clrMapOvr>
    <a:masterClrMapping/>
  </p:clrMapOvr>
  <p:transition spd="fast" advClick="1">
    <p:wipe dir="r"/>
  </p:transition>
  <p:timing/>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114" name=""/>
        <p:cNvGrpSpPr/>
        <p:nvPr/>
      </p:nvGrpSpPr>
      <p:grpSpPr>
        <a:xfrm rot="0">
          <a:off x="0" y="0"/>
          <a:ext cx="0" cy="0"/>
          <a:chOff x="0" y="0"/>
          <a:chExt cx="0" cy="0"/>
        </a:xfrm>
      </p:grpSpPr>
      <p:sp>
        <p:nvSpPr>
          <p:cNvPr id="1048772" name=""/>
          <p:cNvSpPr/>
          <p:nvPr/>
        </p:nvSpPr>
        <p:spPr>
          <a:xfrm rot="0">
            <a:off x="762000" y="1600200"/>
            <a:ext cx="2057400" cy="914400"/>
          </a:xfrm>
          <a:prstGeom prst="rect"/>
          <a:solidFill>
            <a:srgbClr val="F9EFA5"/>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Assets</a:t>
            </a:r>
          </a:p>
        </p:txBody>
      </p:sp>
      <p:sp>
        <p:nvSpPr>
          <p:cNvPr id="1048773" name=""/>
          <p:cNvSpPr txBox="1"/>
          <p:nvPr/>
        </p:nvSpPr>
        <p:spPr>
          <a:xfrm rot="0">
            <a:off x="3733800" y="1600200"/>
            <a:ext cx="2057400" cy="914400"/>
          </a:xfrm>
          <a:prstGeom prst="rect"/>
          <a:solidFill>
            <a:schemeClr val="lt1"/>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Liabilities</a:t>
            </a:r>
          </a:p>
        </p:txBody>
      </p:sp>
      <p:sp>
        <p:nvSpPr>
          <p:cNvPr id="1048774" name=""/>
          <p:cNvSpPr txBox="1"/>
          <p:nvPr/>
        </p:nvSpPr>
        <p:spPr>
          <a:xfrm rot="0">
            <a:off x="6400800" y="1600200"/>
            <a:ext cx="2057400" cy="9144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Owner’s Equity</a:t>
            </a:r>
          </a:p>
        </p:txBody>
      </p:sp>
      <p:sp>
        <p:nvSpPr>
          <p:cNvPr id="1048775" name=""/>
          <p:cNvSpPr/>
          <p:nvPr/>
        </p:nvSpPr>
        <p:spPr>
          <a:xfrm rot="0">
            <a:off x="3078162" y="1831975"/>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latin typeface="Arial" pitchFamily="34" charset="0"/>
              </a:rPr>
              <a:t>=</a:t>
            </a:r>
          </a:p>
        </p:txBody>
      </p:sp>
      <p:sp>
        <p:nvSpPr>
          <p:cNvPr id="1048776" name=""/>
          <p:cNvSpPr/>
          <p:nvPr/>
        </p:nvSpPr>
        <p:spPr>
          <a:xfrm rot="0">
            <a:off x="5867400" y="1817687"/>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Arial" pitchFamily="34" charset="0"/>
              </a:rPr>
              <a:t>+</a:t>
            </a:r>
          </a:p>
        </p:txBody>
      </p:sp>
      <p:sp>
        <p:nvSpPr>
          <p:cNvPr id="1048777" name=""/>
          <p:cNvSpPr txBox="1"/>
          <p:nvPr/>
        </p:nvSpPr>
        <p:spPr>
          <a:xfrm rot="0">
            <a:off x="1295400" y="3581400"/>
            <a:ext cx="16764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endParaRPr altLang="en-US" lang="en-US"/>
          </a:p>
        </p:txBody>
      </p:sp>
      <p:sp>
        <p:nvSpPr>
          <p:cNvPr id="1048778" name=""/>
          <p:cNvSpPr/>
          <p:nvPr/>
        </p:nvSpPr>
        <p:spPr>
          <a:xfrm rot="0">
            <a:off x="609600" y="2895600"/>
            <a:ext cx="8001000" cy="914400"/>
          </a:xfrm>
          <a:prstGeom prst="rect"/>
          <a:noFill/>
          <a:ln>
            <a:noFill/>
          </a:ln>
        </p:spPr>
        <p:txBody>
          <a:bodyPr bIns="46038" lIns="92075" rIns="92075"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0000"/>
              </a:lnSpc>
              <a:spcBef>
                <a:spcPct val="20000"/>
              </a:spcBef>
              <a:buClr>
                <a:schemeClr val="accent2"/>
              </a:buClr>
              <a:buSzPct val="75000"/>
              <a:buFont typeface="Wingdings" pitchFamily="2" charset="2"/>
              <a:buNone/>
            </a:pPr>
            <a:r>
              <a:rPr altLang="en-US" lang="en-US">
                <a:solidFill>
                  <a:schemeClr val="dk2"/>
                </a:solidFill>
                <a:latin typeface="Comic Sans MS" pitchFamily="66" charset="0"/>
              </a:rPr>
              <a:t>Provides the </a:t>
            </a:r>
            <a:r>
              <a:rPr altLang="en-US" b="1" lang="en-US">
                <a:solidFill>
                  <a:srgbClr val="000066"/>
                </a:solidFill>
                <a:latin typeface="Comic Sans MS" pitchFamily="66" charset="0"/>
              </a:rPr>
              <a:t>underlying framework</a:t>
            </a:r>
            <a:r>
              <a:rPr altLang="en-US" b="1" lang="en-US">
                <a:solidFill>
                  <a:schemeClr val="dk2"/>
                </a:solidFill>
                <a:latin typeface="Comic Sans MS" pitchFamily="66" charset="0"/>
              </a:rPr>
              <a:t> </a:t>
            </a:r>
            <a:r>
              <a:rPr altLang="en-US" lang="en-US">
                <a:solidFill>
                  <a:schemeClr val="dk2"/>
                </a:solidFill>
                <a:latin typeface="Comic Sans MS" pitchFamily="66" charset="0"/>
              </a:rPr>
              <a:t>for recording and summarizing economic events.</a:t>
            </a:r>
          </a:p>
        </p:txBody>
      </p:sp>
      <p:sp>
        <p:nvSpPr>
          <p:cNvPr id="1048779"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Basic Accounting Equation</a:t>
            </a:r>
          </a:p>
        </p:txBody>
      </p:sp>
      <p:sp>
        <p:nvSpPr>
          <p:cNvPr id="1048780" name=""/>
          <p:cNvSpPr txBox="1"/>
          <p:nvPr/>
        </p:nvSpPr>
        <p:spPr>
          <a:xfrm rot="0">
            <a:off x="3886200" y="6248400"/>
            <a:ext cx="51816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6 	State the accounting equation, and define assets, liabilities, and owner’s equity.</a:t>
            </a:r>
          </a:p>
        </p:txBody>
      </p:sp>
      <p:sp>
        <p:nvSpPr>
          <p:cNvPr id="1048781" name=""/>
          <p:cNvSpPr txBox="1"/>
          <p:nvPr/>
        </p:nvSpPr>
        <p:spPr>
          <a:xfrm rot="0">
            <a:off x="533400" y="4556125"/>
            <a:ext cx="8458200" cy="14636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548640" lvl="1" marL="914400">
              <a:spcBef>
                <a:spcPct val="30000"/>
              </a:spcBef>
              <a:spcAft>
                <a:spcPct val="10000"/>
              </a:spcAft>
              <a:buSzPct val="80000"/>
              <a:buFontTx/>
              <a:buBlip>
                <a:blip xmlns:r="http://schemas.openxmlformats.org/officeDocument/2006/relationships" r:embed="rId1"/>
              </a:buBlip>
            </a:pPr>
            <a:r>
              <a:rPr altLang="en-US" lang="en-US">
                <a:solidFill>
                  <a:schemeClr val="dk2"/>
                </a:solidFill>
                <a:latin typeface="Comic Sans MS" pitchFamily="66" charset="0"/>
              </a:rPr>
              <a:t>Claims against assets (debts and obligations).</a:t>
            </a:r>
          </a:p>
          <a:p>
            <a:pPr algn="l" indent="-548640" lvl="1" marL="914400">
              <a:lnSpc>
                <a:spcPct val="105000"/>
              </a:lnSpc>
              <a:spcBef>
                <a:spcPct val="20000"/>
              </a:spcBef>
              <a:spcAft>
                <a:spcPct val="15000"/>
              </a:spcAft>
              <a:buSzPct val="80000"/>
              <a:buFontTx/>
              <a:buBlip>
                <a:blip xmlns:r="http://schemas.openxmlformats.org/officeDocument/2006/relationships" r:embed="rId1"/>
              </a:buBlip>
            </a:pPr>
            <a:r>
              <a:rPr altLang="en-US" lang="en-US">
                <a:solidFill>
                  <a:schemeClr val="dk2"/>
                </a:solidFill>
                <a:latin typeface="Comic Sans MS" pitchFamily="66" charset="0"/>
              </a:rPr>
              <a:t>Creditors - party to whom money is owed.</a:t>
            </a:r>
          </a:p>
          <a:p>
            <a:pPr algn="l" indent="-548640" lvl="1" marL="914400">
              <a:lnSpc>
                <a:spcPct val="105000"/>
              </a:lnSpc>
              <a:spcBef>
                <a:spcPct val="20000"/>
              </a:spcBef>
              <a:spcAft>
                <a:spcPct val="15000"/>
              </a:spcAft>
              <a:buSzPct val="80000"/>
              <a:buFontTx/>
              <a:buBlip>
                <a:blip xmlns:r="http://schemas.openxmlformats.org/officeDocument/2006/relationships" r:embed="rId1"/>
              </a:buBlip>
            </a:pPr>
            <a:r>
              <a:rPr altLang="en-US" lang="en-US">
                <a:solidFill>
                  <a:schemeClr val="dk2"/>
                </a:solidFill>
                <a:latin typeface="Comic Sans MS" pitchFamily="66" charset="0"/>
              </a:rPr>
              <a:t>Accounts payable, Notes payable, etc.</a:t>
            </a:r>
          </a:p>
        </p:txBody>
      </p:sp>
      <p:sp>
        <p:nvSpPr>
          <p:cNvPr id="1048782" name=""/>
          <p:cNvSpPr/>
          <p:nvPr/>
        </p:nvSpPr>
        <p:spPr>
          <a:xfrm rot="0">
            <a:off x="762000" y="3962400"/>
            <a:ext cx="1828800" cy="4572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5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Liabilities</a:t>
            </a:r>
          </a:p>
        </p:txBody>
      </p:sp>
    </p:spTree>
  </p:cSld>
  <p:clrMapOvr>
    <a:masterClrMapping/>
  </p:clrMapOvr>
  <p:transition spd="fast" advClick="1">
    <p:wipe dir="r"/>
  </p:transition>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117" name=""/>
        <p:cNvGrpSpPr/>
        <p:nvPr/>
      </p:nvGrpSpPr>
      <p:grpSpPr>
        <a:xfrm rot="0">
          <a:off x="0" y="0"/>
          <a:ext cx="0" cy="0"/>
          <a:chOff x="0" y="0"/>
          <a:chExt cx="0" cy="0"/>
        </a:xfrm>
      </p:grpSpPr>
      <p:sp>
        <p:nvSpPr>
          <p:cNvPr id="1048785" name=""/>
          <p:cNvSpPr/>
          <p:nvPr/>
        </p:nvSpPr>
        <p:spPr>
          <a:xfrm rot="0">
            <a:off x="762000" y="1600200"/>
            <a:ext cx="2057400" cy="914400"/>
          </a:xfrm>
          <a:prstGeom prst="rect"/>
          <a:solidFill>
            <a:srgbClr val="F9EFA5"/>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Assets</a:t>
            </a:r>
          </a:p>
        </p:txBody>
      </p:sp>
      <p:sp>
        <p:nvSpPr>
          <p:cNvPr id="1048786" name=""/>
          <p:cNvSpPr txBox="1"/>
          <p:nvPr/>
        </p:nvSpPr>
        <p:spPr>
          <a:xfrm rot="0">
            <a:off x="3733800" y="1600200"/>
            <a:ext cx="2057400" cy="9144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7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Liabilities</a:t>
            </a:r>
          </a:p>
        </p:txBody>
      </p:sp>
      <p:sp>
        <p:nvSpPr>
          <p:cNvPr id="1048787" name=""/>
          <p:cNvSpPr txBox="1"/>
          <p:nvPr/>
        </p:nvSpPr>
        <p:spPr>
          <a:xfrm rot="0">
            <a:off x="6400800" y="1600200"/>
            <a:ext cx="2057400" cy="914400"/>
          </a:xfrm>
          <a:prstGeom prst="rect"/>
          <a:solidFill>
            <a:schemeClr val="lt1"/>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110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Owner’s Equity</a:t>
            </a:r>
          </a:p>
        </p:txBody>
      </p:sp>
      <p:sp>
        <p:nvSpPr>
          <p:cNvPr id="1048788" name=""/>
          <p:cNvSpPr/>
          <p:nvPr/>
        </p:nvSpPr>
        <p:spPr>
          <a:xfrm rot="0">
            <a:off x="3078162" y="1831975"/>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latin typeface="Arial" pitchFamily="34" charset="0"/>
              </a:rPr>
              <a:t>=</a:t>
            </a:r>
          </a:p>
        </p:txBody>
      </p:sp>
      <p:sp>
        <p:nvSpPr>
          <p:cNvPr id="1048789" name=""/>
          <p:cNvSpPr/>
          <p:nvPr/>
        </p:nvSpPr>
        <p:spPr>
          <a:xfrm rot="0">
            <a:off x="5867400" y="1817687"/>
            <a:ext cx="441325" cy="454025"/>
          </a:xfrm>
          <a:prstGeom prst="rect"/>
          <a:noFill/>
          <a:ln>
            <a:noFill/>
          </a:ln>
        </p:spPr>
        <p:txBody>
          <a:bodyPr bIns="44450" lIns="90488" rIns="90488" tIns="4445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lang="en-US">
                <a:latin typeface="Arial" pitchFamily="34" charset="0"/>
              </a:rPr>
              <a:t>+</a:t>
            </a:r>
          </a:p>
        </p:txBody>
      </p:sp>
      <p:sp>
        <p:nvSpPr>
          <p:cNvPr id="1048790" name=""/>
          <p:cNvSpPr txBox="1"/>
          <p:nvPr/>
        </p:nvSpPr>
        <p:spPr>
          <a:xfrm rot="0">
            <a:off x="1295400" y="3581400"/>
            <a:ext cx="16764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endParaRPr altLang="en-US" lang="en-US"/>
          </a:p>
        </p:txBody>
      </p:sp>
      <p:sp>
        <p:nvSpPr>
          <p:cNvPr id="1048791" name=""/>
          <p:cNvSpPr/>
          <p:nvPr/>
        </p:nvSpPr>
        <p:spPr>
          <a:xfrm rot="0">
            <a:off x="609600" y="2895600"/>
            <a:ext cx="8001000" cy="914400"/>
          </a:xfrm>
          <a:prstGeom prst="rect"/>
          <a:noFill/>
          <a:ln>
            <a:noFill/>
          </a:ln>
        </p:spPr>
        <p:txBody>
          <a:bodyPr bIns="46038" lIns="92075" rIns="92075"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0000"/>
              </a:lnSpc>
              <a:spcBef>
                <a:spcPct val="20000"/>
              </a:spcBef>
              <a:buClr>
                <a:schemeClr val="accent2"/>
              </a:buClr>
              <a:buSzPct val="75000"/>
              <a:buFont typeface="Wingdings" pitchFamily="2" charset="2"/>
              <a:buNone/>
            </a:pPr>
            <a:r>
              <a:rPr altLang="en-US" lang="en-US">
                <a:solidFill>
                  <a:schemeClr val="dk2"/>
                </a:solidFill>
                <a:latin typeface="Comic Sans MS" pitchFamily="66" charset="0"/>
              </a:rPr>
              <a:t>Provides the </a:t>
            </a:r>
            <a:r>
              <a:rPr altLang="en-US" b="1" lang="en-US">
                <a:solidFill>
                  <a:srgbClr val="000066"/>
                </a:solidFill>
                <a:latin typeface="Comic Sans MS" pitchFamily="66" charset="0"/>
              </a:rPr>
              <a:t>underlying framework</a:t>
            </a:r>
            <a:r>
              <a:rPr altLang="en-US" b="1" lang="en-US">
                <a:solidFill>
                  <a:schemeClr val="dk2"/>
                </a:solidFill>
                <a:latin typeface="Comic Sans MS" pitchFamily="66" charset="0"/>
              </a:rPr>
              <a:t> </a:t>
            </a:r>
            <a:r>
              <a:rPr altLang="en-US" lang="en-US">
                <a:solidFill>
                  <a:schemeClr val="dk2"/>
                </a:solidFill>
                <a:latin typeface="Comic Sans MS" pitchFamily="66" charset="0"/>
              </a:rPr>
              <a:t>for recording and summarizing economic events.</a:t>
            </a:r>
          </a:p>
        </p:txBody>
      </p:sp>
      <p:sp>
        <p:nvSpPr>
          <p:cNvPr id="104879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The Basic Accounting Equation</a:t>
            </a:r>
          </a:p>
        </p:txBody>
      </p:sp>
      <p:sp>
        <p:nvSpPr>
          <p:cNvPr id="1048793" name=""/>
          <p:cNvSpPr txBox="1"/>
          <p:nvPr/>
        </p:nvSpPr>
        <p:spPr>
          <a:xfrm rot="0">
            <a:off x="3886200" y="6248400"/>
            <a:ext cx="51816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6 	State the accounting equation, and define assets, liabilities, and owner’s equity.</a:t>
            </a:r>
          </a:p>
        </p:txBody>
      </p:sp>
      <p:sp>
        <p:nvSpPr>
          <p:cNvPr id="1048794" name=""/>
          <p:cNvSpPr txBox="1"/>
          <p:nvPr/>
        </p:nvSpPr>
        <p:spPr>
          <a:xfrm rot="0">
            <a:off x="533400" y="4556125"/>
            <a:ext cx="8458200" cy="18462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548640" lvl="1" marL="914400">
              <a:spcBef>
                <a:spcPct val="30000"/>
              </a:spcBef>
              <a:spcAft>
                <a:spcPct val="10000"/>
              </a:spcAft>
              <a:buSzPct val="80000"/>
              <a:buFontTx/>
              <a:buBlip>
                <a:blip xmlns:r="http://schemas.openxmlformats.org/officeDocument/2006/relationships" r:embed="rId1"/>
              </a:buBlip>
            </a:pPr>
            <a:r>
              <a:rPr altLang="en-US" lang="en-US">
                <a:solidFill>
                  <a:schemeClr val="dk2"/>
                </a:solidFill>
                <a:latin typeface="Comic Sans MS" pitchFamily="66" charset="0"/>
              </a:rPr>
              <a:t>Ownership claim on total assets.</a:t>
            </a:r>
          </a:p>
          <a:p>
            <a:pPr algn="l" indent="-548640" lvl="1" marL="914400">
              <a:spcBef>
                <a:spcPct val="30000"/>
              </a:spcBef>
              <a:spcAft>
                <a:spcPct val="10000"/>
              </a:spcAft>
              <a:buSzPct val="80000"/>
              <a:buFontTx/>
              <a:buBlip>
                <a:blip xmlns:r="http://schemas.openxmlformats.org/officeDocument/2006/relationships" r:embed="rId1"/>
              </a:buBlip>
            </a:pPr>
            <a:r>
              <a:rPr altLang="en-US" lang="en-US">
                <a:solidFill>
                  <a:schemeClr val="dk2"/>
                </a:solidFill>
                <a:latin typeface="Comic Sans MS" pitchFamily="66" charset="0"/>
              </a:rPr>
              <a:t>Referred to as residual equity.</a:t>
            </a:r>
          </a:p>
          <a:p>
            <a:pPr algn="l" indent="-548640" lvl="1" marL="914400">
              <a:lnSpc>
                <a:spcPct val="105000"/>
              </a:lnSpc>
              <a:spcBef>
                <a:spcPct val="20000"/>
              </a:spcBef>
              <a:spcAft>
                <a:spcPct val="15000"/>
              </a:spcAft>
              <a:buSzPct val="80000"/>
              <a:buFontTx/>
              <a:buBlip>
                <a:blip xmlns:r="http://schemas.openxmlformats.org/officeDocument/2006/relationships" r:embed="rId1"/>
              </a:buBlip>
            </a:pPr>
            <a:r>
              <a:rPr altLang="en-US" lang="en-US">
                <a:solidFill>
                  <a:schemeClr val="dk2"/>
                </a:solidFill>
                <a:latin typeface="Comic Sans MS" pitchFamily="66" charset="0"/>
              </a:rPr>
              <a:t>Capital, Drawings, etc. (Proprietorship or Partnership).</a:t>
            </a:r>
          </a:p>
        </p:txBody>
      </p:sp>
      <p:sp>
        <p:nvSpPr>
          <p:cNvPr id="1048795" name=""/>
          <p:cNvSpPr/>
          <p:nvPr/>
        </p:nvSpPr>
        <p:spPr>
          <a:xfrm rot="0">
            <a:off x="762000" y="3962400"/>
            <a:ext cx="2590800" cy="457200"/>
          </a:xfrm>
          <a:prstGeom prst="rect"/>
          <a:solidFill>
            <a:srgbClr val="CBDCFF"/>
          </a:solidFill>
          <a:ln w="28575" cap="flat" cmpd="sng">
            <a:solidFill>
              <a:schemeClr val="dk1">
                <a:alpha val="100000"/>
              </a:schemeClr>
            </a:solidFill>
            <a:prstDash val="solid"/>
            <a:round/>
          </a:ln>
          <a:effectLst>
            <a:outerShdw algn="ctr" dir="2699999" dist="35921" kx="0" sx="100000" sy="100000">
              <a:schemeClr val="dk2">
                <a:alpha val="100000"/>
              </a:schemeClr>
            </a:outerShdw>
          </a:effectLst>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5000"/>
              </a:lnSpc>
              <a:spcBef>
                <a:spcPct val="35000"/>
              </a:spcBef>
              <a:buClr>
                <a:schemeClr val="accent2"/>
              </a:buClr>
              <a:buSzPct val="75000"/>
              <a:buFont typeface="Wingdings" pitchFamily="2" charset="2"/>
              <a:buNone/>
            </a:pPr>
            <a:r>
              <a:rPr altLang="en-US" b="1" lang="en-US">
                <a:effectLst>
                  <a:outerShdw algn="tl" blurRad="38100" dir="2700000" dist="38100">
                    <a:srgbClr val="C0C0C0"/>
                  </a:outerShdw>
                </a:effectLst>
                <a:latin typeface="Comic Sans MS" pitchFamily="66" charset="0"/>
              </a:rPr>
              <a:t>Owner’s Equity</a:t>
            </a:r>
          </a:p>
        </p:txBody>
      </p:sp>
    </p:spTree>
  </p:cSld>
  <p:clrMapOvr>
    <a:masterClrMapping/>
  </p:clrMapOvr>
  <p:transition spd="fast" advClick="1">
    <p:wipe dir="r"/>
  </p:transition>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120" name=""/>
        <p:cNvGrpSpPr/>
        <p:nvPr/>
      </p:nvGrpSpPr>
      <p:grpSpPr>
        <a:xfrm rot="0">
          <a:off x="0" y="0"/>
          <a:ext cx="0" cy="0"/>
          <a:chOff x="0" y="0"/>
          <a:chExt cx="0" cy="0"/>
        </a:xfrm>
      </p:grpSpPr>
      <p:sp>
        <p:nvSpPr>
          <p:cNvPr id="104879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Owners’ Equity</a:t>
            </a:r>
          </a:p>
        </p:txBody>
      </p:sp>
      <p:sp>
        <p:nvSpPr>
          <p:cNvPr id="1048799" name=""/>
          <p:cNvSpPr txBox="1"/>
          <p:nvPr/>
        </p:nvSpPr>
        <p:spPr>
          <a:xfrm rot="0">
            <a:off x="457200" y="4191000"/>
            <a:ext cx="8610600" cy="19399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38137" lvl="0" marL="338137">
              <a:lnSpc>
                <a:spcPct val="115000"/>
              </a:lnSpc>
              <a:spcBef>
                <a:spcPct val="45000"/>
              </a:spcBef>
              <a:buSzPct val="80000"/>
              <a:buFontTx/>
              <a:buNone/>
            </a:pPr>
            <a:r>
              <a:rPr altLang="en-US" b="1" lang="en-US">
                <a:solidFill>
                  <a:srgbClr val="800000"/>
                </a:solidFill>
                <a:latin typeface="Comic Sans MS" pitchFamily="66" charset="0"/>
              </a:rPr>
              <a:t>Revenues</a:t>
            </a:r>
            <a:r>
              <a:rPr altLang="en-US" b="1" lang="en-US">
                <a:solidFill>
                  <a:srgbClr val="00FFFF"/>
                </a:solidFill>
                <a:latin typeface="TimesTen-Bold" pitchFamily="0" charset="0"/>
              </a:rPr>
              <a:t> </a:t>
            </a:r>
            <a:r>
              <a:rPr altLang="en-US" lang="en-US">
                <a:solidFill>
                  <a:srgbClr val="000000"/>
                </a:solidFill>
                <a:latin typeface="Comic Sans MS" pitchFamily="66" charset="0"/>
              </a:rPr>
              <a:t>result from business activities entered into for the purpose of earning income.</a:t>
            </a:r>
          </a:p>
          <a:p>
            <a:pPr algn="l" indent="-338137" lvl="0" marL="338137">
              <a:lnSpc>
                <a:spcPct val="115000"/>
              </a:lnSpc>
              <a:spcBef>
                <a:spcPct val="45000"/>
              </a:spcBef>
              <a:buSzPct val="80000"/>
              <a:buFontTx/>
              <a:buNone/>
            </a:pPr>
            <a:r>
              <a:rPr altLang="en-US" lang="en-US">
                <a:solidFill>
                  <a:srgbClr val="000000"/>
                </a:solidFill>
                <a:latin typeface="Comic Sans MS" pitchFamily="66" charset="0"/>
              </a:rPr>
              <a:t>Common sources of revenue are: sales, fees, services, commissions, interest, dividends, royalties, and rent.</a:t>
            </a:r>
          </a:p>
        </p:txBody>
      </p:sp>
      <p:pic>
        <p:nvPicPr>
          <p:cNvPr id="2097159" name=""/>
          <p:cNvPicPr>
            <a:picLocks/>
          </p:cNvPicPr>
          <p:nvPr/>
        </p:nvPicPr>
        <p:blipFill>
          <a:blip xmlns:r="http://schemas.openxmlformats.org/officeDocument/2006/relationships" r:embed="rId1"/>
          <a:srcRect l="0" t="0" r="0" b="0"/>
          <a:stretch>
            <a:fillRect/>
          </a:stretch>
        </p:blipFill>
        <p:spPr>
          <a:xfrm rot="0">
            <a:off x="457200" y="1498600"/>
            <a:ext cx="8158162" cy="2540000"/>
          </a:xfrm>
          <a:prstGeom prst="rect"/>
          <a:noFill/>
          <a:ln w="28575" cap="sq" cmpd="sng">
            <a:solidFill>
              <a:schemeClr val="dk1">
                <a:alpha val="100000"/>
              </a:schemeClr>
            </a:solidFill>
            <a:prstDash val="solid"/>
            <a:round/>
          </a:ln>
        </p:spPr>
      </p:pic>
      <p:sp>
        <p:nvSpPr>
          <p:cNvPr id="1048800" name=""/>
          <p:cNvSpPr txBox="1"/>
          <p:nvPr/>
        </p:nvSpPr>
        <p:spPr>
          <a:xfrm rot="0">
            <a:off x="6781800" y="1347787"/>
            <a:ext cx="16002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r>
              <a:rPr altLang="en-US" b="1" sz="1200" lang="en-US">
                <a:latin typeface="Comic Sans MS" pitchFamily="66" charset="0"/>
              </a:rPr>
              <a:t>Illustration 1-6</a:t>
            </a:r>
          </a:p>
        </p:txBody>
      </p:sp>
      <p:sp>
        <p:nvSpPr>
          <p:cNvPr id="1048801" name=""/>
          <p:cNvSpPr txBox="1"/>
          <p:nvPr/>
        </p:nvSpPr>
        <p:spPr>
          <a:xfrm rot="0">
            <a:off x="3886200" y="6248400"/>
            <a:ext cx="51816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6 	State the accounting equation, and define assets, liabilities, and owner’s equity.</a:t>
            </a:r>
          </a:p>
        </p:txBody>
      </p:sp>
    </p:spTree>
  </p:cSld>
  <p:clrMapOvr>
    <a:masterClrMapping/>
  </p:clrMapOvr>
  <p:transition spd="fast" advClick="1">
    <p:wipe dir="r"/>
  </p:transition>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123" name=""/>
        <p:cNvGrpSpPr/>
        <p:nvPr/>
      </p:nvGrpSpPr>
      <p:grpSpPr>
        <a:xfrm rot="0">
          <a:off x="0" y="0"/>
          <a:ext cx="0" cy="0"/>
          <a:chOff x="0" y="0"/>
          <a:chExt cx="0" cy="0"/>
        </a:xfrm>
      </p:grpSpPr>
      <p:sp>
        <p:nvSpPr>
          <p:cNvPr id="104880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Owners’ Equity</a:t>
            </a:r>
          </a:p>
        </p:txBody>
      </p:sp>
      <p:sp>
        <p:nvSpPr>
          <p:cNvPr id="1048805" name=""/>
          <p:cNvSpPr txBox="1"/>
          <p:nvPr/>
        </p:nvSpPr>
        <p:spPr>
          <a:xfrm rot="0">
            <a:off x="457200" y="4191000"/>
            <a:ext cx="8610600" cy="19399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338137" lvl="0" marL="338137">
              <a:lnSpc>
                <a:spcPct val="115000"/>
              </a:lnSpc>
              <a:spcBef>
                <a:spcPct val="45000"/>
              </a:spcBef>
              <a:buSzPct val="80000"/>
              <a:buFontTx/>
              <a:buNone/>
            </a:pPr>
            <a:r>
              <a:rPr altLang="en-US" b="1" lang="en-US">
                <a:solidFill>
                  <a:srgbClr val="800000"/>
                </a:solidFill>
                <a:latin typeface="Comic Sans MS" pitchFamily="66" charset="0"/>
              </a:rPr>
              <a:t>Expenses </a:t>
            </a:r>
            <a:r>
              <a:rPr altLang="en-US" lang="en-US">
                <a:solidFill>
                  <a:srgbClr val="000000"/>
                </a:solidFill>
                <a:latin typeface="Comic Sans MS" pitchFamily="66" charset="0"/>
              </a:rPr>
              <a:t>are the cost of </a:t>
            </a:r>
            <a:r>
              <a:rPr altLang="en-US" lang="en-US" u="sng">
                <a:solidFill>
                  <a:srgbClr val="000000"/>
                </a:solidFill>
                <a:latin typeface="Comic Sans MS" pitchFamily="66" charset="0"/>
              </a:rPr>
              <a:t>assets consumed</a:t>
            </a:r>
            <a:r>
              <a:rPr altLang="en-US" lang="en-US">
                <a:solidFill>
                  <a:srgbClr val="000000"/>
                </a:solidFill>
                <a:latin typeface="Comic Sans MS" pitchFamily="66" charset="0"/>
              </a:rPr>
              <a:t> or </a:t>
            </a:r>
            <a:r>
              <a:rPr altLang="en-US" lang="en-US" u="sng">
                <a:solidFill>
                  <a:srgbClr val="000000"/>
                </a:solidFill>
                <a:latin typeface="Comic Sans MS" pitchFamily="66" charset="0"/>
              </a:rPr>
              <a:t>services used</a:t>
            </a:r>
            <a:r>
              <a:rPr altLang="en-US" lang="en-US">
                <a:solidFill>
                  <a:srgbClr val="000000"/>
                </a:solidFill>
                <a:latin typeface="Comic Sans MS" pitchFamily="66" charset="0"/>
              </a:rPr>
              <a:t> in the process of earning revenue.</a:t>
            </a:r>
          </a:p>
          <a:p>
            <a:pPr algn="l" indent="-338137" lvl="0" marL="338137">
              <a:lnSpc>
                <a:spcPct val="115000"/>
              </a:lnSpc>
              <a:spcBef>
                <a:spcPct val="45000"/>
              </a:spcBef>
              <a:buSzPct val="80000"/>
              <a:buFontTx/>
              <a:buNone/>
            </a:pPr>
            <a:r>
              <a:rPr altLang="en-US" lang="en-US">
                <a:solidFill>
                  <a:srgbClr val="000000"/>
                </a:solidFill>
                <a:latin typeface="Comic Sans MS" pitchFamily="66" charset="0"/>
              </a:rPr>
              <a:t>Common expenses are: salaries expense, rent expense, utilities expense, tax expense, etc.</a:t>
            </a:r>
          </a:p>
        </p:txBody>
      </p:sp>
      <p:pic>
        <p:nvPicPr>
          <p:cNvPr id="2097160" name=""/>
          <p:cNvPicPr>
            <a:picLocks/>
          </p:cNvPicPr>
          <p:nvPr/>
        </p:nvPicPr>
        <p:blipFill>
          <a:blip xmlns:r="http://schemas.openxmlformats.org/officeDocument/2006/relationships" r:embed="rId1"/>
          <a:srcRect l="0" t="0" r="0" b="0"/>
          <a:stretch>
            <a:fillRect/>
          </a:stretch>
        </p:blipFill>
        <p:spPr>
          <a:xfrm rot="0">
            <a:off x="457200" y="1498600"/>
            <a:ext cx="8158162" cy="2540000"/>
          </a:xfrm>
          <a:prstGeom prst="rect"/>
          <a:noFill/>
          <a:ln w="28575" cap="sq" cmpd="sng">
            <a:solidFill>
              <a:schemeClr val="dk1">
                <a:alpha val="100000"/>
              </a:schemeClr>
            </a:solidFill>
            <a:prstDash val="solid"/>
            <a:round/>
          </a:ln>
        </p:spPr>
      </p:pic>
      <p:sp>
        <p:nvSpPr>
          <p:cNvPr id="1048806" name=""/>
          <p:cNvSpPr txBox="1"/>
          <p:nvPr/>
        </p:nvSpPr>
        <p:spPr>
          <a:xfrm rot="0">
            <a:off x="6781800" y="1347787"/>
            <a:ext cx="16002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r>
              <a:rPr altLang="en-US" b="1" sz="1200" lang="en-US">
                <a:latin typeface="Comic Sans MS" pitchFamily="66" charset="0"/>
              </a:rPr>
              <a:t>Illustration 1-6</a:t>
            </a:r>
          </a:p>
        </p:txBody>
      </p:sp>
      <p:sp>
        <p:nvSpPr>
          <p:cNvPr id="1048807" name=""/>
          <p:cNvSpPr txBox="1"/>
          <p:nvPr/>
        </p:nvSpPr>
        <p:spPr>
          <a:xfrm rot="0">
            <a:off x="3886200" y="6248400"/>
            <a:ext cx="51816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6 	State the accounting equation, and define assets, liabilities, and owner’s equity.</a:t>
            </a:r>
          </a:p>
        </p:txBody>
      </p:sp>
    </p:spTree>
  </p:cSld>
  <p:clrMapOvr>
    <a:masterClrMapping/>
  </p:clrMapOvr>
  <p:transition spd="fast" advClick="1">
    <p:wipe dir="r"/>
  </p:transition>
</p:sld>
</file>

<file path=ppt/slides/slide27.xml><?xml version="1.0" encoding="utf-8"?>
<p:sld xmlns:a="http://schemas.openxmlformats.org/drawingml/2006/main" xmlns:r="http://schemas.openxmlformats.org/officeDocument/2006/relationships" xmlns:p="http://schemas.openxmlformats.org/presentationml/2006/main" showMasterSp="1">
  <p:cSld>
    <p:spTree>
      <p:nvGrpSpPr>
        <p:cNvPr id="126" name=""/>
        <p:cNvGrpSpPr/>
        <p:nvPr/>
      </p:nvGrpSpPr>
      <p:grpSpPr>
        <a:xfrm rot="0">
          <a:off x="0" y="0"/>
          <a:ext cx="0" cy="0"/>
          <a:chOff x="0" y="0"/>
          <a:chExt cx="0" cy="0"/>
        </a:xfrm>
      </p:grpSpPr>
      <p:sp>
        <p:nvSpPr>
          <p:cNvPr id="104881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Using The Basic Accounting Equation</a:t>
            </a:r>
          </a:p>
        </p:txBody>
      </p:sp>
      <p:sp>
        <p:nvSpPr>
          <p:cNvPr id="1048811" name=""/>
          <p:cNvSpPr txBox="1"/>
          <p:nvPr/>
        </p:nvSpPr>
        <p:spPr>
          <a:xfrm rot="0">
            <a:off x="685800" y="1457325"/>
            <a:ext cx="7772400" cy="33432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5000"/>
              </a:lnSpc>
              <a:spcBef>
                <a:spcPct val="60000"/>
              </a:spcBef>
              <a:buSzPct val="80000"/>
              <a:buFontTx/>
              <a:buNone/>
            </a:pPr>
            <a:r>
              <a:rPr altLang="en-US" b="1" sz="2800" lang="en-US">
                <a:solidFill>
                  <a:srgbClr val="800000"/>
                </a:solidFill>
                <a:latin typeface="Comic Sans MS" pitchFamily="66" charset="0"/>
              </a:rPr>
              <a:t>Transactions</a:t>
            </a:r>
            <a:r>
              <a:rPr altLang="en-US" b="1" lang="en-US">
                <a:solidFill>
                  <a:srgbClr val="00FFFF"/>
                </a:solidFill>
                <a:latin typeface="Comic Sans MS" pitchFamily="66" charset="0"/>
              </a:rPr>
              <a:t> </a:t>
            </a:r>
            <a:r>
              <a:rPr altLang="en-US" lang="en-US">
                <a:solidFill>
                  <a:srgbClr val="000000"/>
                </a:solidFill>
                <a:latin typeface="Comic Sans MS" pitchFamily="66" charset="0"/>
              </a:rPr>
              <a:t>are a business’s economic events </a:t>
            </a:r>
            <a:r>
              <a:rPr altLang="en-US" i="1" lang="en-US">
                <a:solidFill>
                  <a:srgbClr val="000000"/>
                </a:solidFill>
                <a:latin typeface="Comic Sans MS" pitchFamily="66" charset="0"/>
              </a:rPr>
              <a:t>recorded </a:t>
            </a:r>
            <a:r>
              <a:rPr altLang="en-US" lang="en-US">
                <a:solidFill>
                  <a:srgbClr val="000000"/>
                </a:solidFill>
                <a:latin typeface="Comic Sans MS" pitchFamily="66" charset="0"/>
              </a:rPr>
              <a:t>by accountants.</a:t>
            </a:r>
          </a:p>
          <a:p>
            <a:pPr algn="l" indent="-460374" lvl="1" marL="690562">
              <a:lnSpc>
                <a:spcPct val="115000"/>
              </a:lnSpc>
              <a:spcBef>
                <a:spcPct val="60000"/>
              </a:spcBef>
              <a:buSzPct val="80000"/>
              <a:buFontTx/>
              <a:buBlip>
                <a:blip xmlns:r="http://schemas.openxmlformats.org/officeDocument/2006/relationships" r:embed="rId1"/>
              </a:buBlip>
            </a:pPr>
            <a:r>
              <a:rPr altLang="en-US" lang="en-US">
                <a:solidFill>
                  <a:srgbClr val="000000"/>
                </a:solidFill>
                <a:latin typeface="Comic Sans MS" pitchFamily="66" charset="0"/>
              </a:rPr>
              <a:t>May be external or internal.</a:t>
            </a:r>
          </a:p>
          <a:p>
            <a:pPr algn="l" indent="-460374" lvl="1" marL="690562">
              <a:lnSpc>
                <a:spcPct val="115000"/>
              </a:lnSpc>
              <a:spcBef>
                <a:spcPct val="60000"/>
              </a:spcBef>
              <a:buSzPct val="80000"/>
              <a:buFontTx/>
              <a:buBlip>
                <a:blip xmlns:r="http://schemas.openxmlformats.org/officeDocument/2006/relationships" r:embed="rId1"/>
              </a:buBlip>
            </a:pPr>
            <a:r>
              <a:rPr altLang="en-US" lang="en-US">
                <a:solidFill>
                  <a:srgbClr val="000000"/>
                </a:solidFill>
                <a:latin typeface="Comic Sans MS" pitchFamily="66" charset="0"/>
              </a:rPr>
              <a:t>Not all activities represent transactions.</a:t>
            </a:r>
          </a:p>
          <a:p>
            <a:pPr algn="l" indent="-460374" lvl="1" marL="690562">
              <a:lnSpc>
                <a:spcPct val="115000"/>
              </a:lnSpc>
              <a:spcBef>
                <a:spcPct val="60000"/>
              </a:spcBef>
              <a:buSzPct val="80000"/>
              <a:buFontTx/>
              <a:buBlip>
                <a:blip xmlns:r="http://schemas.openxmlformats.org/officeDocument/2006/relationships" r:embed="rId1"/>
              </a:buBlip>
            </a:pPr>
            <a:r>
              <a:rPr altLang="en-US" lang="en-US">
                <a:solidFill>
                  <a:srgbClr val="000000"/>
                </a:solidFill>
                <a:latin typeface="Comic Sans MS" pitchFamily="66" charset="0"/>
              </a:rPr>
              <a:t>Each transaction has a </a:t>
            </a:r>
            <a:r>
              <a:rPr altLang="en-US" b="1" lang="en-US">
                <a:solidFill>
                  <a:srgbClr val="000066"/>
                </a:solidFill>
                <a:latin typeface="Comic Sans MS" pitchFamily="66" charset="0"/>
              </a:rPr>
              <a:t>dual effect</a:t>
            </a:r>
            <a:r>
              <a:rPr altLang="en-US" lang="en-US">
                <a:solidFill>
                  <a:srgbClr val="000000"/>
                </a:solidFill>
                <a:latin typeface="Comic Sans MS" pitchFamily="66" charset="0"/>
              </a:rPr>
              <a:t> on the accounting equation.</a:t>
            </a:r>
          </a:p>
        </p:txBody>
      </p:sp>
      <p:sp>
        <p:nvSpPr>
          <p:cNvPr id="1048812"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Tree>
  </p:cSld>
  <p:clrMapOvr>
    <a:masterClrMapping/>
  </p:clrMapOvr>
  <p:transition spd="fast" advClick="1">
    <p:wipe dir="r"/>
  </p:transition>
</p:sld>
</file>

<file path=ppt/slides/slide28.xml><?xml version="1.0" encoding="utf-8"?>
<p:sld xmlns:a="http://schemas.openxmlformats.org/drawingml/2006/main" xmlns:r="http://schemas.openxmlformats.org/officeDocument/2006/relationships" xmlns:p="http://schemas.openxmlformats.org/presentationml/2006/main" showMasterSp="1">
  <p:cSld>
    <p:spTree>
      <p:nvGrpSpPr>
        <p:cNvPr id="129" name=""/>
        <p:cNvGrpSpPr/>
        <p:nvPr/>
      </p:nvGrpSpPr>
      <p:grpSpPr>
        <a:xfrm rot="0">
          <a:off x="0" y="0"/>
          <a:ext cx="0" cy="0"/>
          <a:chOff x="0" y="0"/>
          <a:chExt cx="0" cy="0"/>
        </a:xfrm>
      </p:grpSpPr>
      <p:sp>
        <p:nvSpPr>
          <p:cNvPr id="1048815" name=""/>
          <p:cNvSpPr txBox="1"/>
          <p:nvPr/>
        </p:nvSpPr>
        <p:spPr>
          <a:xfrm rot="0">
            <a:off x="533400" y="1295400"/>
            <a:ext cx="80772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990000"/>
                </a:solidFill>
                <a:effectLst>
                  <a:outerShdw algn="tl" blurRad="38100" dir="2700000" dist="38100">
                    <a:srgbClr val="C0C0C0"/>
                  </a:outerShdw>
                </a:effectLst>
                <a:latin typeface="Comic Sans MS" pitchFamily="66" charset="0"/>
              </a:rPr>
              <a:t>Q1-15:</a:t>
            </a:r>
            <a:r>
              <a:rPr altLang="en-US" b="1" sz="1800" lang="en-US">
                <a:latin typeface="Comic Sans MS" pitchFamily="66" charset="0"/>
              </a:rPr>
              <a:t> </a:t>
            </a:r>
            <a:r>
              <a:rPr altLang="en-US" lang="en-US">
                <a:solidFill>
                  <a:schemeClr val="dk2"/>
                </a:solidFill>
                <a:latin typeface="Comic Sans MS" pitchFamily="66" charset="0"/>
              </a:rPr>
              <a:t>Are the following events recorded in the accounting records?</a:t>
            </a:r>
          </a:p>
        </p:txBody>
      </p:sp>
      <p:sp>
        <p:nvSpPr>
          <p:cNvPr id="1048816" name=""/>
          <p:cNvSpPr txBox="1"/>
          <p:nvPr/>
        </p:nvSpPr>
        <p:spPr>
          <a:xfrm rot="0">
            <a:off x="533400" y="2438400"/>
            <a:ext cx="11430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000066"/>
                </a:solidFill>
                <a:latin typeface="Comic Sans MS" pitchFamily="66" charset="0"/>
                <a:ea typeface="Arial" pitchFamily="34" charset="0"/>
              </a:rPr>
              <a:t>Event</a:t>
            </a:r>
          </a:p>
        </p:txBody>
      </p:sp>
      <p:sp>
        <p:nvSpPr>
          <p:cNvPr id="1048817" name=""/>
          <p:cNvSpPr txBox="1"/>
          <p:nvPr/>
        </p:nvSpPr>
        <p:spPr>
          <a:xfrm rot="0">
            <a:off x="2514600" y="2193925"/>
            <a:ext cx="1828800" cy="10969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2200" lang="en-US">
                <a:latin typeface="Comic Sans MS" pitchFamily="66" charset="0"/>
                <a:ea typeface="Arial" pitchFamily="34" charset="0"/>
              </a:rPr>
              <a:t>Supplies are purchased on account.</a:t>
            </a:r>
          </a:p>
        </p:txBody>
      </p:sp>
      <p:sp>
        <p:nvSpPr>
          <p:cNvPr id="1048818" name=""/>
          <p:cNvSpPr txBox="1"/>
          <p:nvPr/>
        </p:nvSpPr>
        <p:spPr>
          <a:xfrm rot="0">
            <a:off x="533400" y="3733800"/>
            <a:ext cx="15240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000066"/>
                </a:solidFill>
                <a:latin typeface="Comic Sans MS" pitchFamily="66" charset="0"/>
                <a:ea typeface="Arial" pitchFamily="34" charset="0"/>
              </a:rPr>
              <a:t>Criterion</a:t>
            </a:r>
          </a:p>
        </p:txBody>
      </p:sp>
      <p:sp>
        <p:nvSpPr>
          <p:cNvPr id="1048819" name=""/>
          <p:cNvSpPr txBox="1"/>
          <p:nvPr/>
        </p:nvSpPr>
        <p:spPr>
          <a:xfrm rot="0">
            <a:off x="2438400" y="3657600"/>
            <a:ext cx="6324600" cy="790575"/>
          </a:xfrm>
          <a:prstGeom prst="rect"/>
          <a:solidFill>
            <a:srgbClr val="C5C5FF"/>
          </a:solidFill>
          <a:ln w="28575" cap="flat"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2200" lang="en-US">
                <a:latin typeface="Comic Sans MS" pitchFamily="66" charset="0"/>
                <a:ea typeface="Arial" pitchFamily="34" charset="0"/>
              </a:rPr>
              <a:t>Is the financial position (assets, liabilities, or owner’s equity) of the company changed?</a:t>
            </a:r>
          </a:p>
        </p:txBody>
      </p:sp>
      <p:sp>
        <p:nvSpPr>
          <p:cNvPr id="1048820"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pic>
        <p:nvPicPr>
          <p:cNvPr id="2097161" name=""/>
          <p:cNvPicPr>
            <a:picLocks/>
          </p:cNvPicPr>
          <p:nvPr/>
        </p:nvPicPr>
        <p:blipFill>
          <a:blip xmlns:r="http://schemas.openxmlformats.org/officeDocument/2006/relationships" r:embed="rId1"/>
          <a:srcRect l="0" t="0" r="0" b="0"/>
          <a:stretch>
            <a:fillRect/>
          </a:stretch>
        </p:blipFill>
        <p:spPr>
          <a:xfrm rot="0">
            <a:off x="3048000" y="4800600"/>
            <a:ext cx="768350" cy="1109662"/>
          </a:xfrm>
          <a:prstGeom prst="rect"/>
          <a:noFill/>
          <a:ln w="12700" cap="sq" cmpd="sng">
            <a:solidFill>
              <a:schemeClr val="dk1">
                <a:alpha val="100000"/>
              </a:schemeClr>
            </a:solidFill>
            <a:prstDash val="solid"/>
            <a:round/>
          </a:ln>
        </p:spPr>
      </p:pic>
      <p:sp>
        <p:nvSpPr>
          <p:cNvPr id="1048821" name=""/>
          <p:cNvSpPr/>
          <p:nvPr/>
        </p:nvSpPr>
        <p:spPr>
          <a:xfrm rot="0" flipV="1">
            <a:off x="3429000" y="3352800"/>
            <a:ext cx="0" cy="304800"/>
          </a:xfrm>
          <a:prstGeom prst="line"/>
          <a:noFill/>
          <a:ln w="28575" cap="sq" cmpd="sng">
            <a:solidFill>
              <a:schemeClr val="dk1">
                <a:alpha val="100000"/>
              </a:schemeClr>
            </a:solidFill>
            <a:prstDash val="solid"/>
            <a:round/>
          </a:ln>
        </p:spPr>
      </p:sp>
      <p:sp>
        <p:nvSpPr>
          <p:cNvPr id="1048822" name=""/>
          <p:cNvSpPr txBox="1"/>
          <p:nvPr/>
        </p:nvSpPr>
        <p:spPr>
          <a:xfrm rot="0">
            <a:off x="4648200" y="2193925"/>
            <a:ext cx="1828800" cy="7620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2200" lang="en-US">
                <a:latin typeface="Comic Sans MS" pitchFamily="66" charset="0"/>
                <a:ea typeface="Arial" pitchFamily="34" charset="0"/>
              </a:rPr>
              <a:t>An employee is hired.</a:t>
            </a:r>
          </a:p>
        </p:txBody>
      </p:sp>
      <p:sp>
        <p:nvSpPr>
          <p:cNvPr id="1048823" name=""/>
          <p:cNvSpPr/>
          <p:nvPr/>
        </p:nvSpPr>
        <p:spPr>
          <a:xfrm rot="0" flipV="1">
            <a:off x="5562600" y="3048000"/>
            <a:ext cx="0" cy="609600"/>
          </a:xfrm>
          <a:prstGeom prst="line"/>
          <a:noFill/>
          <a:ln w="28575" cap="sq" cmpd="sng">
            <a:solidFill>
              <a:schemeClr val="dk1">
                <a:alpha val="100000"/>
              </a:schemeClr>
            </a:solidFill>
            <a:prstDash val="solid"/>
            <a:round/>
          </a:ln>
        </p:spPr>
      </p:sp>
      <p:sp>
        <p:nvSpPr>
          <p:cNvPr id="1048824" name=""/>
          <p:cNvSpPr txBox="1"/>
          <p:nvPr/>
        </p:nvSpPr>
        <p:spPr>
          <a:xfrm rot="0">
            <a:off x="6553200" y="1828800"/>
            <a:ext cx="2057400" cy="14319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2200" lang="en-US">
                <a:latin typeface="Comic Sans MS" pitchFamily="66" charset="0"/>
                <a:ea typeface="Arial" pitchFamily="34" charset="0"/>
              </a:rPr>
              <a:t>Owner withdraws cash for personal use.</a:t>
            </a:r>
          </a:p>
        </p:txBody>
      </p:sp>
      <p:sp>
        <p:nvSpPr>
          <p:cNvPr id="1048825" name=""/>
          <p:cNvSpPr/>
          <p:nvPr/>
        </p:nvSpPr>
        <p:spPr>
          <a:xfrm rot="0" flipV="1">
            <a:off x="7696200" y="3352800"/>
            <a:ext cx="0" cy="304800"/>
          </a:xfrm>
          <a:prstGeom prst="line"/>
          <a:noFill/>
          <a:ln w="28575" cap="sq" cmpd="sng">
            <a:solidFill>
              <a:schemeClr val="dk1">
                <a:alpha val="100000"/>
              </a:schemeClr>
            </a:solidFill>
            <a:prstDash val="solid"/>
            <a:round/>
          </a:ln>
        </p:spPr>
      </p:sp>
      <p:pic>
        <p:nvPicPr>
          <p:cNvPr id="2097162" name=""/>
          <p:cNvPicPr>
            <a:picLocks/>
          </p:cNvPicPr>
          <p:nvPr/>
        </p:nvPicPr>
        <p:blipFill>
          <a:blip xmlns:r="http://schemas.openxmlformats.org/officeDocument/2006/relationships" r:embed="rId1"/>
          <a:srcRect l="0" t="0" r="0" b="0"/>
          <a:stretch>
            <a:fillRect/>
          </a:stretch>
        </p:blipFill>
        <p:spPr>
          <a:xfrm rot="0">
            <a:off x="7308850" y="4800600"/>
            <a:ext cx="768350" cy="1109662"/>
          </a:xfrm>
          <a:prstGeom prst="rect"/>
          <a:noFill/>
          <a:ln w="12700" cap="sq" cmpd="sng">
            <a:solidFill>
              <a:schemeClr val="dk1">
                <a:alpha val="100000"/>
              </a:schemeClr>
            </a:solidFill>
            <a:prstDash val="solid"/>
            <a:round/>
          </a:ln>
        </p:spPr>
      </p:pic>
      <p:pic>
        <p:nvPicPr>
          <p:cNvPr id="2097163" name=""/>
          <p:cNvPicPr>
            <a:picLocks/>
          </p:cNvPicPr>
          <p:nvPr/>
        </p:nvPicPr>
        <p:blipFill>
          <a:blip xmlns:r="http://schemas.openxmlformats.org/officeDocument/2006/relationships" r:embed="rId2"/>
          <a:srcRect l="0" t="0" r="0" b="0"/>
          <a:stretch>
            <a:fillRect/>
          </a:stretch>
        </p:blipFill>
        <p:spPr>
          <a:xfrm rot="0">
            <a:off x="5029200" y="4800600"/>
            <a:ext cx="1050925" cy="1371600"/>
          </a:xfrm>
          <a:prstGeom prst="rect"/>
          <a:noFill/>
          <a:ln w="12700" cap="sq" cmpd="sng">
            <a:solidFill>
              <a:schemeClr val="dk1">
                <a:alpha val="100000"/>
              </a:schemeClr>
            </a:solidFill>
            <a:prstDash val="solid"/>
            <a:round/>
          </a:ln>
        </p:spPr>
      </p:pic>
      <p:sp>
        <p:nvSpPr>
          <p:cNvPr id="1048826" name=""/>
          <p:cNvSpPr txBox="1"/>
          <p:nvPr/>
        </p:nvSpPr>
        <p:spPr>
          <a:xfrm rot="0">
            <a:off x="533400" y="4876800"/>
            <a:ext cx="21336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000066"/>
                </a:solidFill>
                <a:latin typeface="Comic Sans MS" pitchFamily="66" charset="0"/>
                <a:ea typeface="Arial" pitchFamily="34" charset="0"/>
              </a:rPr>
              <a:t>Record/  Don’t Record</a:t>
            </a:r>
          </a:p>
        </p:txBody>
      </p:sp>
      <p:sp>
        <p:nvSpPr>
          <p:cNvPr id="104882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(Question?)</a:t>
            </a:r>
          </a:p>
        </p:txBody>
      </p:sp>
      <p:sp>
        <p:nvSpPr>
          <p:cNvPr id="1048828" name=""/>
          <p:cNvSpPr/>
          <p:nvPr/>
        </p:nvSpPr>
        <p:spPr>
          <a:xfrm rot="0">
            <a:off x="3429000" y="4460875"/>
            <a:ext cx="3175" cy="339725"/>
          </a:xfrm>
          <a:custGeom>
            <a:avLst/>
            <a:gdLst>
              <a:gd name="l" fmla="*/ 0 w 2"/>
              <a:gd name="t" fmla="*/ 0 h 214"/>
              <a:gd name="r" fmla="*/ 2 w 2"/>
              <a:gd name="b" fmla="*/ 214 h 214"/>
            </a:gdLst>
            <a:ahLst/>
            <a:rect l="l" t="t" r="r" b="b"/>
            <a:pathLst>
              <a:path w="2" h="214">
                <a:moveTo>
                  <a:pt x="2" y="0"/>
                </a:moveTo>
                <a:lnTo>
                  <a:pt x="0" y="214"/>
                </a:lnTo>
              </a:path>
            </a:pathLst>
          </a:custGeom>
          <a:noFill/>
          <a:ln w="28575" cap="sq" cmpd="sng">
            <a:solidFill>
              <a:schemeClr val="dk1">
                <a:alpha val="100000"/>
              </a:scheme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29" name=""/>
          <p:cNvSpPr/>
          <p:nvPr/>
        </p:nvSpPr>
        <p:spPr>
          <a:xfrm rot="0">
            <a:off x="5559425" y="4460875"/>
            <a:ext cx="3175" cy="339725"/>
          </a:xfrm>
          <a:custGeom>
            <a:avLst/>
            <a:gdLst>
              <a:gd name="l" fmla="*/ 0 w 2"/>
              <a:gd name="t" fmla="*/ 0 h 214"/>
              <a:gd name="r" fmla="*/ 2 w 2"/>
              <a:gd name="b" fmla="*/ 214 h 214"/>
            </a:gdLst>
            <a:ahLst/>
            <a:rect l="l" t="t" r="r" b="b"/>
            <a:pathLst>
              <a:path w="2" h="214">
                <a:moveTo>
                  <a:pt x="2" y="0"/>
                </a:moveTo>
                <a:lnTo>
                  <a:pt x="0" y="214"/>
                </a:lnTo>
              </a:path>
            </a:pathLst>
          </a:custGeom>
          <a:noFill/>
          <a:ln w="28575" cap="sq" cmpd="sng">
            <a:solidFill>
              <a:schemeClr val="dk1">
                <a:alpha val="100000"/>
              </a:scheme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30" name=""/>
          <p:cNvSpPr/>
          <p:nvPr/>
        </p:nvSpPr>
        <p:spPr>
          <a:xfrm rot="0">
            <a:off x="7696200" y="4460875"/>
            <a:ext cx="4762" cy="334962"/>
          </a:xfrm>
          <a:custGeom>
            <a:avLst/>
            <a:gdLst>
              <a:gd name="l" fmla="*/ 0 w 3"/>
              <a:gd name="t" fmla="*/ 0 h 211"/>
              <a:gd name="r" fmla="*/ 3 w 3"/>
              <a:gd name="b" fmla="*/ 211 h 211"/>
            </a:gdLst>
            <a:ahLst/>
            <a:rect l="l" t="t" r="r" b="b"/>
            <a:pathLst>
              <a:path w="3" h="211">
                <a:moveTo>
                  <a:pt x="0" y="0"/>
                </a:moveTo>
                <a:lnTo>
                  <a:pt x="3" y="211"/>
                </a:lnTo>
              </a:path>
            </a:pathLst>
          </a:custGeom>
          <a:noFill/>
          <a:ln w="28575" cap="sq" cmpd="sng">
            <a:solidFill>
              <a:schemeClr val="dk1">
                <a:alpha val="100000"/>
              </a:scheme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1">
                                  <p:stCondLst>
                                    <p:cond delay="0"/>
                                  </p:stCondLst>
                                  <p:childTnLst>
                                    <p:set>
                                      <p:cBhvr>
                                        <p:cTn dur="1" fill="hold" id="6">
                                          <p:stCondLst>
                                            <p:cond delay="0"/>
                                          </p:stCondLst>
                                        </p:cTn>
                                        <p:tgtEl>
                                          <p:spTgt spid="2097161"/>
                                        </p:tgtEl>
                                        <p:attrNameLst>
                                          <p:attrName>style.visibility</p:attrName>
                                        </p:attrNameLst>
                                      </p:cBhvr>
                                      <p:to>
                                        <p:strVal val="visible"/>
                                      </p:to>
                                    </p:set>
                                    <p:animEffect transition="in" filter="wipe(up)">
                                      <p:cBhvr>
                                        <p:cTn dur="500" id="7"/>
                                        <p:tgtEl>
                                          <p:spTgt spid="2097161"/>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22" presetSubtype="1">
                                  <p:stCondLst>
                                    <p:cond delay="0"/>
                                  </p:stCondLst>
                                  <p:childTnLst>
                                    <p:set>
                                      <p:cBhvr>
                                        <p:cTn dur="1" fill="hold" id="11">
                                          <p:stCondLst>
                                            <p:cond delay="0"/>
                                          </p:stCondLst>
                                        </p:cTn>
                                        <p:tgtEl>
                                          <p:spTgt spid="2097163"/>
                                        </p:tgtEl>
                                        <p:attrNameLst>
                                          <p:attrName>style.visibility</p:attrName>
                                        </p:attrNameLst>
                                      </p:cBhvr>
                                      <p:to>
                                        <p:strVal val="visible"/>
                                      </p:to>
                                    </p:set>
                                    <p:animEffect transition="in" filter="wipe(up)">
                                      <p:cBhvr>
                                        <p:cTn dur="500" id="12"/>
                                        <p:tgtEl>
                                          <p:spTgt spid="2097163"/>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22" presetSubtype="1">
                                  <p:stCondLst>
                                    <p:cond delay="0"/>
                                  </p:stCondLst>
                                  <p:childTnLst>
                                    <p:set>
                                      <p:cBhvr>
                                        <p:cTn dur="1" fill="hold" id="16">
                                          <p:stCondLst>
                                            <p:cond delay="0"/>
                                          </p:stCondLst>
                                        </p:cTn>
                                        <p:tgtEl>
                                          <p:spTgt spid="2097162"/>
                                        </p:tgtEl>
                                        <p:attrNameLst>
                                          <p:attrName>style.visibility</p:attrName>
                                        </p:attrNameLst>
                                      </p:cBhvr>
                                      <p:to>
                                        <p:strVal val="visible"/>
                                      </p:to>
                                    </p:set>
                                    <p:animEffect transition="in" filter="wipe(up)">
                                      <p:cBhvr>
                                        <p:cTn dur="500" id="17"/>
                                        <p:tgtEl>
                                          <p:spTgt spid="2097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1">
  <p:cSld>
    <p:spTree>
      <p:nvGrpSpPr>
        <p:cNvPr id="130" name=""/>
        <p:cNvGrpSpPr/>
        <p:nvPr/>
      </p:nvGrpSpPr>
      <p:grpSpPr>
        <a:xfrm rot="0">
          <a:off x="0" y="0"/>
          <a:ext cx="0" cy="0"/>
          <a:chOff x="0" y="0"/>
          <a:chExt cx="0" cy="0"/>
        </a:xfrm>
      </p:grpSpPr>
      <p:sp>
        <p:nvSpPr>
          <p:cNvPr id="1048831" name=""/>
          <p:cNvSpPr txBox="1"/>
          <p:nvPr/>
        </p:nvSpPr>
        <p:spPr>
          <a:xfrm rot="0">
            <a:off x="685800" y="1295400"/>
            <a:ext cx="7772400" cy="6286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10000"/>
              </a:lnSpc>
              <a:spcBef>
                <a:spcPct val="70000"/>
              </a:spcBef>
              <a:buSzPct val="80000"/>
              <a:buFontTx/>
              <a:buNone/>
            </a:pPr>
            <a:r>
              <a:rPr altLang="en-US" b="1" sz="3200" lang="en-US">
                <a:solidFill>
                  <a:srgbClr val="800000"/>
                </a:solidFill>
                <a:latin typeface="Comic Sans MS" pitchFamily="66" charset="0"/>
              </a:rPr>
              <a:t>Discussion Question</a:t>
            </a:r>
          </a:p>
        </p:txBody>
      </p:sp>
      <p:sp>
        <p:nvSpPr>
          <p:cNvPr id="1048832" name=""/>
          <p:cNvSpPr txBox="1"/>
          <p:nvPr/>
        </p:nvSpPr>
        <p:spPr>
          <a:xfrm rot="0">
            <a:off x="685800" y="1905000"/>
            <a:ext cx="7772400" cy="42862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30000"/>
              </a:lnSpc>
              <a:spcBef>
                <a:spcPct val="70000"/>
              </a:spcBef>
              <a:buSzPct val="80000"/>
              <a:buFontTx/>
              <a:buNone/>
            </a:pPr>
            <a:r>
              <a:rPr altLang="en-US" b="1" sz="2600" lang="en-US">
                <a:solidFill>
                  <a:srgbClr val="800000"/>
                </a:solidFill>
                <a:latin typeface="Comic Sans MS" pitchFamily="66" charset="0"/>
              </a:rPr>
              <a:t>Q18</a:t>
            </a:r>
            <a:r>
              <a:rPr altLang="en-US" b="1" sz="2600" lang="en-US">
                <a:solidFill>
                  <a:srgbClr val="000000"/>
                </a:solidFill>
                <a:latin typeface="Comic Sans MS" pitchFamily="66" charset="0"/>
              </a:rPr>
              <a:t>. </a:t>
            </a:r>
            <a:r>
              <a:rPr altLang="en-US" sz="2600" lang="en-US">
                <a:solidFill>
                  <a:srgbClr val="000000"/>
                </a:solidFill>
                <a:latin typeface="Comic Sans MS" pitchFamily="66" charset="0"/>
              </a:rPr>
              <a:t>In February 2008, Paula King invested an additional $10,000 in her business, King’s Pharmacy, which is organized as a proprietorship. King’s accountant, Lance Jones, recorded this receipt as an increase in cash and revenues. Is this treatment appropriate? Why or why not?</a:t>
            </a:r>
          </a:p>
          <a:p>
            <a:pPr algn="l" lvl="0">
              <a:lnSpc>
                <a:spcPct val="130000"/>
              </a:lnSpc>
              <a:spcBef>
                <a:spcPct val="70000"/>
              </a:spcBef>
              <a:buSzPct val="80000"/>
              <a:buFontTx/>
              <a:buNone/>
            </a:pPr>
            <a:endParaRPr altLang="en-US" sz="1600" lang="en-US">
              <a:solidFill>
                <a:srgbClr val="000000"/>
              </a:solidFill>
              <a:latin typeface="Comic Sans MS" pitchFamily="66" charset="0"/>
            </a:endParaRPr>
          </a:p>
          <a:p>
            <a:pPr algn="l" lvl="0">
              <a:lnSpc>
                <a:spcPct val="130000"/>
              </a:lnSpc>
              <a:spcBef>
                <a:spcPct val="70000"/>
              </a:spcBef>
              <a:buSzPct val="80000"/>
              <a:buFontTx/>
              <a:buNone/>
            </a:pPr>
            <a:r>
              <a:rPr altLang="en-US" sz="2000" lang="en-US">
                <a:solidFill>
                  <a:srgbClr val="000000"/>
                </a:solidFill>
                <a:latin typeface="Comic Sans MS" pitchFamily="66" charset="0"/>
              </a:rPr>
              <a:t>See notes page for discussion</a:t>
            </a:r>
          </a:p>
        </p:txBody>
      </p:sp>
      <p:sp>
        <p:nvSpPr>
          <p:cNvPr id="104883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a:t>
            </a:r>
          </a:p>
        </p:txBody>
      </p:sp>
      <p:sp>
        <p:nvSpPr>
          <p:cNvPr id="1048834"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Tree>
  </p:cSld>
  <p:clrMapOvr>
    <a:masterClrMapping/>
  </p:clrMapOvr>
  <p:transition spd="fast" advClick="1">
    <p:wipe dir="r"/>
  </p:transition>
</p:sld>
</file>

<file path=ppt/slides/slide30.xml><?xml version="1.0" encoding="utf-8"?>
<p:sld xmlns:a="http://schemas.openxmlformats.org/drawingml/2006/main" xmlns:r="http://schemas.openxmlformats.org/officeDocument/2006/relationships" xmlns:p="http://schemas.openxmlformats.org/presentationml/2006/main" showMasterSp="1">
  <p:cSld>
    <p:spTree>
      <p:nvGrpSpPr>
        <p:cNvPr id="133" name=""/>
        <p:cNvGrpSpPr/>
        <p:nvPr/>
      </p:nvGrpSpPr>
      <p:grpSpPr>
        <a:xfrm rot="0">
          <a:off x="0" y="0"/>
          <a:ext cx="0" cy="0"/>
          <a:chOff x="0" y="0"/>
          <a:chExt cx="0" cy="0"/>
        </a:xfrm>
      </p:grpSpPr>
      <p:sp>
        <p:nvSpPr>
          <p:cNvPr id="1048837" name=""/>
          <p:cNvSpPr txBox="1"/>
          <p:nvPr/>
        </p:nvSpPr>
        <p:spPr>
          <a:xfrm rot="0">
            <a:off x="533400" y="1295400"/>
            <a:ext cx="8229600" cy="11874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990000"/>
                </a:solidFill>
                <a:effectLst>
                  <a:outerShdw algn="tl" blurRad="38100" dir="2700000" dist="38100">
                    <a:srgbClr val="C0C0C0"/>
                  </a:outerShdw>
                </a:effectLst>
                <a:latin typeface="Comic Sans MS" pitchFamily="66" charset="0"/>
              </a:rPr>
              <a:t>P1-1A:</a:t>
            </a:r>
            <a:r>
              <a:rPr altLang="en-US" b="1" sz="1800" lang="en-US">
                <a:latin typeface="Comic Sans MS" pitchFamily="66" charset="0"/>
              </a:rPr>
              <a:t> </a:t>
            </a:r>
            <a:r>
              <a:rPr altLang="en-US" lang="en-US">
                <a:solidFill>
                  <a:schemeClr val="dk2"/>
                </a:solidFill>
                <a:latin typeface="Comic Sans MS" pitchFamily="66" charset="0"/>
              </a:rPr>
              <a:t>Barone’s Repair Shop was started on May 1 by Nancy.  Prepare a tabular analysis of the following transactions for the month of May.</a:t>
            </a:r>
          </a:p>
        </p:txBody>
      </p:sp>
      <p:sp>
        <p:nvSpPr>
          <p:cNvPr id="104883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8839" name=""/>
          <p:cNvSpPr txBox="1"/>
          <p:nvPr/>
        </p:nvSpPr>
        <p:spPr>
          <a:xfrm rot="0">
            <a:off x="533400" y="4384675"/>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840" name=""/>
          <p:cNvSpPr txBox="1"/>
          <p:nvPr/>
        </p:nvSpPr>
        <p:spPr>
          <a:xfrm rot="0">
            <a:off x="228600" y="4384675"/>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8841" name=""/>
          <p:cNvSpPr txBox="1"/>
          <p:nvPr/>
        </p:nvSpPr>
        <p:spPr>
          <a:xfrm rot="0">
            <a:off x="6400800" y="4384675"/>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842" name=""/>
          <p:cNvSpPr txBox="1"/>
          <p:nvPr/>
        </p:nvSpPr>
        <p:spPr>
          <a:xfrm rot="0">
            <a:off x="533400" y="3983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8843" name=""/>
          <p:cNvSpPr txBox="1"/>
          <p:nvPr/>
        </p:nvSpPr>
        <p:spPr>
          <a:xfrm rot="0">
            <a:off x="1828800" y="3646487"/>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8844" name=""/>
          <p:cNvSpPr txBox="1"/>
          <p:nvPr/>
        </p:nvSpPr>
        <p:spPr>
          <a:xfrm rot="0">
            <a:off x="3429000" y="3983037"/>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8845" name=""/>
          <p:cNvSpPr txBox="1"/>
          <p:nvPr/>
        </p:nvSpPr>
        <p:spPr>
          <a:xfrm rot="0">
            <a:off x="4800600" y="3646487"/>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8846" name=""/>
          <p:cNvSpPr txBox="1"/>
          <p:nvPr/>
        </p:nvSpPr>
        <p:spPr>
          <a:xfrm rot="0">
            <a:off x="6248400" y="3646487"/>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8847" name=""/>
          <p:cNvSpPr/>
          <p:nvPr/>
        </p:nvSpPr>
        <p:spPr>
          <a:xfrm rot="0">
            <a:off x="1905000" y="4287837"/>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48" name=""/>
          <p:cNvSpPr/>
          <p:nvPr/>
        </p:nvSpPr>
        <p:spPr>
          <a:xfrm rot="0">
            <a:off x="533400" y="4287837"/>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49" name=""/>
          <p:cNvSpPr/>
          <p:nvPr/>
        </p:nvSpPr>
        <p:spPr>
          <a:xfrm rot="0">
            <a:off x="3505200" y="4287837"/>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50" name=""/>
          <p:cNvSpPr/>
          <p:nvPr/>
        </p:nvSpPr>
        <p:spPr>
          <a:xfrm rot="0">
            <a:off x="4953000" y="4287837"/>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51" name=""/>
          <p:cNvSpPr/>
          <p:nvPr/>
        </p:nvSpPr>
        <p:spPr>
          <a:xfrm rot="0">
            <a:off x="6411912" y="4287837"/>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52"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8853" name=""/>
          <p:cNvSpPr txBox="1"/>
          <p:nvPr/>
        </p:nvSpPr>
        <p:spPr>
          <a:xfrm rot="0">
            <a:off x="1600200" y="3951287"/>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54" name=""/>
          <p:cNvSpPr txBox="1"/>
          <p:nvPr/>
        </p:nvSpPr>
        <p:spPr>
          <a:xfrm rot="0">
            <a:off x="3124200" y="3951287"/>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55" name=""/>
          <p:cNvSpPr txBox="1"/>
          <p:nvPr/>
        </p:nvSpPr>
        <p:spPr>
          <a:xfrm rot="0">
            <a:off x="4648200" y="3951287"/>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56" name=""/>
          <p:cNvSpPr txBox="1"/>
          <p:nvPr/>
        </p:nvSpPr>
        <p:spPr>
          <a:xfrm rot="0">
            <a:off x="6096000" y="3951287"/>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57" name=""/>
          <p:cNvSpPr txBox="1"/>
          <p:nvPr/>
        </p:nvSpPr>
        <p:spPr>
          <a:xfrm rot="0">
            <a:off x="533400" y="2667000"/>
            <a:ext cx="8229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1.  Invested $10,000 cash to start the repair shop.</a:t>
            </a:r>
          </a:p>
        </p:txBody>
      </p:sp>
      <p:sp>
        <p:nvSpPr>
          <p:cNvPr id="1048858" name=""/>
          <p:cNvSpPr txBox="1"/>
          <p:nvPr/>
        </p:nvSpPr>
        <p:spPr>
          <a:xfrm rot="0">
            <a:off x="7620000" y="4373562"/>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8859" name=""/>
          <p:cNvSpPr/>
          <p:nvPr/>
        </p:nvSpPr>
        <p:spPr>
          <a:xfrm rot="0">
            <a:off x="6400800" y="3641725"/>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60" name=""/>
          <p:cNvSpPr/>
          <p:nvPr/>
        </p:nvSpPr>
        <p:spPr>
          <a:xfrm rot="0">
            <a:off x="4953000" y="3643312"/>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61" name=""/>
          <p:cNvSpPr/>
          <p:nvPr/>
        </p:nvSpPr>
        <p:spPr>
          <a:xfrm rot="0">
            <a:off x="533400" y="3643312"/>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62" name=""/>
          <p:cNvSpPr txBox="1"/>
          <p:nvPr/>
        </p:nvSpPr>
        <p:spPr>
          <a:xfrm rot="0">
            <a:off x="1981200" y="33591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8863" name=""/>
          <p:cNvSpPr txBox="1"/>
          <p:nvPr/>
        </p:nvSpPr>
        <p:spPr>
          <a:xfrm rot="0">
            <a:off x="4800600" y="3276600"/>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8864" name=""/>
          <p:cNvSpPr txBox="1"/>
          <p:nvPr/>
        </p:nvSpPr>
        <p:spPr>
          <a:xfrm rot="0">
            <a:off x="6248400" y="3276600"/>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839"/>
                                        </p:tgtEl>
                                        <p:attrNameLst>
                                          <p:attrName>style.visibility</p:attrName>
                                        </p:attrNameLst>
                                      </p:cBhvr>
                                      <p:to>
                                        <p:strVal val="visible"/>
                                      </p:to>
                                    </p:set>
                                    <p:animEffect transition="in" filter="wipe(left)">
                                      <p:cBhvr>
                                        <p:cTn dur="500" id="7"/>
                                        <p:tgtEl>
                                          <p:spTgt spid="104883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841"/>
                                        </p:tgtEl>
                                        <p:attrNameLst>
                                          <p:attrName>style.visibility</p:attrName>
                                        </p:attrNameLst>
                                      </p:cBhvr>
                                      <p:to>
                                        <p:strVal val="visible"/>
                                      </p:to>
                                    </p:set>
                                    <p:animEffect transition="in" filter="wipe(left)">
                                      <p:cBhvr>
                                        <p:cTn dur="500" id="12"/>
                                        <p:tgtEl>
                                          <p:spTgt spid="1048841"/>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8858"/>
                                        </p:tgtEl>
                                        <p:attrNameLst>
                                          <p:attrName>style.visibility</p:attrName>
                                        </p:attrNameLst>
                                      </p:cBhvr>
                                      <p:to>
                                        <p:strVal val="visible"/>
                                      </p:to>
                                    </p:set>
                                    <p:animEffect transition="in" filter="wipe(left)">
                                      <p:cBhvr>
                                        <p:cTn dur="500" id="17"/>
                                        <p:tgtEl>
                                          <p:spTgt spid="1048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39" grpId="0" uiExpand="0" build="whole"/>
      <p:bldP spid="1048841" grpId="0" uiExpand="0" build="whole"/>
      <p:bldP spid="1048858" grpId="0" uiExpand="0" build="whole"/>
    </p:bldLst>
  </p:timing>
</p:sld>
</file>

<file path=ppt/slides/slide31.xml><?xml version="1.0" encoding="utf-8"?>
<p:sld xmlns:a="http://schemas.openxmlformats.org/drawingml/2006/main" xmlns:r="http://schemas.openxmlformats.org/officeDocument/2006/relationships" xmlns:p="http://schemas.openxmlformats.org/presentationml/2006/main" showMasterSp="1">
  <p:cSld>
    <p:spTree>
      <p:nvGrpSpPr>
        <p:cNvPr id="136" name=""/>
        <p:cNvGrpSpPr/>
        <p:nvPr/>
      </p:nvGrpSpPr>
      <p:grpSpPr>
        <a:xfrm rot="0">
          <a:off x="0" y="0"/>
          <a:ext cx="0" cy="0"/>
          <a:chOff x="0" y="0"/>
          <a:chExt cx="0" cy="0"/>
        </a:xfrm>
      </p:grpSpPr>
      <p:sp>
        <p:nvSpPr>
          <p:cNvPr id="104886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8868"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869"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8870"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871"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8872"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8873"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8874"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8875"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8876"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77"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78"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79"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80"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81"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8882" name=""/>
          <p:cNvSpPr txBox="1"/>
          <p:nvPr/>
        </p:nvSpPr>
        <p:spPr>
          <a:xfrm rot="0">
            <a:off x="533400" y="1143000"/>
            <a:ext cx="8229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2. Purchased equipment for $5,000 cash.</a:t>
            </a:r>
          </a:p>
        </p:txBody>
      </p:sp>
      <p:sp>
        <p:nvSpPr>
          <p:cNvPr id="1048883"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884"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8885"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886"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87"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88"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89"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890"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8891"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92"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93"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894"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8895"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8896"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883"/>
                                        </p:tgtEl>
                                        <p:attrNameLst>
                                          <p:attrName>style.visibility</p:attrName>
                                        </p:attrNameLst>
                                      </p:cBhvr>
                                      <p:to>
                                        <p:strVal val="visible"/>
                                      </p:to>
                                    </p:set>
                                    <p:animEffect transition="in" filter="wipe(left)">
                                      <p:cBhvr>
                                        <p:cTn dur="500" id="7"/>
                                        <p:tgtEl>
                                          <p:spTgt spid="1048883"/>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885"/>
                                        </p:tgtEl>
                                        <p:attrNameLst>
                                          <p:attrName>style.visibility</p:attrName>
                                        </p:attrNameLst>
                                      </p:cBhvr>
                                      <p:to>
                                        <p:strVal val="visible"/>
                                      </p:to>
                                    </p:set>
                                    <p:animEffect transition="in" filter="wipe(left)">
                                      <p:cBhvr>
                                        <p:cTn dur="500" id="12"/>
                                        <p:tgtEl>
                                          <p:spTgt spid="1048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83" grpId="0" uiExpand="0" build="whole"/>
      <p:bldP spid="1048885" grpId="0" uiExpand="0" build="whole"/>
    </p:bldLst>
  </p:timing>
</p:sld>
</file>

<file path=ppt/slides/slide32.xml><?xml version="1.0" encoding="utf-8"?>
<p:sld xmlns:a="http://schemas.openxmlformats.org/drawingml/2006/main" xmlns:r="http://schemas.openxmlformats.org/officeDocument/2006/relationships" xmlns:p="http://schemas.openxmlformats.org/presentationml/2006/main" showMasterSp="1">
  <p:cSld>
    <p:spTree>
      <p:nvGrpSpPr>
        <p:cNvPr id="137" name=""/>
        <p:cNvGrpSpPr/>
        <p:nvPr/>
      </p:nvGrpSpPr>
      <p:grpSpPr>
        <a:xfrm rot="0">
          <a:off x="0" y="0"/>
          <a:ext cx="0" cy="0"/>
          <a:chOff x="0" y="0"/>
          <a:chExt cx="0" cy="0"/>
        </a:xfrm>
      </p:grpSpPr>
      <p:sp>
        <p:nvSpPr>
          <p:cNvPr id="104889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8898"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899"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8900"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901"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8902"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8903"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8904"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8905"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06"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07"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08"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09"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10"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8911" name=""/>
          <p:cNvSpPr txBox="1"/>
          <p:nvPr/>
        </p:nvSpPr>
        <p:spPr>
          <a:xfrm rot="0">
            <a:off x="533400" y="1143000"/>
            <a:ext cx="8229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3. Paid $400 cash for May office rent.</a:t>
            </a:r>
          </a:p>
        </p:txBody>
      </p:sp>
      <p:sp>
        <p:nvSpPr>
          <p:cNvPr id="1048912"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913"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8914"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915"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16"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17"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18"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19" name=""/>
          <p:cNvSpPr txBox="1"/>
          <p:nvPr/>
        </p:nvSpPr>
        <p:spPr>
          <a:xfrm rot="0">
            <a:off x="533400" y="34290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8920" name=""/>
          <p:cNvSpPr txBox="1"/>
          <p:nvPr/>
        </p:nvSpPr>
        <p:spPr>
          <a:xfrm rot="0">
            <a:off x="228600" y="34290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3.</a:t>
            </a:r>
          </a:p>
        </p:txBody>
      </p:sp>
      <p:sp>
        <p:nvSpPr>
          <p:cNvPr id="1048921" name=""/>
          <p:cNvSpPr txBox="1"/>
          <p:nvPr/>
        </p:nvSpPr>
        <p:spPr>
          <a:xfrm rot="0">
            <a:off x="5715000" y="34290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8922" name=""/>
          <p:cNvSpPr txBox="1"/>
          <p:nvPr/>
        </p:nvSpPr>
        <p:spPr>
          <a:xfrm rot="0">
            <a:off x="7620000" y="3436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8923"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8924"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8925"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26"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27"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28"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8929"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8930"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919"/>
                                        </p:tgtEl>
                                        <p:attrNameLst>
                                          <p:attrName>style.visibility</p:attrName>
                                        </p:attrNameLst>
                                      </p:cBhvr>
                                      <p:to>
                                        <p:strVal val="visible"/>
                                      </p:to>
                                    </p:set>
                                    <p:animEffect transition="in" filter="wipe(left)">
                                      <p:cBhvr>
                                        <p:cTn dur="500" id="7"/>
                                        <p:tgtEl>
                                          <p:spTgt spid="104891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921"/>
                                        </p:tgtEl>
                                        <p:attrNameLst>
                                          <p:attrName>style.visibility</p:attrName>
                                        </p:attrNameLst>
                                      </p:cBhvr>
                                      <p:to>
                                        <p:strVal val="visible"/>
                                      </p:to>
                                    </p:set>
                                    <p:animEffect transition="in" filter="wipe(left)">
                                      <p:cBhvr>
                                        <p:cTn dur="500" id="12"/>
                                        <p:tgtEl>
                                          <p:spTgt spid="1048921"/>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8922"/>
                                        </p:tgtEl>
                                        <p:attrNameLst>
                                          <p:attrName>style.visibility</p:attrName>
                                        </p:attrNameLst>
                                      </p:cBhvr>
                                      <p:to>
                                        <p:strVal val="visible"/>
                                      </p:to>
                                    </p:set>
                                    <p:animEffect transition="in" filter="wipe(left)">
                                      <p:cBhvr>
                                        <p:cTn dur="500" id="17"/>
                                        <p:tgtEl>
                                          <p:spTgt spid="1048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19" grpId="0" uiExpand="0" build="whole"/>
      <p:bldP spid="1048921" grpId="0" uiExpand="0" build="whole"/>
      <p:bldP spid="1048922" grpId="0" uiExpand="0" build="whole"/>
    </p:bldLst>
  </p:timing>
</p:sld>
</file>

<file path=ppt/slides/slide33.xml><?xml version="1.0" encoding="utf-8"?>
<p:sld xmlns:a="http://schemas.openxmlformats.org/drawingml/2006/main" xmlns:r="http://schemas.openxmlformats.org/officeDocument/2006/relationships" xmlns:p="http://schemas.openxmlformats.org/presentationml/2006/main" showMasterSp="1">
  <p:cSld>
    <p:spTree>
      <p:nvGrpSpPr>
        <p:cNvPr id="138" name=""/>
        <p:cNvGrpSpPr/>
        <p:nvPr/>
      </p:nvGrpSpPr>
      <p:grpSpPr>
        <a:xfrm rot="0">
          <a:off x="0" y="0"/>
          <a:ext cx="0" cy="0"/>
          <a:chOff x="0" y="0"/>
          <a:chExt cx="0" cy="0"/>
        </a:xfrm>
      </p:grpSpPr>
      <p:sp>
        <p:nvSpPr>
          <p:cNvPr id="104893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8932"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933"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8934"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935"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8936"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8937"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8938"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8939"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40"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41"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42"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43"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44"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8945" name=""/>
          <p:cNvSpPr txBox="1"/>
          <p:nvPr/>
        </p:nvSpPr>
        <p:spPr>
          <a:xfrm rot="0">
            <a:off x="533400" y="1143000"/>
            <a:ext cx="84582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4. Received $5,100 from customers for repair service.</a:t>
            </a:r>
          </a:p>
        </p:txBody>
      </p:sp>
      <p:sp>
        <p:nvSpPr>
          <p:cNvPr id="1048946"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947"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8948"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949"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50"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51"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52"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53" name=""/>
          <p:cNvSpPr txBox="1"/>
          <p:nvPr/>
        </p:nvSpPr>
        <p:spPr>
          <a:xfrm rot="0">
            <a:off x="533400" y="34290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8954" name=""/>
          <p:cNvSpPr txBox="1"/>
          <p:nvPr/>
        </p:nvSpPr>
        <p:spPr>
          <a:xfrm rot="0">
            <a:off x="228600" y="34290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3.</a:t>
            </a:r>
          </a:p>
        </p:txBody>
      </p:sp>
      <p:sp>
        <p:nvSpPr>
          <p:cNvPr id="1048955" name=""/>
          <p:cNvSpPr txBox="1"/>
          <p:nvPr/>
        </p:nvSpPr>
        <p:spPr>
          <a:xfrm rot="0">
            <a:off x="5715000" y="34290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8956" name=""/>
          <p:cNvSpPr txBox="1"/>
          <p:nvPr/>
        </p:nvSpPr>
        <p:spPr>
          <a:xfrm rot="0">
            <a:off x="7620000" y="3436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8957" name=""/>
          <p:cNvSpPr txBox="1"/>
          <p:nvPr/>
        </p:nvSpPr>
        <p:spPr>
          <a:xfrm rot="0">
            <a:off x="533400" y="37671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8958" name=""/>
          <p:cNvSpPr txBox="1"/>
          <p:nvPr/>
        </p:nvSpPr>
        <p:spPr>
          <a:xfrm rot="0">
            <a:off x="228600" y="37671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4.</a:t>
            </a:r>
          </a:p>
        </p:txBody>
      </p:sp>
      <p:sp>
        <p:nvSpPr>
          <p:cNvPr id="1048959" name=""/>
          <p:cNvSpPr txBox="1"/>
          <p:nvPr/>
        </p:nvSpPr>
        <p:spPr>
          <a:xfrm rot="0">
            <a:off x="5715000" y="37671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8960" name=""/>
          <p:cNvSpPr txBox="1"/>
          <p:nvPr/>
        </p:nvSpPr>
        <p:spPr>
          <a:xfrm rot="0">
            <a:off x="7620000" y="37750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8961"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8962"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8963"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64"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65"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66"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8967"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8968"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957"/>
                                        </p:tgtEl>
                                        <p:attrNameLst>
                                          <p:attrName>style.visibility</p:attrName>
                                        </p:attrNameLst>
                                      </p:cBhvr>
                                      <p:to>
                                        <p:strVal val="visible"/>
                                      </p:to>
                                    </p:set>
                                    <p:animEffect transition="in" filter="wipe(left)">
                                      <p:cBhvr>
                                        <p:cTn dur="500" id="7"/>
                                        <p:tgtEl>
                                          <p:spTgt spid="1048957"/>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959"/>
                                        </p:tgtEl>
                                        <p:attrNameLst>
                                          <p:attrName>style.visibility</p:attrName>
                                        </p:attrNameLst>
                                      </p:cBhvr>
                                      <p:to>
                                        <p:strVal val="visible"/>
                                      </p:to>
                                    </p:set>
                                    <p:animEffect transition="in" filter="wipe(left)">
                                      <p:cBhvr>
                                        <p:cTn dur="500" id="12"/>
                                        <p:tgtEl>
                                          <p:spTgt spid="1048959"/>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8960"/>
                                        </p:tgtEl>
                                        <p:attrNameLst>
                                          <p:attrName>style.visibility</p:attrName>
                                        </p:attrNameLst>
                                      </p:cBhvr>
                                      <p:to>
                                        <p:strVal val="visible"/>
                                      </p:to>
                                    </p:set>
                                    <p:animEffect transition="in" filter="wipe(left)">
                                      <p:cBhvr>
                                        <p:cTn dur="500" id="17"/>
                                        <p:tgtEl>
                                          <p:spTgt spid="1048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57" grpId="0" uiExpand="0" build="whole"/>
      <p:bldP spid="1048959" grpId="0" uiExpand="0" build="whole"/>
      <p:bldP spid="1048960" grpId="0" uiExpand="0" build="whole"/>
    </p:bldLst>
  </p:timing>
</p:sld>
</file>

<file path=ppt/slides/slide34.xml><?xml version="1.0" encoding="utf-8"?>
<p:sld xmlns:a="http://schemas.openxmlformats.org/drawingml/2006/main" xmlns:r="http://schemas.openxmlformats.org/officeDocument/2006/relationships" xmlns:p="http://schemas.openxmlformats.org/presentationml/2006/main" showMasterSp="1">
  <p:cSld>
    <p:spTree>
      <p:nvGrpSpPr>
        <p:cNvPr id="139" name=""/>
        <p:cNvGrpSpPr/>
        <p:nvPr/>
      </p:nvGrpSpPr>
      <p:grpSpPr>
        <a:xfrm rot="0">
          <a:off x="0" y="0"/>
          <a:ext cx="0" cy="0"/>
          <a:chOff x="0" y="0"/>
          <a:chExt cx="0" cy="0"/>
        </a:xfrm>
      </p:grpSpPr>
      <p:sp>
        <p:nvSpPr>
          <p:cNvPr id="1048969"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8970"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971"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8972"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8973"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8974"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8975"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8976"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8977"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78"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79"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80"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81"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8982"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8983" name=""/>
          <p:cNvSpPr txBox="1"/>
          <p:nvPr/>
        </p:nvSpPr>
        <p:spPr>
          <a:xfrm rot="0">
            <a:off x="533400" y="1143000"/>
            <a:ext cx="8229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5. Withdrew $1,000 cash for personal use.</a:t>
            </a:r>
          </a:p>
        </p:txBody>
      </p:sp>
      <p:sp>
        <p:nvSpPr>
          <p:cNvPr id="1048984"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985"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8986"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8987"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88"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89"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90"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8991" name=""/>
          <p:cNvSpPr txBox="1"/>
          <p:nvPr/>
        </p:nvSpPr>
        <p:spPr>
          <a:xfrm rot="0">
            <a:off x="533400" y="34290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8992" name=""/>
          <p:cNvSpPr txBox="1"/>
          <p:nvPr/>
        </p:nvSpPr>
        <p:spPr>
          <a:xfrm rot="0">
            <a:off x="228600" y="34290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3.</a:t>
            </a:r>
          </a:p>
        </p:txBody>
      </p:sp>
      <p:sp>
        <p:nvSpPr>
          <p:cNvPr id="1048993" name=""/>
          <p:cNvSpPr txBox="1"/>
          <p:nvPr/>
        </p:nvSpPr>
        <p:spPr>
          <a:xfrm rot="0">
            <a:off x="5715000" y="34290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8994" name=""/>
          <p:cNvSpPr txBox="1"/>
          <p:nvPr/>
        </p:nvSpPr>
        <p:spPr>
          <a:xfrm rot="0">
            <a:off x="7620000" y="3436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8995" name=""/>
          <p:cNvSpPr txBox="1"/>
          <p:nvPr/>
        </p:nvSpPr>
        <p:spPr>
          <a:xfrm rot="0">
            <a:off x="533400" y="37671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8996" name=""/>
          <p:cNvSpPr txBox="1"/>
          <p:nvPr/>
        </p:nvSpPr>
        <p:spPr>
          <a:xfrm rot="0">
            <a:off x="228600" y="37671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4.</a:t>
            </a:r>
          </a:p>
        </p:txBody>
      </p:sp>
      <p:sp>
        <p:nvSpPr>
          <p:cNvPr id="1048997" name=""/>
          <p:cNvSpPr txBox="1"/>
          <p:nvPr/>
        </p:nvSpPr>
        <p:spPr>
          <a:xfrm rot="0">
            <a:off x="5715000" y="37671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8998" name=""/>
          <p:cNvSpPr txBox="1"/>
          <p:nvPr/>
        </p:nvSpPr>
        <p:spPr>
          <a:xfrm rot="0">
            <a:off x="7620000" y="37750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8999" name=""/>
          <p:cNvSpPr txBox="1"/>
          <p:nvPr/>
        </p:nvSpPr>
        <p:spPr>
          <a:xfrm rot="0">
            <a:off x="533400" y="41148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000" name=""/>
          <p:cNvSpPr txBox="1"/>
          <p:nvPr/>
        </p:nvSpPr>
        <p:spPr>
          <a:xfrm rot="0">
            <a:off x="228600" y="41148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5.</a:t>
            </a:r>
          </a:p>
        </p:txBody>
      </p:sp>
      <p:sp>
        <p:nvSpPr>
          <p:cNvPr id="1049001" name=""/>
          <p:cNvSpPr txBox="1"/>
          <p:nvPr/>
        </p:nvSpPr>
        <p:spPr>
          <a:xfrm rot="0">
            <a:off x="5715000" y="41148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002" name=""/>
          <p:cNvSpPr txBox="1"/>
          <p:nvPr/>
        </p:nvSpPr>
        <p:spPr>
          <a:xfrm rot="0">
            <a:off x="7620000" y="41227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Drawings</a:t>
            </a:r>
          </a:p>
        </p:txBody>
      </p:sp>
      <p:sp>
        <p:nvSpPr>
          <p:cNvPr id="1049003"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9004"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9005"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06"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07"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08"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9009"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9010"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999"/>
                                        </p:tgtEl>
                                        <p:attrNameLst>
                                          <p:attrName>style.visibility</p:attrName>
                                        </p:attrNameLst>
                                      </p:cBhvr>
                                      <p:to>
                                        <p:strVal val="visible"/>
                                      </p:to>
                                    </p:set>
                                    <p:animEffect transition="in" filter="wipe(left)">
                                      <p:cBhvr>
                                        <p:cTn dur="500" id="7"/>
                                        <p:tgtEl>
                                          <p:spTgt spid="104899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9001"/>
                                        </p:tgtEl>
                                        <p:attrNameLst>
                                          <p:attrName>style.visibility</p:attrName>
                                        </p:attrNameLst>
                                      </p:cBhvr>
                                      <p:to>
                                        <p:strVal val="visible"/>
                                      </p:to>
                                    </p:set>
                                    <p:animEffect transition="in" filter="wipe(left)">
                                      <p:cBhvr>
                                        <p:cTn dur="500" id="12"/>
                                        <p:tgtEl>
                                          <p:spTgt spid="1049001"/>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9002"/>
                                        </p:tgtEl>
                                        <p:attrNameLst>
                                          <p:attrName>style.visibility</p:attrName>
                                        </p:attrNameLst>
                                      </p:cBhvr>
                                      <p:to>
                                        <p:strVal val="visible"/>
                                      </p:to>
                                    </p:set>
                                    <p:animEffect transition="in" filter="wipe(left)">
                                      <p:cBhvr>
                                        <p:cTn dur="500" id="17"/>
                                        <p:tgtEl>
                                          <p:spTgt spid="1049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99" grpId="0" uiExpand="0" build="whole"/>
      <p:bldP spid="1049001" grpId="0" uiExpand="0" build="whole"/>
      <p:bldP spid="1049002" grpId="0" uiExpand="0" build="whole"/>
    </p:bldLst>
  </p:timing>
</p:sld>
</file>

<file path=ppt/slides/slide35.xml><?xml version="1.0" encoding="utf-8"?>
<p:sld xmlns:a="http://schemas.openxmlformats.org/drawingml/2006/main" xmlns:r="http://schemas.openxmlformats.org/officeDocument/2006/relationships" xmlns:p="http://schemas.openxmlformats.org/presentationml/2006/main" showMasterSp="1">
  <p:cSld>
    <p:spTree>
      <p:nvGrpSpPr>
        <p:cNvPr id="140" name=""/>
        <p:cNvGrpSpPr/>
        <p:nvPr/>
      </p:nvGrpSpPr>
      <p:grpSpPr>
        <a:xfrm rot="0">
          <a:off x="0" y="0"/>
          <a:ext cx="0" cy="0"/>
          <a:chOff x="0" y="0"/>
          <a:chExt cx="0" cy="0"/>
        </a:xfrm>
      </p:grpSpPr>
      <p:sp>
        <p:nvSpPr>
          <p:cNvPr id="104901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9012"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013"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9014"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015"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9016"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9017"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9018"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9019"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20"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21"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22"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23"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24"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9025" name=""/>
          <p:cNvSpPr txBox="1"/>
          <p:nvPr/>
        </p:nvSpPr>
        <p:spPr>
          <a:xfrm rot="0">
            <a:off x="533400" y="1143000"/>
            <a:ext cx="8229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6.  Paid part-time employee salaries of $2,000.</a:t>
            </a:r>
          </a:p>
        </p:txBody>
      </p:sp>
      <p:sp>
        <p:nvSpPr>
          <p:cNvPr id="1049026"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027"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9028"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029"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30"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31"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32"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33" name=""/>
          <p:cNvSpPr txBox="1"/>
          <p:nvPr/>
        </p:nvSpPr>
        <p:spPr>
          <a:xfrm rot="0">
            <a:off x="533400" y="34290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034" name=""/>
          <p:cNvSpPr txBox="1"/>
          <p:nvPr/>
        </p:nvSpPr>
        <p:spPr>
          <a:xfrm rot="0">
            <a:off x="228600" y="34290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3.</a:t>
            </a:r>
          </a:p>
        </p:txBody>
      </p:sp>
      <p:sp>
        <p:nvSpPr>
          <p:cNvPr id="1049035" name=""/>
          <p:cNvSpPr txBox="1"/>
          <p:nvPr/>
        </p:nvSpPr>
        <p:spPr>
          <a:xfrm rot="0">
            <a:off x="5715000" y="34290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036" name=""/>
          <p:cNvSpPr txBox="1"/>
          <p:nvPr/>
        </p:nvSpPr>
        <p:spPr>
          <a:xfrm rot="0">
            <a:off x="7620000" y="3436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037" name=""/>
          <p:cNvSpPr txBox="1"/>
          <p:nvPr/>
        </p:nvSpPr>
        <p:spPr>
          <a:xfrm rot="0">
            <a:off x="533400" y="37671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038" name=""/>
          <p:cNvSpPr txBox="1"/>
          <p:nvPr/>
        </p:nvSpPr>
        <p:spPr>
          <a:xfrm rot="0">
            <a:off x="228600" y="37671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4.</a:t>
            </a:r>
          </a:p>
        </p:txBody>
      </p:sp>
      <p:sp>
        <p:nvSpPr>
          <p:cNvPr id="1049039" name=""/>
          <p:cNvSpPr txBox="1"/>
          <p:nvPr/>
        </p:nvSpPr>
        <p:spPr>
          <a:xfrm rot="0">
            <a:off x="5715000" y="37671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040" name=""/>
          <p:cNvSpPr txBox="1"/>
          <p:nvPr/>
        </p:nvSpPr>
        <p:spPr>
          <a:xfrm rot="0">
            <a:off x="7620000" y="37750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9041" name=""/>
          <p:cNvSpPr txBox="1"/>
          <p:nvPr/>
        </p:nvSpPr>
        <p:spPr>
          <a:xfrm rot="0">
            <a:off x="533400" y="41148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042" name=""/>
          <p:cNvSpPr txBox="1"/>
          <p:nvPr/>
        </p:nvSpPr>
        <p:spPr>
          <a:xfrm rot="0">
            <a:off x="228600" y="41148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5.</a:t>
            </a:r>
          </a:p>
        </p:txBody>
      </p:sp>
      <p:sp>
        <p:nvSpPr>
          <p:cNvPr id="1049043" name=""/>
          <p:cNvSpPr txBox="1"/>
          <p:nvPr/>
        </p:nvSpPr>
        <p:spPr>
          <a:xfrm rot="0">
            <a:off x="5715000" y="41148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044" name=""/>
          <p:cNvSpPr txBox="1"/>
          <p:nvPr/>
        </p:nvSpPr>
        <p:spPr>
          <a:xfrm rot="0">
            <a:off x="7620000" y="41227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Drawings</a:t>
            </a:r>
          </a:p>
        </p:txBody>
      </p:sp>
      <p:sp>
        <p:nvSpPr>
          <p:cNvPr id="1049045" name=""/>
          <p:cNvSpPr txBox="1"/>
          <p:nvPr/>
        </p:nvSpPr>
        <p:spPr>
          <a:xfrm rot="0">
            <a:off x="533400" y="44529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046" name=""/>
          <p:cNvSpPr txBox="1"/>
          <p:nvPr/>
        </p:nvSpPr>
        <p:spPr>
          <a:xfrm rot="0">
            <a:off x="228600" y="44529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6.</a:t>
            </a:r>
          </a:p>
        </p:txBody>
      </p:sp>
      <p:sp>
        <p:nvSpPr>
          <p:cNvPr id="1049047" name=""/>
          <p:cNvSpPr txBox="1"/>
          <p:nvPr/>
        </p:nvSpPr>
        <p:spPr>
          <a:xfrm rot="0">
            <a:off x="5715000" y="44529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048" name=""/>
          <p:cNvSpPr txBox="1"/>
          <p:nvPr/>
        </p:nvSpPr>
        <p:spPr>
          <a:xfrm rot="0">
            <a:off x="7620000" y="44608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049"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9050"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9051"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52"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53"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54"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9055"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9056"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9045"/>
                                        </p:tgtEl>
                                        <p:attrNameLst>
                                          <p:attrName>style.visibility</p:attrName>
                                        </p:attrNameLst>
                                      </p:cBhvr>
                                      <p:to>
                                        <p:strVal val="visible"/>
                                      </p:to>
                                    </p:set>
                                    <p:animEffect transition="in" filter="wipe(left)">
                                      <p:cBhvr>
                                        <p:cTn dur="500" id="7"/>
                                        <p:tgtEl>
                                          <p:spTgt spid="104904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9047"/>
                                        </p:tgtEl>
                                        <p:attrNameLst>
                                          <p:attrName>style.visibility</p:attrName>
                                        </p:attrNameLst>
                                      </p:cBhvr>
                                      <p:to>
                                        <p:strVal val="visible"/>
                                      </p:to>
                                    </p:set>
                                    <p:animEffect transition="in" filter="wipe(left)">
                                      <p:cBhvr>
                                        <p:cTn dur="500" id="12"/>
                                        <p:tgtEl>
                                          <p:spTgt spid="1049047"/>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9048"/>
                                        </p:tgtEl>
                                        <p:attrNameLst>
                                          <p:attrName>style.visibility</p:attrName>
                                        </p:attrNameLst>
                                      </p:cBhvr>
                                      <p:to>
                                        <p:strVal val="visible"/>
                                      </p:to>
                                    </p:set>
                                    <p:animEffect transition="in" filter="wipe(left)">
                                      <p:cBhvr>
                                        <p:cTn dur="500" id="17"/>
                                        <p:tgtEl>
                                          <p:spTgt spid="1049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045" grpId="0" uiExpand="0" build="whole"/>
      <p:bldP spid="1049047" grpId="0" uiExpand="0" build="whole"/>
      <p:bldP spid="1049048" grpId="0" uiExpand="0" build="whole"/>
    </p:bldLst>
  </p:timing>
</p:sld>
</file>

<file path=ppt/slides/slide36.xml><?xml version="1.0" encoding="utf-8"?>
<p:sld xmlns:a="http://schemas.openxmlformats.org/drawingml/2006/main" xmlns:r="http://schemas.openxmlformats.org/officeDocument/2006/relationships" xmlns:p="http://schemas.openxmlformats.org/presentationml/2006/main" showMasterSp="1">
  <p:cSld>
    <p:spTree>
      <p:nvGrpSpPr>
        <p:cNvPr id="141" name=""/>
        <p:cNvGrpSpPr/>
        <p:nvPr/>
      </p:nvGrpSpPr>
      <p:grpSpPr>
        <a:xfrm rot="0">
          <a:off x="0" y="0"/>
          <a:ext cx="0" cy="0"/>
          <a:chOff x="0" y="0"/>
          <a:chExt cx="0" cy="0"/>
        </a:xfrm>
      </p:grpSpPr>
      <p:sp>
        <p:nvSpPr>
          <p:cNvPr id="104905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9058"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059"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9060"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061"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9062"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9063"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9064"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9065"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66"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67"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68"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69"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070"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9071" name=""/>
          <p:cNvSpPr txBox="1"/>
          <p:nvPr/>
        </p:nvSpPr>
        <p:spPr>
          <a:xfrm rot="0">
            <a:off x="533400" y="1143000"/>
            <a:ext cx="8229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7.  Incurred $250 of advertising costs, on account.</a:t>
            </a:r>
          </a:p>
        </p:txBody>
      </p:sp>
      <p:sp>
        <p:nvSpPr>
          <p:cNvPr id="1049072"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073"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9074"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075"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76"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77"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78"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079" name=""/>
          <p:cNvSpPr txBox="1"/>
          <p:nvPr/>
        </p:nvSpPr>
        <p:spPr>
          <a:xfrm rot="0">
            <a:off x="533400" y="34290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080" name=""/>
          <p:cNvSpPr txBox="1"/>
          <p:nvPr/>
        </p:nvSpPr>
        <p:spPr>
          <a:xfrm rot="0">
            <a:off x="228600" y="34290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3.</a:t>
            </a:r>
          </a:p>
        </p:txBody>
      </p:sp>
      <p:sp>
        <p:nvSpPr>
          <p:cNvPr id="1049081" name=""/>
          <p:cNvSpPr txBox="1"/>
          <p:nvPr/>
        </p:nvSpPr>
        <p:spPr>
          <a:xfrm rot="0">
            <a:off x="5715000" y="34290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082" name=""/>
          <p:cNvSpPr txBox="1"/>
          <p:nvPr/>
        </p:nvSpPr>
        <p:spPr>
          <a:xfrm rot="0">
            <a:off x="7620000" y="3436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083" name=""/>
          <p:cNvSpPr txBox="1"/>
          <p:nvPr/>
        </p:nvSpPr>
        <p:spPr>
          <a:xfrm rot="0">
            <a:off x="533400" y="37671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084" name=""/>
          <p:cNvSpPr txBox="1"/>
          <p:nvPr/>
        </p:nvSpPr>
        <p:spPr>
          <a:xfrm rot="0">
            <a:off x="228600" y="37671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4.</a:t>
            </a:r>
          </a:p>
        </p:txBody>
      </p:sp>
      <p:sp>
        <p:nvSpPr>
          <p:cNvPr id="1049085" name=""/>
          <p:cNvSpPr txBox="1"/>
          <p:nvPr/>
        </p:nvSpPr>
        <p:spPr>
          <a:xfrm rot="0">
            <a:off x="5715000" y="37671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086" name=""/>
          <p:cNvSpPr txBox="1"/>
          <p:nvPr/>
        </p:nvSpPr>
        <p:spPr>
          <a:xfrm rot="0">
            <a:off x="7620000" y="37750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9087" name=""/>
          <p:cNvSpPr txBox="1"/>
          <p:nvPr/>
        </p:nvSpPr>
        <p:spPr>
          <a:xfrm rot="0">
            <a:off x="533400" y="41148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088" name=""/>
          <p:cNvSpPr txBox="1"/>
          <p:nvPr/>
        </p:nvSpPr>
        <p:spPr>
          <a:xfrm rot="0">
            <a:off x="228600" y="41148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5.</a:t>
            </a:r>
          </a:p>
        </p:txBody>
      </p:sp>
      <p:sp>
        <p:nvSpPr>
          <p:cNvPr id="1049089" name=""/>
          <p:cNvSpPr txBox="1"/>
          <p:nvPr/>
        </p:nvSpPr>
        <p:spPr>
          <a:xfrm rot="0">
            <a:off x="5715000" y="41148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090" name=""/>
          <p:cNvSpPr txBox="1"/>
          <p:nvPr/>
        </p:nvSpPr>
        <p:spPr>
          <a:xfrm rot="0">
            <a:off x="7620000" y="41227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Drawings</a:t>
            </a:r>
          </a:p>
        </p:txBody>
      </p:sp>
      <p:sp>
        <p:nvSpPr>
          <p:cNvPr id="1049091" name=""/>
          <p:cNvSpPr txBox="1"/>
          <p:nvPr/>
        </p:nvSpPr>
        <p:spPr>
          <a:xfrm rot="0">
            <a:off x="533400" y="44529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092" name=""/>
          <p:cNvSpPr txBox="1"/>
          <p:nvPr/>
        </p:nvSpPr>
        <p:spPr>
          <a:xfrm rot="0">
            <a:off x="228600" y="44529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6.</a:t>
            </a:r>
          </a:p>
        </p:txBody>
      </p:sp>
      <p:sp>
        <p:nvSpPr>
          <p:cNvPr id="1049093" name=""/>
          <p:cNvSpPr txBox="1"/>
          <p:nvPr/>
        </p:nvSpPr>
        <p:spPr>
          <a:xfrm rot="0">
            <a:off x="5715000" y="44529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094" name=""/>
          <p:cNvSpPr txBox="1"/>
          <p:nvPr/>
        </p:nvSpPr>
        <p:spPr>
          <a:xfrm rot="0">
            <a:off x="7620000" y="44608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095" name=""/>
          <p:cNvSpPr txBox="1"/>
          <p:nvPr/>
        </p:nvSpPr>
        <p:spPr>
          <a:xfrm rot="0">
            <a:off x="5029200" y="48006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+250</a:t>
            </a:r>
          </a:p>
        </p:txBody>
      </p:sp>
      <p:sp>
        <p:nvSpPr>
          <p:cNvPr id="1049096" name=""/>
          <p:cNvSpPr txBox="1"/>
          <p:nvPr/>
        </p:nvSpPr>
        <p:spPr>
          <a:xfrm rot="0">
            <a:off x="228600" y="48006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7.</a:t>
            </a:r>
          </a:p>
        </p:txBody>
      </p:sp>
      <p:sp>
        <p:nvSpPr>
          <p:cNvPr id="1049097" name=""/>
          <p:cNvSpPr txBox="1"/>
          <p:nvPr/>
        </p:nvSpPr>
        <p:spPr>
          <a:xfrm rot="0">
            <a:off x="5715000" y="48006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-250</a:t>
            </a:r>
          </a:p>
        </p:txBody>
      </p:sp>
      <p:sp>
        <p:nvSpPr>
          <p:cNvPr id="1049098" name=""/>
          <p:cNvSpPr txBox="1"/>
          <p:nvPr/>
        </p:nvSpPr>
        <p:spPr>
          <a:xfrm rot="0">
            <a:off x="7620000" y="48085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099"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9100"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9101"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02"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03"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04"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9105"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9106"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9095"/>
                                        </p:tgtEl>
                                        <p:attrNameLst>
                                          <p:attrName>style.visibility</p:attrName>
                                        </p:attrNameLst>
                                      </p:cBhvr>
                                      <p:to>
                                        <p:strVal val="visible"/>
                                      </p:to>
                                    </p:set>
                                    <p:animEffect transition="in" filter="wipe(left)">
                                      <p:cBhvr>
                                        <p:cTn dur="500" id="7"/>
                                        <p:tgtEl>
                                          <p:spTgt spid="104909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9097"/>
                                        </p:tgtEl>
                                        <p:attrNameLst>
                                          <p:attrName>style.visibility</p:attrName>
                                        </p:attrNameLst>
                                      </p:cBhvr>
                                      <p:to>
                                        <p:strVal val="visible"/>
                                      </p:to>
                                    </p:set>
                                    <p:animEffect transition="in" filter="wipe(left)">
                                      <p:cBhvr>
                                        <p:cTn dur="500" id="12"/>
                                        <p:tgtEl>
                                          <p:spTgt spid="1049097"/>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9098"/>
                                        </p:tgtEl>
                                        <p:attrNameLst>
                                          <p:attrName>style.visibility</p:attrName>
                                        </p:attrNameLst>
                                      </p:cBhvr>
                                      <p:to>
                                        <p:strVal val="visible"/>
                                      </p:to>
                                    </p:set>
                                    <p:animEffect transition="in" filter="wipe(left)">
                                      <p:cBhvr>
                                        <p:cTn dur="500" id="17"/>
                                        <p:tgtEl>
                                          <p:spTgt spid="1049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095" grpId="0" uiExpand="0" build="whole"/>
      <p:bldP spid="1049097" grpId="0" uiExpand="0" build="whole"/>
      <p:bldP spid="1049098" grpId="0" uiExpand="0" build="whole"/>
    </p:bldLst>
  </p:timing>
</p:sld>
</file>

<file path=ppt/slides/slide37.xml><?xml version="1.0" encoding="utf-8"?>
<p:sld xmlns:a="http://schemas.openxmlformats.org/drawingml/2006/main" xmlns:r="http://schemas.openxmlformats.org/officeDocument/2006/relationships" xmlns:p="http://schemas.openxmlformats.org/presentationml/2006/main" showMasterSp="1">
  <p:cSld>
    <p:spTree>
      <p:nvGrpSpPr>
        <p:cNvPr id="142" name=""/>
        <p:cNvGrpSpPr/>
        <p:nvPr/>
      </p:nvGrpSpPr>
      <p:grpSpPr>
        <a:xfrm rot="0">
          <a:off x="0" y="0"/>
          <a:ext cx="0" cy="0"/>
          <a:chOff x="0" y="0"/>
          <a:chExt cx="0" cy="0"/>
        </a:xfrm>
      </p:grpSpPr>
      <p:sp>
        <p:nvSpPr>
          <p:cNvPr id="104910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9108"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109"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9110"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111"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9112"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9113"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9114"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9115"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16"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17"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18"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19"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20"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9121" name=""/>
          <p:cNvSpPr txBox="1"/>
          <p:nvPr/>
        </p:nvSpPr>
        <p:spPr>
          <a:xfrm rot="0">
            <a:off x="533400" y="1143000"/>
            <a:ext cx="8610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8.  Provided $750 of repair services on account.</a:t>
            </a:r>
          </a:p>
        </p:txBody>
      </p:sp>
      <p:sp>
        <p:nvSpPr>
          <p:cNvPr id="1049122"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123"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9124"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125"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26"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27"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28"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29" name=""/>
          <p:cNvSpPr txBox="1"/>
          <p:nvPr/>
        </p:nvSpPr>
        <p:spPr>
          <a:xfrm rot="0">
            <a:off x="533400" y="34290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130" name=""/>
          <p:cNvSpPr txBox="1"/>
          <p:nvPr/>
        </p:nvSpPr>
        <p:spPr>
          <a:xfrm rot="0">
            <a:off x="228600" y="34290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3.</a:t>
            </a:r>
          </a:p>
        </p:txBody>
      </p:sp>
      <p:sp>
        <p:nvSpPr>
          <p:cNvPr id="1049131" name=""/>
          <p:cNvSpPr txBox="1"/>
          <p:nvPr/>
        </p:nvSpPr>
        <p:spPr>
          <a:xfrm rot="0">
            <a:off x="5715000" y="34290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132" name=""/>
          <p:cNvSpPr txBox="1"/>
          <p:nvPr/>
        </p:nvSpPr>
        <p:spPr>
          <a:xfrm rot="0">
            <a:off x="7620000" y="3436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133" name=""/>
          <p:cNvSpPr txBox="1"/>
          <p:nvPr/>
        </p:nvSpPr>
        <p:spPr>
          <a:xfrm rot="0">
            <a:off x="533400" y="37671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134" name=""/>
          <p:cNvSpPr txBox="1"/>
          <p:nvPr/>
        </p:nvSpPr>
        <p:spPr>
          <a:xfrm rot="0">
            <a:off x="228600" y="37671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4.</a:t>
            </a:r>
          </a:p>
        </p:txBody>
      </p:sp>
      <p:sp>
        <p:nvSpPr>
          <p:cNvPr id="1049135" name=""/>
          <p:cNvSpPr txBox="1"/>
          <p:nvPr/>
        </p:nvSpPr>
        <p:spPr>
          <a:xfrm rot="0">
            <a:off x="5715000" y="37671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136" name=""/>
          <p:cNvSpPr txBox="1"/>
          <p:nvPr/>
        </p:nvSpPr>
        <p:spPr>
          <a:xfrm rot="0">
            <a:off x="7620000" y="37750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9137" name=""/>
          <p:cNvSpPr txBox="1"/>
          <p:nvPr/>
        </p:nvSpPr>
        <p:spPr>
          <a:xfrm rot="0">
            <a:off x="533400" y="41148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138" name=""/>
          <p:cNvSpPr txBox="1"/>
          <p:nvPr/>
        </p:nvSpPr>
        <p:spPr>
          <a:xfrm rot="0">
            <a:off x="228600" y="41148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5.</a:t>
            </a:r>
          </a:p>
        </p:txBody>
      </p:sp>
      <p:sp>
        <p:nvSpPr>
          <p:cNvPr id="1049139" name=""/>
          <p:cNvSpPr txBox="1"/>
          <p:nvPr/>
        </p:nvSpPr>
        <p:spPr>
          <a:xfrm rot="0">
            <a:off x="5715000" y="41148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140" name=""/>
          <p:cNvSpPr txBox="1"/>
          <p:nvPr/>
        </p:nvSpPr>
        <p:spPr>
          <a:xfrm rot="0">
            <a:off x="7620000" y="41227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Drawings</a:t>
            </a:r>
          </a:p>
        </p:txBody>
      </p:sp>
      <p:sp>
        <p:nvSpPr>
          <p:cNvPr id="1049141" name=""/>
          <p:cNvSpPr txBox="1"/>
          <p:nvPr/>
        </p:nvSpPr>
        <p:spPr>
          <a:xfrm rot="0">
            <a:off x="533400" y="44529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142" name=""/>
          <p:cNvSpPr txBox="1"/>
          <p:nvPr/>
        </p:nvSpPr>
        <p:spPr>
          <a:xfrm rot="0">
            <a:off x="228600" y="44529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6.</a:t>
            </a:r>
          </a:p>
        </p:txBody>
      </p:sp>
      <p:sp>
        <p:nvSpPr>
          <p:cNvPr id="1049143" name=""/>
          <p:cNvSpPr txBox="1"/>
          <p:nvPr/>
        </p:nvSpPr>
        <p:spPr>
          <a:xfrm rot="0">
            <a:off x="6172200" y="4452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144" name=""/>
          <p:cNvSpPr txBox="1"/>
          <p:nvPr/>
        </p:nvSpPr>
        <p:spPr>
          <a:xfrm rot="0">
            <a:off x="7620000" y="44608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145" name=""/>
          <p:cNvSpPr txBox="1"/>
          <p:nvPr/>
        </p:nvSpPr>
        <p:spPr>
          <a:xfrm rot="0">
            <a:off x="5029200" y="48006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+250</a:t>
            </a:r>
          </a:p>
        </p:txBody>
      </p:sp>
      <p:sp>
        <p:nvSpPr>
          <p:cNvPr id="1049146" name=""/>
          <p:cNvSpPr txBox="1"/>
          <p:nvPr/>
        </p:nvSpPr>
        <p:spPr>
          <a:xfrm rot="0">
            <a:off x="228600" y="48006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7.</a:t>
            </a:r>
          </a:p>
        </p:txBody>
      </p:sp>
      <p:sp>
        <p:nvSpPr>
          <p:cNvPr id="1049147" name=""/>
          <p:cNvSpPr txBox="1"/>
          <p:nvPr/>
        </p:nvSpPr>
        <p:spPr>
          <a:xfrm rot="0">
            <a:off x="6400800" y="48006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-250</a:t>
            </a:r>
          </a:p>
        </p:txBody>
      </p:sp>
      <p:sp>
        <p:nvSpPr>
          <p:cNvPr id="1049148" name=""/>
          <p:cNvSpPr txBox="1"/>
          <p:nvPr/>
        </p:nvSpPr>
        <p:spPr>
          <a:xfrm rot="0">
            <a:off x="7620000" y="48085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149" name=""/>
          <p:cNvSpPr txBox="1"/>
          <p:nvPr/>
        </p:nvSpPr>
        <p:spPr>
          <a:xfrm rot="0">
            <a:off x="2057400" y="51387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+750</a:t>
            </a:r>
          </a:p>
        </p:txBody>
      </p:sp>
      <p:sp>
        <p:nvSpPr>
          <p:cNvPr id="1049150" name=""/>
          <p:cNvSpPr txBox="1"/>
          <p:nvPr/>
        </p:nvSpPr>
        <p:spPr>
          <a:xfrm rot="0">
            <a:off x="228600" y="51387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8.</a:t>
            </a:r>
          </a:p>
        </p:txBody>
      </p:sp>
      <p:sp>
        <p:nvSpPr>
          <p:cNvPr id="1049151" name=""/>
          <p:cNvSpPr txBox="1"/>
          <p:nvPr/>
        </p:nvSpPr>
        <p:spPr>
          <a:xfrm rot="0">
            <a:off x="6400800" y="51387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+750</a:t>
            </a:r>
          </a:p>
        </p:txBody>
      </p:sp>
      <p:sp>
        <p:nvSpPr>
          <p:cNvPr id="1049152" name=""/>
          <p:cNvSpPr txBox="1"/>
          <p:nvPr/>
        </p:nvSpPr>
        <p:spPr>
          <a:xfrm rot="0">
            <a:off x="7620000" y="51466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9153"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9154"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9155"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56"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57"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58"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9159"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9160"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9149"/>
                                        </p:tgtEl>
                                        <p:attrNameLst>
                                          <p:attrName>style.visibility</p:attrName>
                                        </p:attrNameLst>
                                      </p:cBhvr>
                                      <p:to>
                                        <p:strVal val="visible"/>
                                      </p:to>
                                    </p:set>
                                    <p:animEffect transition="in" filter="wipe(left)">
                                      <p:cBhvr>
                                        <p:cTn dur="500" id="7"/>
                                        <p:tgtEl>
                                          <p:spTgt spid="104914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9151"/>
                                        </p:tgtEl>
                                        <p:attrNameLst>
                                          <p:attrName>style.visibility</p:attrName>
                                        </p:attrNameLst>
                                      </p:cBhvr>
                                      <p:to>
                                        <p:strVal val="visible"/>
                                      </p:to>
                                    </p:set>
                                    <p:animEffect transition="in" filter="wipe(left)">
                                      <p:cBhvr>
                                        <p:cTn dur="500" id="12"/>
                                        <p:tgtEl>
                                          <p:spTgt spid="1049151"/>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9152"/>
                                        </p:tgtEl>
                                        <p:attrNameLst>
                                          <p:attrName>style.visibility</p:attrName>
                                        </p:attrNameLst>
                                      </p:cBhvr>
                                      <p:to>
                                        <p:strVal val="visible"/>
                                      </p:to>
                                    </p:set>
                                    <p:animEffect transition="in" filter="wipe(left)">
                                      <p:cBhvr>
                                        <p:cTn dur="500" id="17"/>
                                        <p:tgtEl>
                                          <p:spTgt spid="1049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149" grpId="0" uiExpand="0" build="whole"/>
      <p:bldP spid="1049151" grpId="0" uiExpand="0" build="whole"/>
      <p:bldP spid="1049152" grpId="0" uiExpand="0" build="whole"/>
    </p:bldLst>
  </p:timing>
</p:sld>
</file>

<file path=ppt/slides/slide38.xml><?xml version="1.0" encoding="utf-8"?>
<p:sld xmlns:a="http://schemas.openxmlformats.org/drawingml/2006/main" xmlns:r="http://schemas.openxmlformats.org/officeDocument/2006/relationships" xmlns:p="http://schemas.openxmlformats.org/presentationml/2006/main" showMasterSp="1">
  <p:cSld>
    <p:spTree>
      <p:nvGrpSpPr>
        <p:cNvPr id="143" name=""/>
        <p:cNvGrpSpPr/>
        <p:nvPr/>
      </p:nvGrpSpPr>
      <p:grpSpPr>
        <a:xfrm rot="0">
          <a:off x="0" y="0"/>
          <a:ext cx="0" cy="0"/>
          <a:chOff x="0" y="0"/>
          <a:chExt cx="0" cy="0"/>
        </a:xfrm>
      </p:grpSpPr>
      <p:sp>
        <p:nvSpPr>
          <p:cNvPr id="104916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Transactions (Problem)</a:t>
            </a:r>
          </a:p>
        </p:txBody>
      </p:sp>
      <p:sp>
        <p:nvSpPr>
          <p:cNvPr id="1049162" name=""/>
          <p:cNvSpPr txBox="1"/>
          <p:nvPr/>
        </p:nvSpPr>
        <p:spPr>
          <a:xfrm rot="0">
            <a:off x="5334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163" name=""/>
          <p:cNvSpPr txBox="1"/>
          <p:nvPr/>
        </p:nvSpPr>
        <p:spPr>
          <a:xfrm rot="0">
            <a:off x="228600" y="273208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1.</a:t>
            </a:r>
          </a:p>
        </p:txBody>
      </p:sp>
      <p:sp>
        <p:nvSpPr>
          <p:cNvPr id="1049164" name=""/>
          <p:cNvSpPr txBox="1"/>
          <p:nvPr/>
        </p:nvSpPr>
        <p:spPr>
          <a:xfrm rot="0">
            <a:off x="6400800" y="273208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+10,000</a:t>
            </a:r>
          </a:p>
        </p:txBody>
      </p:sp>
      <p:sp>
        <p:nvSpPr>
          <p:cNvPr id="1049165" name=""/>
          <p:cNvSpPr txBox="1"/>
          <p:nvPr/>
        </p:nvSpPr>
        <p:spPr>
          <a:xfrm rot="0">
            <a:off x="533400" y="2330450"/>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Cash</a:t>
            </a:r>
          </a:p>
        </p:txBody>
      </p:sp>
      <p:sp>
        <p:nvSpPr>
          <p:cNvPr id="1049166" name=""/>
          <p:cNvSpPr txBox="1"/>
          <p:nvPr/>
        </p:nvSpPr>
        <p:spPr>
          <a:xfrm rot="0">
            <a:off x="18288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Receivable</a:t>
            </a:r>
          </a:p>
        </p:txBody>
      </p:sp>
      <p:sp>
        <p:nvSpPr>
          <p:cNvPr id="1049167" name=""/>
          <p:cNvSpPr txBox="1"/>
          <p:nvPr/>
        </p:nvSpPr>
        <p:spPr>
          <a:xfrm rot="0">
            <a:off x="3429000" y="2330450"/>
            <a:ext cx="12954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Equipment</a:t>
            </a:r>
          </a:p>
        </p:txBody>
      </p:sp>
      <p:sp>
        <p:nvSpPr>
          <p:cNvPr id="1049168" name=""/>
          <p:cNvSpPr txBox="1"/>
          <p:nvPr/>
        </p:nvSpPr>
        <p:spPr>
          <a:xfrm rot="0">
            <a:off x="48006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Accounts Payable</a:t>
            </a:r>
          </a:p>
        </p:txBody>
      </p:sp>
      <p:sp>
        <p:nvSpPr>
          <p:cNvPr id="1049169" name=""/>
          <p:cNvSpPr/>
          <p:nvPr/>
        </p:nvSpPr>
        <p:spPr>
          <a:xfrm rot="0">
            <a:off x="1905000" y="263525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70" name=""/>
          <p:cNvSpPr/>
          <p:nvPr/>
        </p:nvSpPr>
        <p:spPr>
          <a:xfrm rot="0">
            <a:off x="533400"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71" name=""/>
          <p:cNvSpPr/>
          <p:nvPr/>
        </p:nvSpPr>
        <p:spPr>
          <a:xfrm rot="0">
            <a:off x="35052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72" name=""/>
          <p:cNvSpPr/>
          <p:nvPr/>
        </p:nvSpPr>
        <p:spPr>
          <a:xfrm rot="0">
            <a:off x="4953000" y="263525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73" name=""/>
          <p:cNvSpPr/>
          <p:nvPr/>
        </p:nvSpPr>
        <p:spPr>
          <a:xfrm rot="0">
            <a:off x="6411912" y="263525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174" name=""/>
          <p:cNvSpPr txBox="1"/>
          <p:nvPr/>
        </p:nvSpPr>
        <p:spPr>
          <a:xfrm rot="0">
            <a:off x="3581400" y="6248400"/>
            <a:ext cx="5486400" cy="58102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690562" lvl="0" marL="690562">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7 	Analyze the effects of business transactions on the accounting equation.</a:t>
            </a:r>
          </a:p>
        </p:txBody>
      </p:sp>
      <p:sp>
        <p:nvSpPr>
          <p:cNvPr id="1049175" name=""/>
          <p:cNvSpPr txBox="1"/>
          <p:nvPr/>
        </p:nvSpPr>
        <p:spPr>
          <a:xfrm rot="0">
            <a:off x="533400" y="1143000"/>
            <a:ext cx="8610600" cy="457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b="1" lang="en-US">
                <a:solidFill>
                  <a:srgbClr val="800000"/>
                </a:solidFill>
                <a:latin typeface="Comic Sans MS" pitchFamily="66" charset="0"/>
              </a:rPr>
              <a:t>9.  Collected $120 cash for services previously billed.</a:t>
            </a:r>
          </a:p>
        </p:txBody>
      </p:sp>
      <p:sp>
        <p:nvSpPr>
          <p:cNvPr id="1049176" name=""/>
          <p:cNvSpPr txBox="1"/>
          <p:nvPr/>
        </p:nvSpPr>
        <p:spPr>
          <a:xfrm rot="0">
            <a:off x="533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177" name=""/>
          <p:cNvSpPr txBox="1"/>
          <p:nvPr/>
        </p:nvSpPr>
        <p:spPr>
          <a:xfrm rot="0">
            <a:off x="228600" y="30813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2.</a:t>
            </a:r>
          </a:p>
        </p:txBody>
      </p:sp>
      <p:sp>
        <p:nvSpPr>
          <p:cNvPr id="1049178" name=""/>
          <p:cNvSpPr txBox="1"/>
          <p:nvPr/>
        </p:nvSpPr>
        <p:spPr>
          <a:xfrm rot="0">
            <a:off x="3581400" y="30813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+5,000</a:t>
            </a:r>
          </a:p>
        </p:txBody>
      </p:sp>
      <p:sp>
        <p:nvSpPr>
          <p:cNvPr id="1049179" name=""/>
          <p:cNvSpPr txBox="1"/>
          <p:nvPr/>
        </p:nvSpPr>
        <p:spPr>
          <a:xfrm rot="0">
            <a:off x="1600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80" name=""/>
          <p:cNvSpPr txBox="1"/>
          <p:nvPr/>
        </p:nvSpPr>
        <p:spPr>
          <a:xfrm rot="0">
            <a:off x="3124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81" name=""/>
          <p:cNvSpPr txBox="1"/>
          <p:nvPr/>
        </p:nvSpPr>
        <p:spPr>
          <a:xfrm rot="0">
            <a:off x="46482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82" name=""/>
          <p:cNvSpPr txBox="1"/>
          <p:nvPr/>
        </p:nvSpPr>
        <p:spPr>
          <a:xfrm rot="0">
            <a:off x="6096000" y="2298700"/>
            <a:ext cx="3810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90000"/>
              </a:lnSpc>
            </a:pPr>
            <a:r>
              <a:rPr altLang="en-US" sz="2000" lang="en-US">
                <a:latin typeface="Comic Sans MS" pitchFamily="66" charset="0"/>
              </a:rPr>
              <a:t>+</a:t>
            </a:r>
          </a:p>
        </p:txBody>
      </p:sp>
      <p:sp>
        <p:nvSpPr>
          <p:cNvPr id="1049183" name=""/>
          <p:cNvSpPr txBox="1"/>
          <p:nvPr/>
        </p:nvSpPr>
        <p:spPr>
          <a:xfrm rot="0">
            <a:off x="533400" y="34290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184" name=""/>
          <p:cNvSpPr txBox="1"/>
          <p:nvPr/>
        </p:nvSpPr>
        <p:spPr>
          <a:xfrm rot="0">
            <a:off x="228600" y="34290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3.</a:t>
            </a:r>
          </a:p>
        </p:txBody>
      </p:sp>
      <p:sp>
        <p:nvSpPr>
          <p:cNvPr id="1049185" name=""/>
          <p:cNvSpPr txBox="1"/>
          <p:nvPr/>
        </p:nvSpPr>
        <p:spPr>
          <a:xfrm rot="0">
            <a:off x="5715000" y="34290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-400</a:t>
            </a:r>
          </a:p>
        </p:txBody>
      </p:sp>
      <p:sp>
        <p:nvSpPr>
          <p:cNvPr id="1049186" name=""/>
          <p:cNvSpPr txBox="1"/>
          <p:nvPr/>
        </p:nvSpPr>
        <p:spPr>
          <a:xfrm rot="0">
            <a:off x="7620000" y="3436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187" name=""/>
          <p:cNvSpPr txBox="1"/>
          <p:nvPr/>
        </p:nvSpPr>
        <p:spPr>
          <a:xfrm rot="0">
            <a:off x="533400" y="37671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188" name=""/>
          <p:cNvSpPr txBox="1"/>
          <p:nvPr/>
        </p:nvSpPr>
        <p:spPr>
          <a:xfrm rot="0">
            <a:off x="228600" y="37671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4.</a:t>
            </a:r>
          </a:p>
        </p:txBody>
      </p:sp>
      <p:sp>
        <p:nvSpPr>
          <p:cNvPr id="1049189" name=""/>
          <p:cNvSpPr txBox="1"/>
          <p:nvPr/>
        </p:nvSpPr>
        <p:spPr>
          <a:xfrm rot="0">
            <a:off x="5715000" y="3767137"/>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+5,100</a:t>
            </a:r>
          </a:p>
        </p:txBody>
      </p:sp>
      <p:sp>
        <p:nvSpPr>
          <p:cNvPr id="1049190" name=""/>
          <p:cNvSpPr txBox="1"/>
          <p:nvPr/>
        </p:nvSpPr>
        <p:spPr>
          <a:xfrm rot="0">
            <a:off x="7620000" y="37750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9191" name=""/>
          <p:cNvSpPr txBox="1"/>
          <p:nvPr/>
        </p:nvSpPr>
        <p:spPr>
          <a:xfrm rot="0">
            <a:off x="533400" y="41148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192" name=""/>
          <p:cNvSpPr txBox="1"/>
          <p:nvPr/>
        </p:nvSpPr>
        <p:spPr>
          <a:xfrm rot="0">
            <a:off x="228600" y="41148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5.</a:t>
            </a:r>
          </a:p>
        </p:txBody>
      </p:sp>
      <p:sp>
        <p:nvSpPr>
          <p:cNvPr id="1049193" name=""/>
          <p:cNvSpPr txBox="1"/>
          <p:nvPr/>
        </p:nvSpPr>
        <p:spPr>
          <a:xfrm rot="0">
            <a:off x="5715000" y="4114800"/>
            <a:ext cx="17526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-1,000</a:t>
            </a:r>
          </a:p>
        </p:txBody>
      </p:sp>
      <p:sp>
        <p:nvSpPr>
          <p:cNvPr id="1049194" name=""/>
          <p:cNvSpPr txBox="1"/>
          <p:nvPr/>
        </p:nvSpPr>
        <p:spPr>
          <a:xfrm rot="0">
            <a:off x="7620000" y="41227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Drawings</a:t>
            </a:r>
          </a:p>
        </p:txBody>
      </p:sp>
      <p:sp>
        <p:nvSpPr>
          <p:cNvPr id="1049195" name=""/>
          <p:cNvSpPr txBox="1"/>
          <p:nvPr/>
        </p:nvSpPr>
        <p:spPr>
          <a:xfrm rot="0">
            <a:off x="533400" y="44529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196" name=""/>
          <p:cNvSpPr txBox="1"/>
          <p:nvPr/>
        </p:nvSpPr>
        <p:spPr>
          <a:xfrm rot="0">
            <a:off x="228600" y="44529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6.</a:t>
            </a:r>
          </a:p>
        </p:txBody>
      </p:sp>
      <p:sp>
        <p:nvSpPr>
          <p:cNvPr id="1049197" name=""/>
          <p:cNvSpPr txBox="1"/>
          <p:nvPr/>
        </p:nvSpPr>
        <p:spPr>
          <a:xfrm rot="0">
            <a:off x="6172200" y="44529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-2,000</a:t>
            </a:r>
          </a:p>
        </p:txBody>
      </p:sp>
      <p:sp>
        <p:nvSpPr>
          <p:cNvPr id="1049198" name=""/>
          <p:cNvSpPr txBox="1"/>
          <p:nvPr/>
        </p:nvSpPr>
        <p:spPr>
          <a:xfrm rot="0">
            <a:off x="7620000" y="44608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199" name=""/>
          <p:cNvSpPr txBox="1"/>
          <p:nvPr/>
        </p:nvSpPr>
        <p:spPr>
          <a:xfrm rot="0">
            <a:off x="5029200" y="48006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+250</a:t>
            </a:r>
          </a:p>
        </p:txBody>
      </p:sp>
      <p:sp>
        <p:nvSpPr>
          <p:cNvPr id="1049200" name=""/>
          <p:cNvSpPr txBox="1"/>
          <p:nvPr/>
        </p:nvSpPr>
        <p:spPr>
          <a:xfrm rot="0">
            <a:off x="228600" y="48006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7.</a:t>
            </a:r>
          </a:p>
        </p:txBody>
      </p:sp>
      <p:sp>
        <p:nvSpPr>
          <p:cNvPr id="1049201" name=""/>
          <p:cNvSpPr txBox="1"/>
          <p:nvPr/>
        </p:nvSpPr>
        <p:spPr>
          <a:xfrm rot="0">
            <a:off x="6400800" y="48006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-250</a:t>
            </a:r>
          </a:p>
        </p:txBody>
      </p:sp>
      <p:sp>
        <p:nvSpPr>
          <p:cNvPr id="1049202" name=""/>
          <p:cNvSpPr txBox="1"/>
          <p:nvPr/>
        </p:nvSpPr>
        <p:spPr>
          <a:xfrm rot="0">
            <a:off x="7620000" y="4808537"/>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Expense</a:t>
            </a:r>
          </a:p>
        </p:txBody>
      </p:sp>
      <p:sp>
        <p:nvSpPr>
          <p:cNvPr id="1049203" name=""/>
          <p:cNvSpPr txBox="1"/>
          <p:nvPr/>
        </p:nvSpPr>
        <p:spPr>
          <a:xfrm rot="0">
            <a:off x="2057400" y="51387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+750</a:t>
            </a:r>
          </a:p>
        </p:txBody>
      </p:sp>
      <p:sp>
        <p:nvSpPr>
          <p:cNvPr id="1049204" name=""/>
          <p:cNvSpPr txBox="1"/>
          <p:nvPr/>
        </p:nvSpPr>
        <p:spPr>
          <a:xfrm rot="0">
            <a:off x="228600" y="5138737"/>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8.</a:t>
            </a:r>
          </a:p>
        </p:txBody>
      </p:sp>
      <p:sp>
        <p:nvSpPr>
          <p:cNvPr id="1049205" name=""/>
          <p:cNvSpPr txBox="1"/>
          <p:nvPr/>
        </p:nvSpPr>
        <p:spPr>
          <a:xfrm rot="0">
            <a:off x="6400800" y="5138737"/>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+750</a:t>
            </a:r>
          </a:p>
        </p:txBody>
      </p:sp>
      <p:sp>
        <p:nvSpPr>
          <p:cNvPr id="1049206" name=""/>
          <p:cNvSpPr txBox="1"/>
          <p:nvPr/>
        </p:nvSpPr>
        <p:spPr>
          <a:xfrm rot="0">
            <a:off x="7620000" y="5146675"/>
            <a:ext cx="12954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Revenue</a:t>
            </a:r>
          </a:p>
        </p:txBody>
      </p:sp>
      <p:sp>
        <p:nvSpPr>
          <p:cNvPr id="1049207" name=""/>
          <p:cNvSpPr txBox="1"/>
          <p:nvPr/>
        </p:nvSpPr>
        <p:spPr>
          <a:xfrm rot="0">
            <a:off x="533400" y="54864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+120</a:t>
            </a:r>
          </a:p>
        </p:txBody>
      </p:sp>
      <p:sp>
        <p:nvSpPr>
          <p:cNvPr id="1049208" name=""/>
          <p:cNvSpPr txBox="1"/>
          <p:nvPr/>
        </p:nvSpPr>
        <p:spPr>
          <a:xfrm rot="0">
            <a:off x="228600" y="5486400"/>
            <a:ext cx="4572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800000"/>
                </a:solidFill>
                <a:latin typeface="Comic Sans MS" pitchFamily="66" charset="0"/>
              </a:rPr>
              <a:t>9.</a:t>
            </a:r>
          </a:p>
        </p:txBody>
      </p:sp>
      <p:sp>
        <p:nvSpPr>
          <p:cNvPr id="1049209" name=""/>
          <p:cNvSpPr txBox="1"/>
          <p:nvPr/>
        </p:nvSpPr>
        <p:spPr>
          <a:xfrm rot="0">
            <a:off x="2057400" y="5486400"/>
            <a:ext cx="10668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lvl="0">
              <a:lnSpc>
                <a:spcPct val="90000"/>
              </a:lnSpc>
            </a:pPr>
            <a:r>
              <a:rPr altLang="en-US" sz="1800" lang="en-US">
                <a:latin typeface="Comic Sans MS" pitchFamily="66" charset="0"/>
              </a:rPr>
              <a:t>-120</a:t>
            </a:r>
          </a:p>
        </p:txBody>
      </p:sp>
      <p:sp>
        <p:nvSpPr>
          <p:cNvPr id="1049210" name=""/>
          <p:cNvSpPr txBox="1"/>
          <p:nvPr/>
        </p:nvSpPr>
        <p:spPr>
          <a:xfrm rot="0">
            <a:off x="6248400" y="1993900"/>
            <a:ext cx="1447800" cy="641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Barone, Capital</a:t>
            </a:r>
          </a:p>
        </p:txBody>
      </p:sp>
      <p:sp>
        <p:nvSpPr>
          <p:cNvPr id="1049211" name=""/>
          <p:cNvSpPr/>
          <p:nvPr/>
        </p:nvSpPr>
        <p:spPr>
          <a:xfrm rot="0">
            <a:off x="1905000" y="579120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12" name=""/>
          <p:cNvSpPr/>
          <p:nvPr/>
        </p:nvSpPr>
        <p:spPr>
          <a:xfrm rot="0">
            <a:off x="533400" y="579120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13" name=""/>
          <p:cNvSpPr/>
          <p:nvPr/>
        </p:nvSpPr>
        <p:spPr>
          <a:xfrm rot="0">
            <a:off x="3505200" y="579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14" name=""/>
          <p:cNvSpPr/>
          <p:nvPr/>
        </p:nvSpPr>
        <p:spPr>
          <a:xfrm rot="0">
            <a:off x="4953000" y="579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15" name=""/>
          <p:cNvSpPr/>
          <p:nvPr/>
        </p:nvSpPr>
        <p:spPr>
          <a:xfrm rot="0">
            <a:off x="6411912" y="579120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16" name=""/>
          <p:cNvSpPr txBox="1"/>
          <p:nvPr/>
        </p:nvSpPr>
        <p:spPr>
          <a:xfrm rot="0">
            <a:off x="7620000" y="2743200"/>
            <a:ext cx="1524000" cy="3397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pPr>
            <a:r>
              <a:rPr altLang="en-US" b="1" sz="1800" lang="en-US">
                <a:solidFill>
                  <a:srgbClr val="000066"/>
                </a:solidFill>
                <a:latin typeface="Comic Sans MS" pitchFamily="66" charset="0"/>
              </a:rPr>
              <a:t>Investment</a:t>
            </a:r>
          </a:p>
        </p:txBody>
      </p:sp>
      <p:sp>
        <p:nvSpPr>
          <p:cNvPr id="1049217" name=""/>
          <p:cNvSpPr/>
          <p:nvPr/>
        </p:nvSpPr>
        <p:spPr>
          <a:xfrm rot="0">
            <a:off x="6400800" y="1979612"/>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18" name=""/>
          <p:cNvSpPr/>
          <p:nvPr/>
        </p:nvSpPr>
        <p:spPr>
          <a:xfrm rot="0">
            <a:off x="4953000" y="1981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19" name=""/>
          <p:cNvSpPr/>
          <p:nvPr/>
        </p:nvSpPr>
        <p:spPr>
          <a:xfrm rot="0">
            <a:off x="533400" y="1981200"/>
            <a:ext cx="4089400" cy="1587"/>
          </a:xfrm>
          <a:custGeom>
            <a:avLst/>
            <a:gdLst>
              <a:gd name="l" fmla="*/ 0 w 2576"/>
              <a:gd name="t" fmla="*/ 0 h 1"/>
              <a:gd name="r" fmla="*/ 2576 w 2576"/>
              <a:gd name="b" fmla="*/ 1 h 1"/>
            </a:gdLst>
            <a:ahLst/>
            <a:rect l="l" t="t" r="r" b="b"/>
            <a:pathLst>
              <a:path w="2576" h="1">
                <a:moveTo>
                  <a:pt x="0" y="0"/>
                </a:moveTo>
                <a:lnTo>
                  <a:pt x="2576"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20" name=""/>
          <p:cNvSpPr txBox="1"/>
          <p:nvPr/>
        </p:nvSpPr>
        <p:spPr>
          <a:xfrm rot="0">
            <a:off x="1981200" y="1697037"/>
            <a:ext cx="1066800" cy="2841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lnSpc>
                <a:spcPct val="70000"/>
              </a:lnSpc>
            </a:pPr>
            <a:r>
              <a:rPr altLang="en-US" sz="1800" lang="en-US">
                <a:latin typeface="Comic Sans MS" pitchFamily="66" charset="0"/>
              </a:rPr>
              <a:t>Assets</a:t>
            </a:r>
          </a:p>
        </p:txBody>
      </p:sp>
      <p:sp>
        <p:nvSpPr>
          <p:cNvPr id="1049221" name=""/>
          <p:cNvSpPr txBox="1"/>
          <p:nvPr/>
        </p:nvSpPr>
        <p:spPr>
          <a:xfrm rot="0">
            <a:off x="48006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Liabilities</a:t>
            </a:r>
          </a:p>
        </p:txBody>
      </p:sp>
      <p:sp>
        <p:nvSpPr>
          <p:cNvPr id="1049222" name=""/>
          <p:cNvSpPr txBox="1"/>
          <p:nvPr/>
        </p:nvSpPr>
        <p:spPr>
          <a:xfrm rot="0">
            <a:off x="6248400" y="1614487"/>
            <a:ext cx="1447800" cy="366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sz="1800" lang="en-US">
                <a:latin typeface="Comic Sans MS" pitchFamily="66" charset="0"/>
              </a:rPr>
              <a:t>Equity</a:t>
            </a:r>
          </a:p>
        </p:txBody>
      </p:sp>
      <p:sp>
        <p:nvSpPr>
          <p:cNvPr id="1049223" name=""/>
          <p:cNvSpPr txBox="1"/>
          <p:nvPr/>
        </p:nvSpPr>
        <p:spPr>
          <a:xfrm rot="0">
            <a:off x="533400" y="5805487"/>
            <a:ext cx="6934200" cy="366712"/>
          </a:xfrm>
          <a:prstGeom prst="rect"/>
          <a:solidFill>
            <a:srgbClr val="FFFF00"/>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tabLst>
                <a:tab algn="r" pos="808037"/>
                <a:tab algn="r" pos="1203325"/>
                <a:tab algn="r" pos="2408237"/>
                <a:tab algn="r" pos="2743200"/>
                <a:tab algn="r" pos="3946525"/>
                <a:tab algn="r" pos="4283075"/>
                <a:tab algn="r" pos="5380037"/>
                <a:tab algn="r" pos="5715000"/>
                <a:tab algn="r" pos="6751637"/>
              </a:tabLst>
            </a:pPr>
            <a:r>
              <a:rPr altLang="en-US" sz="1800" lang="en-US">
                <a:latin typeface="Comic Sans MS" pitchFamily="66" charset="0"/>
              </a:rPr>
              <a:t>    	6,820   	</a:t>
            </a:r>
            <a:r>
              <a:rPr altLang="en-US" b="1" sz="1800" lang="en-US">
                <a:latin typeface="Comic Sans MS" pitchFamily="66" charset="0"/>
              </a:rPr>
              <a:t>+</a:t>
            </a:r>
            <a:r>
              <a:rPr altLang="en-US" sz="1800" lang="en-US">
                <a:latin typeface="Comic Sans MS" pitchFamily="66" charset="0"/>
              </a:rPr>
              <a:t> </a:t>
            </a:r>
            <a:r>
              <a:rPr altLang="en-US" b="1" sz="1800" lang="en-US">
                <a:latin typeface="Comic Sans MS" pitchFamily="66" charset="0"/>
              </a:rPr>
              <a:t>       	</a:t>
            </a:r>
            <a:r>
              <a:rPr altLang="en-US" sz="1800" lang="en-US">
                <a:latin typeface="Comic Sans MS" pitchFamily="66" charset="0"/>
              </a:rPr>
              <a:t>630   	</a:t>
            </a:r>
            <a:r>
              <a:rPr altLang="en-US" b="1" sz="1800" lang="en-US">
                <a:latin typeface="Comic Sans MS" pitchFamily="66" charset="0"/>
              </a:rPr>
              <a:t>+</a:t>
            </a:r>
            <a:r>
              <a:rPr altLang="en-US" sz="1800" lang="en-US">
                <a:latin typeface="Comic Sans MS" pitchFamily="66" charset="0"/>
              </a:rPr>
              <a:t>        	5,000   	</a:t>
            </a:r>
            <a:r>
              <a:rPr altLang="en-US" b="1" sz="2000" lang="en-US">
                <a:latin typeface="Comic Sans MS" pitchFamily="66" charset="0"/>
              </a:rPr>
              <a:t>=</a:t>
            </a:r>
            <a:r>
              <a:rPr altLang="en-US" sz="1800" lang="en-US">
                <a:latin typeface="Comic Sans MS" pitchFamily="66" charset="0"/>
              </a:rPr>
              <a:t>          	250   	</a:t>
            </a:r>
            <a:r>
              <a:rPr altLang="en-US" b="1" sz="1800" lang="en-US">
                <a:latin typeface="Comic Sans MS" pitchFamily="66" charset="0"/>
              </a:rPr>
              <a:t>+</a:t>
            </a:r>
            <a:r>
              <a:rPr altLang="en-US" sz="1800" lang="en-US">
                <a:latin typeface="Comic Sans MS" pitchFamily="66" charset="0"/>
              </a:rPr>
              <a:t>   	12,200</a:t>
            </a:r>
          </a:p>
        </p:txBody>
      </p:sp>
      <p:sp>
        <p:nvSpPr>
          <p:cNvPr id="1049224" name=""/>
          <p:cNvSpPr/>
          <p:nvPr/>
        </p:nvSpPr>
        <p:spPr>
          <a:xfrm rot="0">
            <a:off x="533400" y="617220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25" name=""/>
          <p:cNvSpPr/>
          <p:nvPr/>
        </p:nvSpPr>
        <p:spPr>
          <a:xfrm rot="0">
            <a:off x="1905000" y="6172200"/>
            <a:ext cx="12954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26" name=""/>
          <p:cNvSpPr/>
          <p:nvPr/>
        </p:nvSpPr>
        <p:spPr>
          <a:xfrm rot="0">
            <a:off x="3505200" y="6172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27" name=""/>
          <p:cNvSpPr/>
          <p:nvPr/>
        </p:nvSpPr>
        <p:spPr>
          <a:xfrm rot="0">
            <a:off x="4953000" y="6172200"/>
            <a:ext cx="1143000" cy="76200"/>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28" name=""/>
          <p:cNvSpPr/>
          <p:nvPr/>
        </p:nvSpPr>
        <p:spPr>
          <a:xfrm rot="0">
            <a:off x="6411912" y="6172200"/>
            <a:ext cx="1055687" cy="1587"/>
          </a:xfrm>
          <a:custGeom>
            <a:avLst/>
            <a:gdLst>
              <a:gd name="l" fmla="*/ 0 w 665"/>
              <a:gd name="t" fmla="*/ 0 h 1"/>
              <a:gd name="r" fmla="*/ 665 w 665"/>
              <a:gd name="b" fmla="*/ 1 h 1"/>
            </a:gdLst>
            <a:ahLst/>
            <a:rect l="l" t="t" r="r" b="b"/>
            <a:pathLst>
              <a:path w="665" h="1">
                <a:moveTo>
                  <a:pt x="0" y="0"/>
                </a:moveTo>
                <a:lnTo>
                  <a:pt x="665" y="0"/>
                </a:lnTo>
              </a:path>
            </a:pathLst>
          </a:custGeom>
          <a:noFill/>
          <a:ln w="28575" cap="sq"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9207"/>
                                        </p:tgtEl>
                                        <p:attrNameLst>
                                          <p:attrName>style.visibility</p:attrName>
                                        </p:attrNameLst>
                                      </p:cBhvr>
                                      <p:to>
                                        <p:strVal val="visible"/>
                                      </p:to>
                                    </p:set>
                                    <p:animEffect transition="in" filter="wipe(left)">
                                      <p:cBhvr>
                                        <p:cTn dur="500" id="7"/>
                                        <p:tgtEl>
                                          <p:spTgt spid="1049207"/>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9209"/>
                                        </p:tgtEl>
                                        <p:attrNameLst>
                                          <p:attrName>style.visibility</p:attrName>
                                        </p:attrNameLst>
                                      </p:cBhvr>
                                      <p:to>
                                        <p:strVal val="visible"/>
                                      </p:to>
                                    </p:set>
                                    <p:animEffect transition="in" filter="wipe(left)">
                                      <p:cBhvr>
                                        <p:cTn dur="500" id="12"/>
                                        <p:tgtEl>
                                          <p:spTgt spid="1049209"/>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2" presetSubtype="8">
                                  <p:stCondLst>
                                    <p:cond delay="0"/>
                                  </p:stCondLst>
                                  <p:childTnLst>
                                    <p:set>
                                      <p:cBhvr>
                                        <p:cTn dur="1" fill="hold" id="16">
                                          <p:stCondLst>
                                            <p:cond delay="0"/>
                                          </p:stCondLst>
                                        </p:cTn>
                                        <p:tgtEl>
                                          <p:spTgt spid="1049223"/>
                                        </p:tgtEl>
                                        <p:attrNameLst>
                                          <p:attrName>style.visibility</p:attrName>
                                        </p:attrNameLst>
                                      </p:cBhvr>
                                      <p:to>
                                        <p:strVal val="visible"/>
                                      </p:to>
                                    </p:set>
                                    <p:animEffect transition="in" filter="wipe(left)">
                                      <p:cBhvr>
                                        <p:cTn dur="500" id="17"/>
                                        <p:tgtEl>
                                          <p:spTgt spid="104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07" grpId="0" uiExpand="0" build="whole"/>
      <p:bldP spid="1049209" grpId="0" uiExpand="0" build="whole"/>
      <p:bldP spid="1049223" grpId="0" uiExpand="0" build="whole"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1">
  <p:cSld>
    <p:spTree>
      <p:nvGrpSpPr>
        <p:cNvPr id="144" name=""/>
        <p:cNvGrpSpPr/>
        <p:nvPr/>
      </p:nvGrpSpPr>
      <p:grpSpPr>
        <a:xfrm rot="0">
          <a:off x="0" y="0"/>
          <a:ext cx="0" cy="0"/>
          <a:chOff x="0" y="0"/>
          <a:chExt cx="0" cy="0"/>
        </a:xfrm>
      </p:grpSpPr>
      <p:sp>
        <p:nvSpPr>
          <p:cNvPr id="1049229" name=""/>
          <p:cNvSpPr txBox="1"/>
          <p:nvPr/>
        </p:nvSpPr>
        <p:spPr>
          <a:xfrm rot="0">
            <a:off x="685800" y="1524000"/>
            <a:ext cx="7772400" cy="850900"/>
          </a:xfrm>
          <a:prstGeom prst="rect"/>
          <a:solidFill>
            <a:schemeClr val="lt1"/>
          </a:solidFill>
          <a:ln w="28575" cap="flat" cmpd="sng">
            <a:solidFill>
              <a:schemeClr val="dk1">
                <a:alpha val="100000"/>
              </a:schemeClr>
            </a:solidFill>
            <a:prstDash val="solid"/>
            <a:round/>
          </a:ln>
          <a:effectLst>
            <a:outerShdw algn="ctr" dir="2699999" dist="107763" kx="0" sx="100000" sy="100000">
              <a:schemeClr val="dk2">
                <a:alpha val="100000"/>
              </a:schemeClr>
            </a:outerShdw>
          </a:effectLst>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50000"/>
              </a:spcBef>
            </a:pPr>
            <a:r>
              <a:rPr altLang="en-US" lang="en-US">
                <a:latin typeface="Comic Sans MS" pitchFamily="66" charset="0"/>
                <a:ea typeface="Arial" pitchFamily="34" charset="0"/>
              </a:rPr>
              <a:t>Companies prepare four financial statements from the summarized accounting data:</a:t>
            </a:r>
          </a:p>
        </p:txBody>
      </p:sp>
      <p:sp>
        <p:nvSpPr>
          <p:cNvPr id="1049230" name=""/>
          <p:cNvSpPr/>
          <p:nvPr/>
        </p:nvSpPr>
        <p:spPr>
          <a:xfrm rot="0">
            <a:off x="4724400" y="3352800"/>
            <a:ext cx="1752600" cy="1905000"/>
          </a:xfrm>
          <a:prstGeom prst="foldedCorner"/>
          <a:solidFill>
            <a:srgbClr val="F9EFA5"/>
          </a:solidFill>
          <a:ln w="12700" cap="sq" cmpd="sng">
            <a:solidFill>
              <a:schemeClr val="dk1">
                <a:alpha val="100000"/>
              </a:schemeClr>
            </a:solidFill>
            <a:prstDash val="solid"/>
            <a:round/>
          </a:ln>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lang="en-US">
                <a:latin typeface="Comic Sans MS" pitchFamily="66" charset="0"/>
              </a:rPr>
              <a:t>Balance Sheet</a:t>
            </a:r>
          </a:p>
        </p:txBody>
      </p:sp>
      <p:sp>
        <p:nvSpPr>
          <p:cNvPr id="1049231" name=""/>
          <p:cNvSpPr/>
          <p:nvPr/>
        </p:nvSpPr>
        <p:spPr>
          <a:xfrm rot="0">
            <a:off x="762000" y="3352800"/>
            <a:ext cx="1752600" cy="1905000"/>
          </a:xfrm>
          <a:prstGeom prst="foldedCorner"/>
          <a:solidFill>
            <a:srgbClr val="F9EFA5"/>
          </a:solidFill>
          <a:ln w="12700" cap="sq" cmpd="sng">
            <a:solidFill>
              <a:schemeClr val="dk1">
                <a:alpha val="100000"/>
              </a:schemeClr>
            </a:solidFill>
            <a:prstDash val="solid"/>
            <a:round/>
          </a:ln>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lang="en-US">
                <a:latin typeface="Comic Sans MS" pitchFamily="66" charset="0"/>
              </a:rPr>
              <a:t>Income Statement</a:t>
            </a:r>
          </a:p>
        </p:txBody>
      </p:sp>
      <p:sp>
        <p:nvSpPr>
          <p:cNvPr id="1049232" name=""/>
          <p:cNvSpPr/>
          <p:nvPr/>
        </p:nvSpPr>
        <p:spPr>
          <a:xfrm rot="0">
            <a:off x="6705600" y="3352800"/>
            <a:ext cx="1752600" cy="1905000"/>
          </a:xfrm>
          <a:prstGeom prst="foldedCorner"/>
          <a:solidFill>
            <a:srgbClr val="F9EFA5"/>
          </a:solidFill>
          <a:ln w="12700" cap="sq" cmpd="sng">
            <a:solidFill>
              <a:schemeClr val="dk1">
                <a:alpha val="100000"/>
              </a:schemeClr>
            </a:solidFill>
            <a:prstDash val="solid"/>
            <a:round/>
          </a:ln>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lang="en-US">
                <a:latin typeface="Comic Sans MS" pitchFamily="66" charset="0"/>
              </a:rPr>
              <a:t>Statement of Cash Flows</a:t>
            </a:r>
          </a:p>
        </p:txBody>
      </p:sp>
      <p:sp>
        <p:nvSpPr>
          <p:cNvPr id="1049233" name=""/>
          <p:cNvSpPr/>
          <p:nvPr/>
        </p:nvSpPr>
        <p:spPr>
          <a:xfrm rot="0">
            <a:off x="2743200" y="3352800"/>
            <a:ext cx="1752600" cy="1905000"/>
          </a:xfrm>
          <a:prstGeom prst="foldedCorner"/>
          <a:solidFill>
            <a:srgbClr val="F9EFA5"/>
          </a:solidFill>
          <a:ln w="12700" cap="sq" cmpd="sng">
            <a:solidFill>
              <a:schemeClr val="dk1">
                <a:alpha val="100000"/>
              </a:schemeClr>
            </a:solidFill>
            <a:prstDash val="solid"/>
            <a:round/>
          </a:ln>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r>
              <a:rPr altLang="en-US" lang="en-US">
                <a:latin typeface="Comic Sans MS" pitchFamily="66" charset="0"/>
              </a:rPr>
              <a:t>Owner’s Equity Statement</a:t>
            </a:r>
          </a:p>
        </p:txBody>
      </p:sp>
      <p:sp>
        <p:nvSpPr>
          <p:cNvPr id="1049234" name=""/>
          <p:cNvSpPr/>
          <p:nvPr/>
        </p:nvSpPr>
        <p:spPr>
          <a:xfrm rot="0">
            <a:off x="3505200" y="2514600"/>
            <a:ext cx="228600" cy="762000"/>
          </a:xfrm>
          <a:prstGeom prst="downArrow">
            <a:avLst>
              <a:gd name="adj1" fmla="val 50000"/>
              <a:gd name="adj2" fmla="val 83333"/>
            </a:avLst>
          </a:prstGeom>
          <a:solidFill>
            <a:schemeClr val="hlink"/>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35" name=""/>
          <p:cNvSpPr/>
          <p:nvPr/>
        </p:nvSpPr>
        <p:spPr>
          <a:xfrm rot="0">
            <a:off x="1524000" y="2514600"/>
            <a:ext cx="228600" cy="762000"/>
          </a:xfrm>
          <a:prstGeom prst="downArrow">
            <a:avLst>
              <a:gd name="adj1" fmla="val 50000"/>
              <a:gd name="adj2" fmla="val 83333"/>
            </a:avLst>
          </a:prstGeom>
          <a:solidFill>
            <a:schemeClr val="hlink"/>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36" name=""/>
          <p:cNvSpPr/>
          <p:nvPr/>
        </p:nvSpPr>
        <p:spPr>
          <a:xfrm rot="0">
            <a:off x="5486400" y="2514600"/>
            <a:ext cx="228600" cy="762000"/>
          </a:xfrm>
          <a:prstGeom prst="downArrow">
            <a:avLst>
              <a:gd name="adj1" fmla="val 50000"/>
              <a:gd name="adj2" fmla="val 83333"/>
            </a:avLst>
          </a:prstGeom>
          <a:solidFill>
            <a:schemeClr val="hlink"/>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37" name=""/>
          <p:cNvSpPr/>
          <p:nvPr/>
        </p:nvSpPr>
        <p:spPr>
          <a:xfrm rot="0">
            <a:off x="7467600" y="2514600"/>
            <a:ext cx="228600" cy="762000"/>
          </a:xfrm>
          <a:prstGeom prst="downArrow">
            <a:avLst>
              <a:gd name="adj1" fmla="val 50000"/>
              <a:gd name="adj2" fmla="val 83333"/>
            </a:avLst>
          </a:prstGeom>
          <a:solidFill>
            <a:schemeClr val="hlink"/>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3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39"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spTree>
  </p:cSld>
  <p:clrMapOvr>
    <a:masterClrMapping/>
  </p:clrMapOvr>
  <p:transition spd="fast" advClick="1">
    <p:wipe dir="r"/>
  </p:transition>
</p:sld>
</file>

<file path=ppt/slides/slide40.xml><?xml version="1.0" encoding="utf-8"?>
<p:sld xmlns:a="http://schemas.openxmlformats.org/drawingml/2006/main" xmlns:r="http://schemas.openxmlformats.org/officeDocument/2006/relationships" xmlns:p="http://schemas.openxmlformats.org/presentationml/2006/main" showMasterSp="1">
  <p:cSld>
    <p:spTree>
      <p:nvGrpSpPr>
        <p:cNvPr id="145" name=""/>
        <p:cNvGrpSpPr/>
        <p:nvPr/>
      </p:nvGrpSpPr>
      <p:grpSpPr>
        <a:xfrm rot="0">
          <a:off x="0" y="0"/>
          <a:ext cx="0" cy="0"/>
          <a:chOff x="0" y="0"/>
          <a:chExt cx="0" cy="0"/>
        </a:xfrm>
      </p:grpSpPr>
      <p:sp>
        <p:nvSpPr>
          <p:cNvPr id="1049240" name=""/>
          <p:cNvSpPr/>
          <p:nvPr/>
        </p:nvSpPr>
        <p:spPr>
          <a:xfrm rot="0">
            <a:off x="838200" y="1981200"/>
            <a:ext cx="8001000" cy="26670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sz="2600" lang="en-US">
                <a:latin typeface="Comic Sans MS" pitchFamily="66" charset="0"/>
              </a:rPr>
              <a:t>Net income will result during a time period when:</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assets exceed liabilities.</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assets exceed revenues.</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expenses exceed revenues.</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revenues exceed expenses.</a:t>
            </a:r>
          </a:p>
        </p:txBody>
      </p:sp>
      <p:sp>
        <p:nvSpPr>
          <p:cNvPr id="1049241" name=""/>
          <p:cNvSpPr/>
          <p:nvPr/>
        </p:nvSpPr>
        <p:spPr>
          <a:xfrm rot="0">
            <a:off x="1143000" y="42672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4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43"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sp>
        <p:nvSpPr>
          <p:cNvPr id="1049244"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9241"/>
                                        </p:tgtEl>
                                        <p:attrNameLst>
                                          <p:attrName>style.visibility</p:attrName>
                                        </p:attrNameLst>
                                      </p:cBhvr>
                                      <p:to>
                                        <p:strVal val="visible"/>
                                      </p:to>
                                    </p:set>
                                    <p:animEffect transition="in" filter="wipe(left)">
                                      <p:cBhvr>
                                        <p:cTn dur="500" id="7"/>
                                        <p:tgtEl>
                                          <p:spTgt spid="1049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41" grpId="0" uiExpand="0" build="whole"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1">
  <p:cSld>
    <p:spTree>
      <p:nvGrpSpPr>
        <p:cNvPr id="146" name=""/>
        <p:cNvGrpSpPr/>
        <p:nvPr/>
      </p:nvGrpSpPr>
      <p:grpSpPr>
        <a:xfrm rot="0">
          <a:off x="0" y="0"/>
          <a:ext cx="0" cy="0"/>
          <a:chOff x="0" y="0"/>
          <a:chExt cx="0" cy="0"/>
        </a:xfrm>
      </p:grpSpPr>
      <p:sp>
        <p:nvSpPr>
          <p:cNvPr id="1049245" name=""/>
          <p:cNvSpPr txBox="1"/>
          <p:nvPr/>
        </p:nvSpPr>
        <p:spPr>
          <a:xfrm rot="0">
            <a:off x="533400" y="1385887"/>
            <a:ext cx="3733800" cy="5191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Income Statement</a:t>
            </a:r>
          </a:p>
        </p:txBody>
      </p:sp>
      <p:sp>
        <p:nvSpPr>
          <p:cNvPr id="104924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47"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sp>
        <p:nvSpPr>
          <p:cNvPr id="1049248" name=""/>
          <p:cNvSpPr txBox="1"/>
          <p:nvPr/>
        </p:nvSpPr>
        <p:spPr>
          <a:xfrm rot="0">
            <a:off x="4724400" y="2168525"/>
            <a:ext cx="4191000" cy="33797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403225" lvl="0" marL="403225">
              <a:lnSpc>
                <a:spcPct val="110000"/>
              </a:lnSpc>
              <a:spcBef>
                <a:spcPct val="65000"/>
              </a:spcBef>
              <a:buSzPct val="90000"/>
              <a:buFontTx/>
              <a:buBlip>
                <a:blip xmlns:r="http://schemas.openxmlformats.org/officeDocument/2006/relationships" r:embed="rId1"/>
              </a:buBlip>
            </a:pPr>
            <a:r>
              <a:rPr altLang="en-US" lang="en-US">
                <a:latin typeface="Comic Sans MS" pitchFamily="66" charset="0"/>
              </a:rPr>
              <a:t>Reports the revenues and expenses for a specific period of time.</a:t>
            </a:r>
          </a:p>
          <a:p>
            <a:pPr algn="l" indent="-403225" lvl="0" marL="403225">
              <a:lnSpc>
                <a:spcPct val="110000"/>
              </a:lnSpc>
              <a:spcBef>
                <a:spcPct val="65000"/>
              </a:spcBef>
              <a:buSzPct val="90000"/>
              <a:buFontTx/>
              <a:buBlip>
                <a:blip xmlns:r="http://schemas.openxmlformats.org/officeDocument/2006/relationships" r:embed="rId1"/>
              </a:buBlip>
            </a:pPr>
            <a:r>
              <a:rPr altLang="en-US" lang="en-US">
                <a:latin typeface="Comic Sans MS" pitchFamily="66" charset="0"/>
              </a:rPr>
              <a:t>Net income – revenues exceed expenses.</a:t>
            </a:r>
          </a:p>
          <a:p>
            <a:pPr algn="l" indent="-403225" lvl="0" marL="403225">
              <a:lnSpc>
                <a:spcPct val="110000"/>
              </a:lnSpc>
              <a:spcBef>
                <a:spcPct val="65000"/>
              </a:spcBef>
              <a:buSzPct val="90000"/>
              <a:buFontTx/>
              <a:buBlip>
                <a:blip xmlns:r="http://schemas.openxmlformats.org/officeDocument/2006/relationships" r:embed="rId1"/>
              </a:buBlip>
            </a:pPr>
            <a:r>
              <a:rPr altLang="en-US" lang="en-US">
                <a:latin typeface="Comic Sans MS" pitchFamily="66" charset="0"/>
              </a:rPr>
              <a:t>Net loss – expenses exceed revenues.</a:t>
            </a:r>
          </a:p>
        </p:txBody>
      </p:sp>
      <p:pic>
        <p:nvPicPr>
          <p:cNvPr id="2097164" name=""/>
          <p:cNvPicPr>
            <a:picLocks/>
          </p:cNvPicPr>
          <p:nvPr/>
        </p:nvPicPr>
        <p:blipFill>
          <a:blip xmlns:r="http://schemas.openxmlformats.org/officeDocument/2006/relationships" r:embed="rId2"/>
          <a:srcRect l="0" t="0" r="0" b="0"/>
          <a:stretch>
            <a:fillRect/>
          </a:stretch>
        </p:blipFill>
        <p:spPr>
          <a:xfrm rot="0">
            <a:off x="838200" y="1981200"/>
            <a:ext cx="3073400" cy="3848100"/>
          </a:xfrm>
          <a:prstGeom prst="rect"/>
          <a:solidFill>
            <a:schemeClr val="lt1"/>
          </a:solidFill>
          <a:ln w="28575" cap="flat" cmpd="sng">
            <a:solidFill>
              <a:schemeClr val="dk1">
                <a:alpha val="100000"/>
              </a:schemeClr>
            </a:solidFill>
            <a:prstDash val="solid"/>
            <a:round/>
          </a:ln>
        </p:spPr>
      </p:pic>
    </p:spTree>
  </p:cSld>
  <p:clrMapOvr>
    <a:masterClrMapping/>
  </p:clrMapOvr>
  <p:transition spd="fast" advClick="1">
    <p:wipe dir="r"/>
  </p:transition>
</p:sld>
</file>

<file path=ppt/slides/slide42.xml><?xml version="1.0" encoding="utf-8"?>
<p:sld xmlns:a="http://schemas.openxmlformats.org/drawingml/2006/main" xmlns:r="http://schemas.openxmlformats.org/officeDocument/2006/relationships" xmlns:p="http://schemas.openxmlformats.org/presentationml/2006/main" showMasterSp="1">
  <p:cSld>
    <p:spTree>
      <p:nvGrpSpPr>
        <p:cNvPr id="147" name=""/>
        <p:cNvGrpSpPr/>
        <p:nvPr/>
      </p:nvGrpSpPr>
      <p:grpSpPr>
        <a:xfrm rot="0">
          <a:off x="0" y="0"/>
          <a:ext cx="0" cy="0"/>
          <a:chOff x="0" y="0"/>
          <a:chExt cx="0" cy="0"/>
        </a:xfrm>
      </p:grpSpPr>
      <p:pic>
        <p:nvPicPr>
          <p:cNvPr id="2097165" name=""/>
          <p:cNvPicPr>
            <a:picLocks/>
          </p:cNvPicPr>
          <p:nvPr/>
        </p:nvPicPr>
        <p:blipFill>
          <a:blip xmlns:r="http://schemas.openxmlformats.org/officeDocument/2006/relationships" r:embed="rId1"/>
          <a:srcRect l="0" t="0" r="0" b="0"/>
          <a:stretch>
            <a:fillRect/>
          </a:stretch>
        </p:blipFill>
        <p:spPr>
          <a:xfrm rot="0">
            <a:off x="796925" y="1949450"/>
            <a:ext cx="3192462" cy="3859212"/>
          </a:xfrm>
          <a:prstGeom prst="rect"/>
          <a:solidFill>
            <a:schemeClr val="lt1"/>
          </a:solidFill>
          <a:ln w="28575" cap="flat" cmpd="sng">
            <a:solidFill>
              <a:schemeClr val="dk1">
                <a:alpha val="100000"/>
              </a:schemeClr>
            </a:solidFill>
            <a:prstDash val="solid"/>
            <a:round/>
          </a:ln>
        </p:spPr>
      </p:pic>
      <p:sp>
        <p:nvSpPr>
          <p:cNvPr id="1049249" name=""/>
          <p:cNvSpPr txBox="1"/>
          <p:nvPr/>
        </p:nvSpPr>
        <p:spPr>
          <a:xfrm rot="0">
            <a:off x="533400" y="1385887"/>
            <a:ext cx="3733800" cy="5191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Income Statement</a:t>
            </a:r>
          </a:p>
        </p:txBody>
      </p:sp>
      <p:sp>
        <p:nvSpPr>
          <p:cNvPr id="104925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51"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pic>
        <p:nvPicPr>
          <p:cNvPr id="2097166" name=""/>
          <p:cNvPicPr>
            <a:picLocks/>
          </p:cNvPicPr>
          <p:nvPr/>
        </p:nvPicPr>
        <p:blipFill>
          <a:blip xmlns:r="http://schemas.openxmlformats.org/officeDocument/2006/relationships" r:embed="rId2"/>
          <a:srcRect l="0" t="0" r="0" b="0"/>
          <a:stretch>
            <a:fillRect/>
          </a:stretch>
        </p:blipFill>
        <p:spPr>
          <a:xfrm rot="0">
            <a:off x="4811712" y="1973262"/>
            <a:ext cx="3779837" cy="3367087"/>
          </a:xfrm>
          <a:prstGeom prst="rect"/>
          <a:solidFill>
            <a:schemeClr val="lt1"/>
          </a:solidFill>
          <a:ln w="28575" cap="flat" cmpd="sng">
            <a:solidFill>
              <a:schemeClr val="dk1">
                <a:alpha val="100000"/>
              </a:schemeClr>
            </a:solidFill>
            <a:prstDash val="solid"/>
            <a:round/>
          </a:ln>
        </p:spPr>
      </p:pic>
      <p:sp>
        <p:nvSpPr>
          <p:cNvPr id="1049252" name=""/>
          <p:cNvSpPr txBox="1"/>
          <p:nvPr/>
        </p:nvSpPr>
        <p:spPr>
          <a:xfrm rot="0">
            <a:off x="4876800" y="1111250"/>
            <a:ext cx="3733800" cy="9461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Owner’s Equity Statement</a:t>
            </a:r>
          </a:p>
        </p:txBody>
      </p:sp>
      <p:sp>
        <p:nvSpPr>
          <p:cNvPr id="1049253" name=""/>
          <p:cNvSpPr/>
          <p:nvPr/>
        </p:nvSpPr>
        <p:spPr>
          <a:xfrm rot="0" flipV="1">
            <a:off x="4191000" y="4114800"/>
            <a:ext cx="1143000" cy="1143000"/>
          </a:xfrm>
          <a:prstGeom prst="line"/>
          <a:noFill/>
          <a:ln w="38100" cap="sq" cmpd="sng">
            <a:solidFill>
              <a:srgbClr val="800000">
                <a:alpha val="100000"/>
              </a:srgbClr>
            </a:solidFill>
            <a:prstDash val="solid"/>
            <a:round/>
            <a:tailEnd type="triangle" w="sm" len="sm"/>
          </a:ln>
        </p:spPr>
      </p:sp>
      <p:sp>
        <p:nvSpPr>
          <p:cNvPr id="1049254" name=""/>
          <p:cNvSpPr/>
          <p:nvPr/>
        </p:nvSpPr>
        <p:spPr>
          <a:xfrm rot="0">
            <a:off x="4572000" y="5486400"/>
            <a:ext cx="4343400" cy="679450"/>
          </a:xfrm>
          <a:prstGeom prst="rect"/>
          <a:solidFill>
            <a:schemeClr val="lt1"/>
          </a:solidFill>
          <a:ln w="38100"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1800" lang="en-US">
                <a:latin typeface="Comic Sans MS" pitchFamily="66" charset="0"/>
              </a:rPr>
              <a:t>Net income is needed to determine the ending balance in owner’s equity.</a:t>
            </a:r>
          </a:p>
        </p:txBody>
      </p:sp>
    </p:spTree>
  </p:cSld>
  <p:clrMapOvr>
    <a:masterClrMapping/>
  </p:clrMapOvr>
  <p:transition spd="fast" advClick="1">
    <p:wipe dir="r"/>
  </p:transition>
</p:sld>
</file>

<file path=ppt/slides/slide43.xml><?xml version="1.0" encoding="utf-8"?>
<p:sld xmlns:a="http://schemas.openxmlformats.org/drawingml/2006/main" xmlns:r="http://schemas.openxmlformats.org/officeDocument/2006/relationships" xmlns:p="http://schemas.openxmlformats.org/presentationml/2006/main" showMasterSp="1">
  <p:cSld>
    <p:spTree>
      <p:nvGrpSpPr>
        <p:cNvPr id="148" name=""/>
        <p:cNvGrpSpPr/>
        <p:nvPr/>
      </p:nvGrpSpPr>
      <p:grpSpPr>
        <a:xfrm rot="0">
          <a:off x="0" y="0"/>
          <a:ext cx="0" cy="0"/>
          <a:chOff x="0" y="0"/>
          <a:chExt cx="0" cy="0"/>
        </a:xfrm>
      </p:grpSpPr>
      <p:sp>
        <p:nvSpPr>
          <p:cNvPr id="104925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56"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pic>
        <p:nvPicPr>
          <p:cNvPr id="2097167" name=""/>
          <p:cNvPicPr>
            <a:picLocks/>
          </p:cNvPicPr>
          <p:nvPr/>
        </p:nvPicPr>
        <p:blipFill>
          <a:blip xmlns:r="http://schemas.openxmlformats.org/officeDocument/2006/relationships" r:embed="rId1"/>
          <a:srcRect l="0" t="0" r="0" b="0"/>
          <a:stretch>
            <a:fillRect/>
          </a:stretch>
        </p:blipFill>
        <p:spPr>
          <a:xfrm rot="0">
            <a:off x="4840287" y="1974850"/>
            <a:ext cx="3721100" cy="3365500"/>
          </a:xfrm>
          <a:prstGeom prst="rect"/>
          <a:solidFill>
            <a:schemeClr val="lt1"/>
          </a:solidFill>
          <a:ln w="28575" cap="flat" cmpd="sng">
            <a:solidFill>
              <a:schemeClr val="dk1">
                <a:alpha val="100000"/>
              </a:schemeClr>
            </a:solidFill>
            <a:prstDash val="solid"/>
            <a:round/>
          </a:ln>
        </p:spPr>
      </p:pic>
      <p:sp>
        <p:nvSpPr>
          <p:cNvPr id="1049257" name=""/>
          <p:cNvSpPr txBox="1"/>
          <p:nvPr/>
        </p:nvSpPr>
        <p:spPr>
          <a:xfrm rot="0">
            <a:off x="4876800" y="1111250"/>
            <a:ext cx="3733800" cy="9461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Owner’s Equity Statement</a:t>
            </a:r>
          </a:p>
        </p:txBody>
      </p:sp>
      <p:sp>
        <p:nvSpPr>
          <p:cNvPr id="1049258" name=""/>
          <p:cNvSpPr txBox="1"/>
          <p:nvPr/>
        </p:nvSpPr>
        <p:spPr>
          <a:xfrm rot="0">
            <a:off x="381000" y="2090737"/>
            <a:ext cx="4191000" cy="21002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403225" lvl="0" marL="403225">
              <a:lnSpc>
                <a:spcPct val="110000"/>
              </a:lnSpc>
              <a:spcBef>
                <a:spcPct val="65000"/>
              </a:spcBef>
              <a:buSzPct val="90000"/>
              <a:buFontTx/>
              <a:buBlip>
                <a:blip xmlns:r="http://schemas.openxmlformats.org/officeDocument/2006/relationships" r:embed="rId2"/>
              </a:buBlip>
            </a:pPr>
            <a:r>
              <a:rPr altLang="en-US" lang="en-US">
                <a:latin typeface="Comic Sans MS" pitchFamily="66" charset="0"/>
              </a:rPr>
              <a:t>Statement indicates the reasons why owner’s equity has increased or decreased during the period.</a:t>
            </a:r>
          </a:p>
        </p:txBody>
      </p:sp>
    </p:spTree>
  </p:cSld>
  <p:clrMapOvr>
    <a:masterClrMapping/>
  </p:clrMapOvr>
  <p:transition spd="fast" advClick="1">
    <p:wipe dir="r"/>
  </p:transition>
</p:sld>
</file>

<file path=ppt/slides/slide44.xml><?xml version="1.0" encoding="utf-8"?>
<p:sld xmlns:a="http://schemas.openxmlformats.org/drawingml/2006/main" xmlns:r="http://schemas.openxmlformats.org/officeDocument/2006/relationships" xmlns:p="http://schemas.openxmlformats.org/presentationml/2006/main" showMasterSp="1">
  <p:cSld>
    <p:spTree>
      <p:nvGrpSpPr>
        <p:cNvPr id="149" name=""/>
        <p:cNvGrpSpPr/>
        <p:nvPr/>
      </p:nvGrpSpPr>
      <p:grpSpPr>
        <a:xfrm rot="0">
          <a:off x="0" y="0"/>
          <a:ext cx="0" cy="0"/>
          <a:chOff x="0" y="0"/>
          <a:chExt cx="0" cy="0"/>
        </a:xfrm>
      </p:grpSpPr>
      <p:sp>
        <p:nvSpPr>
          <p:cNvPr id="1049259"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60"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pic>
        <p:nvPicPr>
          <p:cNvPr id="2097168" name=""/>
          <p:cNvPicPr>
            <a:picLocks/>
          </p:cNvPicPr>
          <p:nvPr/>
        </p:nvPicPr>
        <p:blipFill>
          <a:blip xmlns:r="http://schemas.openxmlformats.org/officeDocument/2006/relationships" r:embed="rId1"/>
          <a:srcRect l="0" t="0" r="0" b="0"/>
          <a:stretch>
            <a:fillRect/>
          </a:stretch>
        </p:blipFill>
        <p:spPr>
          <a:xfrm rot="0">
            <a:off x="4875212" y="1981200"/>
            <a:ext cx="3890962" cy="3365500"/>
          </a:xfrm>
          <a:prstGeom prst="rect"/>
          <a:solidFill>
            <a:schemeClr val="lt1"/>
          </a:solidFill>
          <a:ln w="28575" cap="flat" cmpd="sng">
            <a:solidFill>
              <a:schemeClr val="dk1">
                <a:alpha val="100000"/>
              </a:schemeClr>
            </a:solidFill>
            <a:prstDash val="solid"/>
            <a:round/>
          </a:ln>
        </p:spPr>
      </p:pic>
      <p:sp>
        <p:nvSpPr>
          <p:cNvPr id="1049261" name=""/>
          <p:cNvSpPr txBox="1"/>
          <p:nvPr/>
        </p:nvSpPr>
        <p:spPr>
          <a:xfrm rot="0">
            <a:off x="4876800" y="1111250"/>
            <a:ext cx="3733800" cy="9461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Owners’ Equity Statement</a:t>
            </a:r>
          </a:p>
        </p:txBody>
      </p:sp>
      <p:pic>
        <p:nvPicPr>
          <p:cNvPr id="2097169" name=""/>
          <p:cNvPicPr>
            <a:picLocks/>
          </p:cNvPicPr>
          <p:nvPr/>
        </p:nvPicPr>
        <p:blipFill>
          <a:blip xmlns:r="http://schemas.openxmlformats.org/officeDocument/2006/relationships" r:embed="rId2"/>
          <a:srcRect l="0" t="0" r="0" b="0"/>
          <a:stretch>
            <a:fillRect/>
          </a:stretch>
        </p:blipFill>
        <p:spPr>
          <a:xfrm rot="0">
            <a:off x="820737" y="1939925"/>
            <a:ext cx="3073400" cy="4146550"/>
          </a:xfrm>
          <a:prstGeom prst="rect"/>
          <a:solidFill>
            <a:schemeClr val="lt1"/>
          </a:solidFill>
          <a:ln w="28575" cap="flat" cmpd="sng">
            <a:solidFill>
              <a:schemeClr val="dk1">
                <a:alpha val="100000"/>
              </a:schemeClr>
            </a:solidFill>
            <a:prstDash val="solid"/>
            <a:round/>
          </a:ln>
        </p:spPr>
      </p:pic>
      <p:sp>
        <p:nvSpPr>
          <p:cNvPr id="1049262" name=""/>
          <p:cNvSpPr/>
          <p:nvPr/>
        </p:nvSpPr>
        <p:spPr>
          <a:xfrm rot="0" flipH="1">
            <a:off x="3962400" y="4953000"/>
            <a:ext cx="838200" cy="457200"/>
          </a:xfrm>
          <a:prstGeom prst="line"/>
          <a:noFill/>
          <a:ln w="38100" cap="sq" cmpd="sng">
            <a:solidFill>
              <a:srgbClr val="800000">
                <a:alpha val="100000"/>
              </a:srgbClr>
            </a:solidFill>
            <a:prstDash val="solid"/>
            <a:round/>
            <a:tailEnd type="triangle" w="sm" len="sm"/>
          </a:ln>
        </p:spPr>
      </p:sp>
      <p:sp>
        <p:nvSpPr>
          <p:cNvPr id="1049263" name=""/>
          <p:cNvSpPr/>
          <p:nvPr/>
        </p:nvSpPr>
        <p:spPr>
          <a:xfrm rot="0">
            <a:off x="4495800" y="5486400"/>
            <a:ext cx="4343400" cy="679450"/>
          </a:xfrm>
          <a:prstGeom prst="rect"/>
          <a:solidFill>
            <a:schemeClr val="lt1"/>
          </a:solidFill>
          <a:ln w="38100"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sz="1800" lang="en-US">
                <a:latin typeface="Comic Sans MS" pitchFamily="66" charset="0"/>
              </a:rPr>
              <a:t>The ending balance in owner’s equity is needed in preparing the balance sheet</a:t>
            </a:r>
          </a:p>
        </p:txBody>
      </p:sp>
      <p:sp>
        <p:nvSpPr>
          <p:cNvPr id="1049264" name=""/>
          <p:cNvSpPr txBox="1"/>
          <p:nvPr/>
        </p:nvSpPr>
        <p:spPr>
          <a:xfrm rot="0">
            <a:off x="533400" y="1385887"/>
            <a:ext cx="3733800" cy="5191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Balance Sheet</a:t>
            </a:r>
          </a:p>
        </p:txBody>
      </p:sp>
    </p:spTree>
  </p:cSld>
  <p:clrMapOvr>
    <a:masterClrMapping/>
  </p:clrMapOvr>
  <p:transition spd="fast" advClick="1">
    <p:wipe dir="l"/>
  </p:transition>
</p:sld>
</file>

<file path=ppt/slides/slide45.xml><?xml version="1.0" encoding="utf-8"?>
<p:sld xmlns:a="http://schemas.openxmlformats.org/drawingml/2006/main" xmlns:r="http://schemas.openxmlformats.org/officeDocument/2006/relationships" xmlns:p="http://schemas.openxmlformats.org/presentationml/2006/main" showMasterSp="1">
  <p:cSld>
    <p:spTree>
      <p:nvGrpSpPr>
        <p:cNvPr id="150" name=""/>
        <p:cNvGrpSpPr/>
        <p:nvPr/>
      </p:nvGrpSpPr>
      <p:grpSpPr>
        <a:xfrm rot="0">
          <a:off x="0" y="0"/>
          <a:ext cx="0" cy="0"/>
          <a:chOff x="0" y="0"/>
          <a:chExt cx="0" cy="0"/>
        </a:xfrm>
      </p:grpSpPr>
      <p:sp>
        <p:nvSpPr>
          <p:cNvPr id="1049265" name=""/>
          <p:cNvSpPr txBox="1"/>
          <p:nvPr/>
        </p:nvSpPr>
        <p:spPr>
          <a:xfrm rot="0">
            <a:off x="533400" y="1385887"/>
            <a:ext cx="3733800" cy="5191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Balance Sheet</a:t>
            </a:r>
          </a:p>
        </p:txBody>
      </p:sp>
      <p:sp>
        <p:nvSpPr>
          <p:cNvPr id="104926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67"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sp>
        <p:nvSpPr>
          <p:cNvPr id="1049268" name=""/>
          <p:cNvSpPr txBox="1"/>
          <p:nvPr/>
        </p:nvSpPr>
        <p:spPr>
          <a:xfrm rot="0">
            <a:off x="4572000" y="1836737"/>
            <a:ext cx="4191000" cy="41830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403225" lvl="0" marL="403225">
              <a:lnSpc>
                <a:spcPct val="110000"/>
              </a:lnSpc>
              <a:spcBef>
                <a:spcPct val="65000"/>
              </a:spcBef>
              <a:buSzPct val="90000"/>
              <a:buFontTx/>
              <a:buBlip>
                <a:blip xmlns:r="http://schemas.openxmlformats.org/officeDocument/2006/relationships" r:embed="rId1"/>
              </a:buBlip>
            </a:pPr>
            <a:r>
              <a:rPr altLang="en-US" lang="en-US">
                <a:latin typeface="Comic Sans MS" pitchFamily="66" charset="0"/>
              </a:rPr>
              <a:t>Reports the assets, liabilities, and owner’s equity at a specific date.</a:t>
            </a:r>
          </a:p>
          <a:p>
            <a:pPr algn="l" indent="-403225" lvl="0" marL="403225">
              <a:lnSpc>
                <a:spcPct val="110000"/>
              </a:lnSpc>
              <a:spcBef>
                <a:spcPct val="65000"/>
              </a:spcBef>
              <a:buSzPct val="90000"/>
              <a:buFontTx/>
              <a:buBlip>
                <a:blip xmlns:r="http://schemas.openxmlformats.org/officeDocument/2006/relationships" r:embed="rId1"/>
              </a:buBlip>
            </a:pPr>
            <a:r>
              <a:rPr altLang="en-US" lang="en-US">
                <a:latin typeface="Comic Sans MS" pitchFamily="66" charset="0"/>
              </a:rPr>
              <a:t>Assets listed at the top, followed by liabilities and owner’s equity.</a:t>
            </a:r>
          </a:p>
          <a:p>
            <a:pPr algn="l" indent="-403225" lvl="0" marL="403225">
              <a:lnSpc>
                <a:spcPct val="110000"/>
              </a:lnSpc>
              <a:spcBef>
                <a:spcPct val="65000"/>
              </a:spcBef>
              <a:buSzPct val="90000"/>
              <a:buFontTx/>
              <a:buBlip>
                <a:blip xmlns:r="http://schemas.openxmlformats.org/officeDocument/2006/relationships" r:embed="rId1"/>
              </a:buBlip>
            </a:pPr>
            <a:r>
              <a:rPr altLang="en-US" lang="en-US">
                <a:latin typeface="Comic Sans MS" pitchFamily="66" charset="0"/>
              </a:rPr>
              <a:t>Total assets must equal total liabilities and owner’s equity.</a:t>
            </a:r>
          </a:p>
        </p:txBody>
      </p:sp>
      <p:pic>
        <p:nvPicPr>
          <p:cNvPr id="2097170" name=""/>
          <p:cNvPicPr>
            <a:picLocks/>
          </p:cNvPicPr>
          <p:nvPr/>
        </p:nvPicPr>
        <p:blipFill>
          <a:blip xmlns:r="http://schemas.openxmlformats.org/officeDocument/2006/relationships" r:embed="rId2"/>
          <a:srcRect l="0" t="0" r="0" b="0"/>
          <a:stretch>
            <a:fillRect/>
          </a:stretch>
        </p:blipFill>
        <p:spPr>
          <a:xfrm rot="0">
            <a:off x="766762" y="1941512"/>
            <a:ext cx="3182937" cy="4144962"/>
          </a:xfrm>
          <a:prstGeom prst="rect"/>
          <a:solidFill>
            <a:schemeClr val="lt1"/>
          </a:solidFill>
          <a:ln w="28575" cap="flat" cmpd="sng">
            <a:solidFill>
              <a:schemeClr val="dk1">
                <a:alpha val="100000"/>
              </a:schemeClr>
            </a:solidFill>
            <a:prstDash val="solid"/>
            <a:round/>
          </a:ln>
        </p:spPr>
      </p:pic>
    </p:spTree>
  </p:cSld>
  <p:clrMapOvr>
    <a:masterClrMapping/>
  </p:clrMapOvr>
  <p:transition spd="fast" advClick="1">
    <p:wipe dir="r"/>
  </p:transition>
</p:sld>
</file>

<file path=ppt/slides/slide46.xml><?xml version="1.0" encoding="utf-8"?>
<p:sld xmlns:a="http://schemas.openxmlformats.org/drawingml/2006/main" xmlns:r="http://schemas.openxmlformats.org/officeDocument/2006/relationships" xmlns:p="http://schemas.openxmlformats.org/presentationml/2006/main" showMasterSp="1">
  <p:cSld>
    <p:spTree>
      <p:nvGrpSpPr>
        <p:cNvPr id="153" name=""/>
        <p:cNvGrpSpPr/>
        <p:nvPr/>
      </p:nvGrpSpPr>
      <p:grpSpPr>
        <a:xfrm rot="0">
          <a:off x="0" y="0"/>
          <a:ext cx="0" cy="0"/>
          <a:chOff x="0" y="0"/>
          <a:chExt cx="0" cy="0"/>
        </a:xfrm>
      </p:grpSpPr>
      <p:sp>
        <p:nvSpPr>
          <p:cNvPr id="1049271" name=""/>
          <p:cNvSpPr txBox="1"/>
          <p:nvPr/>
        </p:nvSpPr>
        <p:spPr>
          <a:xfrm rot="0">
            <a:off x="533400" y="1385887"/>
            <a:ext cx="3733800" cy="5191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800" lang="en-US">
                <a:solidFill>
                  <a:srgbClr val="000066"/>
                </a:solidFill>
                <a:latin typeface="Comic Sans MS" pitchFamily="66" charset="0"/>
              </a:rPr>
              <a:t>Balance Sheet</a:t>
            </a:r>
          </a:p>
        </p:txBody>
      </p:sp>
      <p:sp>
        <p:nvSpPr>
          <p:cNvPr id="104927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73"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pic>
        <p:nvPicPr>
          <p:cNvPr id="2097171" name=""/>
          <p:cNvPicPr>
            <a:picLocks/>
          </p:cNvPicPr>
          <p:nvPr/>
        </p:nvPicPr>
        <p:blipFill>
          <a:blip xmlns:r="http://schemas.openxmlformats.org/officeDocument/2006/relationships" r:embed="rId1"/>
          <a:srcRect l="0" t="0" r="0" b="0"/>
          <a:stretch>
            <a:fillRect/>
          </a:stretch>
        </p:blipFill>
        <p:spPr>
          <a:xfrm rot="0">
            <a:off x="795337" y="1939925"/>
            <a:ext cx="3124200" cy="4146550"/>
          </a:xfrm>
          <a:prstGeom prst="rect"/>
          <a:solidFill>
            <a:schemeClr val="lt1"/>
          </a:solidFill>
          <a:ln w="28575" cap="flat" cmpd="sng">
            <a:solidFill>
              <a:schemeClr val="dk1">
                <a:alpha val="100000"/>
              </a:schemeClr>
            </a:solidFill>
            <a:prstDash val="solid"/>
            <a:round/>
          </a:ln>
        </p:spPr>
      </p:pic>
      <p:pic>
        <p:nvPicPr>
          <p:cNvPr id="2097172" name=""/>
          <p:cNvPicPr>
            <a:picLocks/>
          </p:cNvPicPr>
          <p:nvPr/>
        </p:nvPicPr>
        <p:blipFill>
          <a:blip xmlns:r="http://schemas.openxmlformats.org/officeDocument/2006/relationships" r:embed="rId2"/>
          <a:srcRect l="0" t="0" r="0" b="0"/>
          <a:stretch>
            <a:fillRect/>
          </a:stretch>
        </p:blipFill>
        <p:spPr>
          <a:xfrm rot="0">
            <a:off x="4532312" y="1524000"/>
            <a:ext cx="4424362" cy="4900612"/>
          </a:xfrm>
          <a:prstGeom prst="rect"/>
          <a:solidFill>
            <a:schemeClr val="lt1"/>
          </a:solidFill>
          <a:ln w="28575" cap="flat" cmpd="sng">
            <a:solidFill>
              <a:schemeClr val="dk1">
                <a:alpha val="100000"/>
              </a:schemeClr>
            </a:solidFill>
            <a:prstDash val="solid"/>
            <a:round/>
          </a:ln>
        </p:spPr>
      </p:pic>
      <p:sp>
        <p:nvSpPr>
          <p:cNvPr id="1049274" name=""/>
          <p:cNvSpPr txBox="1"/>
          <p:nvPr/>
        </p:nvSpPr>
        <p:spPr>
          <a:xfrm rot="0">
            <a:off x="4419600" y="1173162"/>
            <a:ext cx="4572000" cy="5032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700" lang="en-US">
                <a:solidFill>
                  <a:srgbClr val="000066"/>
                </a:solidFill>
                <a:latin typeface="Comic Sans MS" pitchFamily="66" charset="0"/>
              </a:rPr>
              <a:t>Statement of Cash Flows</a:t>
            </a:r>
          </a:p>
        </p:txBody>
      </p:sp>
      <p:sp>
        <p:nvSpPr>
          <p:cNvPr id="1049275" name=""/>
          <p:cNvSpPr/>
          <p:nvPr/>
        </p:nvSpPr>
        <p:spPr>
          <a:xfrm rot="0">
            <a:off x="3886200" y="3505200"/>
            <a:ext cx="381000" cy="0"/>
          </a:xfrm>
          <a:prstGeom prst="line"/>
          <a:noFill/>
          <a:ln w="38100" cap="sq" cmpd="sng">
            <a:solidFill>
              <a:srgbClr val="800000">
                <a:alpha val="100000"/>
              </a:srgbClr>
            </a:solidFill>
            <a:prstDash val="solid"/>
            <a:round/>
          </a:ln>
        </p:spPr>
      </p:sp>
      <p:sp>
        <p:nvSpPr>
          <p:cNvPr id="1049276" name=""/>
          <p:cNvSpPr/>
          <p:nvPr/>
        </p:nvSpPr>
        <p:spPr>
          <a:xfrm rot="0">
            <a:off x="4267200" y="3505200"/>
            <a:ext cx="0" cy="2514600"/>
          </a:xfrm>
          <a:prstGeom prst="line"/>
          <a:noFill/>
          <a:ln w="38100" cap="sq" cmpd="sng">
            <a:solidFill>
              <a:srgbClr val="800000">
                <a:alpha val="100000"/>
              </a:srgbClr>
            </a:solidFill>
            <a:prstDash val="solid"/>
            <a:round/>
          </a:ln>
        </p:spPr>
      </p:sp>
      <p:sp>
        <p:nvSpPr>
          <p:cNvPr id="1049277" name=""/>
          <p:cNvSpPr/>
          <p:nvPr/>
        </p:nvSpPr>
        <p:spPr>
          <a:xfrm rot="0">
            <a:off x="4267200" y="6019800"/>
            <a:ext cx="304800" cy="0"/>
          </a:xfrm>
          <a:prstGeom prst="line"/>
          <a:noFill/>
          <a:ln w="38100" cap="sq" cmpd="sng">
            <a:solidFill>
              <a:srgbClr val="800000">
                <a:alpha val="100000"/>
              </a:srgbClr>
            </a:solidFill>
            <a:prstDash val="solid"/>
            <a:round/>
            <a:tailEnd type="triangle" w="sm" len="sm"/>
          </a:ln>
        </p:spPr>
      </p:sp>
    </p:spTree>
  </p:cSld>
  <p:clrMapOvr>
    <a:masterClrMapping/>
  </p:clrMapOvr>
  <p:transition spd="fast" advClick="1">
    <p:wipe dir="r"/>
  </p:transition>
</p:sld>
</file>

<file path=ppt/slides/slide47.xml><?xml version="1.0" encoding="utf-8"?>
<p:sld xmlns:a="http://schemas.openxmlformats.org/drawingml/2006/main" xmlns:r="http://schemas.openxmlformats.org/officeDocument/2006/relationships" xmlns:p="http://schemas.openxmlformats.org/presentationml/2006/main" showMasterSp="1">
  <p:cSld>
    <p:spTree>
      <p:nvGrpSpPr>
        <p:cNvPr id="156" name=""/>
        <p:cNvGrpSpPr/>
        <p:nvPr/>
      </p:nvGrpSpPr>
      <p:grpSpPr>
        <a:xfrm rot="0">
          <a:off x="0" y="0"/>
          <a:ext cx="0" cy="0"/>
          <a:chOff x="0" y="0"/>
          <a:chExt cx="0" cy="0"/>
        </a:xfrm>
      </p:grpSpPr>
      <p:sp>
        <p:nvSpPr>
          <p:cNvPr id="104928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81"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pic>
        <p:nvPicPr>
          <p:cNvPr id="2097173" name=""/>
          <p:cNvPicPr>
            <a:picLocks/>
          </p:cNvPicPr>
          <p:nvPr/>
        </p:nvPicPr>
        <p:blipFill>
          <a:blip xmlns:r="http://schemas.openxmlformats.org/officeDocument/2006/relationships" r:embed="rId1"/>
          <a:srcRect l="0" t="0" r="0" b="0"/>
          <a:stretch>
            <a:fillRect/>
          </a:stretch>
        </p:blipFill>
        <p:spPr>
          <a:xfrm rot="0">
            <a:off x="4749800" y="1565275"/>
            <a:ext cx="3987800" cy="4900612"/>
          </a:xfrm>
          <a:prstGeom prst="rect"/>
          <a:solidFill>
            <a:schemeClr val="lt1"/>
          </a:solidFill>
          <a:ln w="28575" cap="flat" cmpd="sng">
            <a:solidFill>
              <a:schemeClr val="dk1">
                <a:alpha val="100000"/>
              </a:schemeClr>
            </a:solidFill>
            <a:prstDash val="solid"/>
            <a:round/>
          </a:ln>
        </p:spPr>
      </p:pic>
      <p:sp>
        <p:nvSpPr>
          <p:cNvPr id="1049282" name=""/>
          <p:cNvSpPr txBox="1"/>
          <p:nvPr/>
        </p:nvSpPr>
        <p:spPr>
          <a:xfrm rot="0">
            <a:off x="4419600" y="1173162"/>
            <a:ext cx="4572000" cy="5032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lvl="0">
              <a:spcBef>
                <a:spcPct val="50000"/>
              </a:spcBef>
            </a:pPr>
            <a:r>
              <a:rPr altLang="en-US" b="1" sz="2700" lang="en-US">
                <a:solidFill>
                  <a:srgbClr val="000066"/>
                </a:solidFill>
                <a:latin typeface="Comic Sans MS" pitchFamily="66" charset="0"/>
              </a:rPr>
              <a:t>Statement of Cash Flows</a:t>
            </a:r>
          </a:p>
        </p:txBody>
      </p:sp>
      <p:sp>
        <p:nvSpPr>
          <p:cNvPr id="1049283" name=""/>
          <p:cNvSpPr txBox="1"/>
          <p:nvPr/>
        </p:nvSpPr>
        <p:spPr>
          <a:xfrm rot="0">
            <a:off x="381000" y="1371600"/>
            <a:ext cx="4038600" cy="15351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457200" lvl="0" marL="457200">
              <a:lnSpc>
                <a:spcPct val="110000"/>
              </a:lnSpc>
              <a:spcBef>
                <a:spcPct val="65000"/>
              </a:spcBef>
              <a:buSzPct val="90000"/>
              <a:buFontTx/>
              <a:buBlip>
                <a:blip xmlns:r="http://schemas.openxmlformats.org/officeDocument/2006/relationships" r:embed="rId2"/>
              </a:buBlip>
            </a:pPr>
            <a:r>
              <a:rPr altLang="en-US" lang="en-US">
                <a:latin typeface="Comic Sans MS" pitchFamily="66" charset="0"/>
              </a:rPr>
              <a:t>Information for a specific period of time.</a:t>
            </a:r>
          </a:p>
          <a:p>
            <a:pPr algn="l" indent="-457200" lvl="0" marL="457200">
              <a:lnSpc>
                <a:spcPct val="110000"/>
              </a:lnSpc>
              <a:spcBef>
                <a:spcPct val="65000"/>
              </a:spcBef>
              <a:buSzPct val="90000"/>
              <a:buFontTx/>
              <a:buBlip>
                <a:blip xmlns:r="http://schemas.openxmlformats.org/officeDocument/2006/relationships" r:embed="rId2"/>
              </a:buBlip>
            </a:pPr>
            <a:r>
              <a:rPr altLang="en-US" lang="en-US">
                <a:latin typeface="Comic Sans MS" pitchFamily="66" charset="0"/>
              </a:rPr>
              <a:t>Answers the following:</a:t>
            </a:r>
          </a:p>
        </p:txBody>
      </p:sp>
      <p:sp>
        <p:nvSpPr>
          <p:cNvPr id="1049284" name=""/>
          <p:cNvSpPr txBox="1"/>
          <p:nvPr/>
        </p:nvSpPr>
        <p:spPr>
          <a:xfrm rot="0">
            <a:off x="381000" y="2971800"/>
            <a:ext cx="4038600" cy="27590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indent="-401637" lvl="0" marL="862012">
              <a:lnSpc>
                <a:spcPct val="110000"/>
              </a:lnSpc>
              <a:spcBef>
                <a:spcPct val="50000"/>
              </a:spcBef>
              <a:buSzPct val="90000"/>
              <a:buFontTx/>
              <a:buAutoNum type="arabicPeriod" startAt="1"/>
            </a:pPr>
            <a:r>
              <a:rPr altLang="en-US" sz="2300" lang="en-US">
                <a:latin typeface="Comic Sans MS" pitchFamily="66" charset="0"/>
              </a:rPr>
              <a:t>Where did cash come from?</a:t>
            </a:r>
          </a:p>
          <a:p>
            <a:pPr algn="l" indent="-401637" lvl="0" marL="862012">
              <a:lnSpc>
                <a:spcPct val="110000"/>
              </a:lnSpc>
              <a:spcBef>
                <a:spcPct val="50000"/>
              </a:spcBef>
              <a:buSzPct val="90000"/>
              <a:buFontTx/>
              <a:buAutoNum type="arabicPeriod" startAt="1"/>
            </a:pPr>
            <a:r>
              <a:rPr altLang="en-US" sz="2300" lang="en-US">
                <a:latin typeface="Comic Sans MS" pitchFamily="66" charset="0"/>
              </a:rPr>
              <a:t>What was cash used for?</a:t>
            </a:r>
          </a:p>
          <a:p>
            <a:pPr algn="l" indent="-401637" lvl="0" marL="862012">
              <a:lnSpc>
                <a:spcPct val="110000"/>
              </a:lnSpc>
              <a:spcBef>
                <a:spcPct val="50000"/>
              </a:spcBef>
              <a:buSzPct val="90000"/>
              <a:buFontTx/>
              <a:buAutoNum type="arabicPeriod" startAt="1"/>
            </a:pPr>
            <a:r>
              <a:rPr altLang="en-US" sz="2300" lang="en-US">
                <a:latin typeface="Comic Sans MS" pitchFamily="66" charset="0"/>
              </a:rPr>
              <a:t>What was the change in the cash balance?</a:t>
            </a:r>
          </a:p>
        </p:txBody>
      </p:sp>
    </p:spTree>
  </p:cSld>
  <p:clrMapOvr>
    <a:masterClrMapping/>
  </p:clrMapOvr>
  <p:transition spd="fast" advClick="1">
    <p:wipe dir="r"/>
  </p:transition>
</p:sld>
</file>

<file path=ppt/slides/slide48.xml><?xml version="1.0" encoding="utf-8"?>
<p:sld xmlns:a="http://schemas.openxmlformats.org/drawingml/2006/main" xmlns:r="http://schemas.openxmlformats.org/officeDocument/2006/relationships" xmlns:p="http://schemas.openxmlformats.org/presentationml/2006/main" showMasterSp="1">
  <p:cSld>
    <p:spTree>
      <p:nvGrpSpPr>
        <p:cNvPr id="159" name=""/>
        <p:cNvGrpSpPr/>
        <p:nvPr/>
      </p:nvGrpSpPr>
      <p:grpSpPr>
        <a:xfrm rot="0">
          <a:off x="0" y="0"/>
          <a:ext cx="0" cy="0"/>
          <a:chOff x="0" y="0"/>
          <a:chExt cx="0" cy="0"/>
        </a:xfrm>
      </p:grpSpPr>
      <p:sp>
        <p:nvSpPr>
          <p:cNvPr id="1049287" name=""/>
          <p:cNvSpPr/>
          <p:nvPr/>
        </p:nvSpPr>
        <p:spPr>
          <a:xfrm rot="0">
            <a:off x="838200" y="1981200"/>
            <a:ext cx="8001000" cy="32766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spcBef>
                <a:spcPct val="40000"/>
              </a:spcBef>
              <a:buClr>
                <a:schemeClr val="dk1"/>
              </a:buClr>
              <a:buFont typeface="Wingdings" pitchFamily="2" charset="2"/>
              <a:buNone/>
            </a:pPr>
            <a:r>
              <a:rPr altLang="en-US" sz="2600" lang="en-US">
                <a:latin typeface="Comic Sans MS" pitchFamily="66" charset="0"/>
              </a:rPr>
              <a:t>Which of the following financial statements is prepared as of a specific date?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Balance sheet.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Income statement.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Owner's equity statement. </a:t>
            </a:r>
          </a:p>
          <a:p>
            <a:pPr algn="l" indent="-401637" lvl="1" marL="631825">
              <a:spcBef>
                <a:spcPct val="40000"/>
              </a:spcBef>
              <a:buClr>
                <a:schemeClr val="dk1"/>
              </a:buClr>
              <a:buFont typeface="Wingdings" pitchFamily="2" charset="2"/>
              <a:buAutoNum type="alphaLcPeriod" startAt="1"/>
            </a:pPr>
            <a:r>
              <a:rPr altLang="en-US" sz="2600" lang="en-US">
                <a:latin typeface="Comic Sans MS" pitchFamily="66" charset="0"/>
              </a:rPr>
              <a:t>Statement of cash flows.</a:t>
            </a:r>
          </a:p>
        </p:txBody>
      </p:sp>
      <p:sp>
        <p:nvSpPr>
          <p:cNvPr id="1049288" name=""/>
          <p:cNvSpPr/>
          <p:nvPr/>
        </p:nvSpPr>
        <p:spPr>
          <a:xfrm rot="0">
            <a:off x="1143000" y="29718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endParaRPr altLang="en-US" lang="en-US"/>
          </a:p>
        </p:txBody>
      </p:sp>
      <p:sp>
        <p:nvSpPr>
          <p:cNvPr id="1049289" name=""/>
          <p:cNvSpPr/>
          <p:nvPr>
            <p:ph type="title" sz="full" idx="4294967295"/>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90"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sp>
        <p:nvSpPr>
          <p:cNvPr id="1049291"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latin typeface="Comic Sans MS" pitchFamily="66" charset="0"/>
              </a:rPr>
              <a:t>Review Question</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9288"/>
                                        </p:tgtEl>
                                        <p:attrNameLst>
                                          <p:attrName>style.visibility</p:attrName>
                                        </p:attrNameLst>
                                      </p:cBhvr>
                                      <p:to>
                                        <p:strVal val="visible"/>
                                      </p:to>
                                    </p:set>
                                    <p:animEffect transition="in" filter="wipe(left)">
                                      <p:cBhvr>
                                        <p:cTn dur="500" id="7"/>
                                        <p:tgtEl>
                                          <p:spTgt spid="1049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288" grpId="0" uiExpand="0" build="whole"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1">
  <p:cSld>
    <p:spTree>
      <p:nvGrpSpPr>
        <p:cNvPr id="163" name=""/>
        <p:cNvGrpSpPr/>
        <p:nvPr/>
      </p:nvGrpSpPr>
      <p:grpSpPr>
        <a:xfrm rot="0">
          <a:off x="0" y="0"/>
          <a:ext cx="0" cy="0"/>
          <a:chOff x="0" y="0"/>
          <a:chExt cx="0" cy="0"/>
        </a:xfrm>
      </p:grpSpPr>
      <p:sp>
        <p:nvSpPr>
          <p:cNvPr id="1049294" name=""/>
          <p:cNvSpPr txBox="1"/>
          <p:nvPr/>
        </p:nvSpPr>
        <p:spPr>
          <a:xfrm rot="0">
            <a:off x="685800" y="1295400"/>
            <a:ext cx="7772400" cy="6032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05000"/>
              </a:lnSpc>
              <a:spcBef>
                <a:spcPct val="70000"/>
              </a:spcBef>
              <a:buSzPct val="80000"/>
              <a:buFontTx/>
              <a:buNone/>
            </a:pPr>
            <a:r>
              <a:rPr altLang="en-US" b="1" sz="3200" lang="en-US">
                <a:solidFill>
                  <a:srgbClr val="800000"/>
                </a:solidFill>
                <a:latin typeface="Comic Sans MS" pitchFamily="66" charset="0"/>
              </a:rPr>
              <a:t>Discussion Question</a:t>
            </a:r>
          </a:p>
        </p:txBody>
      </p:sp>
      <p:sp>
        <p:nvSpPr>
          <p:cNvPr id="1049295" name=""/>
          <p:cNvSpPr txBox="1"/>
          <p:nvPr/>
        </p:nvSpPr>
        <p:spPr>
          <a:xfrm rot="0">
            <a:off x="685800" y="1905000"/>
            <a:ext cx="7772400" cy="41687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lnSpc>
                <a:spcPct val="130000"/>
              </a:lnSpc>
              <a:spcBef>
                <a:spcPct val="70000"/>
              </a:spcBef>
              <a:buSzPct val="80000"/>
              <a:buFontTx/>
              <a:buNone/>
            </a:pPr>
            <a:r>
              <a:rPr altLang="en-US" b="1" sz="2600" lang="en-US">
                <a:solidFill>
                  <a:srgbClr val="800000"/>
                </a:solidFill>
                <a:latin typeface="Comic Sans MS" pitchFamily="66" charset="0"/>
              </a:rPr>
              <a:t>Q19</a:t>
            </a:r>
            <a:r>
              <a:rPr altLang="en-US" b="1" sz="2600" lang="en-US">
                <a:solidFill>
                  <a:srgbClr val="000000"/>
                </a:solidFill>
                <a:latin typeface="Comic Sans MS" pitchFamily="66" charset="0"/>
              </a:rPr>
              <a:t>. </a:t>
            </a:r>
            <a:r>
              <a:rPr altLang="en-US" sz="2600" lang="en-US">
                <a:solidFill>
                  <a:srgbClr val="000000"/>
                </a:solidFill>
                <a:latin typeface="Comic Sans MS" pitchFamily="66" charset="0"/>
              </a:rPr>
              <a:t>“A company’s net income appears directly on the income statement and the owner’s equity statement, and it is included indirectly in the company’s balance sheet.” Do you agree? Explain.</a:t>
            </a:r>
          </a:p>
          <a:p>
            <a:pPr algn="l" lvl="0">
              <a:lnSpc>
                <a:spcPct val="130000"/>
              </a:lnSpc>
              <a:spcBef>
                <a:spcPct val="70000"/>
              </a:spcBef>
              <a:buSzPct val="80000"/>
              <a:buFontTx/>
              <a:buNone/>
            </a:pPr>
            <a:endParaRPr altLang="en-US" sz="2600" lang="en-US">
              <a:solidFill>
                <a:srgbClr val="000000"/>
              </a:solidFill>
              <a:latin typeface="Comic Sans MS" pitchFamily="66" charset="0"/>
            </a:endParaRPr>
          </a:p>
          <a:p>
            <a:pPr algn="l" lvl="0">
              <a:lnSpc>
                <a:spcPct val="130000"/>
              </a:lnSpc>
              <a:spcBef>
                <a:spcPct val="70000"/>
              </a:spcBef>
              <a:buSzPct val="80000"/>
              <a:buFontTx/>
              <a:buNone/>
            </a:pPr>
            <a:endParaRPr altLang="en-US" sz="2000" lang="en-US">
              <a:solidFill>
                <a:srgbClr val="000000"/>
              </a:solidFill>
              <a:latin typeface="Comic Sans MS" pitchFamily="66" charset="0"/>
            </a:endParaRPr>
          </a:p>
          <a:p>
            <a:pPr algn="l" lvl="0">
              <a:lnSpc>
                <a:spcPct val="130000"/>
              </a:lnSpc>
              <a:spcBef>
                <a:spcPct val="70000"/>
              </a:spcBef>
              <a:buSzPct val="80000"/>
              <a:buFontTx/>
              <a:buNone/>
            </a:pPr>
            <a:r>
              <a:rPr altLang="en-US" sz="2000" lang="en-US">
                <a:solidFill>
                  <a:srgbClr val="000000"/>
                </a:solidFill>
                <a:latin typeface="Comic Sans MS" pitchFamily="66" charset="0"/>
              </a:rPr>
              <a:t>See notes page for discussion</a:t>
            </a:r>
          </a:p>
        </p:txBody>
      </p:sp>
      <p:sp>
        <p:nvSpPr>
          <p:cNvPr id="104929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Financial Statements</a:t>
            </a:r>
          </a:p>
        </p:txBody>
      </p:sp>
      <p:sp>
        <p:nvSpPr>
          <p:cNvPr id="1049297"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8  Understand the four financial statements and how they are prepared.</a:t>
            </a:r>
          </a:p>
        </p:txBody>
      </p:sp>
    </p:spTree>
  </p:cSld>
  <p:clrMapOvr>
    <a:masterClrMapping/>
  </p:clrMapOvr>
  <p:transition spd="fast" advClick="1">
    <p:wipe dir="r"/>
  </p:transition>
</p:sld>
</file>

<file path=ppt/slides/slide50.xml><?xml version="1.0" encoding="utf-8"?>
<p:sld xmlns:a="http://schemas.openxmlformats.org/drawingml/2006/main" xmlns:r="http://schemas.openxmlformats.org/officeDocument/2006/relationships" xmlns:p="http://schemas.openxmlformats.org/presentationml/2006/main" showMasterSp="1">
  <p:cSld>
    <p:spTree>
      <p:nvGrpSpPr>
        <p:cNvPr id="166" name=""/>
        <p:cNvGrpSpPr/>
        <p:nvPr/>
      </p:nvGrpSpPr>
      <p:grpSpPr>
        <a:xfrm rot="0">
          <a:off x="0" y="0"/>
          <a:ext cx="0" cy="0"/>
          <a:chOff x="0" y="0"/>
          <a:chExt cx="0" cy="0"/>
        </a:xfrm>
      </p:grpSpPr>
      <p:sp>
        <p:nvSpPr>
          <p:cNvPr id="1049300" name=""/>
          <p:cNvSpPr/>
          <p:nvPr/>
        </p:nvSpPr>
        <p:spPr>
          <a:xfrm rot="0">
            <a:off x="381000" y="5029200"/>
            <a:ext cx="8382000" cy="1219200"/>
          </a:xfrm>
          <a:prstGeom prst="rect"/>
          <a:solidFill>
            <a:srgbClr val="F9EFA5"/>
          </a:solidFill>
          <a:ln w="28575"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r>
              <a:rPr altLang="en-US" b="1" sz="2000" lang="en-US">
                <a:latin typeface="Comic Sans MS" pitchFamily="66" charset="0"/>
              </a:rPr>
              <a:t>Forensic Accounting</a:t>
            </a:r>
          </a:p>
          <a:p>
            <a:pPr algn="l" lvl="0"/>
            <a:r>
              <a:rPr altLang="en-US" b="1" sz="2000" lang="en-US">
                <a:latin typeface="Comic Sans MS" pitchFamily="66" charset="0"/>
              </a:rPr>
              <a:t>Careers with insurance companies and law offices to conduct </a:t>
            </a:r>
          </a:p>
          <a:p>
            <a:pPr algn="l" lvl="0"/>
            <a:r>
              <a:rPr altLang="en-US" b="1" sz="2000" lang="en-US">
                <a:latin typeface="Comic Sans MS" pitchFamily="66" charset="0"/>
              </a:rPr>
              <a:t>investigations into theft and fraud.</a:t>
            </a:r>
          </a:p>
        </p:txBody>
      </p:sp>
      <p:sp>
        <p:nvSpPr>
          <p:cNvPr id="1049301" name=""/>
          <p:cNvSpPr/>
          <p:nvPr/>
        </p:nvSpPr>
        <p:spPr>
          <a:xfrm rot="0">
            <a:off x="381000" y="3733800"/>
            <a:ext cx="8382000" cy="1219200"/>
          </a:xfrm>
          <a:prstGeom prst="rect"/>
          <a:solidFill>
            <a:srgbClr val="F9EFA5"/>
          </a:solidFill>
          <a:ln w="28575"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endParaRPr altLang="en-US" sz="2000" lang="en-US">
              <a:latin typeface="Comic Sans MS" pitchFamily="66" charset="0"/>
            </a:endParaRPr>
          </a:p>
          <a:p>
            <a:pPr algn="l" lvl="0"/>
            <a:r>
              <a:rPr altLang="en-US" b="1" sz="2000" lang="en-US">
                <a:latin typeface="Comic Sans MS" pitchFamily="66" charset="0"/>
              </a:rPr>
              <a:t>Opportunities in Government</a:t>
            </a:r>
          </a:p>
          <a:p>
            <a:pPr algn="l" lvl="0"/>
            <a:r>
              <a:rPr altLang="en-US" b="1" sz="2000" lang="en-US">
                <a:latin typeface="Comic Sans MS" pitchFamily="66" charset="0"/>
              </a:rPr>
              <a:t>Careers with the IRS, the FBI, the SEC, and in public </a:t>
            </a:r>
          </a:p>
          <a:p>
            <a:pPr algn="l" lvl="0"/>
            <a:r>
              <a:rPr altLang="en-US" b="1" sz="2000" lang="en-US">
                <a:latin typeface="Comic Sans MS" pitchFamily="66" charset="0"/>
              </a:rPr>
              <a:t>colleges and universities.</a:t>
            </a:r>
          </a:p>
          <a:p>
            <a:pPr algn="l" lvl="0"/>
            <a:endParaRPr altLang="en-US" b="1" sz="2000" lang="en-US">
              <a:latin typeface="Comic Sans MS" pitchFamily="66" charset="0"/>
            </a:endParaRPr>
          </a:p>
        </p:txBody>
      </p:sp>
      <p:sp>
        <p:nvSpPr>
          <p:cNvPr id="1049302" name=""/>
          <p:cNvSpPr/>
          <p:nvPr/>
        </p:nvSpPr>
        <p:spPr>
          <a:xfrm rot="0">
            <a:off x="381000" y="2438400"/>
            <a:ext cx="8382000" cy="1219200"/>
          </a:xfrm>
          <a:prstGeom prst="rect"/>
          <a:solidFill>
            <a:srgbClr val="F9EFA5"/>
          </a:solidFill>
          <a:ln w="28575"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r>
              <a:rPr altLang="en-US" b="1" sz="2000" lang="en-US">
                <a:latin typeface="Comic Sans MS" pitchFamily="66" charset="0"/>
              </a:rPr>
              <a:t>Private Accounting</a:t>
            </a:r>
          </a:p>
          <a:p>
            <a:pPr algn="l" lvl="0"/>
            <a:r>
              <a:rPr altLang="en-US" b="1" sz="2000" lang="en-US">
                <a:latin typeface="Comic Sans MS" pitchFamily="66" charset="0"/>
              </a:rPr>
              <a:t>Careers in industry working in cost accounting, budgeting, </a:t>
            </a:r>
          </a:p>
          <a:p>
            <a:pPr algn="l" lvl="0"/>
            <a:r>
              <a:rPr altLang="en-US" b="1" sz="2000" lang="en-US">
                <a:latin typeface="Comic Sans MS" pitchFamily="66" charset="0"/>
              </a:rPr>
              <a:t>accounting information systems, and taxation.</a:t>
            </a:r>
          </a:p>
        </p:txBody>
      </p:sp>
      <p:sp>
        <p:nvSpPr>
          <p:cNvPr id="1049303"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latin typeface="Comic Sans MS" pitchFamily="66" charset="0"/>
              </a:rPr>
              <a:t>LO 9  Explain the career opportunities in accounting.</a:t>
            </a:r>
          </a:p>
        </p:txBody>
      </p:sp>
      <p:sp>
        <p:nvSpPr>
          <p:cNvPr id="1049304" name=""/>
          <p:cNvSpPr/>
          <p:nvPr>
            <p:ph type="title" sz="full" idx="4294967295"/>
          </p:nvPr>
        </p:nvSpPr>
        <p:spPr>
          <a:xfrm rot="0">
            <a:off x="457200" y="1524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algn="l" indent="0" lvl="0" marL="109537"/>
            <a:r>
              <a:rPr altLang="en-US" lang="en-US">
                <a:solidFill>
                  <a:schemeClr val="lt1"/>
                </a:solidFill>
                <a:effectLst>
                  <a:outerShdw algn="tl" blurRad="38100" dir="2700000" dist="38100">
                    <a:srgbClr val="C0C0C0"/>
                  </a:outerShdw>
                </a:effectLst>
              </a:rPr>
              <a:t>Accounting Career Opportunities</a:t>
            </a:r>
          </a:p>
        </p:txBody>
      </p:sp>
      <p:sp>
        <p:nvSpPr>
          <p:cNvPr id="1049305" name=""/>
          <p:cNvSpPr/>
          <p:nvPr/>
        </p:nvSpPr>
        <p:spPr>
          <a:xfrm rot="0">
            <a:off x="381000" y="1143000"/>
            <a:ext cx="8382000" cy="1219200"/>
          </a:xfrm>
          <a:prstGeom prst="rect"/>
          <a:solidFill>
            <a:srgbClr val="F9EFA5"/>
          </a:solidFill>
          <a:ln w="28575"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r>
              <a:rPr altLang="en-US" b="1" sz="2000" lang="en-US">
                <a:latin typeface="Comic Sans MS" pitchFamily="66" charset="0"/>
              </a:rPr>
              <a:t>Public Accounting</a:t>
            </a:r>
          </a:p>
          <a:p>
            <a:pPr algn="l" lvl="0"/>
            <a:r>
              <a:rPr altLang="en-US" b="1" sz="2000" lang="en-US">
                <a:latin typeface="Comic Sans MS" pitchFamily="66" charset="0"/>
              </a:rPr>
              <a:t>Careers in auditing and taxation serving the general public.</a:t>
            </a:r>
          </a:p>
        </p:txBody>
      </p:sp>
    </p:spTree>
  </p:cSld>
  <p:clrMapOvr>
    <a:masterClrMapping/>
  </p:clrMapOvr>
  <p:transition spd="fast" advClick="1">
    <p:wipe dir="r"/>
  </p:transition>
  <p:timing/>
</p:sld>
</file>

<file path=ppt/slides/slide51.xml><?xml version="1.0" encoding="utf-8"?>
<p:sld xmlns:a="http://schemas.openxmlformats.org/drawingml/2006/main" xmlns:r="http://schemas.openxmlformats.org/officeDocument/2006/relationships" xmlns:p="http://schemas.openxmlformats.org/presentationml/2006/main" showMasterSp="1">
  <p:cSld>
    <p:spTree>
      <p:nvGrpSpPr>
        <p:cNvPr id="167" name=""/>
        <p:cNvGrpSpPr/>
        <p:nvPr/>
      </p:nvGrpSpPr>
      <p:grpSpPr>
        <a:xfrm rot="0">
          <a:off x="0" y="0"/>
          <a:ext cx="0" cy="0"/>
          <a:chOff x="0" y="0"/>
          <a:chExt cx="0" cy="0"/>
        </a:xfrm>
      </p:grpSpPr>
      <p:sp>
        <p:nvSpPr>
          <p:cNvPr id="1049306" name=""/>
          <p:cNvSpPr/>
          <p:nvPr/>
        </p:nvSpPr>
        <p:spPr>
          <a:xfrm rot="0">
            <a:off x="838200" y="1447800"/>
            <a:ext cx="7772400" cy="3444875"/>
          </a:xfrm>
          <a:prstGeom prst="rect"/>
          <a:noFill/>
          <a:ln>
            <a:noFill/>
          </a:ln>
        </p:spPr>
        <p:txBody>
          <a:bodyPr bIns="46038" lIns="92075" rIns="92075" tIns="46038">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Times New Roman" pitchFamily="18" charset="0"/>
                <a:sym typeface="Times New Roman" pitchFamily="18" charset="0"/>
              </a:defRPr>
            </a:lvl5pPr>
          </a:lstStyle>
          <a:p>
            <a:pPr algn="l" lvl="0"/>
            <a:r>
              <a:rPr altLang="en-US" sz="2000" lang="en-US">
                <a:latin typeface="Comic Sans MS" pitchFamily="66" charset="0"/>
              </a:rPr>
              <a:t>Copyright © 2008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
        <p:nvSpPr>
          <p:cNvPr id="104930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Times New Roman" pitchFamily="18" charset="0"/>
              </a:defRPr>
            </a:lvl1pPr>
          </a:lstStyle>
          <a:p>
            <a:pPr indent="0" lvl="0" marL="109537"/>
            <a:r>
              <a:rPr altLang="en-US" lang="en-US">
                <a:solidFill>
                  <a:srgbClr val="FFCC00"/>
                </a:solidFill>
                <a:effectLst>
                  <a:outerShdw algn="tl" blurRad="38100" dir="2700000" dist="38100">
                    <a:srgbClr val="C0C0C0"/>
                  </a:outerShdw>
                </a:effectLst>
              </a:rPr>
              <a:t>Copyright</a:t>
            </a:r>
          </a:p>
        </p:txBody>
      </p:sp>
    </p:spTree>
  </p:cSld>
  <p:clrMapOvr>
    <a:masterClrMapping/>
  </p:clrMapOvr>
  <p:transition spd="fast" advClick="1">
    <p:wipe dir="r"/>
  </p:transition>
</p:sld>
</file>

<file path=ppt/theme/theme1.xml><?xml version="1.0" encoding="utf-8"?>
<a:theme xmlns:a="http://schemas.openxmlformats.org/drawingml/2006/main" name="Office 主题">
  <a:themeElements>
    <a:clrScheme name="Default Color Scheme">
      <a:dk1>
        <a:srgbClr val="000000"/>
      </a:dk1>
      <a:lt1>
        <a:srgbClr val="FFFFFF"/>
      </a:lt1>
      <a:dk2>
        <a:srgbClr val="000000"/>
      </a:dk2>
      <a:lt2>
        <a:srgbClr val="0000FF"/>
      </a:lt2>
      <a:accent1>
        <a:srgbClr val="00FFFF"/>
      </a:accent1>
      <a:accent2>
        <a:srgbClr val="FF0000"/>
      </a:accent2>
      <a:accent3>
        <a:srgbClr val="FFFFFF"/>
      </a:accent3>
      <a:accent4>
        <a:srgbClr val="000000"/>
      </a:accent4>
      <a:accent5>
        <a:srgbClr val="000000"/>
      </a:accent5>
      <a:accent6>
        <a:srgbClr val="000000"/>
      </a:accent6>
      <a:hlink>
        <a:srgbClr val="000099"/>
      </a:hlink>
      <a:folHlink>
        <a:srgbClr val="0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000000"/>
        </a:accent5>
        <a:accent6>
          <a:srgbClr val="000000"/>
        </a:accent6>
        <a:hlink>
          <a:srgbClr val="CCCCFF"/>
        </a:hlink>
        <a:folHlink>
          <a:srgbClr val="B2B2B2"/>
        </a:folHlink>
      </a:clrScheme>
    </a:extraClrScheme>
    <a:extraClrScheme>
      <a:clrScheme name="Default Color Scheme 2">
        <a:dk1>
          <a:srgbClr val="FFFFFF"/>
        </a:dk1>
        <a:lt1>
          <a:srgbClr val="0000FF"/>
        </a:lt1>
        <a:dk2>
          <a:srgbClr val="000000"/>
        </a:dk2>
        <a:lt2>
          <a:srgbClr val="FFFF00"/>
        </a:lt2>
        <a:accent1>
          <a:srgbClr val="FF9900"/>
        </a:accent1>
        <a:accent2>
          <a:srgbClr val="00FFFF"/>
        </a:accent2>
        <a:accent3>
          <a:srgbClr val="0000FF"/>
        </a:accent3>
        <a:accent4>
          <a:srgbClr val="FFFFFF"/>
        </a:accent4>
        <a:accent5>
          <a:srgbClr val="000000"/>
        </a:accent5>
        <a:accent6>
          <a:srgbClr val="000000"/>
        </a:accent6>
        <a:hlink>
          <a:srgbClr val="FF0000"/>
        </a:hlink>
        <a:folHlink>
          <a:srgbClr val="969696"/>
        </a:folHlink>
      </a:clrScheme>
    </a:extraClrScheme>
    <a:extraClrScheme>
      <a:clrScheme name="Default Color Scheme 3">
        <a:dk1>
          <a:srgbClr val="000000"/>
        </a:dk1>
        <a:lt1>
          <a:srgbClr val="FFFFCC"/>
        </a:lt1>
        <a:dk2>
          <a:srgbClr val="666633"/>
        </a:dk2>
        <a:lt2>
          <a:srgbClr val="808000"/>
        </a:lt2>
        <a:accent1>
          <a:srgbClr val="339933"/>
        </a:accent1>
        <a:accent2>
          <a:srgbClr val="800000"/>
        </a:accent2>
        <a:accent3>
          <a:srgbClr val="FFFFCC"/>
        </a:accent3>
        <a:accent4>
          <a:srgbClr val="000000"/>
        </a:accent4>
        <a:accent5>
          <a:srgbClr val="000000"/>
        </a:accent5>
        <a:accent6>
          <a:srgbClr val="000000"/>
        </a:accent6>
        <a:hlink>
          <a:srgbClr val="0033CC"/>
        </a:hlink>
        <a:folHlink>
          <a:srgbClr val="FFCC66"/>
        </a:folHlink>
      </a:clrScheme>
    </a:extraClrScheme>
    <a:extraClrScheme>
      <a:clrScheme name="Default Color Scheme 4">
        <a:dk1>
          <a:srgbClr val="000000"/>
        </a:dk1>
        <a:lt1>
          <a:srgbClr val="FFFFFF"/>
        </a:lt1>
        <a:dk2>
          <a:srgbClr val="333333"/>
        </a:dk2>
        <a:lt2>
          <a:srgbClr val="000000"/>
        </a:lt2>
        <a:accent1>
          <a:srgbClr val="DDDDDD"/>
        </a:accent1>
        <a:accent2>
          <a:srgbClr val="808080"/>
        </a:accent2>
        <a:accent3>
          <a:srgbClr val="FFFFFF"/>
        </a:accent3>
        <a:accent4>
          <a:srgbClr val="000000"/>
        </a:accent4>
        <a:accent5>
          <a:srgbClr val="000000"/>
        </a:accent5>
        <a:accent6>
          <a:srgbClr val="000000"/>
        </a:accent6>
        <a:hlink>
          <a:srgbClr val="4D4D4D"/>
        </a:hlink>
        <a:folHlink>
          <a:srgbClr val="EAEAEA"/>
        </a:folHlink>
      </a:clrScheme>
    </a:extraClrScheme>
    <a:extraClrScheme>
      <a:clrScheme name="Default Color Scheme 5">
        <a:dk1>
          <a:srgbClr val="000000"/>
        </a:dk1>
        <a:lt1>
          <a:srgbClr val="FFFFFF"/>
        </a:lt1>
        <a:dk2>
          <a:srgbClr val="808080"/>
        </a:dk2>
        <a:lt2>
          <a:srgbClr val="000000"/>
        </a:lt2>
        <a:accent1>
          <a:srgbClr val="FFCC66"/>
        </a:accent1>
        <a:accent2>
          <a:srgbClr val="0000FF"/>
        </a:accent2>
        <a:accent3>
          <a:srgbClr val="FFFFFF"/>
        </a:accent3>
        <a:accent4>
          <a:srgbClr val="000000"/>
        </a:accent4>
        <a:accent5>
          <a:srgbClr val="000000"/>
        </a:accent5>
        <a:accent6>
          <a:srgbClr val="000000"/>
        </a:accent6>
        <a:hlink>
          <a:srgbClr val="CC00CC"/>
        </a:hlink>
        <a:folHlink>
          <a:srgbClr val="C0C0C0"/>
        </a:folHlink>
      </a:clrScheme>
    </a:extraClrScheme>
    <a:extraClrScheme>
      <a:clrScheme name="Default Color Scheme 6">
        <a:dk1>
          <a:srgbClr val="000000"/>
        </a:dk1>
        <a:lt1>
          <a:srgbClr val="FFFFFF"/>
        </a:lt1>
        <a:dk2>
          <a:srgbClr val="808080"/>
        </a:dk2>
        <a:lt2>
          <a:srgbClr val="000000"/>
        </a:lt2>
        <a:accent1>
          <a:srgbClr val="C0C0C0"/>
        </a:accent1>
        <a:accent2>
          <a:srgbClr val="0066FF"/>
        </a:accent2>
        <a:accent3>
          <a:srgbClr val="FFFFFF"/>
        </a:accent3>
        <a:accent4>
          <a:srgbClr val="000000"/>
        </a:accent4>
        <a:accent5>
          <a:srgbClr val="000000"/>
        </a:accent5>
        <a:accent6>
          <a:srgbClr val="000000"/>
        </a:accent6>
        <a:hlink>
          <a:srgbClr val="FF0000"/>
        </a:hlink>
        <a:folHlink>
          <a:srgbClr val="009900"/>
        </a:folHlink>
      </a:clrScheme>
    </a:extraClrScheme>
    <a:extraClrScheme>
      <a:clrScheme name="Default Color Scheme 7">
        <a:dk1>
          <a:srgbClr val="000000"/>
        </a:dk1>
        <a:lt1>
          <a:srgbClr val="FFFFFF"/>
        </a:lt1>
        <a:dk2>
          <a:srgbClr val="808080"/>
        </a:dk2>
        <a:lt2>
          <a:srgbClr val="000000"/>
        </a:lt2>
        <a:accent1>
          <a:srgbClr val="3399FF"/>
        </a:accent1>
        <a:accent2>
          <a:srgbClr val="99FFCC"/>
        </a:accent2>
        <a:accent3>
          <a:srgbClr val="FFFFFF"/>
        </a:accent3>
        <a:accent4>
          <a:srgbClr val="000000"/>
        </a:accent4>
        <a:accent5>
          <a:srgbClr val="000000"/>
        </a:accent5>
        <a:accent6>
          <a:srgbClr val="000000"/>
        </a:accent6>
        <a:hlink>
          <a:srgbClr val="CC00CC"/>
        </a:hlink>
        <a:folHlink>
          <a:srgbClr val="B2B2B2"/>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
      <a:dk1>
        <a:srgbClr val="000000"/>
      </a:dk1>
      <a:lt1>
        <a:srgbClr val="FFFFFF"/>
      </a:lt1>
      <a:dk2>
        <a:srgbClr val="919191"/>
      </a:dk2>
      <a:lt2>
        <a:srgbClr val="000000"/>
      </a:lt2>
      <a:accent1>
        <a:srgbClr val="618FFD"/>
      </a:accent1>
      <a:accent2>
        <a:srgbClr val="00AE00"/>
      </a:accent2>
      <a:accent3>
        <a:srgbClr val="FFFFFF"/>
      </a:accent3>
      <a:accent4>
        <a:srgbClr val="000000"/>
      </a:accent4>
      <a:accent5>
        <a:srgbClr val="000000"/>
      </a:accent5>
      <a:accent6>
        <a:srgbClr val="0000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Override1.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    Financial Accounting and Accounting Standards</dc:title>
  <dc:creator>Coby Harmon</dc:creator>
  <cp:lastModifiedBy>SUT</cp:lastModifiedBy>
  <dcterms:created xsi:type="dcterms:W3CDTF">1997-03-28T12:03:02Z</dcterms:created>
  <dcterms:modified xsi:type="dcterms:W3CDTF">2021-01-22T13:22:05Z</dcterms:modified>
</cp:coreProperties>
</file>