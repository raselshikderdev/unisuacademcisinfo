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Open Sauce Bold" charset="1" panose="00000800000000000000"/>
      <p:regular r:id="rId16"/>
    </p:embeddedFont>
    <p:embeddedFont>
      <p:font typeface="Open Sauce Italics" charset="1" panose="00000500000000000000"/>
      <p:regular r:id="rId17"/>
    </p:embeddedFont>
    <p:embeddedFont>
      <p:font typeface="Open Sauce" charset="1" panose="00000500000000000000"/>
      <p:regular r:id="rId18"/>
    </p:embeddedFont>
    <p:embeddedFont>
      <p:font typeface="Open Sauce Bold Italics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13" Target="../media/image16.png" Type="http://schemas.openxmlformats.org/officeDocument/2006/relationships/image"/><Relationship Id="rId14" Target="../media/image17.svg" Type="http://schemas.openxmlformats.org/officeDocument/2006/relationships/image"/><Relationship Id="rId15" Target="../media/image18.png" Type="http://schemas.openxmlformats.org/officeDocument/2006/relationships/image"/><Relationship Id="rId16" Target="../media/image19.svg" Type="http://schemas.openxmlformats.org/officeDocument/2006/relationships/image"/><Relationship Id="rId17" Target="../media/image20.png" Type="http://schemas.openxmlformats.org/officeDocument/2006/relationships/image"/><Relationship Id="rId18" Target="../media/image21.svg" Type="http://schemas.openxmlformats.org/officeDocument/2006/relationships/image"/><Relationship Id="rId19" Target="../media/image22.png" Type="http://schemas.openxmlformats.org/officeDocument/2006/relationships/image"/><Relationship Id="rId2" Target="../media/image3.png" Type="http://schemas.openxmlformats.org/officeDocument/2006/relationships/image"/><Relationship Id="rId20" Target="../media/image23.sv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jpe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25.png" Type="http://schemas.openxmlformats.org/officeDocument/2006/relationships/image"/><Relationship Id="rId12" Target="../media/image26.svg" Type="http://schemas.openxmlformats.org/officeDocument/2006/relationships/image"/><Relationship Id="rId13" Target="../media/image14.png" Type="http://schemas.openxmlformats.org/officeDocument/2006/relationships/image"/><Relationship Id="rId14" Target="../media/image15.svg" Type="http://schemas.openxmlformats.org/officeDocument/2006/relationships/image"/><Relationship Id="rId15" Target="../media/image16.png" Type="http://schemas.openxmlformats.org/officeDocument/2006/relationships/image"/><Relationship Id="rId16" Target="../media/image17.svg" Type="http://schemas.openxmlformats.org/officeDocument/2006/relationships/image"/><Relationship Id="rId17" Target="../media/image27.png" Type="http://schemas.openxmlformats.org/officeDocument/2006/relationships/image"/><Relationship Id="rId18" Target="../media/image28.svg" Type="http://schemas.openxmlformats.org/officeDocument/2006/relationships/image"/><Relationship Id="rId2" Target="../media/image24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svg" Type="http://schemas.openxmlformats.org/officeDocument/2006/relationships/image"/><Relationship Id="rId11" Target="../media/image40.png" Type="http://schemas.openxmlformats.org/officeDocument/2006/relationships/image"/><Relationship Id="rId12" Target="../media/image41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37.jpe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42.png" Type="http://schemas.openxmlformats.org/officeDocument/2006/relationships/image"/><Relationship Id="rId7" Target="../media/image43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124068" y="2580495"/>
            <a:ext cx="8193197" cy="5796687"/>
          </a:xfrm>
          <a:custGeom>
            <a:avLst/>
            <a:gdLst/>
            <a:ahLst/>
            <a:cxnLst/>
            <a:rect r="r" b="b" t="t" l="l"/>
            <a:pathLst>
              <a:path h="5796687" w="8193197">
                <a:moveTo>
                  <a:pt x="0" y="0"/>
                </a:moveTo>
                <a:lnTo>
                  <a:pt x="8193198" y="0"/>
                </a:lnTo>
                <a:lnTo>
                  <a:pt x="8193198" y="5796688"/>
                </a:lnTo>
                <a:lnTo>
                  <a:pt x="0" y="57966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161984" y="-832526"/>
            <a:ext cx="2252032" cy="2252032"/>
          </a:xfrm>
          <a:custGeom>
            <a:avLst/>
            <a:gdLst/>
            <a:ahLst/>
            <a:cxnLst/>
            <a:rect r="r" b="b" t="t" l="l"/>
            <a:pathLst>
              <a:path h="2252032" w="2252032">
                <a:moveTo>
                  <a:pt x="0" y="0"/>
                </a:moveTo>
                <a:lnTo>
                  <a:pt x="2252032" y="0"/>
                </a:lnTo>
                <a:lnTo>
                  <a:pt x="2252032" y="2252033"/>
                </a:lnTo>
                <a:lnTo>
                  <a:pt x="0" y="2252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5138" y="9258300"/>
            <a:ext cx="823562" cy="823562"/>
          </a:xfrm>
          <a:custGeom>
            <a:avLst/>
            <a:gdLst/>
            <a:ahLst/>
            <a:cxnLst/>
            <a:rect r="r" b="b" t="t" l="l"/>
            <a:pathLst>
              <a:path h="823562" w="823562">
                <a:moveTo>
                  <a:pt x="0" y="0"/>
                </a:moveTo>
                <a:lnTo>
                  <a:pt x="823562" y="0"/>
                </a:lnTo>
                <a:lnTo>
                  <a:pt x="823562" y="823562"/>
                </a:lnTo>
                <a:lnTo>
                  <a:pt x="0" y="8235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788060" y="654776"/>
            <a:ext cx="373924" cy="373924"/>
          </a:xfrm>
          <a:custGeom>
            <a:avLst/>
            <a:gdLst/>
            <a:ahLst/>
            <a:cxnLst/>
            <a:rect r="r" b="b" t="t" l="l"/>
            <a:pathLst>
              <a:path h="373924" w="373924">
                <a:moveTo>
                  <a:pt x="0" y="0"/>
                </a:moveTo>
                <a:lnTo>
                  <a:pt x="373924" y="0"/>
                </a:lnTo>
                <a:lnTo>
                  <a:pt x="373924" y="373924"/>
                </a:lnTo>
                <a:lnTo>
                  <a:pt x="0" y="373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12420" y="9739778"/>
            <a:ext cx="342084" cy="342084"/>
          </a:xfrm>
          <a:custGeom>
            <a:avLst/>
            <a:gdLst/>
            <a:ahLst/>
            <a:cxnLst/>
            <a:rect r="r" b="b" t="t" l="l"/>
            <a:pathLst>
              <a:path h="342084" w="342084">
                <a:moveTo>
                  <a:pt x="0" y="0"/>
                </a:moveTo>
                <a:lnTo>
                  <a:pt x="342084" y="0"/>
                </a:lnTo>
                <a:lnTo>
                  <a:pt x="342084" y="342084"/>
                </a:lnTo>
                <a:lnTo>
                  <a:pt x="0" y="3420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2700000">
            <a:off x="14815903" y="1170552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1"/>
                </a:lnTo>
                <a:lnTo>
                  <a:pt x="0" y="2520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700000">
            <a:off x="9886895" y="2276218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700000">
            <a:off x="16955023" y="7936952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1" y="0"/>
                </a:lnTo>
                <a:lnTo>
                  <a:pt x="252071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12420" y="2279628"/>
            <a:ext cx="8481494" cy="302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 b="true">
                <a:solidFill>
                  <a:srgbClr val="E7427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Lease Financing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3462" y="5667689"/>
            <a:ext cx="6255055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4499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Use Assets Without Owning Them!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273796" y="8734425"/>
            <a:ext cx="769277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499" i="true">
                <a:solidFill>
                  <a:srgbClr val="212429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Presented by Rasel shikder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161984" y="-832526"/>
            <a:ext cx="2252032" cy="2252032"/>
          </a:xfrm>
          <a:custGeom>
            <a:avLst/>
            <a:gdLst/>
            <a:ahLst/>
            <a:cxnLst/>
            <a:rect r="r" b="b" t="t" l="l"/>
            <a:pathLst>
              <a:path h="2252032" w="2252032">
                <a:moveTo>
                  <a:pt x="0" y="0"/>
                </a:moveTo>
                <a:lnTo>
                  <a:pt x="2252032" y="0"/>
                </a:lnTo>
                <a:lnTo>
                  <a:pt x="2252032" y="2252033"/>
                </a:lnTo>
                <a:lnTo>
                  <a:pt x="0" y="22520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5138" y="9258300"/>
            <a:ext cx="823562" cy="823562"/>
          </a:xfrm>
          <a:custGeom>
            <a:avLst/>
            <a:gdLst/>
            <a:ahLst/>
            <a:cxnLst/>
            <a:rect r="r" b="b" t="t" l="l"/>
            <a:pathLst>
              <a:path h="823562" w="823562">
                <a:moveTo>
                  <a:pt x="0" y="0"/>
                </a:moveTo>
                <a:lnTo>
                  <a:pt x="823562" y="0"/>
                </a:lnTo>
                <a:lnTo>
                  <a:pt x="823562" y="823562"/>
                </a:lnTo>
                <a:lnTo>
                  <a:pt x="0" y="823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88060" y="654776"/>
            <a:ext cx="373924" cy="373924"/>
          </a:xfrm>
          <a:custGeom>
            <a:avLst/>
            <a:gdLst/>
            <a:ahLst/>
            <a:cxnLst/>
            <a:rect r="r" b="b" t="t" l="l"/>
            <a:pathLst>
              <a:path h="373924" w="373924">
                <a:moveTo>
                  <a:pt x="0" y="0"/>
                </a:moveTo>
                <a:lnTo>
                  <a:pt x="373924" y="0"/>
                </a:lnTo>
                <a:lnTo>
                  <a:pt x="373924" y="373924"/>
                </a:lnTo>
                <a:lnTo>
                  <a:pt x="0" y="373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2420" y="9739778"/>
            <a:ext cx="342084" cy="342084"/>
          </a:xfrm>
          <a:custGeom>
            <a:avLst/>
            <a:gdLst/>
            <a:ahLst/>
            <a:cxnLst/>
            <a:rect r="r" b="b" t="t" l="l"/>
            <a:pathLst>
              <a:path h="342084" w="342084">
                <a:moveTo>
                  <a:pt x="0" y="0"/>
                </a:moveTo>
                <a:lnTo>
                  <a:pt x="342084" y="0"/>
                </a:lnTo>
                <a:lnTo>
                  <a:pt x="342084" y="342084"/>
                </a:lnTo>
                <a:lnTo>
                  <a:pt x="0" y="342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84124" y="1583921"/>
            <a:ext cx="6558524" cy="7119158"/>
          </a:xfrm>
          <a:custGeom>
            <a:avLst/>
            <a:gdLst/>
            <a:ahLst/>
            <a:cxnLst/>
            <a:rect r="r" b="b" t="t" l="l"/>
            <a:pathLst>
              <a:path h="7119158" w="6558524">
                <a:moveTo>
                  <a:pt x="0" y="0"/>
                </a:moveTo>
                <a:lnTo>
                  <a:pt x="6558523" y="0"/>
                </a:lnTo>
                <a:lnTo>
                  <a:pt x="6558523" y="7119158"/>
                </a:lnTo>
                <a:lnTo>
                  <a:pt x="0" y="71191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494369" y="2808223"/>
            <a:ext cx="1119737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6499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What is Lease Financing?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11086" y="4026300"/>
            <a:ext cx="9763935" cy="4676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3499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A long-term rental where the lessee uses the asset while the lessor owns it, with regular payments instead of a full purchase, commonly used for 💻 IT equipment, 🚗 vehicles, and 🏢 property.</a:t>
            </a:r>
          </a:p>
          <a:p>
            <a:pPr algn="l">
              <a:lnSpc>
                <a:spcPts val="6299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2700000">
            <a:off x="9196206" y="7526243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1" y="0"/>
                </a:lnTo>
                <a:lnTo>
                  <a:pt x="252071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2700000">
            <a:off x="12712441" y="2066918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2700000">
            <a:off x="14998070" y="8954023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1"/>
                </a:lnTo>
                <a:lnTo>
                  <a:pt x="0" y="2520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161984" y="-832526"/>
            <a:ext cx="2252032" cy="2252032"/>
          </a:xfrm>
          <a:custGeom>
            <a:avLst/>
            <a:gdLst/>
            <a:ahLst/>
            <a:cxnLst/>
            <a:rect r="r" b="b" t="t" l="l"/>
            <a:pathLst>
              <a:path h="2252032" w="2252032">
                <a:moveTo>
                  <a:pt x="0" y="0"/>
                </a:moveTo>
                <a:lnTo>
                  <a:pt x="2252032" y="0"/>
                </a:lnTo>
                <a:lnTo>
                  <a:pt x="2252032" y="2252033"/>
                </a:lnTo>
                <a:lnTo>
                  <a:pt x="0" y="22520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5138" y="9258300"/>
            <a:ext cx="823562" cy="823562"/>
          </a:xfrm>
          <a:custGeom>
            <a:avLst/>
            <a:gdLst/>
            <a:ahLst/>
            <a:cxnLst/>
            <a:rect r="r" b="b" t="t" l="l"/>
            <a:pathLst>
              <a:path h="823562" w="823562">
                <a:moveTo>
                  <a:pt x="0" y="0"/>
                </a:moveTo>
                <a:lnTo>
                  <a:pt x="823562" y="0"/>
                </a:lnTo>
                <a:lnTo>
                  <a:pt x="823562" y="823562"/>
                </a:lnTo>
                <a:lnTo>
                  <a:pt x="0" y="823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88060" y="654776"/>
            <a:ext cx="373924" cy="373924"/>
          </a:xfrm>
          <a:custGeom>
            <a:avLst/>
            <a:gdLst/>
            <a:ahLst/>
            <a:cxnLst/>
            <a:rect r="r" b="b" t="t" l="l"/>
            <a:pathLst>
              <a:path h="373924" w="373924">
                <a:moveTo>
                  <a:pt x="0" y="0"/>
                </a:moveTo>
                <a:lnTo>
                  <a:pt x="373924" y="0"/>
                </a:lnTo>
                <a:lnTo>
                  <a:pt x="373924" y="373924"/>
                </a:lnTo>
                <a:lnTo>
                  <a:pt x="0" y="373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2420" y="9739778"/>
            <a:ext cx="342084" cy="342084"/>
          </a:xfrm>
          <a:custGeom>
            <a:avLst/>
            <a:gdLst/>
            <a:ahLst/>
            <a:cxnLst/>
            <a:rect r="r" b="b" t="t" l="l"/>
            <a:pathLst>
              <a:path h="342084" w="342084">
                <a:moveTo>
                  <a:pt x="0" y="0"/>
                </a:moveTo>
                <a:lnTo>
                  <a:pt x="342084" y="0"/>
                </a:lnTo>
                <a:lnTo>
                  <a:pt x="342084" y="342084"/>
                </a:lnTo>
                <a:lnTo>
                  <a:pt x="0" y="342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2700000">
            <a:off x="17133264" y="6597677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700000">
            <a:off x="902664" y="2325902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700000">
            <a:off x="7259846" y="9132264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54504" y="2898785"/>
            <a:ext cx="7091129" cy="5724458"/>
            <a:chOff x="0" y="0"/>
            <a:chExt cx="9454838" cy="7632611"/>
          </a:xfrm>
        </p:grpSpPr>
        <p:pic>
          <p:nvPicPr>
            <p:cNvPr name="Picture 10" id="10"/>
            <p:cNvPicPr>
              <a:picLocks noChangeAspect="true"/>
            </p:cNvPicPr>
            <p:nvPr/>
          </p:nvPicPr>
          <p:blipFill>
            <a:blip r:embed="rId8"/>
            <a:srcRect l="8037" t="0" r="8037" b="0"/>
            <a:stretch>
              <a:fillRect/>
            </a:stretch>
          </p:blipFill>
          <p:spPr>
            <a:xfrm flipH="false" flipV="false">
              <a:off x="0" y="0"/>
              <a:ext cx="9454838" cy="7632611"/>
            </a:xfrm>
            <a:prstGeom prst="rect">
              <a:avLst/>
            </a:prstGeom>
          </p:spPr>
        </p:pic>
      </p:grpSp>
      <p:sp>
        <p:nvSpPr>
          <p:cNvPr name="TextBox 11" id="11"/>
          <p:cNvSpPr txBox="true"/>
          <p:nvPr/>
        </p:nvSpPr>
        <p:spPr>
          <a:xfrm rot="0">
            <a:off x="1604274" y="1441442"/>
            <a:ext cx="15079452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Types of Leases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076449" y="3187394"/>
            <a:ext cx="1102251" cy="1123313"/>
          </a:xfrm>
          <a:custGeom>
            <a:avLst/>
            <a:gdLst/>
            <a:ahLst/>
            <a:cxnLst/>
            <a:rect r="r" b="b" t="t" l="l"/>
            <a:pathLst>
              <a:path h="1123313" w="1102251">
                <a:moveTo>
                  <a:pt x="0" y="0"/>
                </a:moveTo>
                <a:lnTo>
                  <a:pt x="1102251" y="0"/>
                </a:lnTo>
                <a:lnTo>
                  <a:pt x="1102251" y="1123313"/>
                </a:lnTo>
                <a:lnTo>
                  <a:pt x="0" y="11233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318567" y="3406413"/>
            <a:ext cx="638409" cy="637611"/>
          </a:xfrm>
          <a:custGeom>
            <a:avLst/>
            <a:gdLst/>
            <a:ahLst/>
            <a:cxnLst/>
            <a:rect r="r" b="b" t="t" l="l"/>
            <a:pathLst>
              <a:path h="637611" w="638409">
                <a:moveTo>
                  <a:pt x="0" y="0"/>
                </a:moveTo>
                <a:lnTo>
                  <a:pt x="638408" y="0"/>
                </a:lnTo>
                <a:lnTo>
                  <a:pt x="638408" y="637610"/>
                </a:lnTo>
                <a:lnTo>
                  <a:pt x="0" y="6376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4" id="14"/>
          <p:cNvSpPr txBox="true"/>
          <p:nvPr/>
        </p:nvSpPr>
        <p:spPr>
          <a:xfrm rot="0">
            <a:off x="10419117" y="3739526"/>
            <a:ext cx="5312676" cy="81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599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Short-term use, easy to cancel, no ownership risk.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19117" y="2864808"/>
            <a:ext cx="5123914" cy="723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3499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Operating Lease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102412" y="5296501"/>
            <a:ext cx="1128148" cy="1149705"/>
            <a:chOff x="0" y="0"/>
            <a:chExt cx="1504197" cy="153293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04197" cy="1532939"/>
            </a:xfrm>
            <a:custGeom>
              <a:avLst/>
              <a:gdLst/>
              <a:ahLst/>
              <a:cxnLst/>
              <a:rect r="r" b="b" t="t" l="l"/>
              <a:pathLst>
                <a:path h="1532939" w="1504197">
                  <a:moveTo>
                    <a:pt x="0" y="0"/>
                  </a:moveTo>
                  <a:lnTo>
                    <a:pt x="1504197" y="0"/>
                  </a:lnTo>
                  <a:lnTo>
                    <a:pt x="1504197" y="1532939"/>
                  </a:lnTo>
                  <a:lnTo>
                    <a:pt x="0" y="1532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02578" y="312409"/>
              <a:ext cx="899040" cy="908121"/>
            </a:xfrm>
            <a:custGeom>
              <a:avLst/>
              <a:gdLst/>
              <a:ahLst/>
              <a:cxnLst/>
              <a:rect r="r" b="b" t="t" l="l"/>
              <a:pathLst>
                <a:path h="908121" w="899040">
                  <a:moveTo>
                    <a:pt x="0" y="0"/>
                  </a:moveTo>
                  <a:lnTo>
                    <a:pt x="899040" y="0"/>
                  </a:lnTo>
                  <a:lnTo>
                    <a:pt x="899040" y="908121"/>
                  </a:lnTo>
                  <a:lnTo>
                    <a:pt x="0" y="908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102412" y="7526456"/>
            <a:ext cx="1076222" cy="1096787"/>
            <a:chOff x="0" y="0"/>
            <a:chExt cx="1434963" cy="146238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34963" cy="1462383"/>
            </a:xfrm>
            <a:custGeom>
              <a:avLst/>
              <a:gdLst/>
              <a:ahLst/>
              <a:cxnLst/>
              <a:rect r="r" b="b" t="t" l="l"/>
              <a:pathLst>
                <a:path h="1462383" w="1434963">
                  <a:moveTo>
                    <a:pt x="0" y="0"/>
                  </a:moveTo>
                  <a:lnTo>
                    <a:pt x="1434963" y="0"/>
                  </a:lnTo>
                  <a:lnTo>
                    <a:pt x="1434963" y="1462383"/>
                  </a:lnTo>
                  <a:lnTo>
                    <a:pt x="0" y="1462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315200" y="323427"/>
              <a:ext cx="831111" cy="815528"/>
            </a:xfrm>
            <a:custGeom>
              <a:avLst/>
              <a:gdLst/>
              <a:ahLst/>
              <a:cxnLst/>
              <a:rect r="r" b="b" t="t" l="l"/>
              <a:pathLst>
                <a:path h="815528" w="831111">
                  <a:moveTo>
                    <a:pt x="0" y="0"/>
                  </a:moveTo>
                  <a:lnTo>
                    <a:pt x="831111" y="0"/>
                  </a:lnTo>
                  <a:lnTo>
                    <a:pt x="831111" y="815528"/>
                  </a:lnTo>
                  <a:lnTo>
                    <a:pt x="0" y="815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0419117" y="4942659"/>
            <a:ext cx="3866516" cy="75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9"/>
              </a:lnSpc>
            </a:pPr>
            <a:r>
              <a:rPr lang="en-US" sz="3599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Financial Lease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19117" y="7050991"/>
            <a:ext cx="4493391" cy="75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9"/>
              </a:lnSpc>
            </a:pPr>
            <a:r>
              <a:rPr lang="en-US" sz="3599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Leveraged Lease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19117" y="5751489"/>
            <a:ext cx="5312676" cy="81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599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Long-term, lessee bears risks, can gain ownership.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19117" y="7957774"/>
            <a:ext cx="5312676" cy="81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599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Involves third-party financing for large assets.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95897" y="1719389"/>
            <a:ext cx="6183156" cy="6848222"/>
            <a:chOff x="0" y="0"/>
            <a:chExt cx="8244209" cy="9130962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19922" t="0" r="19922" b="0"/>
            <a:stretch>
              <a:fillRect/>
            </a:stretch>
          </p:blipFill>
          <p:spPr>
            <a:xfrm flipH="false" flipV="false">
              <a:off x="0" y="0"/>
              <a:ext cx="8244209" cy="9130962"/>
            </a:xfrm>
            <a:prstGeom prst="rect">
              <a:avLst/>
            </a:prstGeom>
          </p:spPr>
        </p:pic>
      </p:grpSp>
      <p:sp>
        <p:nvSpPr>
          <p:cNvPr name="Freeform 4" id="4"/>
          <p:cNvSpPr/>
          <p:nvPr/>
        </p:nvSpPr>
        <p:spPr>
          <a:xfrm flipH="false" flipV="false" rot="0">
            <a:off x="17161984" y="-832526"/>
            <a:ext cx="2252032" cy="2252032"/>
          </a:xfrm>
          <a:custGeom>
            <a:avLst/>
            <a:gdLst/>
            <a:ahLst/>
            <a:cxnLst/>
            <a:rect r="r" b="b" t="t" l="l"/>
            <a:pathLst>
              <a:path h="2252032" w="2252032">
                <a:moveTo>
                  <a:pt x="0" y="0"/>
                </a:moveTo>
                <a:lnTo>
                  <a:pt x="2252032" y="0"/>
                </a:lnTo>
                <a:lnTo>
                  <a:pt x="2252032" y="2252033"/>
                </a:lnTo>
                <a:lnTo>
                  <a:pt x="0" y="22520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5138" y="9258300"/>
            <a:ext cx="823562" cy="823562"/>
          </a:xfrm>
          <a:custGeom>
            <a:avLst/>
            <a:gdLst/>
            <a:ahLst/>
            <a:cxnLst/>
            <a:rect r="r" b="b" t="t" l="l"/>
            <a:pathLst>
              <a:path h="823562" w="823562">
                <a:moveTo>
                  <a:pt x="0" y="0"/>
                </a:moveTo>
                <a:lnTo>
                  <a:pt x="823562" y="0"/>
                </a:lnTo>
                <a:lnTo>
                  <a:pt x="823562" y="823562"/>
                </a:lnTo>
                <a:lnTo>
                  <a:pt x="0" y="8235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788060" y="654776"/>
            <a:ext cx="373924" cy="373924"/>
          </a:xfrm>
          <a:custGeom>
            <a:avLst/>
            <a:gdLst/>
            <a:ahLst/>
            <a:cxnLst/>
            <a:rect r="r" b="b" t="t" l="l"/>
            <a:pathLst>
              <a:path h="373924" w="373924">
                <a:moveTo>
                  <a:pt x="0" y="0"/>
                </a:moveTo>
                <a:lnTo>
                  <a:pt x="373924" y="0"/>
                </a:lnTo>
                <a:lnTo>
                  <a:pt x="373924" y="373924"/>
                </a:lnTo>
                <a:lnTo>
                  <a:pt x="0" y="3739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12420" y="9739778"/>
            <a:ext cx="342084" cy="342084"/>
          </a:xfrm>
          <a:custGeom>
            <a:avLst/>
            <a:gdLst/>
            <a:ahLst/>
            <a:cxnLst/>
            <a:rect r="r" b="b" t="t" l="l"/>
            <a:pathLst>
              <a:path h="342084" w="342084">
                <a:moveTo>
                  <a:pt x="0" y="0"/>
                </a:moveTo>
                <a:lnTo>
                  <a:pt x="342084" y="0"/>
                </a:lnTo>
                <a:lnTo>
                  <a:pt x="342084" y="342084"/>
                </a:lnTo>
                <a:lnTo>
                  <a:pt x="0" y="3420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2700000">
            <a:off x="902664" y="2757476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700000">
            <a:off x="13727702" y="902664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2700000">
            <a:off x="9017964" y="9132264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657414" y="1762295"/>
            <a:ext cx="8317607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6499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Who’s Involved?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786681" y="7414652"/>
            <a:ext cx="967149" cy="985630"/>
            <a:chOff x="0" y="0"/>
            <a:chExt cx="1289532" cy="131417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9532" cy="1314173"/>
            </a:xfrm>
            <a:custGeom>
              <a:avLst/>
              <a:gdLst/>
              <a:ahLst/>
              <a:cxnLst/>
              <a:rect r="r" b="b" t="t" l="l"/>
              <a:pathLst>
                <a:path h="1314173" w="1289532">
                  <a:moveTo>
                    <a:pt x="0" y="0"/>
                  </a:moveTo>
                  <a:lnTo>
                    <a:pt x="1289532" y="0"/>
                  </a:lnTo>
                  <a:lnTo>
                    <a:pt x="1289532" y="1314173"/>
                  </a:lnTo>
                  <a:lnTo>
                    <a:pt x="0" y="1314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77998" y="262605"/>
              <a:ext cx="533536" cy="788963"/>
            </a:xfrm>
            <a:custGeom>
              <a:avLst/>
              <a:gdLst/>
              <a:ahLst/>
              <a:cxnLst/>
              <a:rect r="r" b="b" t="t" l="l"/>
              <a:pathLst>
                <a:path h="788963" w="533536">
                  <a:moveTo>
                    <a:pt x="0" y="0"/>
                  </a:moveTo>
                  <a:lnTo>
                    <a:pt x="533536" y="0"/>
                  </a:lnTo>
                  <a:lnTo>
                    <a:pt x="533536" y="788963"/>
                  </a:lnTo>
                  <a:lnTo>
                    <a:pt x="0" y="7889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037105" y="6906968"/>
            <a:ext cx="2779113" cy="796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3799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Lessee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786681" y="3372917"/>
            <a:ext cx="967149" cy="985630"/>
          </a:xfrm>
          <a:custGeom>
            <a:avLst/>
            <a:gdLst/>
            <a:ahLst/>
            <a:cxnLst/>
            <a:rect r="r" b="b" t="t" l="l"/>
            <a:pathLst>
              <a:path h="985630" w="967149">
                <a:moveTo>
                  <a:pt x="0" y="0"/>
                </a:moveTo>
                <a:lnTo>
                  <a:pt x="967149" y="0"/>
                </a:lnTo>
                <a:lnTo>
                  <a:pt x="967149" y="985629"/>
                </a:lnTo>
                <a:lnTo>
                  <a:pt x="0" y="98562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061798" y="3038645"/>
            <a:ext cx="2779113" cy="796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3799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Lessor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8965758" y="3546329"/>
            <a:ext cx="638409" cy="637611"/>
          </a:xfrm>
          <a:custGeom>
            <a:avLst/>
            <a:gdLst/>
            <a:ahLst/>
            <a:cxnLst/>
            <a:rect r="r" b="b" t="t" l="l"/>
            <a:pathLst>
              <a:path h="637611" w="638409">
                <a:moveTo>
                  <a:pt x="0" y="0"/>
                </a:moveTo>
                <a:lnTo>
                  <a:pt x="638409" y="0"/>
                </a:lnTo>
                <a:lnTo>
                  <a:pt x="638409" y="637611"/>
                </a:lnTo>
                <a:lnTo>
                  <a:pt x="0" y="63761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9" id="19"/>
          <p:cNvSpPr txBox="true"/>
          <p:nvPr/>
        </p:nvSpPr>
        <p:spPr>
          <a:xfrm rot="0">
            <a:off x="10061798" y="7712786"/>
            <a:ext cx="5118697" cy="877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99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The user of the asset who pays periodic rent for using it.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8868244" y="5255429"/>
            <a:ext cx="967149" cy="985630"/>
          </a:xfrm>
          <a:custGeom>
            <a:avLst/>
            <a:gdLst/>
            <a:ahLst/>
            <a:cxnLst/>
            <a:rect r="r" b="b" t="t" l="l"/>
            <a:pathLst>
              <a:path h="985630" w="967149">
                <a:moveTo>
                  <a:pt x="0" y="0"/>
                </a:moveTo>
                <a:lnTo>
                  <a:pt x="967150" y="0"/>
                </a:lnTo>
                <a:lnTo>
                  <a:pt x="967150" y="985630"/>
                </a:lnTo>
                <a:lnTo>
                  <a:pt x="0" y="98563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057633" y="5488214"/>
            <a:ext cx="588372" cy="539163"/>
          </a:xfrm>
          <a:custGeom>
            <a:avLst/>
            <a:gdLst/>
            <a:ahLst/>
            <a:cxnLst/>
            <a:rect r="r" b="b" t="t" l="l"/>
            <a:pathLst>
              <a:path h="539163" w="588372">
                <a:moveTo>
                  <a:pt x="0" y="0"/>
                </a:moveTo>
                <a:lnTo>
                  <a:pt x="588372" y="0"/>
                </a:lnTo>
                <a:lnTo>
                  <a:pt x="588372" y="539163"/>
                </a:lnTo>
                <a:lnTo>
                  <a:pt x="0" y="53916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2" id="22"/>
          <p:cNvSpPr txBox="true"/>
          <p:nvPr/>
        </p:nvSpPr>
        <p:spPr>
          <a:xfrm rot="0">
            <a:off x="10143361" y="4691921"/>
            <a:ext cx="3794217" cy="796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3799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Agreement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43361" y="5478689"/>
            <a:ext cx="7018623" cy="122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599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A contract that specifies payment terms, lease duration, rights, and responsibilities of both parties.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061798" y="3825413"/>
            <a:ext cx="7018623" cy="122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599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The legal owner of the asset who leases it out to earn income.</a:t>
            </a:r>
          </a:p>
          <a:p>
            <a:pPr algn="l">
              <a:lnSpc>
                <a:spcPts val="324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161984" y="-832526"/>
            <a:ext cx="2252032" cy="2252032"/>
          </a:xfrm>
          <a:custGeom>
            <a:avLst/>
            <a:gdLst/>
            <a:ahLst/>
            <a:cxnLst/>
            <a:rect r="r" b="b" t="t" l="l"/>
            <a:pathLst>
              <a:path h="2252032" w="2252032">
                <a:moveTo>
                  <a:pt x="0" y="0"/>
                </a:moveTo>
                <a:lnTo>
                  <a:pt x="2252032" y="0"/>
                </a:lnTo>
                <a:lnTo>
                  <a:pt x="2252032" y="2252033"/>
                </a:lnTo>
                <a:lnTo>
                  <a:pt x="0" y="22520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5138" y="9258300"/>
            <a:ext cx="823562" cy="823562"/>
          </a:xfrm>
          <a:custGeom>
            <a:avLst/>
            <a:gdLst/>
            <a:ahLst/>
            <a:cxnLst/>
            <a:rect r="r" b="b" t="t" l="l"/>
            <a:pathLst>
              <a:path h="823562" w="823562">
                <a:moveTo>
                  <a:pt x="0" y="0"/>
                </a:moveTo>
                <a:lnTo>
                  <a:pt x="823562" y="0"/>
                </a:lnTo>
                <a:lnTo>
                  <a:pt x="823562" y="823562"/>
                </a:lnTo>
                <a:lnTo>
                  <a:pt x="0" y="823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88060" y="654776"/>
            <a:ext cx="373924" cy="373924"/>
          </a:xfrm>
          <a:custGeom>
            <a:avLst/>
            <a:gdLst/>
            <a:ahLst/>
            <a:cxnLst/>
            <a:rect r="r" b="b" t="t" l="l"/>
            <a:pathLst>
              <a:path h="373924" w="373924">
                <a:moveTo>
                  <a:pt x="0" y="0"/>
                </a:moveTo>
                <a:lnTo>
                  <a:pt x="373924" y="0"/>
                </a:lnTo>
                <a:lnTo>
                  <a:pt x="373924" y="373924"/>
                </a:lnTo>
                <a:lnTo>
                  <a:pt x="0" y="373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2420" y="9739778"/>
            <a:ext cx="342084" cy="342084"/>
          </a:xfrm>
          <a:custGeom>
            <a:avLst/>
            <a:gdLst/>
            <a:ahLst/>
            <a:cxnLst/>
            <a:rect r="r" b="b" t="t" l="l"/>
            <a:pathLst>
              <a:path h="342084" w="342084">
                <a:moveTo>
                  <a:pt x="0" y="0"/>
                </a:moveTo>
                <a:lnTo>
                  <a:pt x="342084" y="0"/>
                </a:lnTo>
                <a:lnTo>
                  <a:pt x="342084" y="342084"/>
                </a:lnTo>
                <a:lnTo>
                  <a:pt x="0" y="342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3208548" y="547687"/>
            <a:ext cx="15079452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6000" i="true">
                <a:solidFill>
                  <a:srgbClr val="212429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Key Features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2700000">
            <a:off x="2095673" y="3325187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1" y="0"/>
                </a:lnTo>
                <a:lnTo>
                  <a:pt x="252071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700000">
            <a:off x="14742806" y="5287493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1" y="0"/>
                </a:lnTo>
                <a:lnTo>
                  <a:pt x="252071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700000">
            <a:off x="6035443" y="9132264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16919" y="1345531"/>
            <a:ext cx="10843323" cy="8736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sz="3999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🔑 No Ownership Transfer</a:t>
            </a:r>
          </a:p>
          <a:p>
            <a:pPr algn="l">
              <a:lnSpc>
                <a:spcPts val="5056"/>
              </a:lnSpc>
            </a:pPr>
            <a:r>
              <a:rPr lang="en-US" sz="3200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         Ownership stays with the lessor.</a:t>
            </a:r>
          </a:p>
          <a:p>
            <a:pPr algn="l">
              <a:lnSpc>
                <a:spcPts val="7199"/>
              </a:lnSpc>
            </a:pPr>
            <a:r>
              <a:rPr lang="en-US" sz="3999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💸 Fixed Monthly Payments</a:t>
            </a:r>
          </a:p>
          <a:p>
            <a:pPr algn="l">
              <a:lnSpc>
                <a:spcPts val="5760"/>
              </a:lnSpc>
            </a:pPr>
            <a:r>
              <a:rPr lang="en-US" sz="3200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         </a:t>
            </a:r>
            <a:r>
              <a:rPr lang="en-US" sz="3200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Regular and predictable payment schedule.</a:t>
            </a:r>
          </a:p>
          <a:p>
            <a:pPr algn="l">
              <a:lnSpc>
                <a:spcPts val="7199"/>
              </a:lnSpc>
            </a:pPr>
            <a:r>
              <a:rPr lang="en-US" sz="3999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📅 Lease Period </a:t>
            </a:r>
            <a:r>
              <a:rPr lang="en-US" sz="3999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Set in Advance</a:t>
            </a:r>
          </a:p>
          <a:p>
            <a:pPr algn="l">
              <a:lnSpc>
                <a:spcPts val="5760"/>
              </a:lnSpc>
            </a:pPr>
            <a:r>
              <a:rPr lang="en-US" sz="3200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         Start and end date agreed upfront.</a:t>
            </a:r>
          </a:p>
          <a:p>
            <a:pPr algn="l">
              <a:lnSpc>
                <a:spcPts val="7199"/>
              </a:lnSpc>
            </a:pPr>
            <a:r>
              <a:rPr lang="en-US" sz="3999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🏢 Covers Expensive Assets</a:t>
            </a:r>
          </a:p>
          <a:p>
            <a:pPr algn="l">
              <a:lnSpc>
                <a:spcPts val="5760"/>
              </a:lnSpc>
            </a:pPr>
            <a:r>
              <a:rPr lang="en-US" sz="3200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         Ideal for property, vehicles, and machinery.</a:t>
            </a:r>
          </a:p>
          <a:p>
            <a:pPr algn="l">
              <a:lnSpc>
                <a:spcPts val="7199"/>
              </a:lnSpc>
            </a:pPr>
            <a:r>
              <a:rPr lang="en-US" sz="3999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🧾 Tax-Deductible for Lessee</a:t>
            </a:r>
          </a:p>
          <a:p>
            <a:pPr algn="l">
              <a:lnSpc>
                <a:spcPts val="5760"/>
              </a:lnSpc>
            </a:pPr>
            <a:r>
              <a:rPr lang="en-US" sz="3200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       Payments can reduce taxable income.</a:t>
            </a:r>
          </a:p>
          <a:p>
            <a:pPr algn="l">
              <a:lnSpc>
                <a:spcPts val="5760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376119" y="2427969"/>
            <a:ext cx="6411941" cy="5971120"/>
          </a:xfrm>
          <a:custGeom>
            <a:avLst/>
            <a:gdLst/>
            <a:ahLst/>
            <a:cxnLst/>
            <a:rect r="r" b="b" t="t" l="l"/>
            <a:pathLst>
              <a:path h="5971120" w="6411941">
                <a:moveTo>
                  <a:pt x="0" y="0"/>
                </a:moveTo>
                <a:lnTo>
                  <a:pt x="6411941" y="0"/>
                </a:lnTo>
                <a:lnTo>
                  <a:pt x="6411941" y="5971120"/>
                </a:lnTo>
                <a:lnTo>
                  <a:pt x="0" y="59711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8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161984" y="-832526"/>
            <a:ext cx="2252032" cy="2252032"/>
          </a:xfrm>
          <a:custGeom>
            <a:avLst/>
            <a:gdLst/>
            <a:ahLst/>
            <a:cxnLst/>
            <a:rect r="r" b="b" t="t" l="l"/>
            <a:pathLst>
              <a:path h="2252032" w="2252032">
                <a:moveTo>
                  <a:pt x="0" y="0"/>
                </a:moveTo>
                <a:lnTo>
                  <a:pt x="2252032" y="0"/>
                </a:lnTo>
                <a:lnTo>
                  <a:pt x="2252032" y="2252033"/>
                </a:lnTo>
                <a:lnTo>
                  <a:pt x="0" y="22520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5138" y="9258300"/>
            <a:ext cx="823562" cy="823562"/>
          </a:xfrm>
          <a:custGeom>
            <a:avLst/>
            <a:gdLst/>
            <a:ahLst/>
            <a:cxnLst/>
            <a:rect r="r" b="b" t="t" l="l"/>
            <a:pathLst>
              <a:path h="823562" w="823562">
                <a:moveTo>
                  <a:pt x="0" y="0"/>
                </a:moveTo>
                <a:lnTo>
                  <a:pt x="823562" y="0"/>
                </a:lnTo>
                <a:lnTo>
                  <a:pt x="823562" y="823562"/>
                </a:lnTo>
                <a:lnTo>
                  <a:pt x="0" y="823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88060" y="654776"/>
            <a:ext cx="373924" cy="373924"/>
          </a:xfrm>
          <a:custGeom>
            <a:avLst/>
            <a:gdLst/>
            <a:ahLst/>
            <a:cxnLst/>
            <a:rect r="r" b="b" t="t" l="l"/>
            <a:pathLst>
              <a:path h="373924" w="373924">
                <a:moveTo>
                  <a:pt x="0" y="0"/>
                </a:moveTo>
                <a:lnTo>
                  <a:pt x="373924" y="0"/>
                </a:lnTo>
                <a:lnTo>
                  <a:pt x="373924" y="373924"/>
                </a:lnTo>
                <a:lnTo>
                  <a:pt x="0" y="373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2420" y="9739778"/>
            <a:ext cx="342084" cy="342084"/>
          </a:xfrm>
          <a:custGeom>
            <a:avLst/>
            <a:gdLst/>
            <a:ahLst/>
            <a:cxnLst/>
            <a:rect r="r" b="b" t="t" l="l"/>
            <a:pathLst>
              <a:path h="342084" w="342084">
                <a:moveTo>
                  <a:pt x="0" y="0"/>
                </a:moveTo>
                <a:lnTo>
                  <a:pt x="342084" y="0"/>
                </a:lnTo>
                <a:lnTo>
                  <a:pt x="342084" y="342084"/>
                </a:lnTo>
                <a:lnTo>
                  <a:pt x="0" y="342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5835345" y="7196738"/>
            <a:ext cx="3486896" cy="3090262"/>
          </a:xfrm>
          <a:custGeom>
            <a:avLst/>
            <a:gdLst/>
            <a:ahLst/>
            <a:cxnLst/>
            <a:rect r="r" b="b" t="t" l="l"/>
            <a:pathLst>
              <a:path h="3090262" w="3486896">
                <a:moveTo>
                  <a:pt x="0" y="0"/>
                </a:moveTo>
                <a:lnTo>
                  <a:pt x="3486897" y="0"/>
                </a:lnTo>
                <a:lnTo>
                  <a:pt x="3486897" y="3090262"/>
                </a:lnTo>
                <a:lnTo>
                  <a:pt x="0" y="30902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700000">
            <a:off x="15083735" y="9132264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700000">
            <a:off x="9017964" y="902664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700000">
            <a:off x="902664" y="3470707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1"/>
                </a:lnTo>
                <a:lnTo>
                  <a:pt x="0" y="2520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06942" y="850458"/>
            <a:ext cx="162306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40"/>
              </a:lnSpc>
            </a:pPr>
            <a:r>
              <a:rPr lang="en-US" sz="6200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Benefits You’ll Love!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6942" y="2315944"/>
            <a:ext cx="7607103" cy="4682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3499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💰 Low Initial Cost</a:t>
            </a:r>
          </a:p>
          <a:p>
            <a:pPr algn="l">
              <a:lnSpc>
                <a:spcPts val="4679"/>
              </a:lnSpc>
            </a:pPr>
            <a:r>
              <a:rPr lang="en-US" sz="2599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 Keeps more cash available for your business.</a:t>
            </a:r>
          </a:p>
          <a:p>
            <a:pPr algn="l">
              <a:lnSpc>
                <a:spcPts val="6119"/>
              </a:lnSpc>
            </a:pPr>
            <a:r>
              <a:rPr lang="en-US" sz="3399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⚙️ Easy Access to Modern Assets</a:t>
            </a:r>
          </a:p>
          <a:p>
            <a:pPr algn="l">
              <a:lnSpc>
                <a:spcPts val="4679"/>
              </a:lnSpc>
            </a:pPr>
            <a:r>
              <a:rPr lang="en-US" sz="2599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 Upgrade to the latest equipment quickly.</a:t>
            </a:r>
          </a:p>
          <a:p>
            <a:pPr algn="l">
              <a:lnSpc>
                <a:spcPts val="6299"/>
              </a:lnSpc>
            </a:pPr>
            <a:r>
              <a:rPr lang="en-US" sz="3499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🛠 low Maintenance Hassle</a:t>
            </a:r>
          </a:p>
          <a:p>
            <a:pPr algn="l">
              <a:lnSpc>
                <a:spcPts val="4679"/>
              </a:lnSpc>
            </a:pPr>
            <a:r>
              <a:rPr lang="en-US" sz="2599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 Upkeep is usually handled by the lessor.</a:t>
            </a:r>
          </a:p>
          <a:p>
            <a:pPr algn="l">
              <a:lnSpc>
                <a:spcPts val="467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523776" y="3574959"/>
            <a:ext cx="8316586" cy="470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3499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📜 Flexible Terms</a:t>
            </a:r>
          </a:p>
          <a:p>
            <a:pPr algn="l">
              <a:lnSpc>
                <a:spcPts val="4679"/>
              </a:lnSpc>
            </a:pPr>
            <a:r>
              <a:rPr lang="en-US" sz="2599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 Choose the lease period and conditions that fit.</a:t>
            </a:r>
          </a:p>
          <a:p>
            <a:pPr algn="l">
              <a:lnSpc>
                <a:spcPts val="6299"/>
              </a:lnSpc>
            </a:pPr>
            <a:r>
              <a:rPr lang="en-US" sz="3499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🧾</a:t>
            </a:r>
            <a:r>
              <a:rPr lang="en-US" sz="3499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Tax Benefits</a:t>
            </a:r>
          </a:p>
          <a:p>
            <a:pPr algn="l">
              <a:lnSpc>
                <a:spcPts val="4679"/>
              </a:lnSpc>
            </a:pPr>
            <a:r>
              <a:rPr lang="en-US" sz="2599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 Lease payments can lower taxable income.</a:t>
            </a:r>
          </a:p>
          <a:p>
            <a:pPr algn="l">
              <a:lnSpc>
                <a:spcPts val="6299"/>
              </a:lnSpc>
            </a:pPr>
            <a:r>
              <a:rPr lang="en-US" sz="3499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🏦</a:t>
            </a:r>
            <a:r>
              <a:rPr lang="en-US" sz="3499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Preserves Borrowing Capacity</a:t>
            </a:r>
          </a:p>
          <a:p>
            <a:pPr algn="l">
              <a:lnSpc>
                <a:spcPts val="4680"/>
              </a:lnSpc>
            </a:pPr>
            <a:r>
              <a:rPr lang="en-US" sz="2600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 Doesn’t tie up credit lines like loans do.</a:t>
            </a:r>
          </a:p>
          <a:p>
            <a:pPr algn="l">
              <a:lnSpc>
                <a:spcPts val="468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161984" y="-832526"/>
            <a:ext cx="2252032" cy="2252032"/>
          </a:xfrm>
          <a:custGeom>
            <a:avLst/>
            <a:gdLst/>
            <a:ahLst/>
            <a:cxnLst/>
            <a:rect r="r" b="b" t="t" l="l"/>
            <a:pathLst>
              <a:path h="2252032" w="2252032">
                <a:moveTo>
                  <a:pt x="0" y="0"/>
                </a:moveTo>
                <a:lnTo>
                  <a:pt x="2252032" y="0"/>
                </a:lnTo>
                <a:lnTo>
                  <a:pt x="2252032" y="2252033"/>
                </a:lnTo>
                <a:lnTo>
                  <a:pt x="0" y="22520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5138" y="9258300"/>
            <a:ext cx="823562" cy="823562"/>
          </a:xfrm>
          <a:custGeom>
            <a:avLst/>
            <a:gdLst/>
            <a:ahLst/>
            <a:cxnLst/>
            <a:rect r="r" b="b" t="t" l="l"/>
            <a:pathLst>
              <a:path h="823562" w="823562">
                <a:moveTo>
                  <a:pt x="0" y="0"/>
                </a:moveTo>
                <a:lnTo>
                  <a:pt x="823562" y="0"/>
                </a:lnTo>
                <a:lnTo>
                  <a:pt x="823562" y="823562"/>
                </a:lnTo>
                <a:lnTo>
                  <a:pt x="0" y="823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88060" y="654776"/>
            <a:ext cx="373924" cy="373924"/>
          </a:xfrm>
          <a:custGeom>
            <a:avLst/>
            <a:gdLst/>
            <a:ahLst/>
            <a:cxnLst/>
            <a:rect r="r" b="b" t="t" l="l"/>
            <a:pathLst>
              <a:path h="373924" w="373924">
                <a:moveTo>
                  <a:pt x="0" y="0"/>
                </a:moveTo>
                <a:lnTo>
                  <a:pt x="373924" y="0"/>
                </a:lnTo>
                <a:lnTo>
                  <a:pt x="373924" y="373924"/>
                </a:lnTo>
                <a:lnTo>
                  <a:pt x="0" y="373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2420" y="9739778"/>
            <a:ext cx="342084" cy="342084"/>
          </a:xfrm>
          <a:custGeom>
            <a:avLst/>
            <a:gdLst/>
            <a:ahLst/>
            <a:cxnLst/>
            <a:rect r="r" b="b" t="t" l="l"/>
            <a:pathLst>
              <a:path h="342084" w="342084">
                <a:moveTo>
                  <a:pt x="0" y="0"/>
                </a:moveTo>
                <a:lnTo>
                  <a:pt x="342084" y="0"/>
                </a:lnTo>
                <a:lnTo>
                  <a:pt x="342084" y="342084"/>
                </a:lnTo>
                <a:lnTo>
                  <a:pt x="0" y="342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2700000">
            <a:off x="14272825" y="8599965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700000">
            <a:off x="11495530" y="1791446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700000">
            <a:off x="1080906" y="6555412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1" y="0"/>
                </a:lnTo>
                <a:lnTo>
                  <a:pt x="252071" y="252071"/>
                </a:lnTo>
                <a:lnTo>
                  <a:pt x="0" y="2520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018237" y="1739241"/>
            <a:ext cx="5489368" cy="6808519"/>
          </a:xfrm>
          <a:custGeom>
            <a:avLst/>
            <a:gdLst/>
            <a:ahLst/>
            <a:cxnLst/>
            <a:rect r="r" b="b" t="t" l="l"/>
            <a:pathLst>
              <a:path h="6808519" w="5489368">
                <a:moveTo>
                  <a:pt x="0" y="0"/>
                </a:moveTo>
                <a:lnTo>
                  <a:pt x="5489368" y="0"/>
                </a:lnTo>
                <a:lnTo>
                  <a:pt x="5489368" y="6808518"/>
                </a:lnTo>
                <a:lnTo>
                  <a:pt x="0" y="68085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140658" y="2389701"/>
            <a:ext cx="51604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sz="6200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Drawbacks!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40658" y="4104441"/>
            <a:ext cx="8088796" cy="2958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3299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⚠️ You Don’t Own It</a:t>
            </a:r>
          </a:p>
          <a:p>
            <a:pPr algn="l">
              <a:lnSpc>
                <a:spcPts val="5939"/>
              </a:lnSpc>
            </a:pPr>
            <a:r>
              <a:rPr lang="en-US" sz="3299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⚠️ Long-Term Costs Can Add Up</a:t>
            </a:r>
          </a:p>
          <a:p>
            <a:pPr algn="l">
              <a:lnSpc>
                <a:spcPts val="5939"/>
              </a:lnSpc>
            </a:pPr>
            <a:r>
              <a:rPr lang="en-US" sz="3299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⚠️ Restrictions on Usage or Exit</a:t>
            </a:r>
          </a:p>
          <a:p>
            <a:pPr algn="l">
              <a:lnSpc>
                <a:spcPts val="5939"/>
              </a:lnSpc>
            </a:pPr>
            <a:r>
              <a:rPr lang="en-US" sz="3299">
                <a:solidFill>
                  <a:srgbClr val="212429"/>
                </a:solidFill>
                <a:latin typeface="Open Sauce"/>
                <a:ea typeface="Open Sauce"/>
                <a:cs typeface="Open Sauce"/>
                <a:sym typeface="Open Sauce"/>
              </a:rPr>
              <a:t>⚠️ Might Be Locked Into a Bad Deal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161984" y="-832526"/>
            <a:ext cx="2252032" cy="2252032"/>
          </a:xfrm>
          <a:custGeom>
            <a:avLst/>
            <a:gdLst/>
            <a:ahLst/>
            <a:cxnLst/>
            <a:rect r="r" b="b" t="t" l="l"/>
            <a:pathLst>
              <a:path h="2252032" w="2252032">
                <a:moveTo>
                  <a:pt x="0" y="0"/>
                </a:moveTo>
                <a:lnTo>
                  <a:pt x="2252032" y="0"/>
                </a:lnTo>
                <a:lnTo>
                  <a:pt x="2252032" y="2252033"/>
                </a:lnTo>
                <a:lnTo>
                  <a:pt x="0" y="22520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5138" y="9258300"/>
            <a:ext cx="823562" cy="823562"/>
          </a:xfrm>
          <a:custGeom>
            <a:avLst/>
            <a:gdLst/>
            <a:ahLst/>
            <a:cxnLst/>
            <a:rect r="r" b="b" t="t" l="l"/>
            <a:pathLst>
              <a:path h="823562" w="823562">
                <a:moveTo>
                  <a:pt x="0" y="0"/>
                </a:moveTo>
                <a:lnTo>
                  <a:pt x="823562" y="0"/>
                </a:lnTo>
                <a:lnTo>
                  <a:pt x="823562" y="823562"/>
                </a:lnTo>
                <a:lnTo>
                  <a:pt x="0" y="823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88060" y="654776"/>
            <a:ext cx="373924" cy="373924"/>
          </a:xfrm>
          <a:custGeom>
            <a:avLst/>
            <a:gdLst/>
            <a:ahLst/>
            <a:cxnLst/>
            <a:rect r="r" b="b" t="t" l="l"/>
            <a:pathLst>
              <a:path h="373924" w="373924">
                <a:moveTo>
                  <a:pt x="0" y="0"/>
                </a:moveTo>
                <a:lnTo>
                  <a:pt x="373924" y="0"/>
                </a:lnTo>
                <a:lnTo>
                  <a:pt x="373924" y="373924"/>
                </a:lnTo>
                <a:lnTo>
                  <a:pt x="0" y="373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2420" y="9739778"/>
            <a:ext cx="342084" cy="342084"/>
          </a:xfrm>
          <a:custGeom>
            <a:avLst/>
            <a:gdLst/>
            <a:ahLst/>
            <a:cxnLst/>
            <a:rect r="r" b="b" t="t" l="l"/>
            <a:pathLst>
              <a:path h="342084" w="342084">
                <a:moveTo>
                  <a:pt x="0" y="0"/>
                </a:moveTo>
                <a:lnTo>
                  <a:pt x="342084" y="0"/>
                </a:lnTo>
                <a:lnTo>
                  <a:pt x="342084" y="342084"/>
                </a:lnTo>
                <a:lnTo>
                  <a:pt x="0" y="342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2700000">
            <a:off x="6690138" y="9132264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700000">
            <a:off x="4090595" y="1293471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700000">
            <a:off x="17133264" y="5971501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901197" y="2106951"/>
          <a:ext cx="16358103" cy="6668308"/>
        </p:xfrm>
        <a:graphic>
          <a:graphicData uri="http://schemas.openxmlformats.org/drawingml/2006/table">
            <a:tbl>
              <a:tblPr/>
              <a:tblGrid>
                <a:gridCol w="5452701"/>
                <a:gridCol w="5452701"/>
                <a:gridCol w="5452701"/>
              </a:tblGrid>
              <a:tr h="117538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r>
                        <a:rPr lang="en-US" sz="33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Factors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sz="36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Lease  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40"/>
                        </a:lnSpc>
                        <a:defRPr/>
                      </a:pPr>
                      <a:r>
                        <a:rPr lang="en-US" sz="36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Buy It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10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Cost Now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Lower upfront cost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Higher upfront investment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538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Ownership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No ownership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Full ownership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10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Flexibility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High (easy to upgrade/return)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Low (asset tied up)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538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Best For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Short/medium-term use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900"/>
                        </a:lnSpc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Long-term asset use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2417763" y="859176"/>
            <a:ext cx="12227003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40"/>
              </a:lnSpc>
            </a:pPr>
            <a:r>
              <a:rPr lang="en-US" sz="6200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Lease vs Buy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5377982" y="2185779"/>
            <a:ext cx="6982230" cy="6589480"/>
          </a:xfrm>
          <a:custGeom>
            <a:avLst/>
            <a:gdLst/>
            <a:ahLst/>
            <a:cxnLst/>
            <a:rect r="r" b="b" t="t" l="l"/>
            <a:pathLst>
              <a:path h="6589480" w="6982230">
                <a:moveTo>
                  <a:pt x="0" y="0"/>
                </a:moveTo>
                <a:lnTo>
                  <a:pt x="6982231" y="0"/>
                </a:lnTo>
                <a:lnTo>
                  <a:pt x="6982231" y="6589479"/>
                </a:lnTo>
                <a:lnTo>
                  <a:pt x="0" y="6589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161984" y="-832526"/>
            <a:ext cx="2252032" cy="2252032"/>
          </a:xfrm>
          <a:custGeom>
            <a:avLst/>
            <a:gdLst/>
            <a:ahLst/>
            <a:cxnLst/>
            <a:rect r="r" b="b" t="t" l="l"/>
            <a:pathLst>
              <a:path h="2252032" w="2252032">
                <a:moveTo>
                  <a:pt x="0" y="0"/>
                </a:moveTo>
                <a:lnTo>
                  <a:pt x="2252032" y="0"/>
                </a:lnTo>
                <a:lnTo>
                  <a:pt x="2252032" y="2252033"/>
                </a:lnTo>
                <a:lnTo>
                  <a:pt x="0" y="22520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5138" y="9258300"/>
            <a:ext cx="823562" cy="823562"/>
          </a:xfrm>
          <a:custGeom>
            <a:avLst/>
            <a:gdLst/>
            <a:ahLst/>
            <a:cxnLst/>
            <a:rect r="r" b="b" t="t" l="l"/>
            <a:pathLst>
              <a:path h="823562" w="823562">
                <a:moveTo>
                  <a:pt x="0" y="0"/>
                </a:moveTo>
                <a:lnTo>
                  <a:pt x="823562" y="0"/>
                </a:lnTo>
                <a:lnTo>
                  <a:pt x="823562" y="823562"/>
                </a:lnTo>
                <a:lnTo>
                  <a:pt x="0" y="823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88060" y="654776"/>
            <a:ext cx="373924" cy="373924"/>
          </a:xfrm>
          <a:custGeom>
            <a:avLst/>
            <a:gdLst/>
            <a:ahLst/>
            <a:cxnLst/>
            <a:rect r="r" b="b" t="t" l="l"/>
            <a:pathLst>
              <a:path h="373924" w="373924">
                <a:moveTo>
                  <a:pt x="0" y="0"/>
                </a:moveTo>
                <a:lnTo>
                  <a:pt x="373924" y="0"/>
                </a:lnTo>
                <a:lnTo>
                  <a:pt x="373924" y="373924"/>
                </a:lnTo>
                <a:lnTo>
                  <a:pt x="0" y="373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2420" y="9739778"/>
            <a:ext cx="342084" cy="342084"/>
          </a:xfrm>
          <a:custGeom>
            <a:avLst/>
            <a:gdLst/>
            <a:ahLst/>
            <a:cxnLst/>
            <a:rect r="r" b="b" t="t" l="l"/>
            <a:pathLst>
              <a:path h="342084" w="342084">
                <a:moveTo>
                  <a:pt x="0" y="0"/>
                </a:moveTo>
                <a:lnTo>
                  <a:pt x="342084" y="0"/>
                </a:lnTo>
                <a:lnTo>
                  <a:pt x="342084" y="342084"/>
                </a:lnTo>
                <a:lnTo>
                  <a:pt x="0" y="342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2700000">
            <a:off x="1080906" y="7462183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1" y="0"/>
                </a:lnTo>
                <a:lnTo>
                  <a:pt x="252071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700000">
            <a:off x="9017964" y="1115229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700000">
            <a:off x="14045756" y="8954023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1"/>
                </a:lnTo>
                <a:lnTo>
                  <a:pt x="0" y="2520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54504" y="1719389"/>
            <a:ext cx="6183156" cy="6848222"/>
            <a:chOff x="0" y="0"/>
            <a:chExt cx="8244209" cy="9130962"/>
          </a:xfrm>
        </p:grpSpPr>
        <p:pic>
          <p:nvPicPr>
            <p:cNvPr name="Picture 10" id="10"/>
            <p:cNvPicPr>
              <a:picLocks noChangeAspect="true"/>
            </p:cNvPicPr>
            <p:nvPr/>
          </p:nvPicPr>
          <p:blipFill>
            <a:blip r:embed="rId8"/>
            <a:srcRect l="21897" t="0" r="21897" b="0"/>
            <a:stretch>
              <a:fillRect/>
            </a:stretch>
          </p:blipFill>
          <p:spPr>
            <a:xfrm flipH="false" flipV="false">
              <a:off x="0" y="0"/>
              <a:ext cx="8244209" cy="9130962"/>
            </a:xfrm>
            <a:prstGeom prst="rect">
              <a:avLst/>
            </a:prstGeom>
          </p:spPr>
        </p:pic>
      </p:grpSp>
      <p:sp>
        <p:nvSpPr>
          <p:cNvPr name="TextBox 11" id="11"/>
          <p:cNvSpPr txBox="true"/>
          <p:nvPr/>
        </p:nvSpPr>
        <p:spPr>
          <a:xfrm rot="0">
            <a:off x="8360748" y="1719389"/>
            <a:ext cx="808286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sz="6200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Mission and Vision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333387" y="3429819"/>
            <a:ext cx="8668996" cy="1600960"/>
            <a:chOff x="0" y="0"/>
            <a:chExt cx="11558661" cy="2134613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65042" y="970870"/>
              <a:ext cx="11493619" cy="11637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799">
                  <a:solidFill>
                    <a:srgbClr val="21242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To lead in innovative lease financing, helping organizations grow sustainably worldwide.</a:t>
              </a:r>
            </a:p>
          </p:txBody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2848" cy="895677"/>
            </a:xfrm>
            <a:custGeom>
              <a:avLst/>
              <a:gdLst/>
              <a:ahLst/>
              <a:cxnLst/>
              <a:rect r="r" b="b" t="t" l="l"/>
              <a:pathLst>
                <a:path h="895677" w="952848">
                  <a:moveTo>
                    <a:pt x="0" y="0"/>
                  </a:moveTo>
                  <a:lnTo>
                    <a:pt x="952848" y="0"/>
                  </a:lnTo>
                  <a:lnTo>
                    <a:pt x="952848" y="895677"/>
                  </a:lnTo>
                  <a:lnTo>
                    <a:pt x="0" y="8956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1124437" y="-152813"/>
              <a:ext cx="5125737" cy="10287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199"/>
                </a:lnSpc>
              </a:pPr>
              <a:r>
                <a:rPr lang="en-US" sz="3999" b="true">
                  <a:solidFill>
                    <a:srgbClr val="21242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Vision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360748" y="5982953"/>
            <a:ext cx="8641635" cy="1966689"/>
            <a:chOff x="0" y="0"/>
            <a:chExt cx="11522180" cy="2622252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28561" y="874308"/>
              <a:ext cx="11493619" cy="17479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799">
                  <a:solidFill>
                    <a:srgbClr val="21242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To offer flexible, affordable leasing so businesses and individuals can access modern assets without big upfront costs.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851294" y="-228600"/>
              <a:ext cx="5125737" cy="10287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199"/>
                </a:lnSpc>
              </a:pPr>
              <a:r>
                <a:rPr lang="en-US" sz="3999" b="true">
                  <a:solidFill>
                    <a:srgbClr val="21242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Mission</a:t>
              </a:r>
            </a:p>
          </p:txBody>
        </p:sp>
        <p:sp>
          <p:nvSpPr>
            <p:cNvPr name="Freeform 19" id="19"/>
            <p:cNvSpPr/>
            <p:nvPr/>
          </p:nvSpPr>
          <p:spPr>
            <a:xfrm flipH="false" flipV="false" rot="0">
              <a:off x="0" y="24069"/>
              <a:ext cx="751966" cy="751966"/>
            </a:xfrm>
            <a:custGeom>
              <a:avLst/>
              <a:gdLst/>
              <a:ahLst/>
              <a:cxnLst/>
              <a:rect r="r" b="b" t="t" l="l"/>
              <a:pathLst>
                <a:path h="751966" w="751966">
                  <a:moveTo>
                    <a:pt x="0" y="0"/>
                  </a:moveTo>
                  <a:lnTo>
                    <a:pt x="751966" y="0"/>
                  </a:lnTo>
                  <a:lnTo>
                    <a:pt x="751966" y="751966"/>
                  </a:lnTo>
                  <a:lnTo>
                    <a:pt x="0" y="751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161984" y="-832526"/>
            <a:ext cx="2252032" cy="2252032"/>
          </a:xfrm>
          <a:custGeom>
            <a:avLst/>
            <a:gdLst/>
            <a:ahLst/>
            <a:cxnLst/>
            <a:rect r="r" b="b" t="t" l="l"/>
            <a:pathLst>
              <a:path h="2252032" w="2252032">
                <a:moveTo>
                  <a:pt x="0" y="0"/>
                </a:moveTo>
                <a:lnTo>
                  <a:pt x="2252032" y="0"/>
                </a:lnTo>
                <a:lnTo>
                  <a:pt x="2252032" y="2252033"/>
                </a:lnTo>
                <a:lnTo>
                  <a:pt x="0" y="22520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5138" y="9258300"/>
            <a:ext cx="823562" cy="823562"/>
          </a:xfrm>
          <a:custGeom>
            <a:avLst/>
            <a:gdLst/>
            <a:ahLst/>
            <a:cxnLst/>
            <a:rect r="r" b="b" t="t" l="l"/>
            <a:pathLst>
              <a:path h="823562" w="823562">
                <a:moveTo>
                  <a:pt x="0" y="0"/>
                </a:moveTo>
                <a:lnTo>
                  <a:pt x="823562" y="0"/>
                </a:lnTo>
                <a:lnTo>
                  <a:pt x="823562" y="823562"/>
                </a:lnTo>
                <a:lnTo>
                  <a:pt x="0" y="823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88060" y="654776"/>
            <a:ext cx="373924" cy="373924"/>
          </a:xfrm>
          <a:custGeom>
            <a:avLst/>
            <a:gdLst/>
            <a:ahLst/>
            <a:cxnLst/>
            <a:rect r="r" b="b" t="t" l="l"/>
            <a:pathLst>
              <a:path h="373924" w="373924">
                <a:moveTo>
                  <a:pt x="0" y="0"/>
                </a:moveTo>
                <a:lnTo>
                  <a:pt x="373924" y="0"/>
                </a:lnTo>
                <a:lnTo>
                  <a:pt x="373924" y="373924"/>
                </a:lnTo>
                <a:lnTo>
                  <a:pt x="0" y="373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2420" y="9739778"/>
            <a:ext cx="342084" cy="342084"/>
          </a:xfrm>
          <a:custGeom>
            <a:avLst/>
            <a:gdLst/>
            <a:ahLst/>
            <a:cxnLst/>
            <a:rect r="r" b="b" t="t" l="l"/>
            <a:pathLst>
              <a:path h="342084" w="342084">
                <a:moveTo>
                  <a:pt x="0" y="0"/>
                </a:moveTo>
                <a:lnTo>
                  <a:pt x="342084" y="0"/>
                </a:lnTo>
                <a:lnTo>
                  <a:pt x="342084" y="342084"/>
                </a:lnTo>
                <a:lnTo>
                  <a:pt x="0" y="342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2221359" y="1714605"/>
            <a:ext cx="5331932" cy="6857790"/>
          </a:xfrm>
          <a:custGeom>
            <a:avLst/>
            <a:gdLst/>
            <a:ahLst/>
            <a:cxnLst/>
            <a:rect r="r" b="b" t="t" l="l"/>
            <a:pathLst>
              <a:path h="6857790" w="5331932">
                <a:moveTo>
                  <a:pt x="0" y="0"/>
                </a:moveTo>
                <a:lnTo>
                  <a:pt x="5331931" y="0"/>
                </a:lnTo>
                <a:lnTo>
                  <a:pt x="5331931" y="6857790"/>
                </a:lnTo>
                <a:lnTo>
                  <a:pt x="0" y="68577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282072" y="4250009"/>
            <a:ext cx="8505988" cy="188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sz="6200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Thank You</a:t>
            </a:r>
          </a:p>
          <a:p>
            <a:pPr algn="l">
              <a:lnSpc>
                <a:spcPts val="7440"/>
              </a:lnSpc>
            </a:pPr>
            <a:r>
              <a:rPr lang="en-US" sz="6200" b="true">
                <a:solidFill>
                  <a:srgbClr val="2124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For listening!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2700000">
            <a:off x="902664" y="3885484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700000">
            <a:off x="14836991" y="1687538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1" y="0"/>
                </a:lnTo>
                <a:lnTo>
                  <a:pt x="252071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2700000">
            <a:off x="10315959" y="8446359"/>
            <a:ext cx="252072" cy="252072"/>
          </a:xfrm>
          <a:custGeom>
            <a:avLst/>
            <a:gdLst/>
            <a:ahLst/>
            <a:cxnLst/>
            <a:rect r="r" b="b" t="t" l="l"/>
            <a:pathLst>
              <a:path h="252072" w="252072">
                <a:moveTo>
                  <a:pt x="0" y="0"/>
                </a:moveTo>
                <a:lnTo>
                  <a:pt x="252072" y="0"/>
                </a:lnTo>
                <a:lnTo>
                  <a:pt x="252072" y="252072"/>
                </a:lnTo>
                <a:lnTo>
                  <a:pt x="0" y="2520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DAGuLBuRLvA</dc:identifier>
  <dcterms:modified xsi:type="dcterms:W3CDTF">2011-08-01T06:04:30Z</dcterms:modified>
  <cp:revision>1</cp:revision>
  <dc:title>Lease Finance</dc:title>
</cp:coreProperties>
</file>