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Bold" charset="1" panose="00000800000000000000"/>
      <p:regular r:id="rId17"/>
    </p:embeddedFont>
    <p:embeddedFont>
      <p:font typeface="Open Sauce Italics" charset="1" panose="000005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media/image3.png" Type="http://schemas.openxmlformats.org/officeDocument/2006/relationships/image"/><Relationship Id="rId20" Target="../media/image23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27.png" Type="http://schemas.openxmlformats.org/officeDocument/2006/relationships/image"/><Relationship Id="rId18" Target="../media/image28.svg" Type="http://schemas.openxmlformats.org/officeDocument/2006/relationships/image"/><Relationship Id="rId2" Target="../media/image24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7.jpe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24068" y="2580495"/>
            <a:ext cx="8193197" cy="5796687"/>
          </a:xfrm>
          <a:custGeom>
            <a:avLst/>
            <a:gdLst/>
            <a:ahLst/>
            <a:cxnLst/>
            <a:rect r="r" b="b" t="t" l="l"/>
            <a:pathLst>
              <a:path h="5796687" w="8193197">
                <a:moveTo>
                  <a:pt x="0" y="0"/>
                </a:moveTo>
                <a:lnTo>
                  <a:pt x="8193198" y="0"/>
                </a:lnTo>
                <a:lnTo>
                  <a:pt x="8193198" y="5796688"/>
                </a:lnTo>
                <a:lnTo>
                  <a:pt x="0" y="579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00000">
            <a:off x="14815903" y="117055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9886895" y="2276218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6955023" y="793695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12420" y="2279628"/>
            <a:ext cx="8481494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E7427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Lease Financing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462" y="5667689"/>
            <a:ext cx="6255055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Assets Without Owning Them!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66546" y="1157569"/>
            <a:ext cx="769277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i="true">
                <a:solidFill>
                  <a:srgbClr val="212429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Presented by Rasel shikder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84124" y="1583921"/>
            <a:ext cx="6558524" cy="7119158"/>
          </a:xfrm>
          <a:custGeom>
            <a:avLst/>
            <a:gdLst/>
            <a:ahLst/>
            <a:cxnLst/>
            <a:rect r="r" b="b" t="t" l="l"/>
            <a:pathLst>
              <a:path h="7119158" w="6558524">
                <a:moveTo>
                  <a:pt x="0" y="0"/>
                </a:moveTo>
                <a:lnTo>
                  <a:pt x="6558523" y="0"/>
                </a:lnTo>
                <a:lnTo>
                  <a:pt x="6558523" y="7119158"/>
                </a:lnTo>
                <a:lnTo>
                  <a:pt x="0" y="711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94369" y="2808223"/>
            <a:ext cx="1119737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Lease Financing?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11086" y="4026300"/>
            <a:ext cx="9763935" cy="467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A long-term rental where the lessee uses the asset while the lessor owns it, with regular payments instead of a full purchase, commonly used for 💻 IT equipment, 🚗 vehicles, and 🏢 property.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2700000">
            <a:off x="9196206" y="752624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2712441" y="2066918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700000">
            <a:off x="14998070" y="895402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17133264" y="6597677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902664" y="232590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7259846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4504" y="2898785"/>
            <a:ext cx="7091129" cy="5724458"/>
            <a:chOff x="0" y="0"/>
            <a:chExt cx="9454838" cy="7632611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8"/>
            <a:srcRect l="8037" t="0" r="8037" b="0"/>
            <a:stretch>
              <a:fillRect/>
            </a:stretch>
          </p:blipFill>
          <p:spPr>
            <a:xfrm flipH="false" flipV="false">
              <a:off x="0" y="0"/>
              <a:ext cx="9454838" cy="7632611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1604274" y="1441442"/>
            <a:ext cx="1507945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Types of Leases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076449" y="3187394"/>
            <a:ext cx="1102251" cy="1123313"/>
          </a:xfrm>
          <a:custGeom>
            <a:avLst/>
            <a:gdLst/>
            <a:ahLst/>
            <a:cxnLst/>
            <a:rect r="r" b="b" t="t" l="l"/>
            <a:pathLst>
              <a:path h="1123313" w="1102251">
                <a:moveTo>
                  <a:pt x="0" y="0"/>
                </a:moveTo>
                <a:lnTo>
                  <a:pt x="1102251" y="0"/>
                </a:lnTo>
                <a:lnTo>
                  <a:pt x="1102251" y="1123313"/>
                </a:lnTo>
                <a:lnTo>
                  <a:pt x="0" y="11233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18567" y="3406413"/>
            <a:ext cx="638409" cy="637611"/>
          </a:xfrm>
          <a:custGeom>
            <a:avLst/>
            <a:gdLst/>
            <a:ahLst/>
            <a:cxnLst/>
            <a:rect r="r" b="b" t="t" l="l"/>
            <a:pathLst>
              <a:path h="637611" w="638409">
                <a:moveTo>
                  <a:pt x="0" y="0"/>
                </a:moveTo>
                <a:lnTo>
                  <a:pt x="638408" y="0"/>
                </a:lnTo>
                <a:lnTo>
                  <a:pt x="638408" y="637610"/>
                </a:lnTo>
                <a:lnTo>
                  <a:pt x="0" y="637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0419117" y="3739526"/>
            <a:ext cx="531267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Short-term use, easy to cancel, no ownership risk.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19117" y="2864808"/>
            <a:ext cx="5123914" cy="72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Operating Lease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02412" y="5296501"/>
            <a:ext cx="1128148" cy="1149705"/>
            <a:chOff x="0" y="0"/>
            <a:chExt cx="1504197" cy="15329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04197" cy="1532939"/>
            </a:xfrm>
            <a:custGeom>
              <a:avLst/>
              <a:gdLst/>
              <a:ahLst/>
              <a:cxnLst/>
              <a:rect r="r" b="b" t="t" l="l"/>
              <a:pathLst>
                <a:path h="1532939" w="1504197">
                  <a:moveTo>
                    <a:pt x="0" y="0"/>
                  </a:moveTo>
                  <a:lnTo>
                    <a:pt x="1504197" y="0"/>
                  </a:lnTo>
                  <a:lnTo>
                    <a:pt x="1504197" y="1532939"/>
                  </a:lnTo>
                  <a:lnTo>
                    <a:pt x="0" y="1532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02578" y="312409"/>
              <a:ext cx="899040" cy="908121"/>
            </a:xfrm>
            <a:custGeom>
              <a:avLst/>
              <a:gdLst/>
              <a:ahLst/>
              <a:cxnLst/>
              <a:rect r="r" b="b" t="t" l="l"/>
              <a:pathLst>
                <a:path h="908121" w="899040">
                  <a:moveTo>
                    <a:pt x="0" y="0"/>
                  </a:moveTo>
                  <a:lnTo>
                    <a:pt x="899040" y="0"/>
                  </a:lnTo>
                  <a:lnTo>
                    <a:pt x="899040" y="908121"/>
                  </a:lnTo>
                  <a:lnTo>
                    <a:pt x="0" y="908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02412" y="7526456"/>
            <a:ext cx="1076222" cy="1096787"/>
            <a:chOff x="0" y="0"/>
            <a:chExt cx="1434963" cy="14623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4963" cy="1462383"/>
            </a:xfrm>
            <a:custGeom>
              <a:avLst/>
              <a:gdLst/>
              <a:ahLst/>
              <a:cxnLst/>
              <a:rect r="r" b="b" t="t" l="l"/>
              <a:pathLst>
                <a:path h="1462383" w="1434963">
                  <a:moveTo>
                    <a:pt x="0" y="0"/>
                  </a:moveTo>
                  <a:lnTo>
                    <a:pt x="1434963" y="0"/>
                  </a:lnTo>
                  <a:lnTo>
                    <a:pt x="1434963" y="1462383"/>
                  </a:lnTo>
                  <a:lnTo>
                    <a:pt x="0" y="1462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15200" y="323427"/>
              <a:ext cx="831111" cy="815528"/>
            </a:xfrm>
            <a:custGeom>
              <a:avLst/>
              <a:gdLst/>
              <a:ahLst/>
              <a:cxnLst/>
              <a:rect r="r" b="b" t="t" l="l"/>
              <a:pathLst>
                <a:path h="815528" w="831111">
                  <a:moveTo>
                    <a:pt x="0" y="0"/>
                  </a:moveTo>
                  <a:lnTo>
                    <a:pt x="831111" y="0"/>
                  </a:lnTo>
                  <a:lnTo>
                    <a:pt x="831111" y="815528"/>
                  </a:lnTo>
                  <a:lnTo>
                    <a:pt x="0" y="815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419117" y="4942659"/>
            <a:ext cx="3866516" cy="75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</a:pPr>
            <a:r>
              <a:rPr lang="en-US" sz="35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Financial Lease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19117" y="7050991"/>
            <a:ext cx="4493391" cy="75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</a:pPr>
            <a:r>
              <a:rPr lang="en-US" sz="35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Leveraged Lease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19117" y="5751489"/>
            <a:ext cx="531267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Long-term, lessee bears risks, can gain ownership.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19117" y="7957774"/>
            <a:ext cx="531267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Involves third-party financing for large assets.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5897" y="1719389"/>
            <a:ext cx="6183156" cy="6848222"/>
            <a:chOff x="0" y="0"/>
            <a:chExt cx="8244209" cy="913096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9922" t="0" r="19922" b="0"/>
            <a:stretch>
              <a:fillRect/>
            </a:stretch>
          </p:blipFill>
          <p:spPr>
            <a:xfrm flipH="false" flipV="false">
              <a:off x="0" y="0"/>
              <a:ext cx="8244209" cy="9130962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2700000">
            <a:off x="902664" y="2757476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3727702" y="9026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9017964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57414" y="1762295"/>
            <a:ext cx="831760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Who’s Involved?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86681" y="7414652"/>
            <a:ext cx="967149" cy="985630"/>
            <a:chOff x="0" y="0"/>
            <a:chExt cx="1289532" cy="13141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9532" cy="1314173"/>
            </a:xfrm>
            <a:custGeom>
              <a:avLst/>
              <a:gdLst/>
              <a:ahLst/>
              <a:cxnLst/>
              <a:rect r="r" b="b" t="t" l="l"/>
              <a:pathLst>
                <a:path h="1314173" w="1289532">
                  <a:moveTo>
                    <a:pt x="0" y="0"/>
                  </a:moveTo>
                  <a:lnTo>
                    <a:pt x="1289532" y="0"/>
                  </a:lnTo>
                  <a:lnTo>
                    <a:pt x="1289532" y="1314173"/>
                  </a:lnTo>
                  <a:lnTo>
                    <a:pt x="0" y="1314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77998" y="262605"/>
              <a:ext cx="533536" cy="788963"/>
            </a:xfrm>
            <a:custGeom>
              <a:avLst/>
              <a:gdLst/>
              <a:ahLst/>
              <a:cxnLst/>
              <a:rect r="r" b="b" t="t" l="l"/>
              <a:pathLst>
                <a:path h="788963" w="533536">
                  <a:moveTo>
                    <a:pt x="0" y="0"/>
                  </a:moveTo>
                  <a:lnTo>
                    <a:pt x="533536" y="0"/>
                  </a:lnTo>
                  <a:lnTo>
                    <a:pt x="533536" y="788963"/>
                  </a:lnTo>
                  <a:lnTo>
                    <a:pt x="0" y="78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37105" y="6906968"/>
            <a:ext cx="2779113" cy="79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7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Lessee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786681" y="3372917"/>
            <a:ext cx="967149" cy="985630"/>
          </a:xfrm>
          <a:custGeom>
            <a:avLst/>
            <a:gdLst/>
            <a:ahLst/>
            <a:cxnLst/>
            <a:rect r="r" b="b" t="t" l="l"/>
            <a:pathLst>
              <a:path h="985630" w="967149">
                <a:moveTo>
                  <a:pt x="0" y="0"/>
                </a:moveTo>
                <a:lnTo>
                  <a:pt x="967149" y="0"/>
                </a:lnTo>
                <a:lnTo>
                  <a:pt x="967149" y="985629"/>
                </a:lnTo>
                <a:lnTo>
                  <a:pt x="0" y="985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61798" y="3038645"/>
            <a:ext cx="2779113" cy="79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7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Lessor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965758" y="3546329"/>
            <a:ext cx="638409" cy="637611"/>
          </a:xfrm>
          <a:custGeom>
            <a:avLst/>
            <a:gdLst/>
            <a:ahLst/>
            <a:cxnLst/>
            <a:rect r="r" b="b" t="t" l="l"/>
            <a:pathLst>
              <a:path h="637611" w="638409">
                <a:moveTo>
                  <a:pt x="0" y="0"/>
                </a:moveTo>
                <a:lnTo>
                  <a:pt x="638409" y="0"/>
                </a:lnTo>
                <a:lnTo>
                  <a:pt x="638409" y="637611"/>
                </a:lnTo>
                <a:lnTo>
                  <a:pt x="0" y="637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10061798" y="7712786"/>
            <a:ext cx="5118697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The user of the asset who pays periodic rent for using it.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868244" y="5255429"/>
            <a:ext cx="967149" cy="985630"/>
          </a:xfrm>
          <a:custGeom>
            <a:avLst/>
            <a:gdLst/>
            <a:ahLst/>
            <a:cxnLst/>
            <a:rect r="r" b="b" t="t" l="l"/>
            <a:pathLst>
              <a:path h="985630" w="967149">
                <a:moveTo>
                  <a:pt x="0" y="0"/>
                </a:moveTo>
                <a:lnTo>
                  <a:pt x="967150" y="0"/>
                </a:lnTo>
                <a:lnTo>
                  <a:pt x="967150" y="985630"/>
                </a:lnTo>
                <a:lnTo>
                  <a:pt x="0" y="985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057633" y="5488214"/>
            <a:ext cx="588372" cy="539163"/>
          </a:xfrm>
          <a:custGeom>
            <a:avLst/>
            <a:gdLst/>
            <a:ahLst/>
            <a:cxnLst/>
            <a:rect r="r" b="b" t="t" l="l"/>
            <a:pathLst>
              <a:path h="539163" w="588372">
                <a:moveTo>
                  <a:pt x="0" y="0"/>
                </a:moveTo>
                <a:lnTo>
                  <a:pt x="588372" y="0"/>
                </a:lnTo>
                <a:lnTo>
                  <a:pt x="588372" y="539163"/>
                </a:lnTo>
                <a:lnTo>
                  <a:pt x="0" y="5391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0143361" y="4691921"/>
            <a:ext cx="3794217" cy="79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7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Agreement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43361" y="5478689"/>
            <a:ext cx="7018623" cy="122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A contract that specifies payment terms, lease duration, rights, and responsibilities of both parties.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61798" y="3825413"/>
            <a:ext cx="7018623" cy="122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The legal owner of the asset who leases it out to earn income.</a:t>
            </a:r>
          </a:p>
          <a:p>
            <a:pPr algn="l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208548" y="547687"/>
            <a:ext cx="1507945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 i="true">
                <a:solidFill>
                  <a:srgbClr val="212429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Key Features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00000">
            <a:off x="2095673" y="3325187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4742806" y="528749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6035443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6919" y="1345531"/>
            <a:ext cx="10843323" cy="873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6" indent="-431798" lvl="1">
              <a:lnSpc>
                <a:spcPts val="7199"/>
              </a:lnSpc>
              <a:buFont typeface="Arial"/>
              <a:buChar char="•"/>
            </a:pPr>
            <a:r>
              <a:rPr lang="en-US" b="true" sz="3999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🔑 No Ownership Transfer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Ownership stays with the lessor.</a:t>
            </a:r>
          </a:p>
          <a:p>
            <a:pPr algn="l" marL="863596" indent="-431798" lvl="1">
              <a:lnSpc>
                <a:spcPts val="7199"/>
              </a:lnSpc>
              <a:buFont typeface="Arial"/>
              <a:buChar char="•"/>
            </a:pPr>
            <a:r>
              <a:rPr lang="en-US" b="true" sz="3999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💸 Fixed Monthly Payments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</a:t>
            </a: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Regular and predictable payment schedule.</a:t>
            </a:r>
          </a:p>
          <a:p>
            <a:pPr algn="l" marL="863596" indent="-431798" lvl="1">
              <a:lnSpc>
                <a:spcPts val="7199"/>
              </a:lnSpc>
              <a:buFont typeface="Arial"/>
              <a:buChar char="•"/>
            </a:pPr>
            <a:r>
              <a:rPr lang="en-US" b="true" sz="3999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📅 Lease Period </a:t>
            </a:r>
            <a:r>
              <a:rPr lang="en-US" b="true" sz="3999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Set in Advance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Start and end date agreed upfront.</a:t>
            </a:r>
          </a:p>
          <a:p>
            <a:pPr algn="l" marL="863596" indent="-431798" lvl="1">
              <a:lnSpc>
                <a:spcPts val="7199"/>
              </a:lnSpc>
              <a:buFont typeface="Arial"/>
              <a:buChar char="•"/>
            </a:pPr>
            <a:r>
              <a:rPr lang="en-US" b="true" sz="3999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🏢 Covers Expensive Assets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Ideal for property, vehicles, and machinery.</a:t>
            </a:r>
          </a:p>
          <a:p>
            <a:pPr algn="l" marL="863596" indent="-431798" lvl="1">
              <a:lnSpc>
                <a:spcPts val="7199"/>
              </a:lnSpc>
              <a:buFont typeface="Arial"/>
              <a:buChar char="•"/>
            </a:pPr>
            <a:r>
              <a:rPr lang="en-US" b="true" sz="3999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🧾 Tax-Deductible for Lessee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Payments can reduce taxable income.</a:t>
            </a:r>
          </a:p>
          <a:p>
            <a:pPr algn="l">
              <a:lnSpc>
                <a:spcPts val="57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376119" y="2427969"/>
            <a:ext cx="6411941" cy="5971120"/>
          </a:xfrm>
          <a:custGeom>
            <a:avLst/>
            <a:gdLst/>
            <a:ahLst/>
            <a:cxnLst/>
            <a:rect r="r" b="b" t="t" l="l"/>
            <a:pathLst>
              <a:path h="5971120" w="6411941">
                <a:moveTo>
                  <a:pt x="0" y="0"/>
                </a:moveTo>
                <a:lnTo>
                  <a:pt x="6411941" y="0"/>
                </a:lnTo>
                <a:lnTo>
                  <a:pt x="6411941" y="5971120"/>
                </a:lnTo>
                <a:lnTo>
                  <a:pt x="0" y="59711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835345" y="7196738"/>
            <a:ext cx="3486896" cy="3090262"/>
          </a:xfrm>
          <a:custGeom>
            <a:avLst/>
            <a:gdLst/>
            <a:ahLst/>
            <a:cxnLst/>
            <a:rect r="r" b="b" t="t" l="l"/>
            <a:pathLst>
              <a:path h="3090262" w="3486896">
                <a:moveTo>
                  <a:pt x="0" y="0"/>
                </a:moveTo>
                <a:lnTo>
                  <a:pt x="3486897" y="0"/>
                </a:lnTo>
                <a:lnTo>
                  <a:pt x="3486897" y="3090262"/>
                </a:lnTo>
                <a:lnTo>
                  <a:pt x="0" y="309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5083735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9017964" y="9026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902664" y="3470707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6942" y="850458"/>
            <a:ext cx="162306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Benefits You’ll Love!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942" y="2315944"/>
            <a:ext cx="7607103" cy="468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💰 Low Initial Cost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Keeps more cash available for your business.</a:t>
            </a:r>
          </a:p>
          <a:p>
            <a:pPr algn="l">
              <a:lnSpc>
                <a:spcPts val="6119"/>
              </a:lnSpc>
            </a:pPr>
            <a:r>
              <a:rPr lang="en-US" sz="33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⚙️ Easy Access to Modern Assets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Upgrade to the latest equipment quickly.</a:t>
            </a:r>
          </a:p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🛠 low Maintenance Hassle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Upkeep is usually handled by the lessor.</a:t>
            </a:r>
          </a:p>
          <a:p>
            <a:pPr algn="l">
              <a:lnSpc>
                <a:spcPts val="46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23776" y="3574959"/>
            <a:ext cx="8316586" cy="470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📜 Flexible Terms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Choose the lease period and conditions that fit.</a:t>
            </a:r>
          </a:p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🧾</a:t>
            </a: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Tax Benefits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Lease payments can lower taxable income.</a:t>
            </a:r>
          </a:p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🏦</a:t>
            </a: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Preserves Borrowing Capacity</a:t>
            </a:r>
          </a:p>
          <a:p>
            <a:pPr algn="l">
              <a:lnSpc>
                <a:spcPts val="4680"/>
              </a:lnSpc>
            </a:pPr>
            <a:r>
              <a:rPr lang="en-US" sz="26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Doesn’t tie up credit lines like loans do.</a:t>
            </a:r>
          </a:p>
          <a:p>
            <a:pPr algn="l">
              <a:lnSpc>
                <a:spcPts val="46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14272825" y="8599965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1495530" y="1791446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080906" y="655541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18237" y="1739241"/>
            <a:ext cx="5489368" cy="6808519"/>
          </a:xfrm>
          <a:custGeom>
            <a:avLst/>
            <a:gdLst/>
            <a:ahLst/>
            <a:cxnLst/>
            <a:rect r="r" b="b" t="t" l="l"/>
            <a:pathLst>
              <a:path h="6808519" w="5489368">
                <a:moveTo>
                  <a:pt x="0" y="0"/>
                </a:moveTo>
                <a:lnTo>
                  <a:pt x="5489368" y="0"/>
                </a:lnTo>
                <a:lnTo>
                  <a:pt x="5489368" y="6808518"/>
                </a:lnTo>
                <a:lnTo>
                  <a:pt x="0" y="6808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40658" y="2389701"/>
            <a:ext cx="51604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Drawbacks!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40658" y="4104441"/>
            <a:ext cx="8088796" cy="295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You Don’t Own It</a:t>
            </a:r>
          </a:p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Long-Term Costs Can Add Up</a:t>
            </a:r>
          </a:p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Restrictions on Usage or Exit</a:t>
            </a:r>
          </a:p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Might Be Locked Into a Bad Deal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6690138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4090595" y="1293471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7133264" y="5971501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01197" y="2106951"/>
          <a:ext cx="16358103" cy="6668308"/>
        </p:xfrm>
        <a:graphic>
          <a:graphicData uri="http://schemas.openxmlformats.org/drawingml/2006/table">
            <a:tbl>
              <a:tblPr/>
              <a:tblGrid>
                <a:gridCol w="5452701"/>
                <a:gridCol w="5452701"/>
                <a:gridCol w="5452701"/>
              </a:tblGrid>
              <a:tr h="1175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Factors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Lease 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Buy It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10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Cost Now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Lower upfront cost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Higher upfront investment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Ownership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 ownership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Full ownership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10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Flexibility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 (easy to upgrade/return)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Low (asset tied up)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Best For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Short/medium-term use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Long-term asset use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2417763" y="859176"/>
            <a:ext cx="1222700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Lease vs Buy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77982" y="2185779"/>
            <a:ext cx="6982230" cy="6589480"/>
          </a:xfrm>
          <a:custGeom>
            <a:avLst/>
            <a:gdLst/>
            <a:ahLst/>
            <a:cxnLst/>
            <a:rect r="r" b="b" t="t" l="l"/>
            <a:pathLst>
              <a:path h="6589480" w="6982230">
                <a:moveTo>
                  <a:pt x="0" y="0"/>
                </a:moveTo>
                <a:lnTo>
                  <a:pt x="6982231" y="0"/>
                </a:lnTo>
                <a:lnTo>
                  <a:pt x="6982231" y="6589479"/>
                </a:lnTo>
                <a:lnTo>
                  <a:pt x="0" y="658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1080906" y="746218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9017964" y="1115229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4045756" y="895402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4504" y="1719389"/>
            <a:ext cx="6183156" cy="6848222"/>
            <a:chOff x="0" y="0"/>
            <a:chExt cx="8244209" cy="9130962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8"/>
            <a:srcRect l="21897" t="0" r="21897" b="0"/>
            <a:stretch>
              <a:fillRect/>
            </a:stretch>
          </p:blipFill>
          <p:spPr>
            <a:xfrm flipH="false" flipV="false">
              <a:off x="0" y="0"/>
              <a:ext cx="8244209" cy="9130962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8360748" y="1719389"/>
            <a:ext cx="808286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Mission and Vision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33387" y="3429819"/>
            <a:ext cx="8668996" cy="2039110"/>
            <a:chOff x="0" y="0"/>
            <a:chExt cx="11558661" cy="271881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65042" y="970870"/>
              <a:ext cx="11493619" cy="1747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799">
                  <a:solidFill>
                    <a:srgbClr val="21242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be the leading provider of innovative lease financing, empowering growth and sustainability for organizations worldwide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848" cy="895677"/>
            </a:xfrm>
            <a:custGeom>
              <a:avLst/>
              <a:gdLst/>
              <a:ahLst/>
              <a:cxnLst/>
              <a:rect r="r" b="b" t="t" l="l"/>
              <a:pathLst>
                <a:path h="895677" w="952848">
                  <a:moveTo>
                    <a:pt x="0" y="0"/>
                  </a:moveTo>
                  <a:lnTo>
                    <a:pt x="952848" y="0"/>
                  </a:lnTo>
                  <a:lnTo>
                    <a:pt x="952848" y="895677"/>
                  </a:lnTo>
                  <a:lnTo>
                    <a:pt x="0" y="895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24437" y="-152813"/>
              <a:ext cx="5125737" cy="1028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3999" b="true">
                  <a:solidFill>
                    <a:srgbClr val="21242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60748" y="5982953"/>
            <a:ext cx="8641635" cy="2404839"/>
            <a:chOff x="0" y="0"/>
            <a:chExt cx="11522180" cy="320645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28561" y="874308"/>
              <a:ext cx="11493619" cy="2332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799">
                  <a:solidFill>
                    <a:srgbClr val="21242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provide businesses and individuals with flexible, cost-effective leasing solutions, helping them access modern assets without heavy upfront investments.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51294" y="-228600"/>
              <a:ext cx="5125737" cy="1028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3999" b="true">
                  <a:solidFill>
                    <a:srgbClr val="21242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Mission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24069"/>
              <a:ext cx="751966" cy="751966"/>
            </a:xfrm>
            <a:custGeom>
              <a:avLst/>
              <a:gdLst/>
              <a:ahLst/>
              <a:cxnLst/>
              <a:rect r="r" b="b" t="t" l="l"/>
              <a:pathLst>
                <a:path h="751966" w="751966">
                  <a:moveTo>
                    <a:pt x="0" y="0"/>
                  </a:moveTo>
                  <a:lnTo>
                    <a:pt x="751966" y="0"/>
                  </a:lnTo>
                  <a:lnTo>
                    <a:pt x="751966" y="751966"/>
                  </a:lnTo>
                  <a:lnTo>
                    <a:pt x="0" y="75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700000">
            <a:off x="15930091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7766149" y="1080906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902664" y="4131290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71797" y="1419507"/>
            <a:ext cx="690623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Thoughts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339581" y="3873597"/>
            <a:ext cx="12538305" cy="2539807"/>
            <a:chOff x="0" y="0"/>
            <a:chExt cx="16717740" cy="338640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54266"/>
              <a:ext cx="16717740" cy="2332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799">
                  <a:solidFill>
                    <a:srgbClr val="21242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Leasing means using, not owning. It helps businesses manage cash flow, access modern assets, and stay flexible with tax benefits, but always understand the risks before signing.</a:t>
              </a:r>
            </a:p>
            <a:p>
              <a:pPr algn="l">
                <a:lnSpc>
                  <a:spcPts val="349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38125"/>
              <a:ext cx="6678175" cy="1081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4200" b="true">
                  <a:solidFill>
                    <a:srgbClr val="21242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Key Takeaways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6580896"/>
            <a:ext cx="4625402" cy="3706104"/>
          </a:xfrm>
          <a:custGeom>
            <a:avLst/>
            <a:gdLst/>
            <a:ahLst/>
            <a:cxnLst/>
            <a:rect r="r" b="b" t="t" l="l"/>
            <a:pathLst>
              <a:path h="3706104" w="4625402">
                <a:moveTo>
                  <a:pt x="0" y="0"/>
                </a:moveTo>
                <a:lnTo>
                  <a:pt x="4625402" y="0"/>
                </a:lnTo>
                <a:lnTo>
                  <a:pt x="4625402" y="3706104"/>
                </a:lnTo>
                <a:lnTo>
                  <a:pt x="0" y="3706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221359" y="1714605"/>
            <a:ext cx="5331932" cy="6857790"/>
          </a:xfrm>
          <a:custGeom>
            <a:avLst/>
            <a:gdLst/>
            <a:ahLst/>
            <a:cxnLst/>
            <a:rect r="r" b="b" t="t" l="l"/>
            <a:pathLst>
              <a:path h="6857790" w="5331932">
                <a:moveTo>
                  <a:pt x="0" y="0"/>
                </a:moveTo>
                <a:lnTo>
                  <a:pt x="5331931" y="0"/>
                </a:lnTo>
                <a:lnTo>
                  <a:pt x="5331931" y="6857790"/>
                </a:lnTo>
                <a:lnTo>
                  <a:pt x="0" y="6857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82072" y="4250009"/>
            <a:ext cx="8505988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listening!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700000">
            <a:off x="902664" y="388548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4836991" y="1687538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0315959" y="8446359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DAGuLBuRLvA</dc:identifier>
  <dcterms:modified xsi:type="dcterms:W3CDTF">2011-08-01T06:04:30Z</dcterms:modified>
  <cp:revision>1</cp:revision>
  <dc:title>Lease Finance</dc:title>
</cp:coreProperties>
</file>