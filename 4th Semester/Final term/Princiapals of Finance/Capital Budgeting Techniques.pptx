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5143500" type="screen16x9"/>
  <p:notesSz cx="6858000" cy="9144000"/>
  <p:embeddedFontLst>
    <p:embeddedFont>
      <p:font typeface="Nunito" charset="0"/>
      <p:regular r:id="rId22"/>
      <p:bold r:id="rId23"/>
      <p:italic r:id="rId24"/>
      <p:boldItalic r:id="rId25"/>
    </p:embeddedFont>
    <p:embeddedFont>
      <p:font typeface="Monotype Corsiva" pitchFamily="66" charset="0"/>
      <p:italic r:id="rId26"/>
    </p:embeddedFont>
    <p:embeddedFont>
      <p:font typeface="Nunito Black" charset="0"/>
      <p:bold r:id="rId27"/>
      <p:boldItalic r:id="rId28"/>
    </p:embeddedFont>
    <p:embeddedFont>
      <p:font typeface="Calibri" pitchFamily="34" charset="0"/>
      <p:regular r:id="rId29"/>
      <p:bold r:id="rId30"/>
      <p:italic r:id="rId31"/>
      <p:boldItalic r:id="rId32"/>
    </p:embeddedFont>
    <p:embeddedFont>
      <p:font typeface="Poppins" charset="0"/>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96" d="100"/>
          <a:sy n="96" d="100"/>
        </p:scale>
        <p:origin x="-416" y="19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notesMaster" Target="notesMasters/notesMaster1.xml"/><Relationship Id="rId34" Type="http://schemas.openxmlformats.org/officeDocument/2006/relationships/font" Target="fonts/font1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font" Target="fonts/font1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93718425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295a80f27a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295a80f27a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26c66000eba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26c66000eb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29563a29983_2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29563a29983_2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29563a29983_2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29563a29983_2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29563a29983_2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29563a29983_2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29563a29983_2_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29563a29983_2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29563a29983_2_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g29563a29983_2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9563a29983_2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g29563a29983_2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29563a29983_2_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29563a29983_2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29563a29983_2_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29563a29983_2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29563a29983_2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 name="Google Shape;215;g29563a29983_2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295715950d4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295715950d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295715950d4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295715950d4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295715950d4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295715950d4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295715950d4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295715950d4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95715950d4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 name="Google Shape;246;g295715950d4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295715950d4_0_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295715950d4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295715950d4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295715950d4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295715950d4_0_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295715950d4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509632"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255200"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159826"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905395"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7279439"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6917201"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7279439"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6917201"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 name="Google Shape;34;p2"/>
          <p:cNvSpPr txBox="1">
            <a:spLocks noGrp="1"/>
          </p:cNvSpPr>
          <p:nvPr>
            <p:ph type="ctrTitle"/>
          </p:nvPr>
        </p:nvSpPr>
        <p:spPr>
          <a:xfrm>
            <a:off x="1858703" y="1822833"/>
            <a:ext cx="5361300" cy="14481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a:endParaRPr/>
          </a:p>
        </p:txBody>
      </p:sp>
      <p:sp>
        <p:nvSpPr>
          <p:cNvPr id="35" name="Google Shape;35;p2"/>
          <p:cNvSpPr txBox="1">
            <a:spLocks noGrp="1"/>
          </p:cNvSpPr>
          <p:nvPr>
            <p:ph type="subTitle" idx="1"/>
          </p:nvPr>
        </p:nvSpPr>
        <p:spPr>
          <a:xfrm>
            <a:off x="1858700" y="3413158"/>
            <a:ext cx="5361300" cy="52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36" name="Google Shape;36;p2"/>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3"/>
            <p:cNvSpPr/>
            <p:nvPr/>
          </p:nvSpPr>
          <p:spPr>
            <a:xfrm>
              <a:off x="7279439"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3"/>
            <p:cNvSpPr/>
            <p:nvPr/>
          </p:nvSpPr>
          <p:spPr>
            <a:xfrm>
              <a:off x="6917201"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3"/>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 name="Google Shape;47;p3"/>
          <p:cNvSpPr txBox="1">
            <a:spLocks noGrp="1"/>
          </p:cNvSpPr>
          <p:nvPr>
            <p:ph type="title"/>
          </p:nvPr>
        </p:nvSpPr>
        <p:spPr>
          <a:xfrm>
            <a:off x="1888684" y="1746100"/>
            <a:ext cx="5377500" cy="16461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a:endParaRPr/>
          </a:p>
        </p:txBody>
      </p:sp>
      <p:sp>
        <p:nvSpPr>
          <p:cNvPr id="48" name="Google Shape;48;p3"/>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4"/>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54" name="Google Shape;54;p4"/>
          <p:cNvSpPr txBox="1">
            <a:spLocks noGrp="1"/>
          </p:cNvSpPr>
          <p:nvPr>
            <p:ph type="body" idx="1"/>
          </p:nvPr>
        </p:nvSpPr>
        <p:spPr>
          <a:xfrm>
            <a:off x="819150" y="1990725"/>
            <a:ext cx="7505700" cy="244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5" name="Google Shape;55;p4"/>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5"/>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61" name="Google Shape;61;p5"/>
          <p:cNvSpPr txBox="1">
            <a:spLocks noGrp="1"/>
          </p:cNvSpPr>
          <p:nvPr>
            <p:ph type="body" idx="1"/>
          </p:nvPr>
        </p:nvSpPr>
        <p:spPr>
          <a:xfrm>
            <a:off x="819150" y="1990725"/>
            <a:ext cx="3686100" cy="244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2" name="Google Shape;62;p5"/>
          <p:cNvSpPr txBox="1">
            <a:spLocks noGrp="1"/>
          </p:cNvSpPr>
          <p:nvPr>
            <p:ph type="body" idx="2"/>
          </p:nvPr>
        </p:nvSpPr>
        <p:spPr>
          <a:xfrm>
            <a:off x="4638675" y="1990725"/>
            <a:ext cx="3686100" cy="244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3" name="Google Shape;63;p5"/>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6"/>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69" name="Google Shape;69;p6"/>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7"/>
          <p:cNvSpPr/>
          <p:nvPr/>
        </p:nvSpPr>
        <p:spPr>
          <a:xfrm>
            <a:off x="31" y="2824500"/>
            <a:ext cx="7370400" cy="23190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7"/>
          <p:cNvSpPr txBox="1">
            <a:spLocks noGrp="1"/>
          </p:cNvSpPr>
          <p:nvPr>
            <p:ph type="title"/>
          </p:nvPr>
        </p:nvSpPr>
        <p:spPr>
          <a:xfrm>
            <a:off x="819150" y="845600"/>
            <a:ext cx="3709200" cy="13830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75" name="Google Shape;75;p7"/>
          <p:cNvSpPr txBox="1">
            <a:spLocks noGrp="1"/>
          </p:cNvSpPr>
          <p:nvPr>
            <p:ph type="body" idx="1"/>
          </p:nvPr>
        </p:nvSpPr>
        <p:spPr>
          <a:xfrm>
            <a:off x="830700" y="2319050"/>
            <a:ext cx="3709200" cy="21198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76" name="Google Shape;76;p7"/>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8"/>
            <p:cNvSpPr/>
            <p:nvPr/>
          </p:nvSpPr>
          <p:spPr>
            <a:xfrm>
              <a:off x="4093430"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8"/>
            <p:cNvSpPr/>
            <p:nvPr/>
          </p:nvSpPr>
          <p:spPr>
            <a:xfrm>
              <a:off x="3961956"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8"/>
            <p:cNvSpPr/>
            <p:nvPr/>
          </p:nvSpPr>
          <p:spPr>
            <a:xfrm>
              <a:off x="7279439"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8"/>
            <p:cNvSpPr/>
            <p:nvPr/>
          </p:nvSpPr>
          <p:spPr>
            <a:xfrm>
              <a:off x="6917201"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8"/>
            <p:cNvSpPr/>
            <p:nvPr/>
          </p:nvSpPr>
          <p:spPr>
            <a:xfrm>
              <a:off x="7279439"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8"/>
            <p:cNvSpPr/>
            <p:nvPr/>
          </p:nvSpPr>
          <p:spPr>
            <a:xfrm>
              <a:off x="6917201"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3" name="Google Shape;93;p8"/>
          <p:cNvSpPr txBox="1">
            <a:spLocks noGrp="1"/>
          </p:cNvSpPr>
          <p:nvPr>
            <p:ph type="title"/>
          </p:nvPr>
        </p:nvSpPr>
        <p:spPr>
          <a:xfrm>
            <a:off x="1393929" y="1301146"/>
            <a:ext cx="6366900" cy="25392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a:endParaRPr/>
          </a:p>
        </p:txBody>
      </p:sp>
      <p:sp>
        <p:nvSpPr>
          <p:cNvPr id="94" name="Google Shape;94;p8"/>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9"/>
          <p:cNvSpPr txBox="1">
            <a:spLocks noGrp="1"/>
          </p:cNvSpPr>
          <p:nvPr>
            <p:ph type="title"/>
          </p:nvPr>
        </p:nvSpPr>
        <p:spPr>
          <a:xfrm>
            <a:off x="819150" y="845600"/>
            <a:ext cx="6424200" cy="7050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100" name="Google Shape;100;p9"/>
          <p:cNvSpPr txBox="1">
            <a:spLocks noGrp="1"/>
          </p:cNvSpPr>
          <p:nvPr>
            <p:ph type="subTitle" idx="1"/>
          </p:nvPr>
        </p:nvSpPr>
        <p:spPr>
          <a:xfrm>
            <a:off x="819150" y="1550700"/>
            <a:ext cx="5859900" cy="3936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101" name="Google Shape;101;p9"/>
          <p:cNvSpPr txBox="1">
            <a:spLocks noGrp="1"/>
          </p:cNvSpPr>
          <p:nvPr>
            <p:ph type="body" idx="2"/>
          </p:nvPr>
        </p:nvSpPr>
        <p:spPr>
          <a:xfrm>
            <a:off x="819150" y="2467050"/>
            <a:ext cx="5859900" cy="209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02" name="Google Shape;102;p9"/>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10"/>
          <p:cNvSpPr txBox="1">
            <a:spLocks noGrp="1"/>
          </p:cNvSpPr>
          <p:nvPr>
            <p:ph type="body" idx="1"/>
          </p:nvPr>
        </p:nvSpPr>
        <p:spPr>
          <a:xfrm>
            <a:off x="328025" y="4163500"/>
            <a:ext cx="7415100" cy="605100"/>
          </a:xfrm>
          <a:prstGeom prst="rect">
            <a:avLst/>
          </a:prstGeom>
        </p:spPr>
        <p:txBody>
          <a:bodyPr spcFirstLastPara="1" wrap="square" lIns="91425" tIns="91425" rIns="91425" bIns="91425" anchor="b" anchorCtr="0">
            <a:normAutofit/>
          </a:bodyPr>
          <a:lstStyle>
            <a:lvl1pPr marL="457200" lvl="0" indent="-228600">
              <a:lnSpc>
                <a:spcPct val="100000"/>
              </a:lnSpc>
              <a:spcBef>
                <a:spcPts val="0"/>
              </a:spcBef>
              <a:spcAft>
                <a:spcPts val="0"/>
              </a:spcAft>
              <a:buSzPts val="1300"/>
              <a:buNone/>
              <a:defRPr/>
            </a:lvl1pPr>
          </a:lstStyle>
          <a:p>
            <a:endParaRPr/>
          </a:p>
        </p:txBody>
      </p:sp>
      <p:sp>
        <p:nvSpPr>
          <p:cNvPr id="108" name="Google Shape;108;p10"/>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1"/>
            <p:cNvSpPr/>
            <p:nvPr/>
          </p:nvSpPr>
          <p:spPr>
            <a:xfrm>
              <a:off x="7279439"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1"/>
            <p:cNvSpPr/>
            <p:nvPr/>
          </p:nvSpPr>
          <p:spPr>
            <a:xfrm>
              <a:off x="6917201"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1"/>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1"/>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9" name="Google Shape;119;p11"/>
          <p:cNvSpPr txBox="1">
            <a:spLocks noGrp="1"/>
          </p:cNvSpPr>
          <p:nvPr>
            <p:ph type="title" hasCustomPrompt="1"/>
          </p:nvPr>
        </p:nvSpPr>
        <p:spPr>
          <a:xfrm>
            <a:off x="1385850" y="1383850"/>
            <a:ext cx="6372300" cy="13797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a:spLocks noGrp="1"/>
          </p:cNvSpPr>
          <p:nvPr>
            <p:ph type="body" idx="1"/>
          </p:nvPr>
        </p:nvSpPr>
        <p:spPr>
          <a:xfrm>
            <a:off x="1385850" y="2863850"/>
            <a:ext cx="6372300" cy="641100"/>
          </a:xfrm>
          <a:prstGeom prst="rect">
            <a:avLst/>
          </a:prstGeom>
        </p:spPr>
        <p:txBody>
          <a:bodyPr spcFirstLastPara="1" wrap="square" lIns="91425" tIns="91425" rIns="91425" bIns="91425" anchor="t" anchorCtr="0">
            <a:normAutofit/>
          </a:bodyPr>
          <a:lstStyle>
            <a:lvl1pPr marL="457200" lvl="0" indent="-311150" algn="ctr">
              <a:spcBef>
                <a:spcPts val="0"/>
              </a:spcBef>
              <a:spcAft>
                <a:spcPts val="0"/>
              </a:spcAft>
              <a:buSzPts val="1300"/>
              <a:buChar char="●"/>
              <a:defRPr/>
            </a:lvl1pPr>
            <a:lvl2pPr marL="914400" lvl="1" indent="-298450" algn="ctr">
              <a:spcBef>
                <a:spcPts val="0"/>
              </a:spcBef>
              <a:spcAft>
                <a:spcPts val="0"/>
              </a:spcAft>
              <a:buSzPts val="1100"/>
              <a:buChar char="○"/>
              <a:defRPr/>
            </a:lvl2pPr>
            <a:lvl3pPr marL="1371600" lvl="2" indent="-298450" algn="ctr">
              <a:spcBef>
                <a:spcPts val="0"/>
              </a:spcBef>
              <a:spcAft>
                <a:spcPts val="0"/>
              </a:spcAft>
              <a:buSzPts val="1100"/>
              <a:buChar char="■"/>
              <a:defRPr/>
            </a:lvl3pPr>
            <a:lvl4pPr marL="1828800" lvl="3" indent="-298450" algn="ctr">
              <a:spcBef>
                <a:spcPts val="0"/>
              </a:spcBef>
              <a:spcAft>
                <a:spcPts val="0"/>
              </a:spcAft>
              <a:buSzPts val="1100"/>
              <a:buChar char="●"/>
              <a:defRPr/>
            </a:lvl4pPr>
            <a:lvl5pPr marL="2286000" lvl="4" indent="-298450" algn="ctr">
              <a:spcBef>
                <a:spcPts val="0"/>
              </a:spcBef>
              <a:spcAft>
                <a:spcPts val="0"/>
              </a:spcAft>
              <a:buSzPts val="1100"/>
              <a:buChar char="○"/>
              <a:defRPr/>
            </a:lvl5pPr>
            <a:lvl6pPr marL="2743200" lvl="5" indent="-298450" algn="ctr">
              <a:spcBef>
                <a:spcPts val="0"/>
              </a:spcBef>
              <a:spcAft>
                <a:spcPts val="0"/>
              </a:spcAft>
              <a:buSzPts val="1100"/>
              <a:buChar char="■"/>
              <a:defRPr/>
            </a:lvl6pPr>
            <a:lvl7pPr marL="3200400" lvl="6" indent="-298450" algn="ctr">
              <a:spcBef>
                <a:spcPts val="0"/>
              </a:spcBef>
              <a:spcAft>
                <a:spcPts val="0"/>
              </a:spcAft>
              <a:buSzPts val="1100"/>
              <a:buChar char="●"/>
              <a:defRPr/>
            </a:lvl7pPr>
            <a:lvl8pPr marL="3657600" lvl="7" indent="-298450" algn="ctr">
              <a:spcBef>
                <a:spcPts val="0"/>
              </a:spcBef>
              <a:spcAft>
                <a:spcPts val="0"/>
              </a:spcAft>
              <a:buSzPts val="1100"/>
              <a:buChar char="○"/>
              <a:defRPr/>
            </a:lvl8pPr>
            <a:lvl9pPr marL="4114800" lvl="8" indent="-298450" algn="ctr">
              <a:spcBef>
                <a:spcPts val="0"/>
              </a:spcBef>
              <a:spcAft>
                <a:spcPts val="0"/>
              </a:spcAft>
              <a:buSzPts val="1100"/>
              <a:buChar char="■"/>
              <a:defRPr/>
            </a:lvl9pPr>
          </a:lstStyle>
          <a:p>
            <a:endParaRPr/>
          </a:p>
        </p:txBody>
      </p:sp>
      <p:sp>
        <p:nvSpPr>
          <p:cNvPr id="121" name="Google Shape;121;p11"/>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2"/>
        <p:cNvGrpSpPr/>
        <p:nvPr/>
      </p:nvGrpSpPr>
      <p:grpSpPr>
        <a:xfrm>
          <a:off x="0" y="0"/>
          <a:ext cx="0" cy="0"/>
          <a:chOff x="0" y="0"/>
          <a:chExt cx="0" cy="0"/>
        </a:xfrm>
      </p:grpSpPr>
      <p:sp>
        <p:nvSpPr>
          <p:cNvPr id="123" name="Google Shape;123;p12"/>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A_Title_Body_2">
  <p:cSld name="TITLE_1_1">
    <p:spTree>
      <p:nvGrpSpPr>
        <p:cNvPr id="1" name="Shape 124"/>
        <p:cNvGrpSpPr/>
        <p:nvPr/>
      </p:nvGrpSpPr>
      <p:grpSpPr>
        <a:xfrm>
          <a:off x="0" y="0"/>
          <a:ext cx="0" cy="0"/>
          <a:chOff x="0" y="0"/>
          <a:chExt cx="0" cy="0"/>
        </a:xfrm>
      </p:grpSpPr>
      <p:pic>
        <p:nvPicPr>
          <p:cNvPr id="125" name="Google Shape;125;p13"/>
          <p:cNvPicPr preferRelativeResize="0"/>
          <p:nvPr/>
        </p:nvPicPr>
        <p:blipFill rotWithShape="1">
          <a:blip r:embed="rId2">
            <a:alphaModFix/>
          </a:blip>
          <a:srcRect r="49205"/>
          <a:stretch/>
        </p:blipFill>
        <p:spPr>
          <a:xfrm flipH="1">
            <a:off x="0" y="-348137"/>
            <a:ext cx="1836600" cy="3599400"/>
          </a:xfrm>
          <a:prstGeom prst="rect">
            <a:avLst/>
          </a:prstGeom>
          <a:noFill/>
          <a:ln>
            <a:noFill/>
          </a:ln>
        </p:spPr>
      </p:pic>
      <p:pic>
        <p:nvPicPr>
          <p:cNvPr id="126" name="Google Shape;126;p13"/>
          <p:cNvPicPr preferRelativeResize="0"/>
          <p:nvPr/>
        </p:nvPicPr>
        <p:blipFill rotWithShape="1">
          <a:blip r:embed="rId2">
            <a:alphaModFix/>
          </a:blip>
          <a:srcRect r="49205"/>
          <a:stretch/>
        </p:blipFill>
        <p:spPr>
          <a:xfrm rot="10800000">
            <a:off x="0" y="1892238"/>
            <a:ext cx="1836600" cy="3599400"/>
          </a:xfrm>
          <a:prstGeom prst="rect">
            <a:avLst/>
          </a:prstGeom>
          <a:noFill/>
          <a:ln>
            <a:noFill/>
          </a:ln>
        </p:spPr>
      </p:pic>
      <p:sp>
        <p:nvSpPr>
          <p:cNvPr id="127" name="Google Shape;127;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28" name="Google Shape;128;p13"/>
          <p:cNvSpPr>
            <a:spLocks noGrp="1"/>
          </p:cNvSpPr>
          <p:nvPr>
            <p:ph type="pic" idx="2"/>
          </p:nvPr>
        </p:nvSpPr>
        <p:spPr>
          <a:xfrm>
            <a:off x="642700" y="632300"/>
            <a:ext cx="2615100" cy="3918900"/>
          </a:xfrm>
          <a:prstGeom prst="roundRect">
            <a:avLst>
              <a:gd name="adj" fmla="val 16667"/>
            </a:avLst>
          </a:prstGeom>
          <a:noFill/>
          <a:ln>
            <a:noFill/>
          </a:ln>
        </p:spPr>
      </p:sp>
      <p:sp>
        <p:nvSpPr>
          <p:cNvPr id="129" name="Google Shape;129;p13"/>
          <p:cNvSpPr/>
          <p:nvPr/>
        </p:nvSpPr>
        <p:spPr>
          <a:xfrm rot="-695">
            <a:off x="8410293" y="4393362"/>
            <a:ext cx="1484700" cy="1476900"/>
          </a:xfrm>
          <a:prstGeom prst="pie">
            <a:avLst>
              <a:gd name="adj1" fmla="val 10804369"/>
              <a:gd name="adj2" fmla="val 16200000"/>
            </a:avLst>
          </a:prstGeom>
          <a:gradFill>
            <a:gsLst>
              <a:gs pos="0">
                <a:srgbClr val="FFC982"/>
              </a:gs>
              <a:gs pos="100000">
                <a:srgbClr val="F58F09"/>
              </a:gs>
            </a:gsLst>
            <a:path path="circle">
              <a:fillToRect l="50000" t="50000" r="50000" b="50000"/>
            </a:path>
            <a:tileRect/>
          </a:gradFill>
          <a:ln w="9525"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2C2C2C"/>
              </a:solidFill>
            </a:endParaRPr>
          </a:p>
        </p:txBody>
      </p:sp>
      <p:sp>
        <p:nvSpPr>
          <p:cNvPr id="130" name="Google Shape;130;p13"/>
          <p:cNvSpPr txBox="1">
            <a:spLocks noGrp="1"/>
          </p:cNvSpPr>
          <p:nvPr>
            <p:ph type="title"/>
          </p:nvPr>
        </p:nvSpPr>
        <p:spPr>
          <a:xfrm>
            <a:off x="4722075" y="997400"/>
            <a:ext cx="3589800" cy="650100"/>
          </a:xfrm>
          <a:prstGeom prst="rect">
            <a:avLst/>
          </a:prstGeom>
        </p:spPr>
        <p:txBody>
          <a:bodyPr spcFirstLastPara="1" wrap="square" lIns="91425" tIns="91425" rIns="91425" bIns="91425" anchor="ctr" anchorCtr="0">
            <a:spAutoFit/>
          </a:bodyPr>
          <a:lstStyle>
            <a:lvl1pPr lvl="0" rtl="0">
              <a:spcBef>
                <a:spcPts val="0"/>
              </a:spcBef>
              <a:spcAft>
                <a:spcPts val="0"/>
              </a:spcAft>
              <a:buSzPts val="2400"/>
              <a:buNone/>
              <a:defRPr sz="2400"/>
            </a:lvl1pPr>
            <a:lvl2pPr lvl="1" rtl="0">
              <a:spcBef>
                <a:spcPts val="0"/>
              </a:spcBef>
              <a:spcAft>
                <a:spcPts val="0"/>
              </a:spcAft>
              <a:buSzPts val="2800"/>
              <a:buNone/>
              <a:defRPr>
                <a:latin typeface="Poppins"/>
                <a:ea typeface="Poppins"/>
                <a:cs typeface="Poppins"/>
                <a:sym typeface="Poppins"/>
              </a:defRPr>
            </a:lvl2pPr>
            <a:lvl3pPr lvl="2" rtl="0">
              <a:spcBef>
                <a:spcPts val="0"/>
              </a:spcBef>
              <a:spcAft>
                <a:spcPts val="0"/>
              </a:spcAft>
              <a:buSzPts val="2800"/>
              <a:buNone/>
              <a:defRPr>
                <a:latin typeface="Poppins"/>
                <a:ea typeface="Poppins"/>
                <a:cs typeface="Poppins"/>
                <a:sym typeface="Poppins"/>
              </a:defRPr>
            </a:lvl3pPr>
            <a:lvl4pPr lvl="3" rtl="0">
              <a:spcBef>
                <a:spcPts val="0"/>
              </a:spcBef>
              <a:spcAft>
                <a:spcPts val="0"/>
              </a:spcAft>
              <a:buSzPts val="2800"/>
              <a:buNone/>
              <a:defRPr>
                <a:latin typeface="Poppins"/>
                <a:ea typeface="Poppins"/>
                <a:cs typeface="Poppins"/>
                <a:sym typeface="Poppins"/>
              </a:defRPr>
            </a:lvl4pPr>
            <a:lvl5pPr lvl="4" rtl="0">
              <a:spcBef>
                <a:spcPts val="0"/>
              </a:spcBef>
              <a:spcAft>
                <a:spcPts val="0"/>
              </a:spcAft>
              <a:buSzPts val="2800"/>
              <a:buNone/>
              <a:defRPr>
                <a:latin typeface="Poppins"/>
                <a:ea typeface="Poppins"/>
                <a:cs typeface="Poppins"/>
                <a:sym typeface="Poppins"/>
              </a:defRPr>
            </a:lvl5pPr>
            <a:lvl6pPr lvl="5" rtl="0">
              <a:spcBef>
                <a:spcPts val="0"/>
              </a:spcBef>
              <a:spcAft>
                <a:spcPts val="0"/>
              </a:spcAft>
              <a:buSzPts val="2800"/>
              <a:buNone/>
              <a:defRPr>
                <a:latin typeface="Poppins"/>
                <a:ea typeface="Poppins"/>
                <a:cs typeface="Poppins"/>
                <a:sym typeface="Poppins"/>
              </a:defRPr>
            </a:lvl6pPr>
            <a:lvl7pPr lvl="6" rtl="0">
              <a:spcBef>
                <a:spcPts val="0"/>
              </a:spcBef>
              <a:spcAft>
                <a:spcPts val="0"/>
              </a:spcAft>
              <a:buSzPts val="2800"/>
              <a:buNone/>
              <a:defRPr>
                <a:latin typeface="Poppins"/>
                <a:ea typeface="Poppins"/>
                <a:cs typeface="Poppins"/>
                <a:sym typeface="Poppins"/>
              </a:defRPr>
            </a:lvl7pPr>
            <a:lvl8pPr lvl="7" rtl="0">
              <a:spcBef>
                <a:spcPts val="0"/>
              </a:spcBef>
              <a:spcAft>
                <a:spcPts val="0"/>
              </a:spcAft>
              <a:buSzPts val="2800"/>
              <a:buNone/>
              <a:defRPr>
                <a:latin typeface="Poppins"/>
                <a:ea typeface="Poppins"/>
                <a:cs typeface="Poppins"/>
                <a:sym typeface="Poppins"/>
              </a:defRPr>
            </a:lvl8pPr>
            <a:lvl9pPr lvl="8" rtl="0">
              <a:spcBef>
                <a:spcPts val="0"/>
              </a:spcBef>
              <a:spcAft>
                <a:spcPts val="0"/>
              </a:spcAft>
              <a:buSzPts val="2800"/>
              <a:buNone/>
              <a:defRPr>
                <a:latin typeface="Poppins"/>
                <a:ea typeface="Poppins"/>
                <a:cs typeface="Poppins"/>
                <a:sym typeface="Poppins"/>
              </a:defRPr>
            </a:lvl9pPr>
          </a:lstStyle>
          <a:p>
            <a:endParaRPr/>
          </a:p>
        </p:txBody>
      </p:sp>
      <p:sp>
        <p:nvSpPr>
          <p:cNvPr id="131" name="Google Shape;131;p13"/>
          <p:cNvSpPr/>
          <p:nvPr/>
        </p:nvSpPr>
        <p:spPr>
          <a:xfrm>
            <a:off x="4800600" y="632300"/>
            <a:ext cx="775500" cy="131400"/>
          </a:xfrm>
          <a:prstGeom prst="roundRect">
            <a:avLst>
              <a:gd name="adj" fmla="val 50000"/>
            </a:avLst>
          </a:prstGeom>
          <a:solidFill>
            <a:srgbClr val="F47C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13"/>
          <p:cNvSpPr txBox="1">
            <a:spLocks noGrp="1"/>
          </p:cNvSpPr>
          <p:nvPr>
            <p:ph type="subTitle" idx="1"/>
          </p:nvPr>
        </p:nvSpPr>
        <p:spPr>
          <a:xfrm>
            <a:off x="4722075" y="1959150"/>
            <a:ext cx="3589800" cy="2742300"/>
          </a:xfrm>
          <a:prstGeom prst="rect">
            <a:avLst/>
          </a:prstGeom>
        </p:spPr>
        <p:txBody>
          <a:bodyPr spcFirstLastPara="1" wrap="square" lIns="91425" tIns="91425" rIns="91425" bIns="91425" anchor="t" anchorCtr="0">
            <a:normAutofit/>
          </a:bodyPr>
          <a:lstStyle>
            <a:lvl1pPr lvl="0" rtl="0">
              <a:spcBef>
                <a:spcPts val="0"/>
              </a:spcBef>
              <a:spcAft>
                <a:spcPts val="0"/>
              </a:spcAft>
              <a:buSzPts val="13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Tree>
  </p:cSld>
  <p:clrMapOvr>
    <a:masterClrMapping/>
  </p:clrMapOvr>
  <p:extLst>
    <p:ext uri="{DCECCB84-F9BA-43D5-87BE-67443E8EF086}">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orient="horz" pos="1620">
          <p15:clr>
            <a:srgbClr val="E46962"/>
          </p15:clr>
        </p15:guide>
        <p15:guide id="2" pos="3024">
          <p15:clr>
            <a:srgbClr val="E46962"/>
          </p15:clr>
        </p15:guide>
        <p15:guide id="3" pos="405">
          <p15:clr>
            <a:srgbClr val="E46962"/>
          </p15:clr>
        </p15:guide>
        <p15:guide id="4" orient="horz" pos="628">
          <p15:clr>
            <a:srgbClr val="E46962"/>
          </p15:clr>
        </p15:guide>
        <p15:guide id="5" pos="5328">
          <p15:clr>
            <a:srgbClr val="E46962"/>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A_Introduction_Slide_1">
  <p:cSld name="TITLE_1_2">
    <p:spTree>
      <p:nvGrpSpPr>
        <p:cNvPr id="1" name="Shape 133"/>
        <p:cNvGrpSpPr/>
        <p:nvPr/>
      </p:nvGrpSpPr>
      <p:grpSpPr>
        <a:xfrm>
          <a:off x="0" y="0"/>
          <a:ext cx="0" cy="0"/>
          <a:chOff x="0" y="0"/>
          <a:chExt cx="0" cy="0"/>
        </a:xfrm>
      </p:grpSpPr>
      <p:sp>
        <p:nvSpPr>
          <p:cNvPr id="134" name="Google Shape;134;p14"/>
          <p:cNvSpPr txBox="1">
            <a:spLocks noGrp="1"/>
          </p:cNvSpPr>
          <p:nvPr>
            <p:ph type="title"/>
          </p:nvPr>
        </p:nvSpPr>
        <p:spPr>
          <a:xfrm>
            <a:off x="632175" y="920625"/>
            <a:ext cx="7679700" cy="7269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2800"/>
              <a:buNone/>
              <a:defRPr>
                <a:latin typeface="Poppins"/>
                <a:ea typeface="Poppins"/>
                <a:cs typeface="Poppins"/>
                <a:sym typeface="Poppins"/>
              </a:defRPr>
            </a:lvl2pPr>
            <a:lvl3pPr lvl="2" rtl="0">
              <a:spcBef>
                <a:spcPts val="0"/>
              </a:spcBef>
              <a:spcAft>
                <a:spcPts val="0"/>
              </a:spcAft>
              <a:buSzPts val="2800"/>
              <a:buNone/>
              <a:defRPr>
                <a:latin typeface="Poppins"/>
                <a:ea typeface="Poppins"/>
                <a:cs typeface="Poppins"/>
                <a:sym typeface="Poppins"/>
              </a:defRPr>
            </a:lvl3pPr>
            <a:lvl4pPr lvl="3" rtl="0">
              <a:spcBef>
                <a:spcPts val="0"/>
              </a:spcBef>
              <a:spcAft>
                <a:spcPts val="0"/>
              </a:spcAft>
              <a:buSzPts val="2800"/>
              <a:buNone/>
              <a:defRPr>
                <a:latin typeface="Poppins"/>
                <a:ea typeface="Poppins"/>
                <a:cs typeface="Poppins"/>
                <a:sym typeface="Poppins"/>
              </a:defRPr>
            </a:lvl4pPr>
            <a:lvl5pPr lvl="4" rtl="0">
              <a:spcBef>
                <a:spcPts val="0"/>
              </a:spcBef>
              <a:spcAft>
                <a:spcPts val="0"/>
              </a:spcAft>
              <a:buSzPts val="2800"/>
              <a:buNone/>
              <a:defRPr>
                <a:latin typeface="Poppins"/>
                <a:ea typeface="Poppins"/>
                <a:cs typeface="Poppins"/>
                <a:sym typeface="Poppins"/>
              </a:defRPr>
            </a:lvl5pPr>
            <a:lvl6pPr lvl="5" rtl="0">
              <a:spcBef>
                <a:spcPts val="0"/>
              </a:spcBef>
              <a:spcAft>
                <a:spcPts val="0"/>
              </a:spcAft>
              <a:buSzPts val="2800"/>
              <a:buNone/>
              <a:defRPr>
                <a:latin typeface="Poppins"/>
                <a:ea typeface="Poppins"/>
                <a:cs typeface="Poppins"/>
                <a:sym typeface="Poppins"/>
              </a:defRPr>
            </a:lvl6pPr>
            <a:lvl7pPr lvl="6" rtl="0">
              <a:spcBef>
                <a:spcPts val="0"/>
              </a:spcBef>
              <a:spcAft>
                <a:spcPts val="0"/>
              </a:spcAft>
              <a:buSzPts val="2800"/>
              <a:buNone/>
              <a:defRPr>
                <a:latin typeface="Poppins"/>
                <a:ea typeface="Poppins"/>
                <a:cs typeface="Poppins"/>
                <a:sym typeface="Poppins"/>
              </a:defRPr>
            </a:lvl7pPr>
            <a:lvl8pPr lvl="7" rtl="0">
              <a:spcBef>
                <a:spcPts val="0"/>
              </a:spcBef>
              <a:spcAft>
                <a:spcPts val="0"/>
              </a:spcAft>
              <a:buSzPts val="2800"/>
              <a:buNone/>
              <a:defRPr>
                <a:latin typeface="Poppins"/>
                <a:ea typeface="Poppins"/>
                <a:cs typeface="Poppins"/>
                <a:sym typeface="Poppins"/>
              </a:defRPr>
            </a:lvl8pPr>
            <a:lvl9pPr lvl="8" rtl="0">
              <a:spcBef>
                <a:spcPts val="0"/>
              </a:spcBef>
              <a:spcAft>
                <a:spcPts val="0"/>
              </a:spcAft>
              <a:buSzPts val="2800"/>
              <a:buNone/>
              <a:defRPr>
                <a:latin typeface="Poppins"/>
                <a:ea typeface="Poppins"/>
                <a:cs typeface="Poppins"/>
                <a:sym typeface="Poppins"/>
              </a:defRPr>
            </a:lvl9pPr>
          </a:lstStyle>
          <a:p>
            <a:endParaRPr/>
          </a:p>
        </p:txBody>
      </p:sp>
      <p:sp>
        <p:nvSpPr>
          <p:cNvPr id="135" name="Google Shape;135;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36" name="Google Shape;136;p14"/>
          <p:cNvSpPr txBox="1">
            <a:spLocks noGrp="1"/>
          </p:cNvSpPr>
          <p:nvPr>
            <p:ph type="body" idx="1"/>
          </p:nvPr>
        </p:nvSpPr>
        <p:spPr>
          <a:xfrm>
            <a:off x="632175" y="1717350"/>
            <a:ext cx="5520900" cy="2652300"/>
          </a:xfrm>
          <a:prstGeom prst="rect">
            <a:avLst/>
          </a:prstGeom>
        </p:spPr>
        <p:txBody>
          <a:bodyPr spcFirstLastPara="1" wrap="square" lIns="91425" tIns="91425" rIns="91425" bIns="91425" anchor="t" anchorCtr="0">
            <a:normAutofit/>
          </a:bodyPr>
          <a:lstStyle>
            <a:lvl1pPr marL="457200" lvl="0" indent="-311150" rtl="0">
              <a:spcBef>
                <a:spcPts val="0"/>
              </a:spcBef>
              <a:spcAft>
                <a:spcPts val="0"/>
              </a:spcAft>
              <a:buSzPts val="1300"/>
              <a:buChar char="●"/>
              <a:defRPr sz="13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pic>
        <p:nvPicPr>
          <p:cNvPr id="137" name="Google Shape;137;p14"/>
          <p:cNvPicPr preferRelativeResize="0"/>
          <p:nvPr/>
        </p:nvPicPr>
        <p:blipFill>
          <a:blip r:embed="rId2">
            <a:alphaModFix/>
          </a:blip>
          <a:stretch>
            <a:fillRect/>
          </a:stretch>
        </p:blipFill>
        <p:spPr>
          <a:xfrm rot="5400000">
            <a:off x="727196" y="475900"/>
            <a:ext cx="374904" cy="374904"/>
          </a:xfrm>
          <a:prstGeom prst="rect">
            <a:avLst/>
          </a:prstGeom>
          <a:noFill/>
          <a:ln>
            <a:noFill/>
          </a:ln>
        </p:spPr>
      </p:pic>
      <p:pic>
        <p:nvPicPr>
          <p:cNvPr id="138" name="Google Shape;138;p14"/>
          <p:cNvPicPr preferRelativeResize="0"/>
          <p:nvPr/>
        </p:nvPicPr>
        <p:blipFill rotWithShape="1">
          <a:blip r:embed="rId3">
            <a:alphaModFix/>
          </a:blip>
          <a:srcRect l="7871" r="4470"/>
          <a:stretch/>
        </p:blipFill>
        <p:spPr>
          <a:xfrm rot="5399995">
            <a:off x="5161977" y="1270987"/>
            <a:ext cx="5149824" cy="2601528"/>
          </a:xfrm>
          <a:prstGeom prst="rect">
            <a:avLst/>
          </a:prstGeom>
          <a:noFill/>
          <a:ln>
            <a:noFill/>
          </a:ln>
        </p:spPr>
      </p:pic>
    </p:spTree>
  </p:cSld>
  <p:clrMapOvr>
    <a:masterClrMapping/>
  </p:clrMapOvr>
  <p:extLst>
    <p:ext uri="{DCECCB84-F9BA-43D5-87BE-67443E8EF086}">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orient="horz" pos="1620">
          <p15:clr>
            <a:srgbClr val="E46962"/>
          </p15:clr>
        </p15:guide>
        <p15:guide id="2" pos="2880">
          <p15:clr>
            <a:srgbClr val="E46962"/>
          </p15:clr>
        </p15:guide>
        <p15:guide id="3" pos="398">
          <p15:clr>
            <a:srgbClr val="E46962"/>
          </p15:clr>
        </p15:guide>
        <p15:guide id="4" orient="horz" pos="628">
          <p15:clr>
            <a:srgbClr val="E46962"/>
          </p15:clr>
        </p15:guide>
        <p15:guide id="5" pos="5362">
          <p15:clr>
            <a:srgbClr val="E46962"/>
          </p15:clr>
        </p15:guide>
        <p15:guide id="6" pos="458">
          <p15:clr>
            <a:srgbClr val="E46962"/>
          </p15:clr>
        </p15:guide>
        <p15:guide id="7" orient="horz" pos="1082">
          <p15:clr>
            <a:srgbClr val="E46962"/>
          </p15:clr>
        </p15:guide>
        <p15:guide id="8" orient="horz" pos="903">
          <p15:clr>
            <a:srgbClr val="E46962"/>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A_Outro_1">
  <p:cSld name="TITLE_1_1_1_1">
    <p:spTree>
      <p:nvGrpSpPr>
        <p:cNvPr id="1" name="Shape 139"/>
        <p:cNvGrpSpPr/>
        <p:nvPr/>
      </p:nvGrpSpPr>
      <p:grpSpPr>
        <a:xfrm>
          <a:off x="0" y="0"/>
          <a:ext cx="0" cy="0"/>
          <a:chOff x="0" y="0"/>
          <a:chExt cx="0" cy="0"/>
        </a:xfrm>
      </p:grpSpPr>
      <p:sp>
        <p:nvSpPr>
          <p:cNvPr id="140" name="Google Shape;140;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41" name="Google Shape;141;p15"/>
          <p:cNvSpPr txBox="1">
            <a:spLocks noGrp="1"/>
          </p:cNvSpPr>
          <p:nvPr>
            <p:ph type="title"/>
          </p:nvPr>
        </p:nvSpPr>
        <p:spPr>
          <a:xfrm>
            <a:off x="530400" y="2208300"/>
            <a:ext cx="8083200" cy="726900"/>
          </a:xfrm>
          <a:prstGeom prst="rect">
            <a:avLst/>
          </a:prstGeom>
        </p:spPr>
        <p:txBody>
          <a:bodyPr spcFirstLastPara="1" wrap="square" lIns="91425" tIns="91425" rIns="91425" bIns="91425" anchor="ctr" anchorCtr="0">
            <a:spAutoFit/>
          </a:bodyPr>
          <a:lstStyle>
            <a:lvl1pPr lvl="0" algn="ctr" rtl="0">
              <a:spcBef>
                <a:spcPts val="0"/>
              </a:spcBef>
              <a:spcAft>
                <a:spcPts val="0"/>
              </a:spcAft>
              <a:buSzPts val="2800"/>
              <a:buNone/>
              <a:defRPr/>
            </a:lvl1pPr>
            <a:lvl2pPr lvl="1" algn="ctr" rtl="0">
              <a:spcBef>
                <a:spcPts val="0"/>
              </a:spcBef>
              <a:spcAft>
                <a:spcPts val="0"/>
              </a:spcAft>
              <a:buSzPts val="2800"/>
              <a:buNone/>
              <a:defRPr>
                <a:latin typeface="Poppins"/>
                <a:ea typeface="Poppins"/>
                <a:cs typeface="Poppins"/>
                <a:sym typeface="Poppins"/>
              </a:defRPr>
            </a:lvl2pPr>
            <a:lvl3pPr lvl="2" algn="ctr" rtl="0">
              <a:spcBef>
                <a:spcPts val="0"/>
              </a:spcBef>
              <a:spcAft>
                <a:spcPts val="0"/>
              </a:spcAft>
              <a:buSzPts val="2800"/>
              <a:buNone/>
              <a:defRPr>
                <a:latin typeface="Poppins"/>
                <a:ea typeface="Poppins"/>
                <a:cs typeface="Poppins"/>
                <a:sym typeface="Poppins"/>
              </a:defRPr>
            </a:lvl3pPr>
            <a:lvl4pPr lvl="3" algn="ctr" rtl="0">
              <a:spcBef>
                <a:spcPts val="0"/>
              </a:spcBef>
              <a:spcAft>
                <a:spcPts val="0"/>
              </a:spcAft>
              <a:buSzPts val="2800"/>
              <a:buNone/>
              <a:defRPr>
                <a:latin typeface="Poppins"/>
                <a:ea typeface="Poppins"/>
                <a:cs typeface="Poppins"/>
                <a:sym typeface="Poppins"/>
              </a:defRPr>
            </a:lvl4pPr>
            <a:lvl5pPr lvl="4" algn="ctr" rtl="0">
              <a:spcBef>
                <a:spcPts val="0"/>
              </a:spcBef>
              <a:spcAft>
                <a:spcPts val="0"/>
              </a:spcAft>
              <a:buSzPts val="2800"/>
              <a:buNone/>
              <a:defRPr>
                <a:latin typeface="Poppins"/>
                <a:ea typeface="Poppins"/>
                <a:cs typeface="Poppins"/>
                <a:sym typeface="Poppins"/>
              </a:defRPr>
            </a:lvl5pPr>
            <a:lvl6pPr lvl="5" algn="ctr" rtl="0">
              <a:spcBef>
                <a:spcPts val="0"/>
              </a:spcBef>
              <a:spcAft>
                <a:spcPts val="0"/>
              </a:spcAft>
              <a:buSzPts val="2800"/>
              <a:buNone/>
              <a:defRPr>
                <a:latin typeface="Poppins"/>
                <a:ea typeface="Poppins"/>
                <a:cs typeface="Poppins"/>
                <a:sym typeface="Poppins"/>
              </a:defRPr>
            </a:lvl6pPr>
            <a:lvl7pPr lvl="6" algn="ctr" rtl="0">
              <a:spcBef>
                <a:spcPts val="0"/>
              </a:spcBef>
              <a:spcAft>
                <a:spcPts val="0"/>
              </a:spcAft>
              <a:buSzPts val="2800"/>
              <a:buNone/>
              <a:defRPr>
                <a:latin typeface="Poppins"/>
                <a:ea typeface="Poppins"/>
                <a:cs typeface="Poppins"/>
                <a:sym typeface="Poppins"/>
              </a:defRPr>
            </a:lvl7pPr>
            <a:lvl8pPr lvl="7" algn="ctr" rtl="0">
              <a:spcBef>
                <a:spcPts val="0"/>
              </a:spcBef>
              <a:spcAft>
                <a:spcPts val="0"/>
              </a:spcAft>
              <a:buSzPts val="2800"/>
              <a:buNone/>
              <a:defRPr>
                <a:latin typeface="Poppins"/>
                <a:ea typeface="Poppins"/>
                <a:cs typeface="Poppins"/>
                <a:sym typeface="Poppins"/>
              </a:defRPr>
            </a:lvl8pPr>
            <a:lvl9pPr lvl="8" algn="ctr" rtl="0">
              <a:spcBef>
                <a:spcPts val="0"/>
              </a:spcBef>
              <a:spcAft>
                <a:spcPts val="0"/>
              </a:spcAft>
              <a:buSzPts val="2800"/>
              <a:buNone/>
              <a:defRPr>
                <a:latin typeface="Poppins"/>
                <a:ea typeface="Poppins"/>
                <a:cs typeface="Poppins"/>
                <a:sym typeface="Poppins"/>
              </a:defRPr>
            </a:lvl9pPr>
          </a:lstStyle>
          <a:p>
            <a:endParaRPr/>
          </a:p>
        </p:txBody>
      </p:sp>
      <p:pic>
        <p:nvPicPr>
          <p:cNvPr id="142" name="Google Shape;142;p15"/>
          <p:cNvPicPr preferRelativeResize="0"/>
          <p:nvPr/>
        </p:nvPicPr>
        <p:blipFill>
          <a:blip r:embed="rId2">
            <a:alphaModFix/>
          </a:blip>
          <a:stretch>
            <a:fillRect/>
          </a:stretch>
        </p:blipFill>
        <p:spPr>
          <a:xfrm>
            <a:off x="4054825" y="1117275"/>
            <a:ext cx="590075" cy="590075"/>
          </a:xfrm>
          <a:prstGeom prst="rect">
            <a:avLst/>
          </a:prstGeom>
          <a:noFill/>
          <a:ln>
            <a:noFill/>
          </a:ln>
        </p:spPr>
      </p:pic>
    </p:spTree>
  </p:cSld>
  <p:clrMapOvr>
    <a:masterClrMapping/>
  </p:clrMapOvr>
  <p:extLst>
    <p:ext uri="{DCECCB84-F9BA-43D5-87BE-67443E8EF086}">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orient="horz" pos="1620">
          <p15:clr>
            <a:srgbClr val="E46962"/>
          </p15:clr>
        </p15:guide>
        <p15:guide id="2" pos="3240">
          <p15:clr>
            <a:srgbClr val="E46962"/>
          </p15:clr>
        </p15:guide>
        <p15:guide id="3" pos="405">
          <p15:clr>
            <a:srgbClr val="E46962"/>
          </p15:clr>
        </p15:guide>
        <p15:guide id="4" orient="horz" pos="628">
          <p15:clr>
            <a:srgbClr val="E46962"/>
          </p15:clr>
        </p15:guide>
        <p15:guide id="5" pos="5328">
          <p15:clr>
            <a:srgbClr val="E46962"/>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hift">
    <p:bg>
      <p:bgPr>
        <a:blipFill>
          <a:blip r:embed="rId16">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a:endParaRPr/>
          </a:p>
        </p:txBody>
      </p:sp>
      <p:sp>
        <p:nvSpPr>
          <p:cNvPr id="7" name="Google Shape;7;p1"/>
          <p:cNvSpPr txBox="1">
            <a:spLocks noGrp="1"/>
          </p:cNvSpPr>
          <p:nvPr>
            <p:ph type="body" idx="1"/>
          </p:nvPr>
        </p:nvSpPr>
        <p:spPr>
          <a:xfrm>
            <a:off x="311700" y="1152475"/>
            <a:ext cx="8520600" cy="33912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marL="914400" lvl="1"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marL="1371600" lvl="2"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marL="1828800" lvl="3"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marL="2286000" lvl="4"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marL="2743200" lvl="5"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marL="3200400" lvl="6"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marL="3657600" lvl="7"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marL="4114800" lvl="8"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a:endParaRPr/>
          </a:p>
        </p:txBody>
      </p:sp>
      <p:sp>
        <p:nvSpPr>
          <p:cNvPr id="8" name="Google Shape;8;p1"/>
          <p:cNvSpPr txBox="1">
            <a:spLocks noGrp="1"/>
          </p:cNvSpPr>
          <p:nvPr>
            <p:ph type="sldNum" idx="12"/>
          </p:nvPr>
        </p:nvSpPr>
        <p:spPr>
          <a:xfrm>
            <a:off x="8390734" y="4543668"/>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46"/>
        <p:cNvGrpSpPr/>
        <p:nvPr/>
      </p:nvGrpSpPr>
      <p:grpSpPr>
        <a:xfrm>
          <a:off x="0" y="0"/>
          <a:ext cx="0" cy="0"/>
          <a:chOff x="0" y="0"/>
          <a:chExt cx="0" cy="0"/>
        </a:xfrm>
      </p:grpSpPr>
      <p:sp>
        <p:nvSpPr>
          <p:cNvPr id="147" name="Google Shape;147;p16"/>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p:txBody>
      </p:sp>
      <p:sp>
        <p:nvSpPr>
          <p:cNvPr id="148" name="Google Shape;148;p16"/>
          <p:cNvSpPr txBox="1">
            <a:spLocks noGrp="1"/>
          </p:cNvSpPr>
          <p:nvPr>
            <p:ph type="body" idx="1"/>
          </p:nvPr>
        </p:nvSpPr>
        <p:spPr>
          <a:xfrm>
            <a:off x="346950" y="2894100"/>
            <a:ext cx="8450100" cy="1834200"/>
          </a:xfrm>
          <a:prstGeom prst="rect">
            <a:avLst/>
          </a:prstGeom>
          <a:ln w="9525" cap="flat" cmpd="sng">
            <a:solidFill>
              <a:srgbClr val="FF0000"/>
            </a:solidFill>
            <a:prstDash val="solid"/>
            <a:round/>
            <a:headEnd type="none" w="sm" len="sm"/>
            <a:tailEnd type="none" w="sm" len="sm"/>
          </a:ln>
        </p:spPr>
        <p:txBody>
          <a:bodyPr spcFirstLastPara="1" wrap="square" lIns="91425" tIns="91425" rIns="91425" bIns="91425" anchor="t" anchorCtr="0">
            <a:normAutofit lnSpcReduction="10000"/>
          </a:bodyPr>
          <a:lstStyle/>
          <a:p>
            <a:pPr marL="0" lvl="0" indent="0" algn="l" rtl="0">
              <a:lnSpc>
                <a:spcPct val="120000"/>
              </a:lnSpc>
              <a:buNone/>
            </a:pPr>
            <a:r>
              <a:rPr lang="en" sz="1800" b="1" dirty="0">
                <a:solidFill>
                  <a:srgbClr val="00FF00"/>
                </a:solidFill>
                <a:latin typeface="Nunito"/>
                <a:ea typeface="Nunito"/>
                <a:cs typeface="Nunito"/>
                <a:sym typeface="Nunito"/>
              </a:rPr>
              <a:t>Presented By </a:t>
            </a:r>
            <a:endParaRPr sz="1800" b="1" dirty="0">
              <a:solidFill>
                <a:srgbClr val="00FF00"/>
              </a:solidFill>
              <a:latin typeface="Nunito"/>
              <a:ea typeface="Nunito"/>
              <a:cs typeface="Nunito"/>
              <a:sym typeface="Nunito"/>
            </a:endParaRPr>
          </a:p>
          <a:p>
            <a:pPr marL="0" lvl="0" indent="0" algn="l" rtl="0">
              <a:lnSpc>
                <a:spcPct val="120000"/>
              </a:lnSpc>
              <a:buNone/>
            </a:pPr>
            <a:r>
              <a:rPr lang="en" sz="2000" b="1" dirty="0">
                <a:solidFill>
                  <a:schemeClr val="accent1"/>
                </a:solidFill>
                <a:latin typeface="Monotype Corsiva" pitchFamily="66" charset="0"/>
                <a:ea typeface="Nunito"/>
                <a:cs typeface="Nunito"/>
                <a:sym typeface="Nunito"/>
              </a:rPr>
              <a:t>Md Ashraf Ali</a:t>
            </a:r>
            <a:endParaRPr sz="2000" b="1" dirty="0">
              <a:solidFill>
                <a:schemeClr val="accent1"/>
              </a:solidFill>
              <a:latin typeface="Monotype Corsiva" pitchFamily="66" charset="0"/>
              <a:ea typeface="Nunito"/>
              <a:cs typeface="Nunito"/>
              <a:sym typeface="Nunito"/>
            </a:endParaRPr>
          </a:p>
          <a:p>
            <a:pPr marL="0" lvl="0" indent="0" algn="l" rtl="0">
              <a:lnSpc>
                <a:spcPct val="120000"/>
              </a:lnSpc>
              <a:buNone/>
            </a:pPr>
            <a:r>
              <a:rPr lang="en" sz="2000" b="1" dirty="0">
                <a:solidFill>
                  <a:schemeClr val="accent1"/>
                </a:solidFill>
                <a:latin typeface="Monotype Corsiva" pitchFamily="66" charset="0"/>
                <a:ea typeface="Nunito"/>
                <a:cs typeface="Nunito"/>
                <a:sym typeface="Nunito"/>
              </a:rPr>
              <a:t>Assistant Professor</a:t>
            </a:r>
            <a:endParaRPr sz="2000" b="1" dirty="0">
              <a:solidFill>
                <a:schemeClr val="accent1"/>
              </a:solidFill>
              <a:latin typeface="Monotype Corsiva" pitchFamily="66" charset="0"/>
              <a:ea typeface="Nunito"/>
              <a:cs typeface="Nunito"/>
              <a:sym typeface="Nunito"/>
            </a:endParaRPr>
          </a:p>
          <a:p>
            <a:pPr marL="0" lvl="0" indent="0" algn="l" rtl="0">
              <a:lnSpc>
                <a:spcPct val="120000"/>
              </a:lnSpc>
              <a:buNone/>
            </a:pPr>
            <a:r>
              <a:rPr lang="en" sz="2000" b="1" dirty="0">
                <a:solidFill>
                  <a:schemeClr val="accent1"/>
                </a:solidFill>
                <a:latin typeface="Monotype Corsiva" pitchFamily="66" charset="0"/>
                <a:ea typeface="Nunito"/>
                <a:cs typeface="Nunito"/>
                <a:sym typeface="Nunito"/>
              </a:rPr>
              <a:t>Dept. of Business </a:t>
            </a:r>
            <a:r>
              <a:rPr lang="en" sz="2000" b="1" dirty="0" smtClean="0">
                <a:solidFill>
                  <a:schemeClr val="accent1"/>
                </a:solidFill>
                <a:latin typeface="Monotype Corsiva" pitchFamily="66" charset="0"/>
                <a:ea typeface="Nunito"/>
                <a:cs typeface="Nunito"/>
                <a:sym typeface="Nunito"/>
              </a:rPr>
              <a:t>Administration</a:t>
            </a:r>
          </a:p>
          <a:p>
            <a:pPr marL="0" lvl="0" indent="0" algn="l" rtl="0">
              <a:lnSpc>
                <a:spcPct val="120000"/>
              </a:lnSpc>
              <a:buNone/>
            </a:pPr>
            <a:r>
              <a:rPr lang="en" sz="2000" b="1" dirty="0" smtClean="0">
                <a:solidFill>
                  <a:schemeClr val="accent1"/>
                </a:solidFill>
                <a:latin typeface="Monotype Corsiva" pitchFamily="66" charset="0"/>
                <a:ea typeface="Nunito"/>
                <a:cs typeface="Nunito"/>
                <a:sym typeface="Nunito"/>
              </a:rPr>
              <a:t>Sonargaon University</a:t>
            </a:r>
            <a:endParaRPr sz="2000" b="1" dirty="0">
              <a:solidFill>
                <a:schemeClr val="accent1"/>
              </a:solidFill>
              <a:latin typeface="Monotype Corsiva" pitchFamily="66" charset="0"/>
              <a:ea typeface="Nunito"/>
              <a:cs typeface="Nunito"/>
              <a:sym typeface="Nunito"/>
            </a:endParaRPr>
          </a:p>
        </p:txBody>
      </p:sp>
      <p:pic>
        <p:nvPicPr>
          <p:cNvPr id="149" name="Google Shape;149;p16"/>
          <p:cNvPicPr preferRelativeResize="0"/>
          <p:nvPr/>
        </p:nvPicPr>
        <p:blipFill>
          <a:blip r:embed="rId4">
            <a:alphaModFix/>
          </a:blip>
          <a:stretch>
            <a:fillRect/>
          </a:stretch>
        </p:blipFill>
        <p:spPr>
          <a:xfrm>
            <a:off x="192025" y="263350"/>
            <a:ext cx="8743926" cy="2308401"/>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100">
        <p14:flip dir="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7"/>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p:txBody>
      </p:sp>
      <p:sp>
        <p:nvSpPr>
          <p:cNvPr id="155" name="Google Shape;155;p17"/>
          <p:cNvSpPr txBox="1">
            <a:spLocks noGrp="1"/>
          </p:cNvSpPr>
          <p:nvPr>
            <p:ph type="body" idx="1"/>
          </p:nvPr>
        </p:nvSpPr>
        <p:spPr>
          <a:xfrm>
            <a:off x="819150" y="1990725"/>
            <a:ext cx="7505700" cy="24480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59"/>
        <p:cNvGrpSpPr/>
        <p:nvPr/>
      </p:nvGrpSpPr>
      <p:grpSpPr>
        <a:xfrm>
          <a:off x="0" y="0"/>
          <a:ext cx="0" cy="0"/>
          <a:chOff x="0" y="0"/>
          <a:chExt cx="0" cy="0"/>
        </a:xfrm>
      </p:grpSpPr>
      <p:sp>
        <p:nvSpPr>
          <p:cNvPr id="160" name="Google Shape;160;p18"/>
          <p:cNvSpPr txBox="1">
            <a:spLocks noGrp="1"/>
          </p:cNvSpPr>
          <p:nvPr>
            <p:ph type="title"/>
          </p:nvPr>
        </p:nvSpPr>
        <p:spPr>
          <a:xfrm>
            <a:off x="251725" y="1340300"/>
            <a:ext cx="8633700" cy="3508500"/>
          </a:xfrm>
          <a:prstGeom prst="rect">
            <a:avLst/>
          </a:prstGeom>
          <a:ln w="38100" cap="flat" cmpd="sng">
            <a:solidFill>
              <a:srgbClr val="FF0000"/>
            </a:solidFill>
            <a:prstDash val="solid"/>
            <a:round/>
            <a:headEnd type="none" w="sm" len="sm"/>
            <a:tailEnd type="none" w="sm" len="sm"/>
          </a:ln>
        </p:spPr>
        <p:txBody>
          <a:bodyPr spcFirstLastPara="1" wrap="square" lIns="91425" tIns="91425" rIns="91425" bIns="91425" anchor="t" anchorCtr="0">
            <a:normAutofit fontScale="90000"/>
          </a:bodyPr>
          <a:lstStyle/>
          <a:p>
            <a:pPr marL="0" lvl="0" indent="0" algn="l" rtl="0">
              <a:lnSpc>
                <a:spcPct val="115000"/>
              </a:lnSpc>
              <a:spcBef>
                <a:spcPts val="1200"/>
              </a:spcBef>
              <a:spcAft>
                <a:spcPts val="0"/>
              </a:spcAft>
              <a:buNone/>
            </a:pPr>
            <a:r>
              <a:rPr lang="en" sz="2433" dirty="0" smtClean="0">
                <a:solidFill>
                  <a:srgbClr val="000000"/>
                </a:solidFill>
              </a:rPr>
              <a:t>“Capital </a:t>
            </a:r>
            <a:r>
              <a:rPr lang="en" sz="2433" dirty="0">
                <a:solidFill>
                  <a:srgbClr val="000000"/>
                </a:solidFill>
              </a:rPr>
              <a:t>budgeting is a process used by organizations to evaluate and select long-term investment projects that will create value for the company</a:t>
            </a:r>
            <a:r>
              <a:rPr lang="en" sz="2433" dirty="0" smtClean="0">
                <a:solidFill>
                  <a:srgbClr val="000000"/>
                </a:solidFill>
              </a:rPr>
              <a:t>.”</a:t>
            </a:r>
            <a:endParaRPr sz="2433" dirty="0">
              <a:solidFill>
                <a:srgbClr val="000000"/>
              </a:solidFill>
            </a:endParaRPr>
          </a:p>
          <a:p>
            <a:pPr marL="0" lvl="0" indent="0" algn="l" rtl="0">
              <a:lnSpc>
                <a:spcPct val="115000"/>
              </a:lnSpc>
              <a:spcBef>
                <a:spcPts val="1200"/>
              </a:spcBef>
              <a:spcAft>
                <a:spcPts val="0"/>
              </a:spcAft>
              <a:buNone/>
            </a:pPr>
            <a:r>
              <a:rPr lang="en" sz="2433" dirty="0">
                <a:solidFill>
                  <a:srgbClr val="000000"/>
                </a:solidFill>
              </a:rPr>
              <a:t>Capital Budgeting is defined as the firm’s formal process for the acquisition and investment of capital”</a:t>
            </a:r>
            <a:endParaRPr sz="2433" dirty="0">
              <a:solidFill>
                <a:srgbClr val="000000"/>
              </a:solidFill>
            </a:endParaRPr>
          </a:p>
          <a:p>
            <a:pPr marL="0" lvl="0" indent="0" algn="l" rtl="0">
              <a:lnSpc>
                <a:spcPct val="115000"/>
              </a:lnSpc>
              <a:spcBef>
                <a:spcPts val="1200"/>
              </a:spcBef>
              <a:spcAft>
                <a:spcPts val="0"/>
              </a:spcAft>
              <a:buNone/>
            </a:pPr>
            <a:r>
              <a:rPr lang="en" sz="2433" dirty="0">
                <a:solidFill>
                  <a:srgbClr val="00B050"/>
                </a:solidFill>
              </a:rPr>
              <a:t>“Capital Budgeting is long-term planning for making and financing proposed capital outlays.” </a:t>
            </a:r>
            <a:r>
              <a:rPr lang="en" sz="2533" dirty="0">
                <a:solidFill>
                  <a:srgbClr val="0070C0"/>
                </a:solidFill>
              </a:rPr>
              <a:t>Charles T Horngreen</a:t>
            </a:r>
            <a:endParaRPr sz="2533" dirty="0">
              <a:solidFill>
                <a:srgbClr val="0070C0"/>
              </a:solidFill>
            </a:endParaRPr>
          </a:p>
          <a:p>
            <a:pPr marL="0" lvl="0" indent="0" algn="l" rtl="0">
              <a:spcBef>
                <a:spcPts val="1200"/>
              </a:spcBef>
              <a:spcAft>
                <a:spcPts val="0"/>
              </a:spcAft>
              <a:buNone/>
            </a:pPr>
            <a:endParaRPr dirty="0"/>
          </a:p>
        </p:txBody>
      </p:sp>
      <p:sp>
        <p:nvSpPr>
          <p:cNvPr id="161" name="Google Shape;161;p18"/>
          <p:cNvSpPr txBox="1">
            <a:spLocks noGrp="1"/>
          </p:cNvSpPr>
          <p:nvPr>
            <p:ph type="title"/>
          </p:nvPr>
        </p:nvSpPr>
        <p:spPr>
          <a:xfrm>
            <a:off x="251725" y="421825"/>
            <a:ext cx="8633700" cy="816300"/>
          </a:xfrm>
          <a:prstGeom prst="rect">
            <a:avLst/>
          </a:prstGeom>
          <a:solidFill>
            <a:srgbClr val="F1C232"/>
          </a:solidFill>
        </p:spPr>
        <p:txBody>
          <a:bodyPr spcFirstLastPara="1" wrap="square" lIns="91425" tIns="91425" rIns="91425" bIns="91425" anchor="t" anchorCtr="0">
            <a:normAutofit fontScale="90000"/>
          </a:bodyPr>
          <a:lstStyle/>
          <a:p>
            <a:pPr marL="0" lvl="0" indent="0" algn="l" rtl="0">
              <a:lnSpc>
                <a:spcPct val="115000"/>
              </a:lnSpc>
              <a:spcBef>
                <a:spcPts val="1200"/>
              </a:spcBef>
              <a:spcAft>
                <a:spcPts val="1200"/>
              </a:spcAft>
              <a:buNone/>
            </a:pPr>
            <a:r>
              <a:rPr lang="en" b="1" dirty="0">
                <a:solidFill>
                  <a:srgbClr val="FF0000"/>
                </a:solidFill>
                <a:latin typeface="Arial"/>
                <a:ea typeface="Arial"/>
                <a:cs typeface="Arial"/>
                <a:sym typeface="Arial"/>
              </a:rPr>
              <a:t>Slide 1: Capital Budgeting</a:t>
            </a:r>
            <a:endParaRPr dirty="0"/>
          </a:p>
        </p:txBody>
      </p:sp>
      <p:sp>
        <p:nvSpPr>
          <p:cNvPr id="162" name="Google Shape;162;p18"/>
          <p:cNvSpPr txBox="1"/>
          <p:nvPr/>
        </p:nvSpPr>
        <p:spPr>
          <a:xfrm>
            <a:off x="9865175" y="3728350"/>
            <a:ext cx="9164400" cy="4002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66"/>
        <p:cNvGrpSpPr/>
        <p:nvPr/>
      </p:nvGrpSpPr>
      <p:grpSpPr>
        <a:xfrm>
          <a:off x="0" y="0"/>
          <a:ext cx="0" cy="0"/>
          <a:chOff x="0" y="0"/>
          <a:chExt cx="0" cy="0"/>
        </a:xfrm>
      </p:grpSpPr>
      <p:sp>
        <p:nvSpPr>
          <p:cNvPr id="167" name="Google Shape;167;p19"/>
          <p:cNvSpPr txBox="1">
            <a:spLocks noGrp="1"/>
          </p:cNvSpPr>
          <p:nvPr>
            <p:ph type="title"/>
          </p:nvPr>
        </p:nvSpPr>
        <p:spPr>
          <a:xfrm>
            <a:off x="292550" y="401400"/>
            <a:ext cx="8531400" cy="653100"/>
          </a:xfrm>
          <a:prstGeom prst="rect">
            <a:avLst/>
          </a:prstGeom>
          <a:solidFill>
            <a:srgbClr val="F1C232"/>
          </a:solidFill>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2500" b="1">
                <a:solidFill>
                  <a:srgbClr val="FF0000"/>
                </a:solidFill>
                <a:latin typeface="Arial"/>
                <a:ea typeface="Arial"/>
                <a:cs typeface="Arial"/>
                <a:sym typeface="Arial"/>
              </a:rPr>
              <a:t>Slide 2:The Main features of Capital budgeting are</a:t>
            </a:r>
            <a:endParaRPr sz="2500" b="1">
              <a:solidFill>
                <a:srgbClr val="FF0000"/>
              </a:solidFill>
              <a:latin typeface="Arial"/>
              <a:ea typeface="Arial"/>
              <a:cs typeface="Arial"/>
              <a:sym typeface="Arial"/>
            </a:endParaRPr>
          </a:p>
          <a:p>
            <a:pPr marL="0" lvl="0" indent="0" algn="l" rtl="0">
              <a:lnSpc>
                <a:spcPct val="115000"/>
              </a:lnSpc>
              <a:spcBef>
                <a:spcPts val="1200"/>
              </a:spcBef>
              <a:spcAft>
                <a:spcPts val="0"/>
              </a:spcAft>
              <a:buNone/>
            </a:pPr>
            <a:r>
              <a:rPr lang="en" sz="1200">
                <a:solidFill>
                  <a:srgbClr val="000000"/>
                </a:solidFill>
                <a:latin typeface="Arial"/>
                <a:ea typeface="Arial"/>
                <a:cs typeface="Arial"/>
                <a:sym typeface="Arial"/>
              </a:rPr>
              <a:t>  </a:t>
            </a:r>
            <a:endParaRPr/>
          </a:p>
        </p:txBody>
      </p:sp>
      <p:sp>
        <p:nvSpPr>
          <p:cNvPr id="168" name="Google Shape;168;p19"/>
          <p:cNvSpPr txBox="1">
            <a:spLocks noGrp="1"/>
          </p:cNvSpPr>
          <p:nvPr>
            <p:ph type="body" idx="1"/>
          </p:nvPr>
        </p:nvSpPr>
        <p:spPr>
          <a:xfrm>
            <a:off x="292450" y="1299475"/>
            <a:ext cx="8531400" cy="3449400"/>
          </a:xfrm>
          <a:prstGeom prst="rect">
            <a:avLst/>
          </a:prstGeom>
          <a:ln w="28575" cap="flat" cmpd="sng">
            <a:solidFill>
              <a:srgbClr val="FF0000"/>
            </a:solidFill>
            <a:prstDash val="solid"/>
            <a:round/>
            <a:headEnd type="none" w="sm" len="sm"/>
            <a:tailEnd type="none" w="sm" len="sm"/>
          </a:ln>
        </p:spPr>
        <p:txBody>
          <a:bodyPr spcFirstLastPara="1" wrap="square" lIns="228600" tIns="91425" rIns="91425" bIns="91425" anchor="t" anchorCtr="0">
            <a:normAutofit/>
          </a:bodyPr>
          <a:lstStyle/>
          <a:p>
            <a:pPr marL="0" lvl="0" indent="0" algn="l" rtl="0">
              <a:spcBef>
                <a:spcPts val="1200"/>
              </a:spcBef>
              <a:spcAft>
                <a:spcPts val="0"/>
              </a:spcAft>
              <a:buNone/>
            </a:pPr>
            <a:r>
              <a:rPr lang="en" sz="1900" dirty="0">
                <a:solidFill>
                  <a:srgbClr val="000000"/>
                </a:solidFill>
                <a:latin typeface="Arial"/>
                <a:ea typeface="Arial"/>
                <a:cs typeface="Arial"/>
                <a:sym typeface="Arial"/>
              </a:rPr>
              <a:t>i) Potentially large anticipated benefits</a:t>
            </a:r>
            <a:endParaRPr sz="1900" dirty="0">
              <a:solidFill>
                <a:srgbClr val="000000"/>
              </a:solidFill>
              <a:latin typeface="Arial"/>
              <a:ea typeface="Arial"/>
              <a:cs typeface="Arial"/>
              <a:sym typeface="Arial"/>
            </a:endParaRPr>
          </a:p>
          <a:p>
            <a:pPr marL="0" lvl="0" indent="0" algn="l" rtl="0">
              <a:spcBef>
                <a:spcPts val="1200"/>
              </a:spcBef>
              <a:spcAft>
                <a:spcPts val="0"/>
              </a:spcAft>
              <a:buNone/>
            </a:pPr>
            <a:r>
              <a:rPr lang="en" sz="1900" dirty="0">
                <a:solidFill>
                  <a:srgbClr val="000000"/>
                </a:solidFill>
                <a:latin typeface="Arial"/>
                <a:ea typeface="Arial"/>
                <a:cs typeface="Arial"/>
                <a:sym typeface="Arial"/>
              </a:rPr>
              <a:t>ii) a relatively high degree of risk</a:t>
            </a:r>
            <a:endParaRPr sz="1900" dirty="0">
              <a:solidFill>
                <a:srgbClr val="000000"/>
              </a:solidFill>
              <a:latin typeface="Arial"/>
              <a:ea typeface="Arial"/>
              <a:cs typeface="Arial"/>
              <a:sym typeface="Arial"/>
            </a:endParaRPr>
          </a:p>
          <a:p>
            <a:pPr marL="0" lvl="0" indent="0" algn="l" rtl="0">
              <a:spcBef>
                <a:spcPts val="1200"/>
              </a:spcBef>
              <a:spcAft>
                <a:spcPts val="0"/>
              </a:spcAft>
              <a:buNone/>
            </a:pPr>
            <a:r>
              <a:rPr lang="en" sz="1900" dirty="0">
                <a:solidFill>
                  <a:srgbClr val="000000"/>
                </a:solidFill>
                <a:latin typeface="Arial"/>
                <a:ea typeface="Arial"/>
                <a:cs typeface="Arial"/>
                <a:sym typeface="Arial"/>
              </a:rPr>
              <a:t>iii) Relatively long time period between the initial outlays and the anticipated return.</a:t>
            </a:r>
            <a:r>
              <a:rPr lang="en" sz="1900" b="1" dirty="0">
                <a:solidFill>
                  <a:srgbClr val="000000"/>
                </a:solidFill>
                <a:latin typeface="Arial"/>
                <a:ea typeface="Arial"/>
                <a:cs typeface="Arial"/>
                <a:sym typeface="Arial"/>
              </a:rPr>
              <a:t> </a:t>
            </a:r>
            <a:r>
              <a:rPr lang="en" sz="2100" b="1" dirty="0">
                <a:solidFill>
                  <a:srgbClr val="0070C0"/>
                </a:solidFill>
                <a:latin typeface="Arial"/>
                <a:ea typeface="Arial"/>
                <a:cs typeface="Arial"/>
                <a:sym typeface="Arial"/>
              </a:rPr>
              <a:t>Oster Young</a:t>
            </a:r>
            <a:endParaRPr sz="2100" b="1" dirty="0">
              <a:solidFill>
                <a:srgbClr val="0070C0"/>
              </a:solidFill>
              <a:latin typeface="Arial"/>
              <a:ea typeface="Arial"/>
              <a:cs typeface="Arial"/>
              <a:sym typeface="Arial"/>
            </a:endParaRPr>
          </a:p>
          <a:p>
            <a:pPr marL="0" lvl="0" indent="0" algn="l" rtl="0">
              <a:spcBef>
                <a:spcPts val="1200"/>
              </a:spcBef>
              <a:spcAft>
                <a:spcPts val="0"/>
              </a:spcAft>
              <a:buNone/>
            </a:pPr>
            <a:r>
              <a:rPr lang="en" sz="1900" b="1" dirty="0">
                <a:solidFill>
                  <a:srgbClr val="0070C0"/>
                </a:solidFill>
                <a:latin typeface="Arial"/>
                <a:ea typeface="Arial"/>
                <a:cs typeface="Arial"/>
                <a:sym typeface="Arial"/>
              </a:rPr>
              <a:t> </a:t>
            </a:r>
            <a:endParaRPr sz="1900" b="1" dirty="0">
              <a:solidFill>
                <a:srgbClr val="0070C0"/>
              </a:solidFill>
              <a:latin typeface="Arial"/>
              <a:ea typeface="Arial"/>
              <a:cs typeface="Arial"/>
              <a:sym typeface="Arial"/>
            </a:endParaRPr>
          </a:p>
          <a:p>
            <a:pPr marL="0" lvl="0" indent="0" algn="l" rtl="0">
              <a:spcBef>
                <a:spcPts val="0"/>
              </a:spcBef>
              <a:spcAft>
                <a:spcPts val="1200"/>
              </a:spcAft>
              <a:buNone/>
            </a:pPr>
            <a:endParaRPr dirty="0"/>
          </a:p>
        </p:txBody>
      </p:sp>
      <p:sp>
        <p:nvSpPr>
          <p:cNvPr id="169" name="Google Shape;169;p19"/>
          <p:cNvSpPr txBox="1"/>
          <p:nvPr/>
        </p:nvSpPr>
        <p:spPr>
          <a:xfrm>
            <a:off x="10110100" y="3626300"/>
            <a:ext cx="9164400" cy="4002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3"/>
        <p:cNvGrpSpPr/>
        <p:nvPr/>
      </p:nvGrpSpPr>
      <p:grpSpPr>
        <a:xfrm>
          <a:off x="0" y="0"/>
          <a:ext cx="0" cy="0"/>
          <a:chOff x="0" y="0"/>
          <a:chExt cx="0" cy="0"/>
        </a:xfrm>
      </p:grpSpPr>
      <p:sp>
        <p:nvSpPr>
          <p:cNvPr id="174" name="Google Shape;174;p20"/>
          <p:cNvSpPr txBox="1">
            <a:spLocks noGrp="1"/>
          </p:cNvSpPr>
          <p:nvPr>
            <p:ph type="title"/>
          </p:nvPr>
        </p:nvSpPr>
        <p:spPr>
          <a:xfrm>
            <a:off x="292550" y="360600"/>
            <a:ext cx="8490900" cy="775500"/>
          </a:xfrm>
          <a:prstGeom prst="rect">
            <a:avLst/>
          </a:prstGeom>
          <a:solidFill>
            <a:srgbClr val="F1C232"/>
          </a:solidFill>
          <a:ln w="9525" cap="flat" cmpd="sng">
            <a:solidFill>
              <a:srgbClr val="BF9000"/>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2700" b="1" dirty="0">
                <a:solidFill>
                  <a:srgbClr val="FF0000"/>
                </a:solidFill>
                <a:latin typeface="Arial"/>
                <a:ea typeface="Arial"/>
                <a:cs typeface="Arial"/>
                <a:sym typeface="Arial"/>
              </a:rPr>
              <a:t>Slide 3: Significance of capital budgeting:</a:t>
            </a:r>
            <a:endParaRPr sz="2700" b="1" dirty="0">
              <a:solidFill>
                <a:srgbClr val="FF0000"/>
              </a:solidFill>
              <a:latin typeface="Arial"/>
              <a:ea typeface="Arial"/>
              <a:cs typeface="Arial"/>
              <a:sym typeface="Arial"/>
            </a:endParaRPr>
          </a:p>
          <a:p>
            <a:pPr marL="0" lvl="0" indent="0" algn="l" rtl="0">
              <a:spcBef>
                <a:spcPts val="1200"/>
              </a:spcBef>
              <a:spcAft>
                <a:spcPts val="0"/>
              </a:spcAft>
              <a:buNone/>
            </a:pPr>
            <a:endParaRPr dirty="0"/>
          </a:p>
        </p:txBody>
      </p:sp>
      <p:sp>
        <p:nvSpPr>
          <p:cNvPr id="175" name="Google Shape;175;p20"/>
          <p:cNvSpPr txBox="1">
            <a:spLocks noGrp="1"/>
          </p:cNvSpPr>
          <p:nvPr>
            <p:ph type="body" idx="1"/>
          </p:nvPr>
        </p:nvSpPr>
        <p:spPr>
          <a:xfrm>
            <a:off x="292550" y="1318875"/>
            <a:ext cx="8490900" cy="3198900"/>
          </a:xfrm>
          <a:prstGeom prst="rect">
            <a:avLst/>
          </a:prstGeom>
          <a:solidFill>
            <a:schemeClr val="dk1"/>
          </a:solidFill>
          <a:ln w="2857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114300" lvl="0" indent="0" algn="l" rtl="0">
              <a:spcBef>
                <a:spcPts val="0"/>
              </a:spcBef>
              <a:spcAft>
                <a:spcPts val="0"/>
              </a:spcAft>
              <a:buNone/>
            </a:pPr>
            <a:r>
              <a:rPr lang="en" sz="1700" dirty="0">
                <a:solidFill>
                  <a:srgbClr val="000000"/>
                </a:solidFill>
                <a:latin typeface="Arial"/>
                <a:ea typeface="Arial"/>
                <a:cs typeface="Arial"/>
                <a:sym typeface="Arial"/>
              </a:rPr>
              <a:t>i)The success and failure of a business mainly depend on how the available resources are being utilized.</a:t>
            </a:r>
            <a:endParaRPr sz="1700" dirty="0">
              <a:solidFill>
                <a:srgbClr val="000000"/>
              </a:solidFill>
              <a:latin typeface="Arial"/>
              <a:ea typeface="Arial"/>
              <a:cs typeface="Arial"/>
              <a:sym typeface="Arial"/>
            </a:endParaRPr>
          </a:p>
          <a:p>
            <a:pPr marL="114300" lvl="0" indent="0" algn="l" rtl="0">
              <a:spcBef>
                <a:spcPts val="0"/>
              </a:spcBef>
              <a:spcAft>
                <a:spcPts val="0"/>
              </a:spcAft>
              <a:buNone/>
            </a:pPr>
            <a:r>
              <a:rPr lang="en" sz="1700" dirty="0">
                <a:solidFill>
                  <a:srgbClr val="000000"/>
                </a:solidFill>
                <a:latin typeface="Arial"/>
                <a:ea typeface="Arial"/>
                <a:cs typeface="Arial"/>
                <a:sym typeface="Arial"/>
              </a:rPr>
              <a:t>ii) Main tool of financial management</a:t>
            </a:r>
            <a:endParaRPr sz="1700" dirty="0">
              <a:solidFill>
                <a:srgbClr val="000000"/>
              </a:solidFill>
              <a:latin typeface="Arial"/>
              <a:ea typeface="Arial"/>
              <a:cs typeface="Arial"/>
              <a:sym typeface="Arial"/>
            </a:endParaRPr>
          </a:p>
          <a:p>
            <a:pPr marL="114300" lvl="0" indent="0" algn="l" rtl="0">
              <a:spcBef>
                <a:spcPts val="0"/>
              </a:spcBef>
              <a:spcAft>
                <a:spcPts val="0"/>
              </a:spcAft>
              <a:buNone/>
            </a:pPr>
            <a:r>
              <a:rPr lang="en" sz="1700" dirty="0">
                <a:solidFill>
                  <a:srgbClr val="000000"/>
                </a:solidFill>
                <a:latin typeface="Arial"/>
                <a:ea typeface="Arial"/>
                <a:cs typeface="Arial"/>
                <a:sym typeface="Arial"/>
              </a:rPr>
              <a:t>iii) All types of capital budgeting decisions are exposed to risk and uncertainty.</a:t>
            </a:r>
            <a:endParaRPr sz="1700" dirty="0">
              <a:solidFill>
                <a:srgbClr val="000000"/>
              </a:solidFill>
              <a:latin typeface="Arial"/>
              <a:ea typeface="Arial"/>
              <a:cs typeface="Arial"/>
              <a:sym typeface="Arial"/>
            </a:endParaRPr>
          </a:p>
          <a:p>
            <a:pPr marL="114300" lvl="0" indent="0" algn="l" rtl="0">
              <a:spcBef>
                <a:spcPts val="0"/>
              </a:spcBef>
              <a:spcAft>
                <a:spcPts val="0"/>
              </a:spcAft>
              <a:buNone/>
            </a:pPr>
            <a:r>
              <a:rPr lang="en" sz="1700" dirty="0">
                <a:solidFill>
                  <a:srgbClr val="000000"/>
                </a:solidFill>
                <a:latin typeface="Arial"/>
                <a:ea typeface="Arial"/>
                <a:cs typeface="Arial"/>
                <a:sym typeface="Arial"/>
              </a:rPr>
              <a:t>iv) They are irreversible in nature.</a:t>
            </a:r>
            <a:endParaRPr sz="1700" dirty="0">
              <a:solidFill>
                <a:srgbClr val="000000"/>
              </a:solidFill>
              <a:latin typeface="Arial"/>
              <a:ea typeface="Arial"/>
              <a:cs typeface="Arial"/>
              <a:sym typeface="Arial"/>
            </a:endParaRPr>
          </a:p>
          <a:p>
            <a:pPr marL="114300" lvl="0" indent="0" algn="l" rtl="0">
              <a:spcBef>
                <a:spcPts val="0"/>
              </a:spcBef>
              <a:spcAft>
                <a:spcPts val="0"/>
              </a:spcAft>
              <a:buNone/>
            </a:pPr>
            <a:r>
              <a:rPr lang="en" sz="1700" dirty="0">
                <a:solidFill>
                  <a:srgbClr val="000000"/>
                </a:solidFill>
                <a:latin typeface="Arial"/>
                <a:ea typeface="Arial"/>
                <a:cs typeface="Arial"/>
                <a:sym typeface="Arial"/>
              </a:rPr>
              <a:t>v) Capital rationing gives sufficient scope for the financial manager to evaluate different proposals and only viable projects must be taken up for investments.</a:t>
            </a:r>
            <a:endParaRPr sz="1700" dirty="0">
              <a:solidFill>
                <a:srgbClr val="000000"/>
              </a:solidFill>
              <a:latin typeface="Arial"/>
              <a:ea typeface="Arial"/>
              <a:cs typeface="Arial"/>
              <a:sym typeface="Arial"/>
            </a:endParaRPr>
          </a:p>
          <a:p>
            <a:pPr marL="114300" lvl="0" indent="0" algn="l" rtl="0">
              <a:spcBef>
                <a:spcPts val="0"/>
              </a:spcBef>
              <a:spcAft>
                <a:spcPts val="0"/>
              </a:spcAft>
              <a:buNone/>
            </a:pPr>
            <a:r>
              <a:rPr lang="en" sz="1700" dirty="0">
                <a:solidFill>
                  <a:srgbClr val="000000"/>
                </a:solidFill>
                <a:latin typeface="Arial"/>
                <a:ea typeface="Arial"/>
                <a:cs typeface="Arial"/>
                <a:sym typeface="Arial"/>
              </a:rPr>
              <a:t>vi) Capital budgeting offers effective control of the cost of capital expenditure projects.</a:t>
            </a:r>
            <a:endParaRPr sz="1700" dirty="0">
              <a:solidFill>
                <a:srgbClr val="000000"/>
              </a:solidFill>
              <a:latin typeface="Arial"/>
              <a:ea typeface="Arial"/>
              <a:cs typeface="Arial"/>
              <a:sym typeface="Arial"/>
            </a:endParaRPr>
          </a:p>
          <a:p>
            <a:pPr marL="114300" lvl="0" indent="0" algn="l" rtl="0">
              <a:spcBef>
                <a:spcPts val="0"/>
              </a:spcBef>
              <a:spcAft>
                <a:spcPts val="0"/>
              </a:spcAft>
              <a:buNone/>
            </a:pPr>
            <a:r>
              <a:rPr lang="en" sz="1700" dirty="0">
                <a:solidFill>
                  <a:srgbClr val="000000"/>
                </a:solidFill>
                <a:latin typeface="Arial"/>
                <a:ea typeface="Arial"/>
                <a:cs typeface="Arial"/>
                <a:sym typeface="Arial"/>
              </a:rPr>
              <a:t>vii)It helps the management to avoid over-investment and under-investments.</a:t>
            </a:r>
            <a:endParaRPr sz="1700" dirty="0">
              <a:solidFill>
                <a:srgbClr val="000000"/>
              </a:solidFill>
              <a:latin typeface="Arial"/>
              <a:ea typeface="Arial"/>
              <a:cs typeface="Arial"/>
              <a:sym typeface="Arial"/>
            </a:endParaRPr>
          </a:p>
          <a:p>
            <a:pPr marL="0" lvl="0" indent="0" algn="l" rtl="0">
              <a:spcBef>
                <a:spcPts val="0"/>
              </a:spcBef>
              <a:spcAft>
                <a:spcPts val="1200"/>
              </a:spcAft>
              <a:buNone/>
            </a:pPr>
            <a:endParaRPr dirty="0"/>
          </a:p>
        </p:txBody>
      </p:sp>
      <p:sp>
        <p:nvSpPr>
          <p:cNvPr id="176" name="Google Shape;176;p20"/>
          <p:cNvSpPr txBox="1"/>
          <p:nvPr/>
        </p:nvSpPr>
        <p:spPr>
          <a:xfrm>
            <a:off x="10171350" y="3605900"/>
            <a:ext cx="9164400" cy="400200"/>
          </a:xfrm>
          <a:prstGeom prst="rect">
            <a:avLst/>
          </a:prstGeom>
          <a:solidFill>
            <a:schemeClr val="dk1"/>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80"/>
        <p:cNvGrpSpPr/>
        <p:nvPr/>
      </p:nvGrpSpPr>
      <p:grpSpPr>
        <a:xfrm>
          <a:off x="0" y="0"/>
          <a:ext cx="0" cy="0"/>
          <a:chOff x="0" y="0"/>
          <a:chExt cx="0" cy="0"/>
        </a:xfrm>
      </p:grpSpPr>
      <p:sp>
        <p:nvSpPr>
          <p:cNvPr id="181" name="Google Shape;181;p21"/>
          <p:cNvSpPr txBox="1">
            <a:spLocks noGrp="1"/>
          </p:cNvSpPr>
          <p:nvPr>
            <p:ph type="title"/>
          </p:nvPr>
        </p:nvSpPr>
        <p:spPr>
          <a:xfrm>
            <a:off x="292550" y="369275"/>
            <a:ext cx="8552100" cy="633000"/>
          </a:xfrm>
          <a:prstGeom prst="rect">
            <a:avLst/>
          </a:prstGeom>
          <a:solidFill>
            <a:srgbClr val="FFD966"/>
          </a:solidFill>
        </p:spPr>
        <p:txBody>
          <a:bodyPr spcFirstLastPara="1" wrap="square" lIns="91425" tIns="91425" rIns="91425" bIns="91425" anchor="t" anchorCtr="0">
            <a:noAutofit/>
          </a:bodyPr>
          <a:lstStyle/>
          <a:p>
            <a:pPr marL="0" lvl="0" indent="0" algn="l" rtl="0">
              <a:spcBef>
                <a:spcPts val="0"/>
              </a:spcBef>
              <a:spcAft>
                <a:spcPts val="0"/>
              </a:spcAft>
              <a:buNone/>
            </a:pPr>
            <a:r>
              <a:rPr lang="en" sz="2600" b="1">
                <a:solidFill>
                  <a:srgbClr val="FF0000"/>
                </a:solidFill>
                <a:latin typeface="Calibri"/>
                <a:ea typeface="Calibri"/>
                <a:cs typeface="Calibri"/>
                <a:sym typeface="Calibri"/>
              </a:rPr>
              <a:t>Slide 4: Techniques of Capital Budgeting:</a:t>
            </a:r>
            <a:endParaRPr sz="4400"/>
          </a:p>
        </p:txBody>
      </p:sp>
      <p:sp>
        <p:nvSpPr>
          <p:cNvPr id="182" name="Google Shape;182;p21"/>
          <p:cNvSpPr txBox="1">
            <a:spLocks noGrp="1"/>
          </p:cNvSpPr>
          <p:nvPr>
            <p:ph type="body" idx="1"/>
          </p:nvPr>
        </p:nvSpPr>
        <p:spPr>
          <a:xfrm>
            <a:off x="340950" y="1180325"/>
            <a:ext cx="8462100" cy="3548100"/>
          </a:xfrm>
          <a:prstGeom prst="rect">
            <a:avLst/>
          </a:prstGeom>
          <a:ln w="28575" cap="flat" cmpd="sng">
            <a:solidFill>
              <a:srgbClr val="FF0000"/>
            </a:solidFill>
            <a:prstDash val="solid"/>
            <a:round/>
            <a:headEnd type="none" w="sm" len="sm"/>
            <a:tailEnd type="none" w="sm" len="sm"/>
          </a:ln>
        </p:spPr>
        <p:txBody>
          <a:bodyPr spcFirstLastPara="1" wrap="square" lIns="91425" tIns="91425" rIns="91425" bIns="91425" anchor="t" anchorCtr="0">
            <a:normAutofit fontScale="25000" lnSpcReduction="20000"/>
          </a:bodyPr>
          <a:lstStyle/>
          <a:p>
            <a:pPr marL="0" lvl="0" indent="0" algn="l" rtl="0">
              <a:spcBef>
                <a:spcPts val="1200"/>
              </a:spcBef>
              <a:spcAft>
                <a:spcPts val="0"/>
              </a:spcAft>
              <a:buNone/>
            </a:pPr>
            <a:r>
              <a:rPr lang="en" sz="5600">
                <a:solidFill>
                  <a:srgbClr val="000000"/>
                </a:solidFill>
                <a:latin typeface="Arial"/>
                <a:ea typeface="Arial"/>
                <a:cs typeface="Arial"/>
                <a:sym typeface="Arial"/>
              </a:rPr>
              <a:t>Capital budgeting techniques are a set of financial evaluation methods used by businesses and organizations to assess potential investment projects.</a:t>
            </a:r>
            <a:r>
              <a:rPr lang="en" sz="5600">
                <a:solidFill>
                  <a:srgbClr val="374151"/>
                </a:solidFill>
                <a:highlight>
                  <a:srgbClr val="F7F7F8"/>
                </a:highlight>
                <a:latin typeface="Arial"/>
                <a:ea typeface="Arial"/>
                <a:cs typeface="Arial"/>
                <a:sym typeface="Arial"/>
              </a:rPr>
              <a:t> </a:t>
            </a:r>
            <a:r>
              <a:rPr lang="en" sz="5600">
                <a:solidFill>
                  <a:srgbClr val="000000"/>
                </a:solidFill>
                <a:latin typeface="Arial"/>
                <a:ea typeface="Arial"/>
                <a:cs typeface="Arial"/>
                <a:sym typeface="Arial"/>
              </a:rPr>
              <a:t>Common capital budgeting techniques include:</a:t>
            </a:r>
            <a:endParaRPr sz="5600">
              <a:solidFill>
                <a:srgbClr val="000000"/>
              </a:solidFill>
              <a:latin typeface="Arial"/>
              <a:ea typeface="Arial"/>
              <a:cs typeface="Arial"/>
              <a:sym typeface="Arial"/>
            </a:endParaRPr>
          </a:p>
          <a:p>
            <a:pPr marL="0" lvl="0" indent="0" algn="l" rtl="0">
              <a:spcBef>
                <a:spcPts val="1200"/>
              </a:spcBef>
              <a:spcAft>
                <a:spcPts val="0"/>
              </a:spcAft>
              <a:buNone/>
            </a:pPr>
            <a:r>
              <a:rPr lang="en" sz="5600" b="1">
                <a:solidFill>
                  <a:srgbClr val="000000"/>
                </a:solidFill>
                <a:latin typeface="Arial"/>
                <a:ea typeface="Arial"/>
                <a:cs typeface="Arial"/>
                <a:sym typeface="Arial"/>
              </a:rPr>
              <a:t>1. Traditional Methods (Non-Discounting Techniques)</a:t>
            </a:r>
            <a:endParaRPr sz="5600" b="1">
              <a:solidFill>
                <a:srgbClr val="000000"/>
              </a:solidFill>
              <a:latin typeface="Arial"/>
              <a:ea typeface="Arial"/>
              <a:cs typeface="Arial"/>
              <a:sym typeface="Arial"/>
            </a:endParaRPr>
          </a:p>
          <a:p>
            <a:pPr marL="0" lvl="0" indent="0" algn="l" rtl="0">
              <a:spcBef>
                <a:spcPts val="1200"/>
              </a:spcBef>
              <a:spcAft>
                <a:spcPts val="0"/>
              </a:spcAft>
              <a:buNone/>
            </a:pPr>
            <a:r>
              <a:rPr lang="en" sz="5600">
                <a:solidFill>
                  <a:srgbClr val="000000"/>
                </a:solidFill>
                <a:latin typeface="Arial"/>
                <a:ea typeface="Arial"/>
                <a:cs typeface="Arial"/>
                <a:sym typeface="Arial"/>
              </a:rPr>
              <a:t>        	i. Pay-back period Method</a:t>
            </a:r>
            <a:endParaRPr sz="5600">
              <a:solidFill>
                <a:srgbClr val="000000"/>
              </a:solidFill>
              <a:latin typeface="Arial"/>
              <a:ea typeface="Arial"/>
              <a:cs typeface="Arial"/>
              <a:sym typeface="Arial"/>
            </a:endParaRPr>
          </a:p>
          <a:p>
            <a:pPr marL="0" lvl="0" indent="0" algn="l" rtl="0">
              <a:spcBef>
                <a:spcPts val="1200"/>
              </a:spcBef>
              <a:spcAft>
                <a:spcPts val="0"/>
              </a:spcAft>
              <a:buNone/>
            </a:pPr>
            <a:r>
              <a:rPr lang="en" sz="5600">
                <a:solidFill>
                  <a:srgbClr val="000000"/>
                </a:solidFill>
                <a:latin typeface="Arial"/>
                <a:ea typeface="Arial"/>
                <a:cs typeface="Arial"/>
                <a:sym typeface="Arial"/>
              </a:rPr>
              <a:t>        	ii. Accounting Rate of Return Method</a:t>
            </a:r>
            <a:endParaRPr sz="5600">
              <a:solidFill>
                <a:srgbClr val="000000"/>
              </a:solidFill>
              <a:latin typeface="Arial"/>
              <a:ea typeface="Arial"/>
              <a:cs typeface="Arial"/>
              <a:sym typeface="Arial"/>
            </a:endParaRPr>
          </a:p>
          <a:p>
            <a:pPr marL="0" lvl="0" indent="0" algn="l" rtl="0">
              <a:spcBef>
                <a:spcPts val="1200"/>
              </a:spcBef>
              <a:spcAft>
                <a:spcPts val="0"/>
              </a:spcAft>
              <a:buNone/>
            </a:pPr>
            <a:r>
              <a:rPr lang="en" sz="5600" b="1">
                <a:solidFill>
                  <a:srgbClr val="000000"/>
                </a:solidFill>
                <a:latin typeface="Arial"/>
                <a:ea typeface="Arial"/>
                <a:cs typeface="Arial"/>
                <a:sym typeface="Arial"/>
              </a:rPr>
              <a:t>2. Modern Methods (Discounting Techniques)</a:t>
            </a:r>
            <a:endParaRPr sz="5600" b="1">
              <a:solidFill>
                <a:srgbClr val="000000"/>
              </a:solidFill>
              <a:latin typeface="Arial"/>
              <a:ea typeface="Arial"/>
              <a:cs typeface="Arial"/>
              <a:sym typeface="Arial"/>
            </a:endParaRPr>
          </a:p>
          <a:p>
            <a:pPr marL="0" lvl="0" indent="0" algn="l" rtl="0">
              <a:spcBef>
                <a:spcPts val="1200"/>
              </a:spcBef>
              <a:spcAft>
                <a:spcPts val="0"/>
              </a:spcAft>
              <a:buNone/>
            </a:pPr>
            <a:r>
              <a:rPr lang="en" sz="5600">
                <a:solidFill>
                  <a:srgbClr val="000000"/>
                </a:solidFill>
                <a:latin typeface="Arial"/>
                <a:ea typeface="Arial"/>
                <a:cs typeface="Arial"/>
                <a:sym typeface="Arial"/>
              </a:rPr>
              <a:t>       	i. Net Present Value Method (NPV)</a:t>
            </a:r>
            <a:endParaRPr sz="5600">
              <a:solidFill>
                <a:srgbClr val="000000"/>
              </a:solidFill>
              <a:latin typeface="Arial"/>
              <a:ea typeface="Arial"/>
              <a:cs typeface="Arial"/>
              <a:sym typeface="Arial"/>
            </a:endParaRPr>
          </a:p>
          <a:p>
            <a:pPr marL="0" lvl="0" indent="0" algn="l" rtl="0">
              <a:spcBef>
                <a:spcPts val="1200"/>
              </a:spcBef>
              <a:spcAft>
                <a:spcPts val="0"/>
              </a:spcAft>
              <a:buNone/>
            </a:pPr>
            <a:r>
              <a:rPr lang="en" sz="5600">
                <a:solidFill>
                  <a:srgbClr val="000000"/>
                </a:solidFill>
                <a:latin typeface="Arial"/>
                <a:ea typeface="Arial"/>
                <a:cs typeface="Arial"/>
                <a:sym typeface="Arial"/>
              </a:rPr>
              <a:t>       	ii. Profitability Index method (PI)</a:t>
            </a:r>
            <a:endParaRPr sz="5600">
              <a:solidFill>
                <a:srgbClr val="000000"/>
              </a:solidFill>
              <a:latin typeface="Arial"/>
              <a:ea typeface="Arial"/>
              <a:cs typeface="Arial"/>
              <a:sym typeface="Arial"/>
            </a:endParaRPr>
          </a:p>
          <a:p>
            <a:pPr marL="0" lvl="0" indent="0" algn="l" rtl="0">
              <a:spcBef>
                <a:spcPts val="1200"/>
              </a:spcBef>
              <a:spcAft>
                <a:spcPts val="0"/>
              </a:spcAft>
              <a:buNone/>
            </a:pPr>
            <a:r>
              <a:rPr lang="en" sz="5600">
                <a:solidFill>
                  <a:srgbClr val="000000"/>
                </a:solidFill>
                <a:latin typeface="Arial"/>
                <a:ea typeface="Arial"/>
                <a:cs typeface="Arial"/>
                <a:sym typeface="Arial"/>
              </a:rPr>
              <a:t>       	iii. Internal Rate of Return Method (IRR)</a:t>
            </a:r>
            <a:endParaRPr sz="5600">
              <a:solidFill>
                <a:srgbClr val="000000"/>
              </a:solidFill>
              <a:latin typeface="Arial"/>
              <a:ea typeface="Arial"/>
              <a:cs typeface="Arial"/>
              <a:sym typeface="Arial"/>
            </a:endParaRPr>
          </a:p>
          <a:p>
            <a:pPr marL="0" lvl="0" indent="0" algn="l" rtl="0">
              <a:spcBef>
                <a:spcPts val="1200"/>
              </a:spcBef>
              <a:spcAft>
                <a:spcPts val="0"/>
              </a:spcAft>
              <a:buNone/>
            </a:pPr>
            <a:r>
              <a:rPr lang="en" sz="5600">
                <a:solidFill>
                  <a:srgbClr val="000000"/>
                </a:solidFill>
                <a:latin typeface="Arial"/>
                <a:ea typeface="Arial"/>
                <a:cs typeface="Arial"/>
                <a:sym typeface="Arial"/>
              </a:rPr>
              <a:t>       	v. Discounted Pay-back Period Method</a:t>
            </a:r>
            <a:endParaRPr sz="5600">
              <a:solidFill>
                <a:srgbClr val="000000"/>
              </a:solidFill>
              <a:latin typeface="Arial"/>
              <a:ea typeface="Arial"/>
              <a:cs typeface="Arial"/>
              <a:sym typeface="Arial"/>
            </a:endParaRPr>
          </a:p>
          <a:p>
            <a:pPr marL="0" lvl="0" indent="0" algn="l" rtl="0">
              <a:spcBef>
                <a:spcPts val="0"/>
              </a:spcBef>
              <a:spcAft>
                <a:spcPts val="1200"/>
              </a:spcAft>
              <a:buNone/>
            </a:pPr>
            <a:endParaRPr/>
          </a:p>
        </p:txBody>
      </p:sp>
      <p:sp>
        <p:nvSpPr>
          <p:cNvPr id="183" name="Google Shape;183;p21"/>
          <p:cNvSpPr txBox="1"/>
          <p:nvPr/>
        </p:nvSpPr>
        <p:spPr>
          <a:xfrm>
            <a:off x="2064000" y="883625"/>
            <a:ext cx="59400" cy="29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latin typeface="Calibri"/>
              <a:ea typeface="Calibri"/>
              <a:cs typeface="Calibri"/>
              <a:sym typeface="Calibri"/>
            </a:endParaRPr>
          </a:p>
        </p:txBody>
      </p:sp>
      <p:sp>
        <p:nvSpPr>
          <p:cNvPr id="184" name="Google Shape;184;p21"/>
          <p:cNvSpPr txBox="1"/>
          <p:nvPr/>
        </p:nvSpPr>
        <p:spPr>
          <a:xfrm>
            <a:off x="1910100" y="845075"/>
            <a:ext cx="7233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Calibri"/>
              <a:ea typeface="Calibri"/>
              <a:cs typeface="Calibri"/>
              <a:sym typeface="Calibri"/>
            </a:endParaRPr>
          </a:p>
        </p:txBody>
      </p:sp>
      <p:sp>
        <p:nvSpPr>
          <p:cNvPr id="185" name="Google Shape;185;p21"/>
          <p:cNvSpPr txBox="1"/>
          <p:nvPr/>
        </p:nvSpPr>
        <p:spPr>
          <a:xfrm>
            <a:off x="9946825" y="2483300"/>
            <a:ext cx="9164400" cy="4002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89"/>
        <p:cNvGrpSpPr/>
        <p:nvPr/>
      </p:nvGrpSpPr>
      <p:grpSpPr>
        <a:xfrm>
          <a:off x="0" y="0"/>
          <a:ext cx="0" cy="0"/>
          <a:chOff x="0" y="0"/>
          <a:chExt cx="0" cy="0"/>
        </a:xfrm>
      </p:grpSpPr>
      <p:sp>
        <p:nvSpPr>
          <p:cNvPr id="190" name="Google Shape;190;p22"/>
          <p:cNvSpPr txBox="1">
            <a:spLocks noGrp="1"/>
          </p:cNvSpPr>
          <p:nvPr>
            <p:ph type="title"/>
          </p:nvPr>
        </p:nvSpPr>
        <p:spPr>
          <a:xfrm>
            <a:off x="292550" y="483050"/>
            <a:ext cx="8531700" cy="673500"/>
          </a:xfrm>
          <a:prstGeom prst="rect">
            <a:avLst/>
          </a:prstGeom>
          <a:solidFill>
            <a:srgbClr val="FFD966"/>
          </a:solidFill>
        </p:spPr>
        <p:txBody>
          <a:bodyPr spcFirstLastPara="1" wrap="square" lIns="91425" tIns="91425" rIns="91425" bIns="91425" anchor="t" anchorCtr="0">
            <a:normAutofit fontScale="90000"/>
          </a:bodyPr>
          <a:lstStyle/>
          <a:p>
            <a:pPr marL="0" lvl="0" indent="0" algn="l" rtl="0">
              <a:lnSpc>
                <a:spcPct val="115000"/>
              </a:lnSpc>
              <a:spcBef>
                <a:spcPts val="1200"/>
              </a:spcBef>
              <a:spcAft>
                <a:spcPts val="0"/>
              </a:spcAft>
              <a:buNone/>
            </a:pPr>
            <a:r>
              <a:rPr lang="en" sz="2650" b="1">
                <a:solidFill>
                  <a:srgbClr val="FF0000"/>
                </a:solidFill>
                <a:latin typeface="Arial"/>
                <a:ea typeface="Arial"/>
                <a:cs typeface="Arial"/>
                <a:sym typeface="Arial"/>
              </a:rPr>
              <a:t>Slide 5: Payback Period Method</a:t>
            </a:r>
            <a:endParaRPr sz="2650" b="1">
              <a:solidFill>
                <a:srgbClr val="FF0000"/>
              </a:solidFill>
              <a:latin typeface="Arial"/>
              <a:ea typeface="Arial"/>
              <a:cs typeface="Arial"/>
              <a:sym typeface="Arial"/>
            </a:endParaRPr>
          </a:p>
          <a:p>
            <a:pPr marL="0" lvl="0" indent="0" algn="l" rtl="0">
              <a:spcBef>
                <a:spcPts val="0"/>
              </a:spcBef>
              <a:spcAft>
                <a:spcPts val="0"/>
              </a:spcAft>
              <a:buNone/>
            </a:pPr>
            <a:endParaRPr/>
          </a:p>
        </p:txBody>
      </p:sp>
      <p:sp>
        <p:nvSpPr>
          <p:cNvPr id="191" name="Google Shape;191;p22"/>
          <p:cNvSpPr txBox="1">
            <a:spLocks noGrp="1"/>
          </p:cNvSpPr>
          <p:nvPr>
            <p:ph type="body" idx="1"/>
          </p:nvPr>
        </p:nvSpPr>
        <p:spPr>
          <a:xfrm>
            <a:off x="292550" y="1299475"/>
            <a:ext cx="8531700" cy="3510600"/>
          </a:xfrm>
          <a:prstGeom prst="rect">
            <a:avLst/>
          </a:prstGeom>
          <a:ln w="28575" cap="flat" cmpd="sng">
            <a:solidFill>
              <a:srgbClr val="FF0000"/>
            </a:solidFill>
            <a:prstDash val="solid"/>
            <a:round/>
            <a:headEnd type="none" w="sm" len="sm"/>
            <a:tailEnd type="none" w="sm" len="sm"/>
          </a:ln>
        </p:spPr>
        <p:txBody>
          <a:bodyPr spcFirstLastPara="1" wrap="square" lIns="91425" tIns="91425" rIns="91425" bIns="91425" anchor="t" anchorCtr="0">
            <a:normAutofit/>
          </a:bodyPr>
          <a:lstStyle/>
          <a:p>
            <a:pPr marL="0" lvl="0" indent="0" algn="just" rtl="0">
              <a:spcBef>
                <a:spcPts val="0"/>
              </a:spcBef>
              <a:spcAft>
                <a:spcPts val="0"/>
              </a:spcAft>
              <a:buNone/>
            </a:pPr>
            <a:r>
              <a:rPr lang="en" sz="1500" b="1">
                <a:solidFill>
                  <a:srgbClr val="FF0000"/>
                </a:solidFill>
                <a:latin typeface="Arial"/>
                <a:ea typeface="Arial"/>
                <a:cs typeface="Arial"/>
                <a:sym typeface="Arial"/>
              </a:rPr>
              <a:t>Payback Period Method: </a:t>
            </a:r>
            <a:r>
              <a:rPr lang="en" sz="1400">
                <a:solidFill>
                  <a:srgbClr val="000000"/>
                </a:solidFill>
                <a:latin typeface="Arial"/>
                <a:ea typeface="Arial"/>
                <a:cs typeface="Arial"/>
                <a:sym typeface="Arial"/>
              </a:rPr>
              <a:t>The payback period is the required number of years to recover the initial investment. It is based on the concept of cash flow and is a non-discounting technique.</a:t>
            </a:r>
            <a:endParaRPr sz="1400">
              <a:solidFill>
                <a:srgbClr val="000000"/>
              </a:solidFill>
              <a:latin typeface="Arial"/>
              <a:ea typeface="Arial"/>
              <a:cs typeface="Arial"/>
              <a:sym typeface="Arial"/>
            </a:endParaRPr>
          </a:p>
          <a:p>
            <a:pPr marL="0" lvl="0" indent="0" algn="just" rtl="0">
              <a:spcBef>
                <a:spcPts val="0"/>
              </a:spcBef>
              <a:spcAft>
                <a:spcPts val="0"/>
              </a:spcAft>
              <a:buNone/>
            </a:pPr>
            <a:endParaRPr sz="1400">
              <a:solidFill>
                <a:srgbClr val="000000"/>
              </a:solidFill>
              <a:latin typeface="Arial"/>
              <a:ea typeface="Arial"/>
              <a:cs typeface="Arial"/>
              <a:sym typeface="Arial"/>
            </a:endParaRPr>
          </a:p>
          <a:p>
            <a:pPr marL="0" lvl="0" indent="0" algn="just" rtl="0">
              <a:spcBef>
                <a:spcPts val="1200"/>
              </a:spcBef>
              <a:spcAft>
                <a:spcPts val="0"/>
              </a:spcAft>
              <a:buNone/>
            </a:pPr>
            <a:r>
              <a:rPr lang="en" sz="1500" b="1">
                <a:solidFill>
                  <a:srgbClr val="FF0000"/>
                </a:solidFill>
                <a:latin typeface="Arial"/>
                <a:ea typeface="Arial"/>
                <a:cs typeface="Arial"/>
                <a:sym typeface="Arial"/>
              </a:rPr>
              <a:t>Decision Criteria:</a:t>
            </a:r>
            <a:endParaRPr sz="1500" b="1">
              <a:solidFill>
                <a:srgbClr val="FF0000"/>
              </a:solidFill>
              <a:latin typeface="Arial"/>
              <a:ea typeface="Arial"/>
              <a:cs typeface="Arial"/>
              <a:sym typeface="Arial"/>
            </a:endParaRPr>
          </a:p>
          <a:p>
            <a:pPr marL="0" lvl="0" indent="0" algn="just" rtl="0">
              <a:spcBef>
                <a:spcPts val="1200"/>
              </a:spcBef>
              <a:spcAft>
                <a:spcPts val="0"/>
              </a:spcAft>
              <a:buNone/>
            </a:pPr>
            <a:r>
              <a:rPr lang="en" sz="1400">
                <a:solidFill>
                  <a:srgbClr val="000000"/>
                </a:solidFill>
                <a:latin typeface="Arial"/>
                <a:ea typeface="Arial"/>
                <a:cs typeface="Arial"/>
                <a:sym typeface="Arial"/>
              </a:rPr>
              <a:t> I.If there is only one project in consideration, it would be selected only if it has a payback period as per management's expectation.</a:t>
            </a:r>
            <a:endParaRPr sz="1400">
              <a:solidFill>
                <a:srgbClr val="000000"/>
              </a:solidFill>
              <a:latin typeface="Arial"/>
              <a:ea typeface="Arial"/>
              <a:cs typeface="Arial"/>
              <a:sym typeface="Arial"/>
            </a:endParaRPr>
          </a:p>
          <a:p>
            <a:pPr marL="0" lvl="0" indent="0" algn="just" rtl="0">
              <a:spcBef>
                <a:spcPts val="1200"/>
              </a:spcBef>
              <a:spcAft>
                <a:spcPts val="0"/>
              </a:spcAft>
              <a:buNone/>
            </a:pPr>
            <a:r>
              <a:rPr lang="en" sz="1400">
                <a:solidFill>
                  <a:srgbClr val="000000"/>
                </a:solidFill>
                <a:latin typeface="Arial"/>
                <a:ea typeface="Arial"/>
                <a:cs typeface="Arial"/>
                <a:sym typeface="Arial"/>
              </a:rPr>
              <a:t> ii. In the case of more than one project, a project with a lower payback period should be selected.</a:t>
            </a:r>
            <a:endParaRPr sz="1400">
              <a:solidFill>
                <a:srgbClr val="000000"/>
              </a:solidFill>
              <a:latin typeface="Arial"/>
              <a:ea typeface="Arial"/>
              <a:cs typeface="Arial"/>
              <a:sym typeface="Arial"/>
            </a:endParaRPr>
          </a:p>
          <a:p>
            <a:pPr marL="0" lvl="0" indent="0" algn="just" rtl="0">
              <a:spcBef>
                <a:spcPts val="1200"/>
              </a:spcBef>
              <a:spcAft>
                <a:spcPts val="0"/>
              </a:spcAft>
              <a:buNone/>
            </a:pPr>
            <a:r>
              <a:rPr lang="en" sz="1400">
                <a:solidFill>
                  <a:srgbClr val="000000"/>
                </a:solidFill>
                <a:latin typeface="Arial"/>
                <a:ea typeface="Arial"/>
                <a:cs typeface="Arial"/>
                <a:sym typeface="Arial"/>
              </a:rPr>
              <a:t> </a:t>
            </a:r>
            <a:endParaRPr sz="1400">
              <a:solidFill>
                <a:srgbClr val="000000"/>
              </a:solidFill>
              <a:latin typeface="Arial"/>
              <a:ea typeface="Arial"/>
              <a:cs typeface="Arial"/>
              <a:sym typeface="Arial"/>
            </a:endParaRPr>
          </a:p>
          <a:p>
            <a:pPr marL="0" lvl="0" indent="0" algn="l" rtl="0">
              <a:spcBef>
                <a:spcPts val="0"/>
              </a:spcBef>
              <a:spcAft>
                <a:spcPts val="1200"/>
              </a:spcAft>
              <a:buNone/>
            </a:pPr>
            <a:endParaRPr/>
          </a:p>
        </p:txBody>
      </p:sp>
      <p:sp>
        <p:nvSpPr>
          <p:cNvPr id="192" name="Google Shape;192;p22"/>
          <p:cNvSpPr txBox="1"/>
          <p:nvPr/>
        </p:nvSpPr>
        <p:spPr>
          <a:xfrm>
            <a:off x="10783650" y="2850700"/>
            <a:ext cx="9164400" cy="4002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96"/>
        <p:cNvGrpSpPr/>
        <p:nvPr/>
      </p:nvGrpSpPr>
      <p:grpSpPr>
        <a:xfrm>
          <a:off x="0" y="0"/>
          <a:ext cx="0" cy="0"/>
          <a:chOff x="0" y="0"/>
          <a:chExt cx="0" cy="0"/>
        </a:xfrm>
      </p:grpSpPr>
      <p:sp>
        <p:nvSpPr>
          <p:cNvPr id="197" name="Google Shape;197;p23"/>
          <p:cNvSpPr txBox="1">
            <a:spLocks noGrp="1"/>
          </p:cNvSpPr>
          <p:nvPr>
            <p:ph type="title"/>
          </p:nvPr>
        </p:nvSpPr>
        <p:spPr>
          <a:xfrm>
            <a:off x="292550" y="369275"/>
            <a:ext cx="8572500" cy="612900"/>
          </a:xfrm>
          <a:prstGeom prst="rect">
            <a:avLst/>
          </a:prstGeom>
          <a:solidFill>
            <a:srgbClr val="FFD966"/>
          </a:solidFill>
        </p:spPr>
        <p:txBody>
          <a:bodyPr spcFirstLastPara="1" wrap="square" lIns="91425" tIns="91425" rIns="91425" bIns="91425" anchor="t" anchorCtr="0">
            <a:normAutofit fontScale="90000"/>
          </a:bodyPr>
          <a:lstStyle/>
          <a:p>
            <a:pPr marL="0" lvl="0" indent="0" algn="l" rtl="0">
              <a:lnSpc>
                <a:spcPct val="115000"/>
              </a:lnSpc>
              <a:spcBef>
                <a:spcPts val="1200"/>
              </a:spcBef>
              <a:spcAft>
                <a:spcPts val="0"/>
              </a:spcAft>
              <a:buNone/>
            </a:pPr>
            <a:r>
              <a:rPr lang="en" sz="2733" b="1">
                <a:solidFill>
                  <a:srgbClr val="FF0000"/>
                </a:solidFill>
                <a:latin typeface="Arial"/>
                <a:ea typeface="Arial"/>
                <a:cs typeface="Arial"/>
                <a:sym typeface="Arial"/>
              </a:rPr>
              <a:t>Slide 6: Formula for Calculating Payback Period</a:t>
            </a:r>
            <a:endParaRPr sz="2733" b="1">
              <a:solidFill>
                <a:srgbClr val="FF0000"/>
              </a:solidFill>
              <a:latin typeface="Arial"/>
              <a:ea typeface="Arial"/>
              <a:cs typeface="Arial"/>
              <a:sym typeface="Arial"/>
            </a:endParaRPr>
          </a:p>
          <a:p>
            <a:pPr marL="0" lvl="0" indent="0" algn="l" rtl="0">
              <a:spcBef>
                <a:spcPts val="0"/>
              </a:spcBef>
              <a:spcAft>
                <a:spcPts val="0"/>
              </a:spcAft>
              <a:buNone/>
            </a:pPr>
            <a:endParaRPr/>
          </a:p>
        </p:txBody>
      </p:sp>
      <p:sp>
        <p:nvSpPr>
          <p:cNvPr id="198" name="Google Shape;198;p23"/>
          <p:cNvSpPr txBox="1">
            <a:spLocks noGrp="1"/>
          </p:cNvSpPr>
          <p:nvPr>
            <p:ph type="body" idx="1"/>
          </p:nvPr>
        </p:nvSpPr>
        <p:spPr>
          <a:xfrm>
            <a:off x="292700" y="1095375"/>
            <a:ext cx="8572500" cy="3724800"/>
          </a:xfrm>
          <a:prstGeom prst="rect">
            <a:avLst/>
          </a:prstGeom>
          <a:ln w="28575" cap="flat" cmpd="sng">
            <a:solidFill>
              <a:srgbClr val="FF0000"/>
            </a:solidFill>
            <a:prstDash val="solid"/>
            <a:round/>
            <a:headEnd type="none" w="sm" len="sm"/>
            <a:tailEnd type="none" w="sm" len="sm"/>
          </a:ln>
        </p:spPr>
        <p:txBody>
          <a:bodyPr spcFirstLastPara="1" wrap="square" lIns="91425" tIns="91425" rIns="91425" bIns="91425" anchor="t" anchorCtr="0">
            <a:normAutofit fontScale="25000" lnSpcReduction="20000"/>
          </a:bodyPr>
          <a:lstStyle/>
          <a:p>
            <a:pPr marL="0" lvl="0" indent="0" algn="l" rtl="0">
              <a:spcBef>
                <a:spcPts val="1200"/>
              </a:spcBef>
              <a:spcAft>
                <a:spcPts val="0"/>
              </a:spcAft>
              <a:buNone/>
            </a:pPr>
            <a:r>
              <a:rPr lang="en" sz="7200" b="1">
                <a:solidFill>
                  <a:srgbClr val="FF00FF"/>
                </a:solidFill>
                <a:latin typeface="Arial"/>
                <a:ea typeface="Arial"/>
                <a:cs typeface="Arial"/>
                <a:sym typeface="Arial"/>
              </a:rPr>
              <a:t>1. When Cash inflows are even/equal</a:t>
            </a:r>
            <a:endParaRPr sz="7200" b="1">
              <a:solidFill>
                <a:srgbClr val="FF00FF"/>
              </a:solidFill>
              <a:latin typeface="Arial"/>
              <a:ea typeface="Arial"/>
              <a:cs typeface="Arial"/>
              <a:sym typeface="Arial"/>
            </a:endParaRPr>
          </a:p>
          <a:p>
            <a:pPr marL="0" lvl="0" indent="0" algn="l" rtl="0">
              <a:spcBef>
                <a:spcPts val="1200"/>
              </a:spcBef>
              <a:spcAft>
                <a:spcPts val="0"/>
              </a:spcAft>
              <a:buNone/>
            </a:pPr>
            <a:r>
              <a:rPr lang="en" sz="4300">
                <a:solidFill>
                  <a:srgbClr val="000000"/>
                </a:solidFill>
                <a:latin typeface="Arial"/>
                <a:ea typeface="Arial"/>
                <a:cs typeface="Arial"/>
                <a:sym typeface="Arial"/>
              </a:rPr>
              <a:t>      	When the cash inflow of all years is equal, we use the following formula</a:t>
            </a:r>
            <a:endParaRPr sz="4300">
              <a:solidFill>
                <a:srgbClr val="000000"/>
              </a:solidFill>
              <a:latin typeface="Arial"/>
              <a:ea typeface="Arial"/>
              <a:cs typeface="Arial"/>
              <a:sym typeface="Arial"/>
            </a:endParaRPr>
          </a:p>
          <a:p>
            <a:pPr marL="0" lvl="0" indent="0" algn="l" rtl="0">
              <a:spcBef>
                <a:spcPts val="1200"/>
              </a:spcBef>
              <a:spcAft>
                <a:spcPts val="0"/>
              </a:spcAft>
              <a:buNone/>
            </a:pPr>
            <a:r>
              <a:rPr lang="en" sz="4300">
                <a:solidFill>
                  <a:srgbClr val="000000"/>
                </a:solidFill>
                <a:latin typeface="Arial"/>
                <a:ea typeface="Arial"/>
                <a:cs typeface="Arial"/>
                <a:sym typeface="Arial"/>
              </a:rPr>
              <a:t>       	Payback period = Initial Investment/ Annual Cash Inflow</a:t>
            </a:r>
            <a:endParaRPr sz="4300">
              <a:solidFill>
                <a:srgbClr val="000000"/>
              </a:solidFill>
              <a:latin typeface="Arial"/>
              <a:ea typeface="Arial"/>
              <a:cs typeface="Arial"/>
              <a:sym typeface="Arial"/>
            </a:endParaRPr>
          </a:p>
          <a:p>
            <a:pPr marL="0" lvl="0" indent="0" algn="l" rtl="0">
              <a:spcBef>
                <a:spcPts val="1200"/>
              </a:spcBef>
              <a:spcAft>
                <a:spcPts val="0"/>
              </a:spcAft>
              <a:buNone/>
            </a:pPr>
            <a:r>
              <a:rPr lang="en" sz="7200" b="1">
                <a:solidFill>
                  <a:srgbClr val="FF00FF"/>
                </a:solidFill>
                <a:latin typeface="Arial"/>
                <a:ea typeface="Arial"/>
                <a:cs typeface="Arial"/>
                <a:sym typeface="Arial"/>
              </a:rPr>
              <a:t>2. When cash inflows are uneven</a:t>
            </a:r>
            <a:endParaRPr sz="7200" b="1">
              <a:solidFill>
                <a:srgbClr val="FF00FF"/>
              </a:solidFill>
              <a:latin typeface="Arial"/>
              <a:ea typeface="Arial"/>
              <a:cs typeface="Arial"/>
              <a:sym typeface="Arial"/>
            </a:endParaRPr>
          </a:p>
          <a:p>
            <a:pPr marL="0" lvl="0" indent="0" algn="l" rtl="0">
              <a:spcBef>
                <a:spcPts val="1200"/>
              </a:spcBef>
              <a:spcAft>
                <a:spcPts val="0"/>
              </a:spcAft>
              <a:buNone/>
            </a:pPr>
            <a:r>
              <a:rPr lang="en" sz="4300">
                <a:solidFill>
                  <a:srgbClr val="000000"/>
                </a:solidFill>
                <a:latin typeface="Arial"/>
                <a:ea typeface="Arial"/>
                <a:cs typeface="Arial"/>
                <a:sym typeface="Arial"/>
              </a:rPr>
              <a:t>        	When cash inflows of each year are different, we use the formula below</a:t>
            </a:r>
            <a:endParaRPr sz="4300">
              <a:solidFill>
                <a:srgbClr val="000000"/>
              </a:solidFill>
              <a:latin typeface="Arial"/>
              <a:ea typeface="Arial"/>
              <a:cs typeface="Arial"/>
              <a:sym typeface="Arial"/>
            </a:endParaRPr>
          </a:p>
          <a:p>
            <a:pPr marL="0" lvl="0" indent="0" algn="l" rtl="0">
              <a:spcBef>
                <a:spcPts val="1200"/>
              </a:spcBef>
              <a:spcAft>
                <a:spcPts val="0"/>
              </a:spcAft>
              <a:buNone/>
            </a:pPr>
            <a:r>
              <a:rPr lang="en" sz="4300">
                <a:solidFill>
                  <a:srgbClr val="000000"/>
                </a:solidFill>
                <a:latin typeface="Arial"/>
                <a:ea typeface="Arial"/>
                <a:cs typeface="Arial"/>
                <a:sym typeface="Arial"/>
              </a:rPr>
              <a:t>     	Payback Period = E + B/ C</a:t>
            </a:r>
            <a:endParaRPr sz="4300">
              <a:solidFill>
                <a:srgbClr val="000000"/>
              </a:solidFill>
              <a:latin typeface="Arial"/>
              <a:ea typeface="Arial"/>
              <a:cs typeface="Arial"/>
              <a:sym typeface="Arial"/>
            </a:endParaRPr>
          </a:p>
          <a:p>
            <a:pPr marL="0" lvl="0" indent="0" algn="l" rtl="0">
              <a:spcBef>
                <a:spcPts val="1200"/>
              </a:spcBef>
              <a:spcAft>
                <a:spcPts val="0"/>
              </a:spcAft>
              <a:buNone/>
            </a:pPr>
            <a:r>
              <a:rPr lang="en" sz="4300">
                <a:solidFill>
                  <a:srgbClr val="000000"/>
                </a:solidFill>
                <a:latin typeface="Arial"/>
                <a:ea typeface="Arial"/>
                <a:cs typeface="Arial"/>
                <a:sym typeface="Arial"/>
              </a:rPr>
              <a:t>      	Where,</a:t>
            </a:r>
            <a:endParaRPr sz="4300">
              <a:solidFill>
                <a:srgbClr val="000000"/>
              </a:solidFill>
              <a:latin typeface="Arial"/>
              <a:ea typeface="Arial"/>
              <a:cs typeface="Arial"/>
              <a:sym typeface="Arial"/>
            </a:endParaRPr>
          </a:p>
          <a:p>
            <a:pPr marL="0" lvl="0" indent="0" algn="l" rtl="0">
              <a:spcBef>
                <a:spcPts val="1200"/>
              </a:spcBef>
              <a:spcAft>
                <a:spcPts val="0"/>
              </a:spcAft>
              <a:buNone/>
            </a:pPr>
            <a:r>
              <a:rPr lang="en" sz="4300">
                <a:solidFill>
                  <a:srgbClr val="000000"/>
                </a:solidFill>
                <a:latin typeface="Arial"/>
                <a:ea typeface="Arial"/>
                <a:cs typeface="Arial"/>
                <a:sym typeface="Arial"/>
              </a:rPr>
              <a:t>                   	E = Year immediately Preceding to year of recovery</a:t>
            </a:r>
            <a:endParaRPr sz="4300">
              <a:solidFill>
                <a:srgbClr val="000000"/>
              </a:solidFill>
              <a:latin typeface="Arial"/>
              <a:ea typeface="Arial"/>
              <a:cs typeface="Arial"/>
              <a:sym typeface="Arial"/>
            </a:endParaRPr>
          </a:p>
          <a:p>
            <a:pPr marL="0" lvl="0" indent="0" algn="l" rtl="0">
              <a:spcBef>
                <a:spcPts val="1200"/>
              </a:spcBef>
              <a:spcAft>
                <a:spcPts val="0"/>
              </a:spcAft>
              <a:buNone/>
            </a:pPr>
            <a:r>
              <a:rPr lang="en" sz="4300">
                <a:solidFill>
                  <a:srgbClr val="000000"/>
                </a:solidFill>
                <a:latin typeface="Arial"/>
                <a:ea typeface="Arial"/>
                <a:cs typeface="Arial"/>
                <a:sym typeface="Arial"/>
              </a:rPr>
              <a:t>                   	B = Amount left to be recovered</a:t>
            </a:r>
            <a:endParaRPr sz="4300">
              <a:solidFill>
                <a:srgbClr val="000000"/>
              </a:solidFill>
              <a:latin typeface="Arial"/>
              <a:ea typeface="Arial"/>
              <a:cs typeface="Arial"/>
              <a:sym typeface="Arial"/>
            </a:endParaRPr>
          </a:p>
          <a:p>
            <a:pPr marL="0" lvl="0" indent="0" algn="l" rtl="0">
              <a:spcBef>
                <a:spcPts val="1200"/>
              </a:spcBef>
              <a:spcAft>
                <a:spcPts val="0"/>
              </a:spcAft>
              <a:buNone/>
            </a:pPr>
            <a:r>
              <a:rPr lang="en" sz="4300">
                <a:solidFill>
                  <a:srgbClr val="000000"/>
                </a:solidFill>
                <a:latin typeface="Arial"/>
                <a:ea typeface="Arial"/>
                <a:cs typeface="Arial"/>
                <a:sym typeface="Arial"/>
              </a:rPr>
              <a:t>                  	C = Cash inflow during the year of final recovery</a:t>
            </a:r>
            <a:endParaRPr sz="4300">
              <a:solidFill>
                <a:srgbClr val="000000"/>
              </a:solidFill>
              <a:latin typeface="Arial"/>
              <a:ea typeface="Arial"/>
              <a:cs typeface="Arial"/>
              <a:sym typeface="Arial"/>
            </a:endParaRPr>
          </a:p>
          <a:p>
            <a:pPr marL="0" lvl="0" indent="0" algn="l" rtl="0">
              <a:spcBef>
                <a:spcPts val="1200"/>
              </a:spcBef>
              <a:spcAft>
                <a:spcPts val="0"/>
              </a:spcAft>
              <a:buNone/>
            </a:pPr>
            <a:r>
              <a:rPr lang="en" sz="4300">
                <a:solidFill>
                  <a:srgbClr val="000000"/>
                </a:solidFill>
                <a:latin typeface="Arial"/>
                <a:ea typeface="Arial"/>
                <a:cs typeface="Arial"/>
                <a:sym typeface="Arial"/>
              </a:rPr>
              <a:t>    	Note: Before using these values, we must find cumulative cash inflows</a:t>
            </a:r>
            <a:endParaRPr sz="4300">
              <a:solidFill>
                <a:srgbClr val="000000"/>
              </a:solidFill>
              <a:latin typeface="Arial"/>
              <a:ea typeface="Arial"/>
              <a:cs typeface="Arial"/>
              <a:sym typeface="Arial"/>
            </a:endParaRPr>
          </a:p>
          <a:p>
            <a:pPr marL="0" lvl="0" indent="0" algn="l" rtl="0">
              <a:spcBef>
                <a:spcPts val="0"/>
              </a:spcBef>
              <a:spcAft>
                <a:spcPts val="1200"/>
              </a:spcAft>
              <a:buNone/>
            </a:pPr>
            <a:endParaRPr/>
          </a:p>
        </p:txBody>
      </p:sp>
      <p:sp>
        <p:nvSpPr>
          <p:cNvPr id="199" name="Google Shape;199;p23"/>
          <p:cNvSpPr txBox="1"/>
          <p:nvPr/>
        </p:nvSpPr>
        <p:spPr>
          <a:xfrm>
            <a:off x="292550" y="1095375"/>
            <a:ext cx="8572500" cy="400200"/>
          </a:xfrm>
          <a:prstGeom prst="rect">
            <a:avLst/>
          </a:prstGeom>
          <a:noFill/>
          <a:ln w="9525" cap="flat" cmpd="sng">
            <a:solidFill>
              <a:srgbClr val="4A86E8"/>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03"/>
        <p:cNvGrpSpPr/>
        <p:nvPr/>
      </p:nvGrpSpPr>
      <p:grpSpPr>
        <a:xfrm>
          <a:off x="0" y="0"/>
          <a:ext cx="0" cy="0"/>
          <a:chOff x="0" y="0"/>
          <a:chExt cx="0" cy="0"/>
        </a:xfrm>
      </p:grpSpPr>
      <p:sp>
        <p:nvSpPr>
          <p:cNvPr id="204" name="Google Shape;204;p24"/>
          <p:cNvSpPr txBox="1">
            <a:spLocks noGrp="1"/>
          </p:cNvSpPr>
          <p:nvPr>
            <p:ph type="title"/>
          </p:nvPr>
        </p:nvSpPr>
        <p:spPr>
          <a:xfrm>
            <a:off x="283550" y="1340300"/>
            <a:ext cx="8596500" cy="3449400"/>
          </a:xfrm>
          <a:prstGeom prst="rect">
            <a:avLst/>
          </a:prstGeom>
          <a:ln w="28575" cap="flat" cmpd="sng">
            <a:solidFill>
              <a:srgbClr val="FF0000"/>
            </a:solidFill>
            <a:prstDash val="solid"/>
            <a:round/>
            <a:headEnd type="none" w="sm" len="sm"/>
            <a:tailEnd type="none" w="sm" len="sm"/>
          </a:ln>
        </p:spPr>
        <p:txBody>
          <a:bodyPr spcFirstLastPara="1" wrap="square" lIns="91425" tIns="91425" rIns="91425" bIns="91425" anchor="t" anchorCtr="0">
            <a:normAutofit/>
          </a:bodyPr>
          <a:lstStyle/>
          <a:p>
            <a:pPr marL="0" lvl="0" indent="0" algn="l" rtl="0">
              <a:lnSpc>
                <a:spcPct val="115000"/>
              </a:lnSpc>
              <a:spcBef>
                <a:spcPts val="1200"/>
              </a:spcBef>
              <a:spcAft>
                <a:spcPts val="0"/>
              </a:spcAft>
              <a:buNone/>
            </a:pPr>
            <a:r>
              <a:rPr lang="en" sz="1100" b="1">
                <a:solidFill>
                  <a:srgbClr val="FF0000"/>
                </a:solidFill>
                <a:latin typeface="Arial"/>
                <a:ea typeface="Arial"/>
                <a:cs typeface="Arial"/>
                <a:sym typeface="Arial"/>
              </a:rPr>
              <a:t> </a:t>
            </a:r>
            <a:r>
              <a:rPr lang="en" sz="1100">
                <a:solidFill>
                  <a:srgbClr val="000000"/>
                </a:solidFill>
                <a:latin typeface="Arial"/>
                <a:ea typeface="Arial"/>
                <a:cs typeface="Arial"/>
                <a:sym typeface="Arial"/>
              </a:rPr>
              <a:t> </a:t>
            </a:r>
            <a:r>
              <a:rPr lang="en" sz="1400">
                <a:solidFill>
                  <a:srgbClr val="000000"/>
                </a:solidFill>
                <a:latin typeface="Arial"/>
                <a:ea typeface="Arial"/>
                <a:cs typeface="Arial"/>
                <a:sym typeface="Arial"/>
              </a:rPr>
              <a:t>     </a:t>
            </a:r>
            <a:endParaRPr sz="1400">
              <a:solidFill>
                <a:srgbClr val="000000"/>
              </a:solidFill>
              <a:latin typeface="Arial"/>
              <a:ea typeface="Arial"/>
              <a:cs typeface="Arial"/>
              <a:sym typeface="Arial"/>
            </a:endParaRPr>
          </a:p>
          <a:p>
            <a:pPr marL="0" lvl="0" indent="0" algn="l" rtl="0">
              <a:lnSpc>
                <a:spcPct val="115000"/>
              </a:lnSpc>
              <a:spcBef>
                <a:spcPts val="1200"/>
              </a:spcBef>
              <a:spcAft>
                <a:spcPts val="0"/>
              </a:spcAft>
              <a:buNone/>
            </a:pPr>
            <a:r>
              <a:rPr lang="en" sz="1400">
                <a:solidFill>
                  <a:srgbClr val="000000"/>
                </a:solidFill>
                <a:latin typeface="Arial"/>
                <a:ea typeface="Arial"/>
                <a:cs typeface="Arial"/>
                <a:sym typeface="Arial"/>
              </a:rPr>
              <a:t>        i) It is easy to calculate and simple to understand.</a:t>
            </a:r>
            <a:endParaRPr sz="1400">
              <a:solidFill>
                <a:srgbClr val="000000"/>
              </a:solidFill>
              <a:latin typeface="Arial"/>
              <a:ea typeface="Arial"/>
              <a:cs typeface="Arial"/>
              <a:sym typeface="Arial"/>
            </a:endParaRPr>
          </a:p>
          <a:p>
            <a:pPr marL="0" lvl="0" indent="0" algn="just" rtl="0">
              <a:lnSpc>
                <a:spcPct val="115000"/>
              </a:lnSpc>
              <a:spcBef>
                <a:spcPts val="1200"/>
              </a:spcBef>
              <a:spcAft>
                <a:spcPts val="0"/>
              </a:spcAft>
              <a:buNone/>
            </a:pPr>
            <a:r>
              <a:rPr lang="en" sz="1400">
                <a:solidFill>
                  <a:srgbClr val="000000"/>
                </a:solidFill>
                <a:latin typeface="Arial"/>
                <a:ea typeface="Arial"/>
                <a:cs typeface="Arial"/>
                <a:sym typeface="Arial"/>
              </a:rPr>
              <a:t>       ii) It Measures the liquidity of the investment.</a:t>
            </a:r>
            <a:endParaRPr sz="1400">
              <a:solidFill>
                <a:srgbClr val="000000"/>
              </a:solidFill>
              <a:latin typeface="Arial"/>
              <a:ea typeface="Arial"/>
              <a:cs typeface="Arial"/>
              <a:sym typeface="Arial"/>
            </a:endParaRPr>
          </a:p>
          <a:p>
            <a:pPr marL="342900" lvl="0" indent="-342900" algn="just" rtl="0">
              <a:lnSpc>
                <a:spcPct val="115000"/>
              </a:lnSpc>
              <a:spcBef>
                <a:spcPts val="1200"/>
              </a:spcBef>
              <a:spcAft>
                <a:spcPts val="0"/>
              </a:spcAft>
              <a:buNone/>
            </a:pPr>
            <a:r>
              <a:rPr lang="en" sz="1400">
                <a:solidFill>
                  <a:srgbClr val="000000"/>
                </a:solidFill>
                <a:latin typeface="Arial"/>
                <a:ea typeface="Arial"/>
                <a:cs typeface="Arial"/>
                <a:sym typeface="Arial"/>
              </a:rPr>
              <a:t>  	iii)</a:t>
            </a:r>
            <a:r>
              <a:rPr lang="en" sz="1400">
                <a:solidFill>
                  <a:srgbClr val="374151"/>
                </a:solidFill>
                <a:highlight>
                  <a:srgbClr val="F7F7F8"/>
                </a:highlight>
                <a:latin typeface="Arial"/>
                <a:ea typeface="Arial"/>
                <a:cs typeface="Arial"/>
                <a:sym typeface="Arial"/>
              </a:rPr>
              <a:t> </a:t>
            </a:r>
            <a:r>
              <a:rPr lang="en" sz="1400">
                <a:solidFill>
                  <a:srgbClr val="000000"/>
                </a:solidFill>
                <a:latin typeface="Arial"/>
                <a:ea typeface="Arial"/>
                <a:cs typeface="Arial"/>
                <a:sym typeface="Arial"/>
              </a:rPr>
              <a:t>This method is handy for industries with uncertainty because it focuses on quickly getting your investment back.</a:t>
            </a:r>
            <a:endParaRPr sz="1400">
              <a:solidFill>
                <a:srgbClr val="000000"/>
              </a:solidFill>
              <a:latin typeface="Arial"/>
              <a:ea typeface="Arial"/>
              <a:cs typeface="Arial"/>
              <a:sym typeface="Arial"/>
            </a:endParaRPr>
          </a:p>
          <a:p>
            <a:pPr marL="342900" lvl="0" indent="-342900" algn="just" rtl="0">
              <a:lnSpc>
                <a:spcPct val="115000"/>
              </a:lnSpc>
              <a:spcBef>
                <a:spcPts val="0"/>
              </a:spcBef>
              <a:spcAft>
                <a:spcPts val="0"/>
              </a:spcAft>
              <a:buNone/>
            </a:pPr>
            <a:r>
              <a:rPr lang="en" sz="1400">
                <a:solidFill>
                  <a:srgbClr val="000000"/>
                </a:solidFill>
                <a:latin typeface="Arial"/>
                <a:ea typeface="Arial"/>
                <a:cs typeface="Arial"/>
                <a:sym typeface="Arial"/>
              </a:rPr>
              <a:t>  	iii) For firms seeking rapid investment recovery, the payback period method is ideal for determining how quickly they can recoup their initial investments.</a:t>
            </a:r>
            <a:endParaRPr sz="1400">
              <a:solidFill>
                <a:srgbClr val="000000"/>
              </a:solidFill>
              <a:latin typeface="Arial"/>
              <a:ea typeface="Arial"/>
              <a:cs typeface="Arial"/>
              <a:sym typeface="Arial"/>
            </a:endParaRPr>
          </a:p>
          <a:p>
            <a:pPr marL="0" lvl="0" indent="0" algn="l" rtl="0">
              <a:spcBef>
                <a:spcPts val="0"/>
              </a:spcBef>
              <a:spcAft>
                <a:spcPts val="0"/>
              </a:spcAft>
              <a:buNone/>
            </a:pPr>
            <a:endParaRPr/>
          </a:p>
        </p:txBody>
      </p:sp>
      <p:sp>
        <p:nvSpPr>
          <p:cNvPr id="205" name="Google Shape;205;p24"/>
          <p:cNvSpPr txBox="1">
            <a:spLocks noGrp="1"/>
          </p:cNvSpPr>
          <p:nvPr>
            <p:ph type="body" idx="1"/>
          </p:nvPr>
        </p:nvSpPr>
        <p:spPr>
          <a:xfrm>
            <a:off x="283550" y="564700"/>
            <a:ext cx="8596500" cy="576000"/>
          </a:xfrm>
          <a:prstGeom prst="rect">
            <a:avLst/>
          </a:prstGeom>
          <a:solidFill>
            <a:srgbClr val="FFD966"/>
          </a:solidFill>
        </p:spPr>
        <p:txBody>
          <a:bodyPr spcFirstLastPara="1" wrap="square" lIns="91425" tIns="91425" rIns="91425" bIns="91425" anchor="t" anchorCtr="0">
            <a:normAutofit fontScale="25000" lnSpcReduction="20000"/>
          </a:bodyPr>
          <a:lstStyle/>
          <a:p>
            <a:pPr marL="0" lvl="0" indent="0" algn="l" rtl="0">
              <a:spcBef>
                <a:spcPts val="1200"/>
              </a:spcBef>
              <a:spcAft>
                <a:spcPts val="0"/>
              </a:spcAft>
              <a:buNone/>
            </a:pPr>
            <a:r>
              <a:rPr lang="en" sz="9500" b="1">
                <a:solidFill>
                  <a:srgbClr val="FF0000"/>
                </a:solidFill>
                <a:latin typeface="Arial"/>
                <a:ea typeface="Arial"/>
                <a:cs typeface="Arial"/>
                <a:sym typeface="Arial"/>
              </a:rPr>
              <a:t>Slide 7: Merits of Payback Period Method</a:t>
            </a:r>
            <a:endParaRPr sz="9500" b="1">
              <a:solidFill>
                <a:srgbClr val="FF0000"/>
              </a:solidFill>
              <a:latin typeface="Arial"/>
              <a:ea typeface="Arial"/>
              <a:cs typeface="Arial"/>
              <a:sym typeface="Arial"/>
            </a:endParaRPr>
          </a:p>
          <a:p>
            <a:pPr marL="0" lvl="0" indent="0" algn="l" rtl="0">
              <a:lnSpc>
                <a:spcPct val="100000"/>
              </a:lnSpc>
              <a:spcBef>
                <a:spcPts val="0"/>
              </a:spcBef>
              <a:spcAft>
                <a:spcPts val="0"/>
              </a:spcAft>
              <a:buNone/>
            </a:pPr>
            <a:endParaRPr sz="3000">
              <a:solidFill>
                <a:schemeClr val="lt1"/>
              </a:solidFill>
              <a:latin typeface="Nunito"/>
              <a:ea typeface="Nunito"/>
              <a:cs typeface="Nunito"/>
              <a:sym typeface="Nunito"/>
            </a:endParaRPr>
          </a:p>
          <a:p>
            <a:pPr marL="0" lvl="0" indent="0" algn="l" rtl="0">
              <a:spcBef>
                <a:spcPts val="0"/>
              </a:spcBef>
              <a:spcAft>
                <a:spcPts val="1200"/>
              </a:spcAft>
              <a:buNone/>
            </a:pPr>
            <a:endParaRPr/>
          </a:p>
        </p:txBody>
      </p:sp>
      <p:sp>
        <p:nvSpPr>
          <p:cNvPr id="206" name="Google Shape;206;p24"/>
          <p:cNvSpPr txBox="1"/>
          <p:nvPr/>
        </p:nvSpPr>
        <p:spPr>
          <a:xfrm>
            <a:off x="374200" y="1340300"/>
            <a:ext cx="8368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10"/>
        <p:cNvGrpSpPr/>
        <p:nvPr/>
      </p:nvGrpSpPr>
      <p:grpSpPr>
        <a:xfrm>
          <a:off x="0" y="0"/>
          <a:ext cx="0" cy="0"/>
          <a:chOff x="0" y="0"/>
          <a:chExt cx="0" cy="0"/>
        </a:xfrm>
      </p:grpSpPr>
      <p:sp>
        <p:nvSpPr>
          <p:cNvPr id="211" name="Google Shape;211;p25"/>
          <p:cNvSpPr txBox="1">
            <a:spLocks noGrp="1"/>
          </p:cNvSpPr>
          <p:nvPr>
            <p:ph type="body" idx="1"/>
          </p:nvPr>
        </p:nvSpPr>
        <p:spPr>
          <a:xfrm>
            <a:off x="272150" y="1401525"/>
            <a:ext cx="8592900" cy="3469800"/>
          </a:xfrm>
          <a:prstGeom prst="rect">
            <a:avLst/>
          </a:prstGeom>
          <a:ln w="28575" cap="flat" cmpd="sng">
            <a:solidFill>
              <a:srgbClr val="FF0000"/>
            </a:solidFill>
            <a:prstDash val="solid"/>
            <a:round/>
            <a:headEnd type="none" w="sm" len="sm"/>
            <a:tailEnd type="none" w="sm" len="sm"/>
          </a:ln>
        </p:spPr>
        <p:txBody>
          <a:bodyPr spcFirstLastPara="1" wrap="square" lIns="91425" tIns="91425" rIns="91425" bIns="91425" anchor="t" anchorCtr="0">
            <a:normAutofit/>
          </a:bodyPr>
          <a:lstStyle/>
          <a:p>
            <a:pPr marL="0" lvl="0" indent="0" algn="just" rtl="0">
              <a:spcBef>
                <a:spcPts val="0"/>
              </a:spcBef>
              <a:spcAft>
                <a:spcPts val="0"/>
              </a:spcAft>
              <a:buNone/>
            </a:pPr>
            <a:r>
              <a:rPr lang="en" sz="1400">
                <a:solidFill>
                  <a:srgbClr val="000000"/>
                </a:solidFill>
                <a:latin typeface="Arial"/>
                <a:ea typeface="Arial"/>
                <a:cs typeface="Arial"/>
                <a:sym typeface="Arial"/>
              </a:rPr>
              <a:t>I. This method neglects cash flows occurring after the payback period: This method does not consider the amount of profit earned after the recovery of the cost of investment. Some projects may have higher cash inflows after the payback period.</a:t>
            </a:r>
            <a:endParaRPr sz="1400">
              <a:solidFill>
                <a:srgbClr val="000000"/>
              </a:solidFill>
              <a:latin typeface="Arial"/>
              <a:ea typeface="Arial"/>
              <a:cs typeface="Arial"/>
              <a:sym typeface="Arial"/>
            </a:endParaRPr>
          </a:p>
          <a:p>
            <a:pPr marL="0" lvl="0" indent="0" algn="just" rtl="0">
              <a:spcBef>
                <a:spcPts val="0"/>
              </a:spcBef>
              <a:spcAft>
                <a:spcPts val="0"/>
              </a:spcAft>
              <a:buNone/>
            </a:pPr>
            <a:endParaRPr sz="1400">
              <a:solidFill>
                <a:srgbClr val="000000"/>
              </a:solidFill>
              <a:latin typeface="Arial"/>
              <a:ea typeface="Arial"/>
              <a:cs typeface="Arial"/>
              <a:sym typeface="Arial"/>
            </a:endParaRPr>
          </a:p>
          <a:p>
            <a:pPr marL="0" lvl="0" indent="0" algn="just" rtl="0">
              <a:spcBef>
                <a:spcPts val="0"/>
              </a:spcBef>
              <a:spcAft>
                <a:spcPts val="0"/>
              </a:spcAft>
              <a:buNone/>
            </a:pPr>
            <a:r>
              <a:rPr lang="en" sz="1400">
                <a:solidFill>
                  <a:srgbClr val="000000"/>
                </a:solidFill>
                <a:latin typeface="Arial"/>
                <a:ea typeface="Arial"/>
                <a:cs typeface="Arial"/>
                <a:sym typeface="Arial"/>
              </a:rPr>
              <a:t>ii. This method does not consider the time value of money.</a:t>
            </a:r>
            <a:endParaRPr sz="1400">
              <a:solidFill>
                <a:srgbClr val="000000"/>
              </a:solidFill>
              <a:latin typeface="Arial"/>
              <a:ea typeface="Arial"/>
              <a:cs typeface="Arial"/>
              <a:sym typeface="Arial"/>
            </a:endParaRPr>
          </a:p>
          <a:p>
            <a:pPr marL="0" lvl="0" indent="0" algn="just" rtl="0">
              <a:spcBef>
                <a:spcPts val="1200"/>
              </a:spcBef>
              <a:spcAft>
                <a:spcPts val="0"/>
              </a:spcAft>
              <a:buNone/>
            </a:pPr>
            <a:r>
              <a:rPr lang="en" sz="1400">
                <a:solidFill>
                  <a:srgbClr val="000000"/>
                </a:solidFill>
                <a:latin typeface="Arial"/>
                <a:ea typeface="Arial"/>
                <a:cs typeface="Arial"/>
                <a:sym typeface="Arial"/>
              </a:rPr>
              <a:t>iii.This method does not consider the risk associated with the project.</a:t>
            </a:r>
            <a:endParaRPr sz="1400">
              <a:solidFill>
                <a:srgbClr val="000000"/>
              </a:solidFill>
              <a:latin typeface="Arial"/>
              <a:ea typeface="Arial"/>
              <a:cs typeface="Arial"/>
              <a:sym typeface="Arial"/>
            </a:endParaRPr>
          </a:p>
          <a:p>
            <a:pPr marL="0" lvl="0" indent="0" algn="just" rtl="0">
              <a:spcBef>
                <a:spcPts val="1200"/>
              </a:spcBef>
              <a:spcAft>
                <a:spcPts val="0"/>
              </a:spcAft>
              <a:buNone/>
            </a:pPr>
            <a:r>
              <a:rPr lang="en" sz="1400">
                <a:solidFill>
                  <a:srgbClr val="000000"/>
                </a:solidFill>
                <a:latin typeface="Arial"/>
                <a:ea typeface="Arial"/>
                <a:cs typeface="Arial"/>
                <a:sym typeface="Arial"/>
              </a:rPr>
              <a:t> iv. Does not consider profitability of economic life of the project.</a:t>
            </a:r>
            <a:endParaRPr sz="1400">
              <a:solidFill>
                <a:srgbClr val="000000"/>
              </a:solidFill>
              <a:latin typeface="Arial"/>
              <a:ea typeface="Arial"/>
              <a:cs typeface="Arial"/>
              <a:sym typeface="Arial"/>
            </a:endParaRPr>
          </a:p>
          <a:p>
            <a:pPr marL="0" lvl="0" indent="0" algn="l" rtl="0">
              <a:spcBef>
                <a:spcPts val="0"/>
              </a:spcBef>
              <a:spcAft>
                <a:spcPts val="1200"/>
              </a:spcAft>
              <a:buNone/>
            </a:pPr>
            <a:endParaRPr/>
          </a:p>
        </p:txBody>
      </p:sp>
      <p:sp>
        <p:nvSpPr>
          <p:cNvPr id="212" name="Google Shape;212;p25"/>
          <p:cNvSpPr txBox="1">
            <a:spLocks noGrp="1"/>
          </p:cNvSpPr>
          <p:nvPr>
            <p:ph type="title"/>
          </p:nvPr>
        </p:nvSpPr>
        <p:spPr>
          <a:xfrm>
            <a:off x="272100" y="381000"/>
            <a:ext cx="8592900" cy="795900"/>
          </a:xfrm>
          <a:prstGeom prst="rect">
            <a:avLst/>
          </a:prstGeom>
          <a:solidFill>
            <a:srgbClr val="F1C232"/>
          </a:solidFill>
        </p:spPr>
        <p:txBody>
          <a:bodyPr spcFirstLastPara="1" wrap="square" lIns="91425" tIns="91425" rIns="91425" bIns="91425" anchor="t" anchorCtr="0">
            <a:noAutofit/>
          </a:bodyPr>
          <a:lstStyle/>
          <a:p>
            <a:pPr marL="0" lvl="0" indent="0" algn="just" rtl="0">
              <a:lnSpc>
                <a:spcPct val="115000"/>
              </a:lnSpc>
              <a:spcBef>
                <a:spcPts val="1200"/>
              </a:spcBef>
              <a:spcAft>
                <a:spcPts val="0"/>
              </a:spcAft>
              <a:buNone/>
            </a:pPr>
            <a:r>
              <a:rPr lang="en" sz="2400" b="1">
                <a:solidFill>
                  <a:srgbClr val="FF0000"/>
                </a:solidFill>
                <a:latin typeface="Arial"/>
                <a:ea typeface="Arial"/>
                <a:cs typeface="Arial"/>
                <a:sym typeface="Arial"/>
              </a:rPr>
              <a:t>Slide 8: Demerits of the Payback Period Method</a:t>
            </a:r>
            <a:endParaRPr sz="2400" b="1">
              <a:solidFill>
                <a:srgbClr val="FF0000"/>
              </a:solidFill>
              <a:latin typeface="Arial"/>
              <a:ea typeface="Arial"/>
              <a:cs typeface="Arial"/>
              <a:sym typeface="Arial"/>
            </a:endParaRPr>
          </a:p>
          <a:p>
            <a:pPr marL="0" lvl="0" indent="0" algn="l" rtl="0">
              <a:spcBef>
                <a:spcPts val="0"/>
              </a:spcBef>
              <a:spcAft>
                <a:spcPts val="0"/>
              </a:spcAft>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16"/>
        <p:cNvGrpSpPr/>
        <p:nvPr/>
      </p:nvGrpSpPr>
      <p:grpSpPr>
        <a:xfrm>
          <a:off x="0" y="0"/>
          <a:ext cx="0" cy="0"/>
          <a:chOff x="0" y="0"/>
          <a:chExt cx="0" cy="0"/>
        </a:xfrm>
      </p:grpSpPr>
      <p:sp>
        <p:nvSpPr>
          <p:cNvPr id="217" name="Google Shape;217;p26"/>
          <p:cNvSpPr txBox="1">
            <a:spLocks noGrp="1"/>
          </p:cNvSpPr>
          <p:nvPr>
            <p:ph type="title"/>
          </p:nvPr>
        </p:nvSpPr>
        <p:spPr>
          <a:xfrm>
            <a:off x="258225" y="398150"/>
            <a:ext cx="8584500" cy="738000"/>
          </a:xfrm>
          <a:prstGeom prst="rect">
            <a:avLst/>
          </a:prstGeom>
          <a:solidFill>
            <a:srgbClr val="F1C232"/>
          </a:solidFill>
        </p:spPr>
        <p:txBody>
          <a:bodyPr spcFirstLastPara="1" wrap="square" lIns="91425" tIns="91425" rIns="91425" bIns="91425" anchor="t" anchorCtr="0">
            <a:noAutofit/>
          </a:bodyPr>
          <a:lstStyle/>
          <a:p>
            <a:pPr marL="0" lvl="0" indent="0" algn="just" rtl="0">
              <a:lnSpc>
                <a:spcPct val="115000"/>
              </a:lnSpc>
              <a:spcBef>
                <a:spcPts val="1200"/>
              </a:spcBef>
              <a:spcAft>
                <a:spcPts val="0"/>
              </a:spcAft>
              <a:buNone/>
            </a:pPr>
            <a:r>
              <a:rPr lang="en" sz="2400" b="1">
                <a:solidFill>
                  <a:srgbClr val="FF0000"/>
                </a:solidFill>
                <a:latin typeface="Arial"/>
                <a:ea typeface="Arial"/>
                <a:cs typeface="Arial"/>
                <a:sym typeface="Arial"/>
              </a:rPr>
              <a:t>Slide 9: Average Rate of Return Method:</a:t>
            </a:r>
            <a:endParaRPr sz="2400" b="1">
              <a:solidFill>
                <a:srgbClr val="FF0000"/>
              </a:solidFill>
              <a:latin typeface="Arial"/>
              <a:ea typeface="Arial"/>
              <a:cs typeface="Arial"/>
              <a:sym typeface="Arial"/>
            </a:endParaRPr>
          </a:p>
          <a:p>
            <a:pPr marL="0" lvl="0" indent="0" algn="l" rtl="0">
              <a:spcBef>
                <a:spcPts val="0"/>
              </a:spcBef>
              <a:spcAft>
                <a:spcPts val="0"/>
              </a:spcAft>
              <a:buNone/>
            </a:pPr>
            <a:endParaRPr/>
          </a:p>
        </p:txBody>
      </p:sp>
      <p:sp>
        <p:nvSpPr>
          <p:cNvPr id="218" name="Google Shape;218;p26"/>
          <p:cNvSpPr txBox="1">
            <a:spLocks noGrp="1"/>
          </p:cNvSpPr>
          <p:nvPr>
            <p:ph type="body" idx="1"/>
          </p:nvPr>
        </p:nvSpPr>
        <p:spPr>
          <a:xfrm>
            <a:off x="258075" y="1238250"/>
            <a:ext cx="8584500" cy="3412500"/>
          </a:xfrm>
          <a:prstGeom prst="rect">
            <a:avLst/>
          </a:prstGeom>
          <a:ln w="2857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0" lvl="0" indent="0" algn="just" rtl="0">
              <a:spcBef>
                <a:spcPts val="1200"/>
              </a:spcBef>
              <a:spcAft>
                <a:spcPts val="0"/>
              </a:spcAft>
              <a:buNone/>
            </a:pPr>
            <a:r>
              <a:rPr lang="en" sz="1400">
                <a:solidFill>
                  <a:srgbClr val="000000"/>
                </a:solidFill>
                <a:latin typeface="Arial"/>
                <a:ea typeface="Arial"/>
                <a:cs typeface="Arial"/>
                <a:sym typeface="Arial"/>
              </a:rPr>
              <a:t>The Average Rate of Return (ARR) method, also known as the Accounting Rate of Return (ARR), is a capital budgeting technique used to evaluate the profitability of an investment project.</a:t>
            </a:r>
            <a:endParaRPr sz="1400">
              <a:solidFill>
                <a:srgbClr val="000000"/>
              </a:solidFill>
              <a:latin typeface="Arial"/>
              <a:ea typeface="Arial"/>
              <a:cs typeface="Arial"/>
              <a:sym typeface="Arial"/>
            </a:endParaRPr>
          </a:p>
          <a:p>
            <a:pPr marL="0" lvl="0" indent="0" algn="just" rtl="0">
              <a:spcBef>
                <a:spcPts val="1200"/>
              </a:spcBef>
              <a:spcAft>
                <a:spcPts val="0"/>
              </a:spcAft>
              <a:buNone/>
            </a:pPr>
            <a:r>
              <a:rPr lang="en" sz="1400">
                <a:solidFill>
                  <a:srgbClr val="000000"/>
                </a:solidFill>
                <a:latin typeface="Arial"/>
                <a:ea typeface="Arial"/>
                <a:cs typeface="Arial"/>
                <a:sym typeface="Arial"/>
              </a:rPr>
              <a:t>The formula for Average Rate of Return Method:</a:t>
            </a:r>
            <a:endParaRPr sz="1400">
              <a:solidFill>
                <a:srgbClr val="000000"/>
              </a:solidFill>
              <a:latin typeface="Arial"/>
              <a:ea typeface="Arial"/>
              <a:cs typeface="Arial"/>
              <a:sym typeface="Arial"/>
            </a:endParaRPr>
          </a:p>
          <a:p>
            <a:pPr marL="0" lvl="0" indent="0" algn="just" rtl="0">
              <a:spcBef>
                <a:spcPts val="1200"/>
              </a:spcBef>
              <a:spcAft>
                <a:spcPts val="0"/>
              </a:spcAft>
              <a:buNone/>
            </a:pPr>
            <a:r>
              <a:rPr lang="en" sz="1500" b="1">
                <a:solidFill>
                  <a:srgbClr val="1155CC"/>
                </a:solidFill>
                <a:latin typeface="Arial"/>
                <a:ea typeface="Arial"/>
                <a:cs typeface="Arial"/>
                <a:sym typeface="Arial"/>
              </a:rPr>
              <a:t>Average Rate of Return </a:t>
            </a:r>
            <a:r>
              <a:rPr lang="en" sz="1400">
                <a:solidFill>
                  <a:srgbClr val="000000"/>
                </a:solidFill>
                <a:latin typeface="Arial"/>
                <a:ea typeface="Arial"/>
                <a:cs typeface="Arial"/>
                <a:sym typeface="Arial"/>
              </a:rPr>
              <a:t>= (Annual Average Profit)/(Initial Investment) *100%</a:t>
            </a:r>
            <a:endParaRPr sz="1400">
              <a:solidFill>
                <a:srgbClr val="000000"/>
              </a:solidFill>
              <a:latin typeface="Arial"/>
              <a:ea typeface="Arial"/>
              <a:cs typeface="Arial"/>
              <a:sym typeface="Arial"/>
            </a:endParaRPr>
          </a:p>
          <a:p>
            <a:pPr marL="0" lvl="0" indent="0" algn="just" rtl="0">
              <a:spcBef>
                <a:spcPts val="1200"/>
              </a:spcBef>
              <a:spcAft>
                <a:spcPts val="0"/>
              </a:spcAft>
              <a:buNone/>
            </a:pPr>
            <a:r>
              <a:rPr lang="en" sz="1500" b="1">
                <a:solidFill>
                  <a:srgbClr val="FF0000"/>
                </a:solidFill>
                <a:latin typeface="Arial"/>
                <a:ea typeface="Arial"/>
                <a:cs typeface="Arial"/>
                <a:sym typeface="Arial"/>
              </a:rPr>
              <a:t>Decision Criteria:</a:t>
            </a:r>
            <a:endParaRPr sz="1500" b="1">
              <a:solidFill>
                <a:srgbClr val="FF0000"/>
              </a:solidFill>
              <a:latin typeface="Arial"/>
              <a:ea typeface="Arial"/>
              <a:cs typeface="Arial"/>
              <a:sym typeface="Arial"/>
            </a:endParaRPr>
          </a:p>
          <a:p>
            <a:pPr marL="0" lvl="0" indent="0" algn="just" rtl="0">
              <a:spcBef>
                <a:spcPts val="0"/>
              </a:spcBef>
              <a:spcAft>
                <a:spcPts val="0"/>
              </a:spcAft>
              <a:buNone/>
            </a:pPr>
            <a:r>
              <a:rPr lang="en" sz="1100">
                <a:solidFill>
                  <a:srgbClr val="000000"/>
                </a:solidFill>
                <a:latin typeface="Arial"/>
                <a:ea typeface="Arial"/>
                <a:cs typeface="Arial"/>
                <a:sym typeface="Arial"/>
              </a:rPr>
              <a:t>  </a:t>
            </a:r>
            <a:r>
              <a:rPr lang="en" sz="1400">
                <a:solidFill>
                  <a:srgbClr val="000000"/>
                </a:solidFill>
                <a:latin typeface="Arial"/>
                <a:ea typeface="Arial"/>
                <a:cs typeface="Arial"/>
                <a:sym typeface="Arial"/>
              </a:rPr>
              <a:t>I) In the case of many projects, a project with a higher ARR or NOI will be selected.</a:t>
            </a:r>
            <a:endParaRPr sz="1400">
              <a:solidFill>
                <a:srgbClr val="000000"/>
              </a:solidFill>
              <a:latin typeface="Arial"/>
              <a:ea typeface="Arial"/>
              <a:cs typeface="Arial"/>
              <a:sym typeface="Arial"/>
            </a:endParaRPr>
          </a:p>
          <a:p>
            <a:pPr marL="0" lvl="0" indent="0" algn="just" rtl="0">
              <a:spcBef>
                <a:spcPts val="0"/>
              </a:spcBef>
              <a:spcAft>
                <a:spcPts val="0"/>
              </a:spcAft>
              <a:buNone/>
            </a:pPr>
            <a:r>
              <a:rPr lang="en" sz="1400">
                <a:solidFill>
                  <a:srgbClr val="000000"/>
                </a:solidFill>
                <a:latin typeface="Arial"/>
                <a:ea typeface="Arial"/>
                <a:cs typeface="Arial"/>
                <a:sym typeface="Arial"/>
              </a:rPr>
              <a:t> II) In the case of only one project, it would be selected if it earns more than the company's predetermined required rate of return.</a:t>
            </a:r>
            <a:endParaRPr sz="1400">
              <a:solidFill>
                <a:srgbClr val="000000"/>
              </a:solidFill>
              <a:latin typeface="Arial"/>
              <a:ea typeface="Arial"/>
              <a:cs typeface="Arial"/>
              <a:sym typeface="Arial"/>
            </a:endParaRPr>
          </a:p>
          <a:p>
            <a:pPr marL="0" lvl="0" indent="0" algn="just" rtl="0">
              <a:spcBef>
                <a:spcPts val="1200"/>
              </a:spcBef>
              <a:spcAft>
                <a:spcPts val="0"/>
              </a:spcAft>
              <a:buNone/>
            </a:pPr>
            <a:endParaRPr sz="1800">
              <a:solidFill>
                <a:srgbClr val="000000"/>
              </a:solidFill>
              <a:latin typeface="Arial"/>
              <a:ea typeface="Arial"/>
              <a:cs typeface="Arial"/>
              <a:sym typeface="Arial"/>
            </a:endParaRPr>
          </a:p>
          <a:p>
            <a:pPr marL="0" lvl="0" indent="0" algn="just" rtl="0">
              <a:spcBef>
                <a:spcPts val="1200"/>
              </a:spcBef>
              <a:spcAft>
                <a:spcPts val="0"/>
              </a:spcAft>
              <a:buNone/>
            </a:pPr>
            <a:endParaRPr sz="1800">
              <a:solidFill>
                <a:srgbClr val="000000"/>
              </a:solidFill>
              <a:latin typeface="Arial"/>
              <a:ea typeface="Arial"/>
              <a:cs typeface="Arial"/>
              <a:sym typeface="Arial"/>
            </a:endParaRPr>
          </a:p>
          <a:p>
            <a:pPr marL="0" lvl="0" indent="0" algn="just" rtl="0">
              <a:spcBef>
                <a:spcPts val="1200"/>
              </a:spcBef>
              <a:spcAft>
                <a:spcPts val="0"/>
              </a:spcAft>
              <a:buNone/>
            </a:pPr>
            <a:endParaRPr sz="1800" b="1">
              <a:solidFill>
                <a:srgbClr val="000000"/>
              </a:solidFill>
              <a:latin typeface="Arial"/>
              <a:ea typeface="Arial"/>
              <a:cs typeface="Arial"/>
              <a:sym typeface="Arial"/>
            </a:endParaRPr>
          </a:p>
          <a:p>
            <a:pPr marL="0" lvl="0" indent="0" algn="l" rtl="0">
              <a:spcBef>
                <a:spcPts val="0"/>
              </a:spcBef>
              <a:spcAft>
                <a:spcPts val="1200"/>
              </a:spcAft>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22"/>
        <p:cNvGrpSpPr/>
        <p:nvPr/>
      </p:nvGrpSpPr>
      <p:grpSpPr>
        <a:xfrm>
          <a:off x="0" y="0"/>
          <a:ext cx="0" cy="0"/>
          <a:chOff x="0" y="0"/>
          <a:chExt cx="0" cy="0"/>
        </a:xfrm>
      </p:grpSpPr>
      <p:sp>
        <p:nvSpPr>
          <p:cNvPr id="223" name="Google Shape;223;p27"/>
          <p:cNvSpPr txBox="1">
            <a:spLocks noGrp="1"/>
          </p:cNvSpPr>
          <p:nvPr>
            <p:ph type="title"/>
          </p:nvPr>
        </p:nvSpPr>
        <p:spPr>
          <a:xfrm>
            <a:off x="270925" y="278950"/>
            <a:ext cx="8532900" cy="694500"/>
          </a:xfrm>
          <a:prstGeom prst="rect">
            <a:avLst/>
          </a:prstGeom>
          <a:solidFill>
            <a:srgbClr val="F1C232"/>
          </a:solidFill>
        </p:spPr>
        <p:txBody>
          <a:bodyPr spcFirstLastPara="1" wrap="square" lIns="91425" tIns="91425" rIns="91425" bIns="91425" anchor="t" anchorCtr="0">
            <a:normAutofit fontScale="90000"/>
          </a:bodyPr>
          <a:lstStyle/>
          <a:p>
            <a:pPr marL="0" lvl="0" indent="0" algn="just" rtl="0">
              <a:lnSpc>
                <a:spcPct val="115000"/>
              </a:lnSpc>
              <a:spcBef>
                <a:spcPts val="1200"/>
              </a:spcBef>
              <a:spcAft>
                <a:spcPts val="0"/>
              </a:spcAft>
              <a:buNone/>
            </a:pPr>
            <a:r>
              <a:rPr lang="en" sz="2538" b="1">
                <a:solidFill>
                  <a:srgbClr val="FF0000"/>
                </a:solidFill>
                <a:latin typeface="Arial"/>
                <a:ea typeface="Arial"/>
                <a:cs typeface="Arial"/>
                <a:sym typeface="Arial"/>
              </a:rPr>
              <a:t>Slide 10:Pros &amp; Cons of Accounting Rate of Return Method</a:t>
            </a:r>
            <a:endParaRPr sz="2538" b="1">
              <a:solidFill>
                <a:srgbClr val="FF0000"/>
              </a:solidFill>
              <a:latin typeface="Arial"/>
              <a:ea typeface="Arial"/>
              <a:cs typeface="Arial"/>
              <a:sym typeface="Arial"/>
            </a:endParaRPr>
          </a:p>
          <a:p>
            <a:pPr marL="0" lvl="0" indent="0" algn="l" rtl="0">
              <a:spcBef>
                <a:spcPts val="0"/>
              </a:spcBef>
              <a:spcAft>
                <a:spcPts val="0"/>
              </a:spcAft>
              <a:buNone/>
            </a:pPr>
            <a:endParaRPr/>
          </a:p>
        </p:txBody>
      </p:sp>
      <p:sp>
        <p:nvSpPr>
          <p:cNvPr id="224" name="Google Shape;224;p27"/>
          <p:cNvSpPr txBox="1">
            <a:spLocks noGrp="1"/>
          </p:cNvSpPr>
          <p:nvPr>
            <p:ph type="body" idx="1"/>
          </p:nvPr>
        </p:nvSpPr>
        <p:spPr>
          <a:xfrm>
            <a:off x="270925" y="1136175"/>
            <a:ext cx="8532900" cy="3591600"/>
          </a:xfrm>
          <a:prstGeom prst="rect">
            <a:avLst/>
          </a:prstGeom>
          <a:ln w="28575" cap="flat" cmpd="sng">
            <a:solidFill>
              <a:srgbClr val="FF0000"/>
            </a:solidFill>
            <a:prstDash val="solid"/>
            <a:round/>
            <a:headEnd type="none" w="sm" len="sm"/>
            <a:tailEnd type="none" w="sm" len="sm"/>
          </a:ln>
        </p:spPr>
        <p:txBody>
          <a:bodyPr spcFirstLastPara="1" wrap="square" lIns="91425" tIns="91425" rIns="91425" bIns="91425" anchor="t" anchorCtr="0">
            <a:normAutofit fontScale="32500" lnSpcReduction="10000"/>
          </a:bodyPr>
          <a:lstStyle/>
          <a:p>
            <a:pPr marL="0" lvl="0" indent="0" algn="just" rtl="0">
              <a:lnSpc>
                <a:spcPct val="100000"/>
              </a:lnSpc>
              <a:spcBef>
                <a:spcPts val="1200"/>
              </a:spcBef>
              <a:spcAft>
                <a:spcPts val="0"/>
              </a:spcAft>
              <a:buNone/>
            </a:pPr>
            <a:r>
              <a:rPr lang="en" sz="2790"/>
              <a:t>  </a:t>
            </a:r>
            <a:endParaRPr sz="3990"/>
          </a:p>
          <a:p>
            <a:pPr marL="0" lvl="0" indent="0" algn="just" rtl="0">
              <a:lnSpc>
                <a:spcPct val="100000"/>
              </a:lnSpc>
              <a:spcBef>
                <a:spcPts val="1200"/>
              </a:spcBef>
              <a:spcAft>
                <a:spcPts val="0"/>
              </a:spcAft>
              <a:buNone/>
            </a:pPr>
            <a:r>
              <a:rPr lang="en" sz="3990"/>
              <a:t>   </a:t>
            </a:r>
            <a:r>
              <a:rPr lang="en" sz="5490" b="1"/>
              <a:t> </a:t>
            </a:r>
            <a:r>
              <a:rPr lang="en" sz="5490" b="1">
                <a:solidFill>
                  <a:srgbClr val="0000FF"/>
                </a:solidFill>
              </a:rPr>
              <a:t>Advantage of Accounting Rate of Return:</a:t>
            </a:r>
            <a:endParaRPr sz="5490" b="1">
              <a:solidFill>
                <a:srgbClr val="0000FF"/>
              </a:solidFill>
            </a:endParaRPr>
          </a:p>
          <a:p>
            <a:pPr marL="0" lvl="0" indent="0" algn="just" rtl="0">
              <a:lnSpc>
                <a:spcPct val="100000"/>
              </a:lnSpc>
              <a:spcBef>
                <a:spcPts val="1200"/>
              </a:spcBef>
              <a:spcAft>
                <a:spcPts val="0"/>
              </a:spcAft>
              <a:buNone/>
            </a:pPr>
            <a:r>
              <a:rPr lang="en" sz="3200"/>
              <a:t>          i. It is simple and easy to calculate.</a:t>
            </a:r>
            <a:endParaRPr sz="3200"/>
          </a:p>
          <a:p>
            <a:pPr marL="0" lvl="0" indent="0" algn="just" rtl="0">
              <a:lnSpc>
                <a:spcPct val="100000"/>
              </a:lnSpc>
              <a:spcBef>
                <a:spcPts val="1200"/>
              </a:spcBef>
              <a:spcAft>
                <a:spcPts val="0"/>
              </a:spcAft>
              <a:buNone/>
            </a:pPr>
            <a:r>
              <a:rPr lang="en" sz="3200"/>
              <a:t>         ii. It takes into account all the savings over the entire period of investment.</a:t>
            </a:r>
            <a:endParaRPr sz="3200"/>
          </a:p>
          <a:p>
            <a:pPr marL="0" lvl="0" indent="0" algn="just" rtl="0">
              <a:lnSpc>
                <a:spcPct val="100000"/>
              </a:lnSpc>
              <a:spcBef>
                <a:spcPts val="1200"/>
              </a:spcBef>
              <a:spcAft>
                <a:spcPts val="0"/>
              </a:spcAft>
              <a:buNone/>
            </a:pPr>
            <a:endParaRPr sz="800"/>
          </a:p>
          <a:p>
            <a:pPr marL="171450" lvl="0" indent="0" algn="just" rtl="0">
              <a:lnSpc>
                <a:spcPct val="150000"/>
              </a:lnSpc>
              <a:spcBef>
                <a:spcPts val="0"/>
              </a:spcBef>
              <a:spcAft>
                <a:spcPts val="0"/>
              </a:spcAft>
              <a:buNone/>
            </a:pPr>
            <a:r>
              <a:rPr lang="en" sz="3200"/>
              <a:t>iii. It is based on accounting profit rather than cash inflow. Accounting profit can be easily obtained from financial statements.</a:t>
            </a:r>
            <a:endParaRPr sz="3200"/>
          </a:p>
          <a:p>
            <a:pPr marL="171450" lvl="0" indent="57150" algn="just" rtl="0">
              <a:lnSpc>
                <a:spcPct val="150000"/>
              </a:lnSpc>
              <a:spcBef>
                <a:spcPts val="0"/>
              </a:spcBef>
              <a:spcAft>
                <a:spcPts val="0"/>
              </a:spcAft>
              <a:buNone/>
            </a:pPr>
            <a:endParaRPr sz="2400"/>
          </a:p>
          <a:p>
            <a:pPr marL="171450" lvl="0" indent="57150" algn="just" rtl="0">
              <a:lnSpc>
                <a:spcPct val="150000"/>
              </a:lnSpc>
              <a:spcBef>
                <a:spcPts val="0"/>
              </a:spcBef>
              <a:spcAft>
                <a:spcPts val="0"/>
              </a:spcAft>
              <a:buNone/>
            </a:pPr>
            <a:r>
              <a:rPr lang="en" sz="3200"/>
              <a:t> iv. It measures the benefit in percentage which makes it easier to compare with other projects.</a:t>
            </a:r>
            <a:endParaRPr sz="3200"/>
          </a:p>
          <a:p>
            <a:pPr marL="0" lvl="0" indent="0" algn="just" rtl="0">
              <a:spcBef>
                <a:spcPts val="1200"/>
              </a:spcBef>
              <a:spcAft>
                <a:spcPts val="0"/>
              </a:spcAft>
              <a:buNone/>
            </a:pPr>
            <a:r>
              <a:rPr lang="en" sz="3400" b="1">
                <a:solidFill>
                  <a:srgbClr val="0000FF"/>
                </a:solidFill>
                <a:latin typeface="Arial"/>
                <a:ea typeface="Arial"/>
                <a:cs typeface="Arial"/>
                <a:sym typeface="Arial"/>
              </a:rPr>
              <a:t>  </a:t>
            </a:r>
            <a:r>
              <a:rPr lang="en" sz="3650" b="1">
                <a:solidFill>
                  <a:srgbClr val="0000FF"/>
                </a:solidFill>
                <a:latin typeface="Arial"/>
                <a:ea typeface="Arial"/>
                <a:cs typeface="Arial"/>
                <a:sym typeface="Arial"/>
              </a:rPr>
              <a:t>Disadvantages of Accounting Rate of Return Method:</a:t>
            </a:r>
            <a:endParaRPr sz="3650" b="1">
              <a:solidFill>
                <a:srgbClr val="0000FF"/>
              </a:solidFill>
              <a:latin typeface="Arial"/>
              <a:ea typeface="Arial"/>
              <a:cs typeface="Arial"/>
              <a:sym typeface="Arial"/>
            </a:endParaRPr>
          </a:p>
          <a:p>
            <a:pPr marL="0" lvl="0" indent="0" algn="just" rtl="0">
              <a:spcBef>
                <a:spcPts val="1200"/>
              </a:spcBef>
              <a:spcAft>
                <a:spcPts val="0"/>
              </a:spcAft>
              <a:buNone/>
            </a:pPr>
            <a:r>
              <a:rPr lang="en" sz="3320">
                <a:solidFill>
                  <a:srgbClr val="000000"/>
                </a:solidFill>
                <a:latin typeface="Arial"/>
                <a:ea typeface="Arial"/>
                <a:cs typeface="Arial"/>
                <a:sym typeface="Arial"/>
              </a:rPr>
              <a:t>        i. This method </a:t>
            </a:r>
            <a:r>
              <a:rPr lang="en" sz="3320" i="1">
                <a:solidFill>
                  <a:srgbClr val="FF00FF"/>
                </a:solidFill>
                <a:latin typeface="Arial"/>
                <a:ea typeface="Arial"/>
                <a:cs typeface="Arial"/>
                <a:sym typeface="Arial"/>
              </a:rPr>
              <a:t>ignores the time value of money.</a:t>
            </a:r>
            <a:endParaRPr sz="3320" i="1">
              <a:solidFill>
                <a:srgbClr val="FF00FF"/>
              </a:solidFill>
              <a:latin typeface="Arial"/>
              <a:ea typeface="Arial"/>
              <a:cs typeface="Arial"/>
              <a:sym typeface="Arial"/>
            </a:endParaRPr>
          </a:p>
          <a:p>
            <a:pPr marL="0" lvl="0" indent="0" algn="just" rtl="0">
              <a:spcBef>
                <a:spcPts val="1200"/>
              </a:spcBef>
              <a:spcAft>
                <a:spcPts val="0"/>
              </a:spcAft>
              <a:buNone/>
            </a:pPr>
            <a:r>
              <a:rPr lang="en" sz="3320">
                <a:solidFill>
                  <a:srgbClr val="000000"/>
                </a:solidFill>
                <a:latin typeface="Arial"/>
                <a:ea typeface="Arial"/>
                <a:cs typeface="Arial"/>
                <a:sym typeface="Arial"/>
              </a:rPr>
              <a:t>        ii. Like the Payback period, this method also </a:t>
            </a:r>
            <a:r>
              <a:rPr lang="en" sz="3320" i="1">
                <a:solidFill>
                  <a:srgbClr val="FF00FF"/>
                </a:solidFill>
                <a:latin typeface="Arial"/>
                <a:ea typeface="Arial"/>
                <a:cs typeface="Arial"/>
                <a:sym typeface="Arial"/>
              </a:rPr>
              <a:t>ignores risk factors.</a:t>
            </a:r>
            <a:endParaRPr sz="3320" i="1">
              <a:solidFill>
                <a:srgbClr val="FF00FF"/>
              </a:solidFill>
              <a:latin typeface="Arial"/>
              <a:ea typeface="Arial"/>
              <a:cs typeface="Arial"/>
              <a:sym typeface="Arial"/>
            </a:endParaRPr>
          </a:p>
          <a:p>
            <a:pPr marL="0" lvl="0" indent="0" algn="just" rtl="0">
              <a:spcBef>
                <a:spcPts val="1200"/>
              </a:spcBef>
              <a:spcAft>
                <a:spcPts val="0"/>
              </a:spcAft>
              <a:buNone/>
            </a:pPr>
            <a:r>
              <a:rPr lang="en" sz="3320">
                <a:solidFill>
                  <a:srgbClr val="000000"/>
                </a:solidFill>
                <a:latin typeface="Arial"/>
                <a:ea typeface="Arial"/>
                <a:cs typeface="Arial"/>
                <a:sym typeface="Arial"/>
              </a:rPr>
              <a:t>       iii. This method ignores the size of the investment. Sometimes ARR may be the same for different projects but some of them may involve huge cash flows.</a:t>
            </a:r>
            <a:endParaRPr sz="3320">
              <a:solidFill>
                <a:srgbClr val="000000"/>
              </a:solidFill>
              <a:latin typeface="Arial"/>
              <a:ea typeface="Arial"/>
              <a:cs typeface="Arial"/>
              <a:sym typeface="Arial"/>
            </a:endParaRPr>
          </a:p>
          <a:p>
            <a:pPr marL="0" lvl="0" indent="0" algn="just" rtl="0">
              <a:spcBef>
                <a:spcPts val="1200"/>
              </a:spcBef>
              <a:spcAft>
                <a:spcPts val="0"/>
              </a:spcAft>
              <a:buNone/>
            </a:pPr>
            <a:r>
              <a:rPr lang="en" sz="3320">
                <a:solidFill>
                  <a:srgbClr val="000000"/>
                </a:solidFill>
                <a:latin typeface="Arial"/>
                <a:ea typeface="Arial"/>
                <a:cs typeface="Arial"/>
                <a:sym typeface="Arial"/>
              </a:rPr>
              <a:t>         iv. It does not consider the </a:t>
            </a:r>
            <a:r>
              <a:rPr lang="en" sz="3320" i="1">
                <a:solidFill>
                  <a:srgbClr val="FF00FF"/>
                </a:solidFill>
                <a:latin typeface="Arial"/>
                <a:ea typeface="Arial"/>
                <a:cs typeface="Arial"/>
                <a:sym typeface="Arial"/>
              </a:rPr>
              <a:t>length of life of the projects.</a:t>
            </a:r>
            <a:endParaRPr sz="3320" i="1">
              <a:solidFill>
                <a:srgbClr val="FF00FF"/>
              </a:solidFill>
              <a:latin typeface="Arial"/>
              <a:ea typeface="Arial"/>
              <a:cs typeface="Arial"/>
              <a:sym typeface="Arial"/>
            </a:endParaRPr>
          </a:p>
          <a:p>
            <a:pPr marL="0" lvl="0" indent="0" algn="l" rtl="0">
              <a:spcBef>
                <a:spcPts val="0"/>
              </a:spcBef>
              <a:spcAft>
                <a:spcPts val="1200"/>
              </a:spcAft>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28"/>
        <p:cNvGrpSpPr/>
        <p:nvPr/>
      </p:nvGrpSpPr>
      <p:grpSpPr>
        <a:xfrm>
          <a:off x="0" y="0"/>
          <a:ext cx="0" cy="0"/>
          <a:chOff x="0" y="0"/>
          <a:chExt cx="0" cy="0"/>
        </a:xfrm>
      </p:grpSpPr>
      <p:sp>
        <p:nvSpPr>
          <p:cNvPr id="229" name="Google Shape;229;p28"/>
          <p:cNvSpPr txBox="1">
            <a:spLocks noGrp="1"/>
          </p:cNvSpPr>
          <p:nvPr>
            <p:ph type="title"/>
          </p:nvPr>
        </p:nvSpPr>
        <p:spPr>
          <a:xfrm>
            <a:off x="269875" y="375700"/>
            <a:ext cx="8582100" cy="674100"/>
          </a:xfrm>
          <a:prstGeom prst="rect">
            <a:avLst/>
          </a:prstGeom>
          <a:solidFill>
            <a:srgbClr val="F1C232"/>
          </a:solidFill>
          <a:ln w="38100" cap="flat" cmpd="sng">
            <a:solidFill>
              <a:srgbClr val="00B050"/>
            </a:solidFill>
            <a:prstDash val="solid"/>
            <a:round/>
            <a:headEnd type="none" w="sm" len="sm"/>
            <a:tailEnd type="none" w="sm" len="sm"/>
          </a:ln>
        </p:spPr>
        <p:txBody>
          <a:bodyPr spcFirstLastPara="1" wrap="square" lIns="91425" tIns="91425" rIns="91425" bIns="91425" anchor="t" anchorCtr="0">
            <a:normAutofit fontScale="90000"/>
          </a:bodyPr>
          <a:lstStyle/>
          <a:p>
            <a:pPr marL="0" lvl="0" indent="0" algn="just" rtl="0">
              <a:lnSpc>
                <a:spcPct val="115000"/>
              </a:lnSpc>
              <a:spcBef>
                <a:spcPts val="1200"/>
              </a:spcBef>
              <a:spcAft>
                <a:spcPts val="0"/>
              </a:spcAft>
              <a:buNone/>
            </a:pPr>
            <a:r>
              <a:rPr lang="en" sz="2650" b="1">
                <a:solidFill>
                  <a:srgbClr val="FF0000"/>
                </a:solidFill>
                <a:latin typeface="Arial"/>
                <a:ea typeface="Arial"/>
                <a:cs typeface="Arial"/>
                <a:sym typeface="Arial"/>
              </a:rPr>
              <a:t>Slide 11: Net Present Value Method:</a:t>
            </a:r>
            <a:endParaRPr sz="2650" b="1">
              <a:solidFill>
                <a:srgbClr val="FF0000"/>
              </a:solidFill>
              <a:latin typeface="Arial"/>
              <a:ea typeface="Arial"/>
              <a:cs typeface="Arial"/>
              <a:sym typeface="Arial"/>
            </a:endParaRPr>
          </a:p>
          <a:p>
            <a:pPr marL="0" lvl="0" indent="0" algn="l" rtl="0">
              <a:spcBef>
                <a:spcPts val="0"/>
              </a:spcBef>
              <a:spcAft>
                <a:spcPts val="0"/>
              </a:spcAft>
              <a:buNone/>
            </a:pPr>
            <a:endParaRPr/>
          </a:p>
        </p:txBody>
      </p:sp>
      <p:sp>
        <p:nvSpPr>
          <p:cNvPr id="230" name="Google Shape;230;p28"/>
          <p:cNvSpPr txBox="1">
            <a:spLocks noGrp="1"/>
          </p:cNvSpPr>
          <p:nvPr>
            <p:ph type="body" idx="1"/>
          </p:nvPr>
        </p:nvSpPr>
        <p:spPr>
          <a:xfrm>
            <a:off x="269850" y="1189575"/>
            <a:ext cx="8582100" cy="3600300"/>
          </a:xfrm>
          <a:prstGeom prst="rect">
            <a:avLst/>
          </a:prstGeom>
          <a:ln w="38100" cap="flat" cmpd="sng">
            <a:solidFill>
              <a:srgbClr val="FF0000"/>
            </a:solidFill>
            <a:prstDash val="solid"/>
            <a:round/>
            <a:headEnd type="none" w="sm" len="sm"/>
            <a:tailEnd type="none" w="sm" len="sm"/>
          </a:ln>
        </p:spPr>
        <p:txBody>
          <a:bodyPr spcFirstLastPara="1" wrap="square" lIns="91425" tIns="91425" rIns="91425" bIns="91425" anchor="t" anchorCtr="0">
            <a:normAutofit fontScale="25000" lnSpcReduction="20000"/>
          </a:bodyPr>
          <a:lstStyle/>
          <a:p>
            <a:pPr marL="0" lvl="0" indent="0" algn="just" rtl="0">
              <a:spcBef>
                <a:spcPts val="1200"/>
              </a:spcBef>
              <a:spcAft>
                <a:spcPts val="0"/>
              </a:spcAft>
              <a:buNone/>
            </a:pPr>
            <a:endParaRPr sz="5600" b="1">
              <a:solidFill>
                <a:srgbClr val="FF0000"/>
              </a:solidFill>
              <a:latin typeface="Arial"/>
              <a:ea typeface="Arial"/>
              <a:cs typeface="Arial"/>
              <a:sym typeface="Arial"/>
            </a:endParaRPr>
          </a:p>
          <a:p>
            <a:pPr marL="0" lvl="0" indent="0" algn="just" rtl="0">
              <a:spcBef>
                <a:spcPts val="0"/>
              </a:spcBef>
              <a:spcAft>
                <a:spcPts val="0"/>
              </a:spcAft>
              <a:buNone/>
            </a:pPr>
            <a:r>
              <a:rPr lang="en" sz="5600">
                <a:solidFill>
                  <a:srgbClr val="000000"/>
                </a:solidFill>
                <a:latin typeface="Arial"/>
                <a:ea typeface="Arial"/>
                <a:cs typeface="Arial"/>
                <a:sym typeface="Arial"/>
              </a:rPr>
              <a:t>          I. The NPV method is a discounted cash flow technique.</a:t>
            </a:r>
            <a:endParaRPr sz="5600">
              <a:solidFill>
                <a:srgbClr val="000000"/>
              </a:solidFill>
              <a:latin typeface="Arial"/>
              <a:ea typeface="Arial"/>
              <a:cs typeface="Arial"/>
              <a:sym typeface="Arial"/>
            </a:endParaRPr>
          </a:p>
          <a:p>
            <a:pPr marL="406400" lvl="0" indent="-165100" algn="just" rtl="0">
              <a:spcBef>
                <a:spcPts val="0"/>
              </a:spcBef>
              <a:spcAft>
                <a:spcPts val="0"/>
              </a:spcAft>
              <a:buNone/>
            </a:pPr>
            <a:r>
              <a:rPr lang="en" sz="5600">
                <a:solidFill>
                  <a:srgbClr val="000000"/>
                </a:solidFill>
                <a:latin typeface="Arial"/>
                <a:ea typeface="Arial"/>
                <a:cs typeface="Arial"/>
                <a:sym typeface="Arial"/>
              </a:rPr>
              <a:t>    II. This method compares cash inflows and cash outflows occurring at different periods.</a:t>
            </a:r>
            <a:endParaRPr sz="5600">
              <a:solidFill>
                <a:srgbClr val="000000"/>
              </a:solidFill>
              <a:latin typeface="Arial"/>
              <a:ea typeface="Arial"/>
              <a:cs typeface="Arial"/>
              <a:sym typeface="Arial"/>
            </a:endParaRPr>
          </a:p>
          <a:p>
            <a:pPr marL="406400" lvl="0" indent="-165100" algn="just" rtl="0">
              <a:spcBef>
                <a:spcPts val="0"/>
              </a:spcBef>
              <a:spcAft>
                <a:spcPts val="0"/>
              </a:spcAft>
              <a:buNone/>
            </a:pPr>
            <a:r>
              <a:rPr lang="en" sz="5600">
                <a:solidFill>
                  <a:srgbClr val="000000"/>
                </a:solidFill>
                <a:latin typeface="Arial"/>
                <a:ea typeface="Arial"/>
                <a:cs typeface="Arial"/>
                <a:sym typeface="Arial"/>
              </a:rPr>
              <a:t>  III.The major characteristic of this method is that it takes into account the time value of money and all cash inflows and outflows are converted to present value.</a:t>
            </a:r>
            <a:endParaRPr sz="5600">
              <a:solidFill>
                <a:srgbClr val="000000"/>
              </a:solidFill>
              <a:latin typeface="Arial"/>
              <a:ea typeface="Arial"/>
              <a:cs typeface="Arial"/>
              <a:sym typeface="Arial"/>
            </a:endParaRPr>
          </a:p>
          <a:p>
            <a:pPr marL="0" lvl="0" indent="0" algn="just" rtl="0">
              <a:spcBef>
                <a:spcPts val="1200"/>
              </a:spcBef>
              <a:spcAft>
                <a:spcPts val="0"/>
              </a:spcAft>
              <a:buNone/>
            </a:pPr>
            <a:r>
              <a:rPr lang="en" sz="5600" b="1">
                <a:solidFill>
                  <a:srgbClr val="000000"/>
                </a:solidFill>
                <a:latin typeface="Arial"/>
                <a:ea typeface="Arial"/>
                <a:cs typeface="Arial"/>
                <a:sym typeface="Arial"/>
              </a:rPr>
              <a:t> 	</a:t>
            </a:r>
            <a:r>
              <a:rPr lang="en" sz="7200" b="1">
                <a:solidFill>
                  <a:schemeClr val="accent6"/>
                </a:solidFill>
                <a:latin typeface="Arial"/>
                <a:ea typeface="Arial"/>
                <a:cs typeface="Arial"/>
                <a:sym typeface="Arial"/>
              </a:rPr>
              <a:t>NPV </a:t>
            </a:r>
            <a:r>
              <a:rPr lang="en" sz="7200">
                <a:solidFill>
                  <a:schemeClr val="accent6"/>
                </a:solidFill>
                <a:latin typeface="Arial"/>
                <a:ea typeface="Arial"/>
                <a:cs typeface="Arial"/>
                <a:sym typeface="Arial"/>
              </a:rPr>
              <a:t>= Present value of all cash inflows </a:t>
            </a:r>
            <a:r>
              <a:rPr lang="en" sz="7200" b="1">
                <a:solidFill>
                  <a:schemeClr val="accent6"/>
                </a:solidFill>
                <a:latin typeface="Arial"/>
                <a:ea typeface="Arial"/>
                <a:cs typeface="Arial"/>
                <a:sym typeface="Arial"/>
              </a:rPr>
              <a:t>– </a:t>
            </a:r>
            <a:r>
              <a:rPr lang="en" sz="7200">
                <a:solidFill>
                  <a:schemeClr val="accent6"/>
                </a:solidFill>
                <a:latin typeface="Arial"/>
                <a:ea typeface="Arial"/>
                <a:cs typeface="Arial"/>
                <a:sym typeface="Arial"/>
              </a:rPr>
              <a:t>Present value of cash outflow</a:t>
            </a:r>
            <a:endParaRPr sz="7200">
              <a:solidFill>
                <a:schemeClr val="accent6"/>
              </a:solidFill>
              <a:latin typeface="Arial"/>
              <a:ea typeface="Arial"/>
              <a:cs typeface="Arial"/>
              <a:sym typeface="Arial"/>
            </a:endParaRPr>
          </a:p>
          <a:p>
            <a:pPr marL="0" lvl="0" indent="0" algn="just" rtl="0">
              <a:spcBef>
                <a:spcPts val="1200"/>
              </a:spcBef>
              <a:spcAft>
                <a:spcPts val="0"/>
              </a:spcAft>
              <a:buNone/>
            </a:pPr>
            <a:r>
              <a:rPr lang="en" sz="7200" b="1">
                <a:solidFill>
                  <a:srgbClr val="FF0000"/>
                </a:solidFill>
                <a:latin typeface="Arial"/>
                <a:ea typeface="Arial"/>
                <a:cs typeface="Arial"/>
                <a:sym typeface="Arial"/>
              </a:rPr>
              <a:t>     Decision Criteria:</a:t>
            </a:r>
            <a:endParaRPr sz="7200" b="1">
              <a:solidFill>
                <a:srgbClr val="FF0000"/>
              </a:solidFill>
              <a:latin typeface="Arial"/>
              <a:ea typeface="Arial"/>
              <a:cs typeface="Arial"/>
              <a:sym typeface="Arial"/>
            </a:endParaRPr>
          </a:p>
          <a:p>
            <a:pPr marL="342900" lvl="0" indent="-114300" algn="just" rtl="0">
              <a:spcBef>
                <a:spcPts val="0"/>
              </a:spcBef>
              <a:spcAft>
                <a:spcPts val="0"/>
              </a:spcAft>
              <a:buNone/>
            </a:pPr>
            <a:r>
              <a:rPr lang="en" sz="4300">
                <a:solidFill>
                  <a:srgbClr val="00B050"/>
                </a:solidFill>
                <a:latin typeface="Arial"/>
                <a:ea typeface="Arial"/>
                <a:cs typeface="Arial"/>
                <a:sym typeface="Arial"/>
              </a:rPr>
              <a:t>   1. </a:t>
            </a:r>
            <a:r>
              <a:rPr lang="en" sz="5600">
                <a:solidFill>
                  <a:srgbClr val="00B050"/>
                </a:solidFill>
                <a:latin typeface="Arial"/>
                <a:ea typeface="Arial"/>
                <a:cs typeface="Arial"/>
                <a:sym typeface="Arial"/>
              </a:rPr>
              <a:t> If there is only one project under consideration:</a:t>
            </a:r>
            <a:endParaRPr sz="5600">
              <a:solidFill>
                <a:srgbClr val="00B050"/>
              </a:solidFill>
              <a:latin typeface="Arial"/>
              <a:ea typeface="Arial"/>
              <a:cs typeface="Arial"/>
              <a:sym typeface="Arial"/>
            </a:endParaRPr>
          </a:p>
          <a:p>
            <a:pPr marL="342900" lvl="0" indent="-114300" algn="just" rtl="0">
              <a:spcBef>
                <a:spcPts val="0"/>
              </a:spcBef>
              <a:spcAft>
                <a:spcPts val="0"/>
              </a:spcAft>
              <a:buNone/>
            </a:pPr>
            <a:endParaRPr sz="5600">
              <a:solidFill>
                <a:srgbClr val="000000"/>
              </a:solidFill>
              <a:latin typeface="Arial"/>
              <a:ea typeface="Arial"/>
              <a:cs typeface="Arial"/>
              <a:sym typeface="Arial"/>
            </a:endParaRPr>
          </a:p>
          <a:p>
            <a:pPr marL="342900" lvl="0" indent="0" algn="just" rtl="0">
              <a:spcBef>
                <a:spcPts val="0"/>
              </a:spcBef>
              <a:spcAft>
                <a:spcPts val="0"/>
              </a:spcAft>
              <a:buNone/>
            </a:pPr>
            <a:r>
              <a:rPr lang="en" sz="5600">
                <a:solidFill>
                  <a:srgbClr val="000000"/>
                </a:solidFill>
                <a:latin typeface="Arial"/>
                <a:ea typeface="Arial"/>
                <a:cs typeface="Arial"/>
                <a:sym typeface="Arial"/>
              </a:rPr>
              <a:t>    If NPV is positive …………………  Accept</a:t>
            </a:r>
            <a:endParaRPr sz="5600">
              <a:solidFill>
                <a:srgbClr val="000000"/>
              </a:solidFill>
              <a:latin typeface="Arial"/>
              <a:ea typeface="Arial"/>
              <a:cs typeface="Arial"/>
              <a:sym typeface="Arial"/>
            </a:endParaRPr>
          </a:p>
          <a:p>
            <a:pPr marL="342900" lvl="0" indent="0" algn="just" rtl="0">
              <a:spcBef>
                <a:spcPts val="0"/>
              </a:spcBef>
              <a:spcAft>
                <a:spcPts val="0"/>
              </a:spcAft>
              <a:buNone/>
            </a:pPr>
            <a:r>
              <a:rPr lang="en" sz="5600">
                <a:solidFill>
                  <a:srgbClr val="000000"/>
                </a:solidFill>
                <a:latin typeface="Arial"/>
                <a:ea typeface="Arial"/>
                <a:cs typeface="Arial"/>
                <a:sym typeface="Arial"/>
              </a:rPr>
              <a:t>    If NPV is negative ………………..  Reject</a:t>
            </a:r>
            <a:endParaRPr sz="5600">
              <a:solidFill>
                <a:srgbClr val="000000"/>
              </a:solidFill>
              <a:latin typeface="Arial"/>
              <a:ea typeface="Arial"/>
              <a:cs typeface="Arial"/>
              <a:sym typeface="Arial"/>
            </a:endParaRPr>
          </a:p>
          <a:p>
            <a:pPr marL="342900" lvl="0" indent="0" algn="just" rtl="0">
              <a:spcBef>
                <a:spcPts val="0"/>
              </a:spcBef>
              <a:spcAft>
                <a:spcPts val="0"/>
              </a:spcAft>
              <a:buNone/>
            </a:pPr>
            <a:r>
              <a:rPr lang="en" sz="5600">
                <a:solidFill>
                  <a:srgbClr val="000000"/>
                </a:solidFill>
                <a:latin typeface="Arial"/>
                <a:ea typeface="Arial"/>
                <a:cs typeface="Arial"/>
                <a:sym typeface="Arial"/>
              </a:rPr>
              <a:t>    If NPV is zero ………………………Indifferent</a:t>
            </a:r>
            <a:endParaRPr sz="5600">
              <a:solidFill>
                <a:srgbClr val="000000"/>
              </a:solidFill>
              <a:latin typeface="Arial"/>
              <a:ea typeface="Arial"/>
              <a:cs typeface="Arial"/>
              <a:sym typeface="Arial"/>
            </a:endParaRPr>
          </a:p>
          <a:p>
            <a:pPr marL="0" lvl="0" indent="0" algn="just" rtl="0">
              <a:spcBef>
                <a:spcPts val="1200"/>
              </a:spcBef>
              <a:spcAft>
                <a:spcPts val="0"/>
              </a:spcAft>
              <a:buNone/>
            </a:pPr>
            <a:r>
              <a:rPr lang="en" sz="5600">
                <a:solidFill>
                  <a:srgbClr val="000000"/>
                </a:solidFill>
                <a:latin typeface="Arial"/>
                <a:ea typeface="Arial"/>
                <a:cs typeface="Arial"/>
                <a:sym typeface="Arial"/>
              </a:rPr>
              <a:t>      </a:t>
            </a:r>
            <a:r>
              <a:rPr lang="en" sz="5600">
                <a:solidFill>
                  <a:srgbClr val="00B050"/>
                </a:solidFill>
                <a:latin typeface="Arial"/>
                <a:ea typeface="Arial"/>
                <a:cs typeface="Arial"/>
                <a:sym typeface="Arial"/>
              </a:rPr>
              <a:t> 2. If there are more than one project, the project with a higher NPV should be selected</a:t>
            </a:r>
            <a:endParaRPr sz="5600">
              <a:solidFill>
                <a:srgbClr val="00B050"/>
              </a:solidFill>
              <a:latin typeface="Arial"/>
              <a:ea typeface="Arial"/>
              <a:cs typeface="Arial"/>
              <a:sym typeface="Arial"/>
            </a:endParaRPr>
          </a:p>
          <a:p>
            <a:pPr marL="0" lvl="0" indent="0" algn="l" rtl="0">
              <a:spcBef>
                <a:spcPts val="0"/>
              </a:spcBef>
              <a:spcAft>
                <a:spcPts val="1200"/>
              </a:spcAft>
              <a:buNone/>
            </a:pPr>
            <a:endParaRPr sz="5600"/>
          </a:p>
        </p:txBody>
      </p:sp>
      <p:sp>
        <p:nvSpPr>
          <p:cNvPr id="231" name="Google Shape;231;p28"/>
          <p:cNvSpPr txBox="1"/>
          <p:nvPr/>
        </p:nvSpPr>
        <p:spPr>
          <a:xfrm>
            <a:off x="6346825" y="2101850"/>
            <a:ext cx="2806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5"/>
        <p:cNvGrpSpPr/>
        <p:nvPr/>
      </p:nvGrpSpPr>
      <p:grpSpPr>
        <a:xfrm>
          <a:off x="0" y="0"/>
          <a:ext cx="0" cy="0"/>
          <a:chOff x="0" y="0"/>
          <a:chExt cx="0" cy="0"/>
        </a:xfrm>
      </p:grpSpPr>
      <p:sp>
        <p:nvSpPr>
          <p:cNvPr id="236" name="Google Shape;236;p29"/>
          <p:cNvSpPr txBox="1">
            <a:spLocks noGrp="1"/>
          </p:cNvSpPr>
          <p:nvPr>
            <p:ph type="title"/>
          </p:nvPr>
        </p:nvSpPr>
        <p:spPr>
          <a:xfrm>
            <a:off x="359825" y="325975"/>
            <a:ext cx="8432700" cy="622200"/>
          </a:xfrm>
          <a:prstGeom prst="rect">
            <a:avLst/>
          </a:prstGeom>
          <a:solidFill>
            <a:srgbClr val="F1C232"/>
          </a:solidFill>
          <a:ln w="38100" cap="flat" cmpd="sng">
            <a:solidFill>
              <a:srgbClr val="00B050"/>
            </a:solidFill>
            <a:prstDash val="solid"/>
            <a:round/>
            <a:headEnd type="none" w="sm" len="sm"/>
            <a:tailEnd type="none" w="sm" len="sm"/>
          </a:ln>
        </p:spPr>
        <p:txBody>
          <a:bodyPr spcFirstLastPara="1" wrap="square" lIns="91425" tIns="91425" rIns="91425" bIns="91425" anchor="t" anchorCtr="0">
            <a:normAutofit fontScale="90000"/>
          </a:bodyPr>
          <a:lstStyle/>
          <a:p>
            <a:pPr marL="0" lvl="0" indent="0" algn="just" rtl="0">
              <a:lnSpc>
                <a:spcPct val="115000"/>
              </a:lnSpc>
              <a:spcBef>
                <a:spcPts val="1200"/>
              </a:spcBef>
              <a:spcAft>
                <a:spcPts val="0"/>
              </a:spcAft>
              <a:buNone/>
            </a:pPr>
            <a:r>
              <a:rPr lang="en" sz="2000" b="1">
                <a:solidFill>
                  <a:srgbClr val="FF0000"/>
                </a:solidFill>
                <a:latin typeface="Arial"/>
                <a:ea typeface="Arial"/>
                <a:cs typeface="Arial"/>
                <a:sym typeface="Arial"/>
              </a:rPr>
              <a:t>Slide 12: Merits and Demerits of Net Present Value Method</a:t>
            </a:r>
            <a:endParaRPr sz="2000" b="1">
              <a:solidFill>
                <a:srgbClr val="FF0000"/>
              </a:solidFill>
              <a:latin typeface="Arial"/>
              <a:ea typeface="Arial"/>
              <a:cs typeface="Arial"/>
              <a:sym typeface="Arial"/>
            </a:endParaRPr>
          </a:p>
          <a:p>
            <a:pPr marL="0" lvl="0" indent="0" algn="l" rtl="0">
              <a:spcBef>
                <a:spcPts val="0"/>
              </a:spcBef>
              <a:spcAft>
                <a:spcPts val="0"/>
              </a:spcAft>
              <a:buNone/>
            </a:pPr>
            <a:endParaRPr/>
          </a:p>
        </p:txBody>
      </p:sp>
      <p:sp>
        <p:nvSpPr>
          <p:cNvPr id="237" name="Google Shape;237;p29"/>
          <p:cNvSpPr txBox="1">
            <a:spLocks noGrp="1"/>
          </p:cNvSpPr>
          <p:nvPr>
            <p:ph type="body" idx="1"/>
          </p:nvPr>
        </p:nvSpPr>
        <p:spPr>
          <a:xfrm>
            <a:off x="359700" y="1177025"/>
            <a:ext cx="8432700" cy="3615300"/>
          </a:xfrm>
          <a:prstGeom prst="rect">
            <a:avLst/>
          </a:prstGeom>
          <a:ln w="38100" cap="flat" cmpd="sng">
            <a:solidFill>
              <a:srgbClr val="FF0000"/>
            </a:solidFill>
            <a:prstDash val="solid"/>
            <a:round/>
            <a:headEnd type="none" w="sm" len="sm"/>
            <a:tailEnd type="none" w="sm" len="sm"/>
          </a:ln>
        </p:spPr>
        <p:txBody>
          <a:bodyPr spcFirstLastPara="1" wrap="square" lIns="91425" tIns="91425" rIns="91425" bIns="91425" anchor="t" anchorCtr="0">
            <a:normAutofit fontScale="32500" lnSpcReduction="10000"/>
          </a:bodyPr>
          <a:lstStyle/>
          <a:p>
            <a:pPr marL="0" lvl="0" indent="0" algn="just" rtl="0">
              <a:spcBef>
                <a:spcPts val="1200"/>
              </a:spcBef>
              <a:spcAft>
                <a:spcPts val="0"/>
              </a:spcAft>
              <a:buNone/>
            </a:pPr>
            <a:r>
              <a:rPr lang="en" sz="4500">
                <a:solidFill>
                  <a:srgbClr val="FF0000"/>
                </a:solidFill>
                <a:latin typeface="Nunito Black"/>
                <a:ea typeface="Nunito Black"/>
                <a:cs typeface="Nunito Black"/>
                <a:sym typeface="Nunito Black"/>
              </a:rPr>
              <a:t> </a:t>
            </a:r>
            <a:r>
              <a:rPr lang="en" sz="4807">
                <a:solidFill>
                  <a:srgbClr val="FF0000"/>
                </a:solidFill>
                <a:latin typeface="Nunito Black"/>
                <a:ea typeface="Nunito Black"/>
                <a:cs typeface="Nunito Black"/>
                <a:sym typeface="Nunito Black"/>
              </a:rPr>
              <a:t>  Merits of Net Present Value Method:</a:t>
            </a:r>
            <a:endParaRPr sz="2507">
              <a:solidFill>
                <a:srgbClr val="000000"/>
              </a:solidFill>
              <a:latin typeface="Arial"/>
              <a:ea typeface="Arial"/>
              <a:cs typeface="Arial"/>
              <a:sym typeface="Arial"/>
            </a:endParaRPr>
          </a:p>
          <a:p>
            <a:pPr marL="406400" lvl="0" indent="-114300" algn="just" rtl="0">
              <a:spcBef>
                <a:spcPts val="0"/>
              </a:spcBef>
              <a:spcAft>
                <a:spcPts val="0"/>
              </a:spcAft>
              <a:buNone/>
            </a:pPr>
            <a:endParaRPr sz="2815">
              <a:solidFill>
                <a:srgbClr val="000000"/>
              </a:solidFill>
              <a:latin typeface="Arial"/>
              <a:ea typeface="Arial"/>
              <a:cs typeface="Arial"/>
              <a:sym typeface="Arial"/>
            </a:endParaRPr>
          </a:p>
          <a:p>
            <a:pPr marL="406400" lvl="0" indent="-114300" algn="just" rtl="0">
              <a:spcBef>
                <a:spcPts val="0"/>
              </a:spcBef>
              <a:spcAft>
                <a:spcPts val="0"/>
              </a:spcAft>
              <a:buNone/>
            </a:pPr>
            <a:r>
              <a:rPr lang="en" sz="2815">
                <a:solidFill>
                  <a:srgbClr val="000000"/>
                </a:solidFill>
                <a:latin typeface="Arial"/>
                <a:ea typeface="Arial"/>
                <a:cs typeface="Arial"/>
                <a:sym typeface="Arial"/>
              </a:rPr>
              <a:t>i.   This method recognizes the </a:t>
            </a:r>
            <a:r>
              <a:rPr lang="en" sz="2815" i="1">
                <a:solidFill>
                  <a:srgbClr val="00FF00"/>
                </a:solidFill>
                <a:latin typeface="Arial"/>
                <a:ea typeface="Arial"/>
                <a:cs typeface="Arial"/>
                <a:sym typeface="Arial"/>
              </a:rPr>
              <a:t>time value of money</a:t>
            </a:r>
            <a:r>
              <a:rPr lang="en" sz="2815" i="1">
                <a:solidFill>
                  <a:srgbClr val="000000"/>
                </a:solidFill>
                <a:latin typeface="Arial"/>
                <a:ea typeface="Arial"/>
                <a:cs typeface="Arial"/>
                <a:sym typeface="Arial"/>
              </a:rPr>
              <a:t>.</a:t>
            </a:r>
            <a:r>
              <a:rPr lang="en" sz="2815">
                <a:solidFill>
                  <a:srgbClr val="000000"/>
                </a:solidFill>
                <a:latin typeface="Arial"/>
                <a:ea typeface="Arial"/>
                <a:cs typeface="Arial"/>
                <a:sym typeface="Arial"/>
              </a:rPr>
              <a:t> Cash inflows arising at different time intervals are discounted to present values.</a:t>
            </a:r>
            <a:endParaRPr sz="2815">
              <a:solidFill>
                <a:srgbClr val="000000"/>
              </a:solidFill>
              <a:latin typeface="Arial"/>
              <a:ea typeface="Arial"/>
              <a:cs typeface="Arial"/>
              <a:sym typeface="Arial"/>
            </a:endParaRPr>
          </a:p>
          <a:p>
            <a:pPr marL="0" lvl="0" indent="0" algn="just" rtl="0">
              <a:spcBef>
                <a:spcPts val="0"/>
              </a:spcBef>
              <a:spcAft>
                <a:spcPts val="0"/>
              </a:spcAft>
              <a:buNone/>
            </a:pPr>
            <a:endParaRPr sz="2815">
              <a:solidFill>
                <a:srgbClr val="000000"/>
              </a:solidFill>
              <a:latin typeface="Arial"/>
              <a:ea typeface="Arial"/>
              <a:cs typeface="Arial"/>
              <a:sym typeface="Arial"/>
            </a:endParaRPr>
          </a:p>
          <a:p>
            <a:pPr marL="406400" lvl="0" indent="-114300" algn="just" rtl="0">
              <a:spcBef>
                <a:spcPts val="0"/>
              </a:spcBef>
              <a:spcAft>
                <a:spcPts val="0"/>
              </a:spcAft>
              <a:buNone/>
            </a:pPr>
            <a:r>
              <a:rPr lang="en" sz="2815">
                <a:solidFill>
                  <a:srgbClr val="000000"/>
                </a:solidFill>
                <a:latin typeface="Arial"/>
                <a:ea typeface="Arial"/>
                <a:cs typeface="Arial"/>
                <a:sym typeface="Arial"/>
              </a:rPr>
              <a:t>iI.    This method recognizes the risk involved in the project with the help of discounting rate.</a:t>
            </a:r>
            <a:endParaRPr sz="2815">
              <a:solidFill>
                <a:srgbClr val="000000"/>
              </a:solidFill>
              <a:latin typeface="Arial"/>
              <a:ea typeface="Arial"/>
              <a:cs typeface="Arial"/>
              <a:sym typeface="Arial"/>
            </a:endParaRPr>
          </a:p>
          <a:p>
            <a:pPr marL="0" lvl="0" indent="0" algn="just" rtl="0">
              <a:spcBef>
                <a:spcPts val="0"/>
              </a:spcBef>
              <a:spcAft>
                <a:spcPts val="0"/>
              </a:spcAft>
              <a:buNone/>
            </a:pPr>
            <a:endParaRPr sz="2815">
              <a:solidFill>
                <a:srgbClr val="000000"/>
              </a:solidFill>
              <a:highlight>
                <a:schemeClr val="dk1"/>
              </a:highlight>
              <a:latin typeface="Arial"/>
              <a:ea typeface="Arial"/>
              <a:cs typeface="Arial"/>
              <a:sym typeface="Arial"/>
            </a:endParaRPr>
          </a:p>
          <a:p>
            <a:pPr marL="406400" lvl="0" indent="-114300" algn="just" rtl="0">
              <a:spcBef>
                <a:spcPts val="0"/>
              </a:spcBef>
              <a:spcAft>
                <a:spcPts val="0"/>
              </a:spcAft>
              <a:buNone/>
            </a:pPr>
            <a:r>
              <a:rPr lang="en" sz="2815">
                <a:solidFill>
                  <a:srgbClr val="000000"/>
                </a:solidFill>
                <a:latin typeface="Arial"/>
                <a:ea typeface="Arial"/>
                <a:cs typeface="Arial"/>
                <a:sym typeface="Arial"/>
              </a:rPr>
              <a:t>iii.  This method is </a:t>
            </a:r>
            <a:r>
              <a:rPr lang="en" sz="2815" i="1">
                <a:solidFill>
                  <a:srgbClr val="000000"/>
                </a:solidFill>
                <a:latin typeface="Arial"/>
                <a:ea typeface="Arial"/>
                <a:cs typeface="Arial"/>
                <a:sym typeface="Arial"/>
              </a:rPr>
              <a:t>best for mutually exclusive projects</a:t>
            </a:r>
            <a:r>
              <a:rPr lang="en" sz="2815">
                <a:solidFill>
                  <a:srgbClr val="000000"/>
                </a:solidFill>
                <a:latin typeface="Arial"/>
                <a:ea typeface="Arial"/>
                <a:cs typeface="Arial"/>
                <a:sym typeface="Arial"/>
              </a:rPr>
              <a:t> where only one project is to be selected among many.</a:t>
            </a:r>
            <a:endParaRPr sz="2815">
              <a:solidFill>
                <a:srgbClr val="000000"/>
              </a:solidFill>
              <a:latin typeface="Arial"/>
              <a:ea typeface="Arial"/>
              <a:cs typeface="Arial"/>
              <a:sym typeface="Arial"/>
            </a:endParaRPr>
          </a:p>
          <a:p>
            <a:pPr marL="406400" lvl="0" indent="-114300" algn="just" rtl="0">
              <a:spcBef>
                <a:spcPts val="0"/>
              </a:spcBef>
              <a:spcAft>
                <a:spcPts val="0"/>
              </a:spcAft>
              <a:buNone/>
            </a:pPr>
            <a:endParaRPr sz="2815">
              <a:solidFill>
                <a:srgbClr val="000000"/>
              </a:solidFill>
              <a:latin typeface="Arial"/>
              <a:ea typeface="Arial"/>
              <a:cs typeface="Arial"/>
              <a:sym typeface="Arial"/>
            </a:endParaRPr>
          </a:p>
          <a:p>
            <a:pPr marL="406400" lvl="0" indent="-114300" algn="just" rtl="0">
              <a:spcBef>
                <a:spcPts val="0"/>
              </a:spcBef>
              <a:spcAft>
                <a:spcPts val="0"/>
              </a:spcAft>
              <a:buNone/>
            </a:pPr>
            <a:r>
              <a:rPr lang="en" sz="2815">
                <a:solidFill>
                  <a:srgbClr val="000000"/>
                </a:solidFill>
                <a:latin typeface="Arial"/>
                <a:ea typeface="Arial"/>
                <a:cs typeface="Arial"/>
                <a:sym typeface="Arial"/>
              </a:rPr>
              <a:t>iv.  This method is considered </a:t>
            </a:r>
            <a:r>
              <a:rPr lang="en" sz="2815" i="1">
                <a:solidFill>
                  <a:srgbClr val="000000"/>
                </a:solidFill>
                <a:latin typeface="Arial"/>
                <a:ea typeface="Arial"/>
                <a:cs typeface="Arial"/>
                <a:sym typeface="Arial"/>
              </a:rPr>
              <a:t>best for the wealth maximization </a:t>
            </a:r>
            <a:r>
              <a:rPr lang="en" sz="2815">
                <a:solidFill>
                  <a:srgbClr val="000000"/>
                </a:solidFill>
                <a:latin typeface="Arial"/>
                <a:ea typeface="Arial"/>
                <a:cs typeface="Arial"/>
                <a:sym typeface="Arial"/>
              </a:rPr>
              <a:t>of shareholders as it is based on cash inflows rather than accounting profit.</a:t>
            </a:r>
            <a:endParaRPr sz="2815">
              <a:solidFill>
                <a:srgbClr val="000000"/>
              </a:solidFill>
              <a:latin typeface="Arial"/>
              <a:ea typeface="Arial"/>
              <a:cs typeface="Arial"/>
              <a:sym typeface="Arial"/>
            </a:endParaRPr>
          </a:p>
          <a:p>
            <a:pPr marL="0" lvl="0" indent="0" algn="just" rtl="0">
              <a:spcBef>
                <a:spcPts val="1200"/>
              </a:spcBef>
              <a:spcAft>
                <a:spcPts val="0"/>
              </a:spcAft>
              <a:buNone/>
            </a:pPr>
            <a:r>
              <a:rPr lang="en" sz="4807">
                <a:solidFill>
                  <a:srgbClr val="FF0000"/>
                </a:solidFill>
                <a:latin typeface="Nunito Black"/>
                <a:ea typeface="Nunito Black"/>
                <a:cs typeface="Nunito Black"/>
                <a:sym typeface="Nunito Black"/>
              </a:rPr>
              <a:t> Demerits of Net Present Value Method:</a:t>
            </a:r>
            <a:endParaRPr sz="4807">
              <a:solidFill>
                <a:srgbClr val="FF0000"/>
              </a:solidFill>
              <a:latin typeface="Nunito Black"/>
              <a:ea typeface="Nunito Black"/>
              <a:cs typeface="Nunito Black"/>
              <a:sym typeface="Nunito Black"/>
            </a:endParaRPr>
          </a:p>
          <a:p>
            <a:pPr marL="0" lvl="0" indent="0" algn="just" rtl="0">
              <a:spcBef>
                <a:spcPts val="1200"/>
              </a:spcBef>
              <a:spcAft>
                <a:spcPts val="0"/>
              </a:spcAft>
              <a:buNone/>
            </a:pPr>
            <a:endParaRPr sz="2500" b="1">
              <a:solidFill>
                <a:srgbClr val="FF0000"/>
              </a:solidFill>
              <a:latin typeface="Arial"/>
              <a:ea typeface="Arial"/>
              <a:cs typeface="Arial"/>
              <a:sym typeface="Arial"/>
            </a:endParaRPr>
          </a:p>
          <a:p>
            <a:pPr marL="406400" lvl="0" indent="-114300" algn="just" rtl="0">
              <a:spcBef>
                <a:spcPts val="0"/>
              </a:spcBef>
              <a:spcAft>
                <a:spcPts val="0"/>
              </a:spcAft>
              <a:buNone/>
            </a:pPr>
            <a:r>
              <a:rPr lang="en" sz="3115">
                <a:solidFill>
                  <a:srgbClr val="000000"/>
                </a:solidFill>
                <a:latin typeface="Arial"/>
                <a:ea typeface="Arial"/>
                <a:cs typeface="Arial"/>
                <a:sym typeface="Arial"/>
              </a:rPr>
              <a:t> i.   It requires </a:t>
            </a:r>
            <a:r>
              <a:rPr lang="en" sz="3115" b="1" i="1">
                <a:solidFill>
                  <a:srgbClr val="FF00FF"/>
                </a:solidFill>
                <a:latin typeface="Arial"/>
                <a:ea typeface="Arial"/>
                <a:cs typeface="Arial"/>
                <a:sym typeface="Arial"/>
              </a:rPr>
              <a:t>difficult calculations</a:t>
            </a:r>
            <a:endParaRPr sz="3115" b="1" i="1">
              <a:solidFill>
                <a:srgbClr val="FF00FF"/>
              </a:solidFill>
              <a:latin typeface="Arial"/>
              <a:ea typeface="Arial"/>
              <a:cs typeface="Arial"/>
              <a:sym typeface="Arial"/>
            </a:endParaRPr>
          </a:p>
          <a:p>
            <a:pPr marL="406400" lvl="0" indent="-114300" algn="just" rtl="0">
              <a:spcBef>
                <a:spcPts val="0"/>
              </a:spcBef>
              <a:spcAft>
                <a:spcPts val="0"/>
              </a:spcAft>
              <a:buNone/>
            </a:pPr>
            <a:endParaRPr sz="3115">
              <a:solidFill>
                <a:srgbClr val="000000"/>
              </a:solidFill>
              <a:latin typeface="Arial"/>
              <a:ea typeface="Arial"/>
              <a:cs typeface="Arial"/>
              <a:sym typeface="Arial"/>
            </a:endParaRPr>
          </a:p>
          <a:p>
            <a:pPr marL="406400" lvl="0" indent="-114300" algn="just" rtl="0">
              <a:spcBef>
                <a:spcPts val="0"/>
              </a:spcBef>
              <a:spcAft>
                <a:spcPts val="0"/>
              </a:spcAft>
              <a:buNone/>
            </a:pPr>
            <a:r>
              <a:rPr lang="en" sz="3115">
                <a:solidFill>
                  <a:srgbClr val="000000"/>
                </a:solidFill>
                <a:latin typeface="Arial"/>
                <a:ea typeface="Arial"/>
                <a:cs typeface="Arial"/>
                <a:sym typeface="Arial"/>
              </a:rPr>
              <a:t>ii. The NPV technique requires the predetermination of the required rate of return, which itself is a difficult job. If that rate is not correctly taken, then the whole exercise of NPV may give the wrong result.</a:t>
            </a:r>
            <a:endParaRPr sz="3115">
              <a:solidFill>
                <a:srgbClr val="000000"/>
              </a:solidFill>
              <a:latin typeface="Arial"/>
              <a:ea typeface="Arial"/>
              <a:cs typeface="Arial"/>
              <a:sym typeface="Arial"/>
            </a:endParaRPr>
          </a:p>
          <a:p>
            <a:pPr marL="406400" lvl="0" indent="-114300" algn="just" rtl="0">
              <a:spcBef>
                <a:spcPts val="0"/>
              </a:spcBef>
              <a:spcAft>
                <a:spcPts val="0"/>
              </a:spcAft>
              <a:buNone/>
            </a:pPr>
            <a:endParaRPr sz="3115">
              <a:solidFill>
                <a:srgbClr val="000000"/>
              </a:solidFill>
              <a:latin typeface="Arial"/>
              <a:ea typeface="Arial"/>
              <a:cs typeface="Arial"/>
              <a:sym typeface="Arial"/>
            </a:endParaRPr>
          </a:p>
          <a:p>
            <a:pPr marL="406400" lvl="0" indent="-114300" algn="just" rtl="0">
              <a:spcBef>
                <a:spcPts val="0"/>
              </a:spcBef>
              <a:spcAft>
                <a:spcPts val="0"/>
              </a:spcAft>
              <a:buNone/>
            </a:pPr>
            <a:r>
              <a:rPr lang="en" sz="3115">
                <a:solidFill>
                  <a:srgbClr val="000000"/>
                </a:solidFill>
                <a:latin typeface="Arial"/>
                <a:ea typeface="Arial"/>
                <a:cs typeface="Arial"/>
                <a:sym typeface="Arial"/>
              </a:rPr>
              <a:t>iii.  It does not provide a measure of the project's rate of return, rather it evaluates a proposal against an external variable i.e. minimum rate of return.</a:t>
            </a:r>
            <a:endParaRPr sz="3115">
              <a:solidFill>
                <a:srgbClr val="000000"/>
              </a:solidFill>
              <a:latin typeface="Arial"/>
              <a:ea typeface="Arial"/>
              <a:cs typeface="Arial"/>
              <a:sym typeface="Arial"/>
            </a:endParaRPr>
          </a:p>
          <a:p>
            <a:pPr marL="0" lvl="0" indent="-165100" algn="l" rtl="0">
              <a:spcBef>
                <a:spcPts val="1200"/>
              </a:spcBef>
              <a:spcAft>
                <a:spcPts val="0"/>
              </a:spcAft>
              <a:buNone/>
            </a:pPr>
            <a:r>
              <a:rPr lang="en" sz="3115">
                <a:solidFill>
                  <a:srgbClr val="000000"/>
                </a:solidFill>
                <a:latin typeface="Arial"/>
                <a:ea typeface="Arial"/>
                <a:cs typeface="Arial"/>
                <a:sym typeface="Arial"/>
              </a:rPr>
              <a:t>                 IV.This method may not provide satisfactory results in case of projects having different amount of investment and different economic life.</a:t>
            </a:r>
            <a:endParaRPr sz="3115">
              <a:solidFill>
                <a:srgbClr val="000000"/>
              </a:solidFill>
              <a:latin typeface="Arial"/>
              <a:ea typeface="Arial"/>
              <a:cs typeface="Arial"/>
              <a:sym typeface="Arial"/>
            </a:endParaRPr>
          </a:p>
          <a:p>
            <a:pPr marL="0" lvl="0" indent="0" algn="l" rtl="0">
              <a:spcBef>
                <a:spcPts val="1200"/>
              </a:spcBef>
              <a:spcAft>
                <a:spcPts val="1200"/>
              </a:spcAft>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41"/>
        <p:cNvGrpSpPr/>
        <p:nvPr/>
      </p:nvGrpSpPr>
      <p:grpSpPr>
        <a:xfrm>
          <a:off x="0" y="0"/>
          <a:ext cx="0" cy="0"/>
          <a:chOff x="0" y="0"/>
          <a:chExt cx="0" cy="0"/>
        </a:xfrm>
      </p:grpSpPr>
      <p:sp>
        <p:nvSpPr>
          <p:cNvPr id="242" name="Google Shape;242;p30"/>
          <p:cNvSpPr txBox="1">
            <a:spLocks noGrp="1"/>
          </p:cNvSpPr>
          <p:nvPr>
            <p:ph type="title"/>
          </p:nvPr>
        </p:nvSpPr>
        <p:spPr>
          <a:xfrm>
            <a:off x="269875" y="312200"/>
            <a:ext cx="8585100" cy="494400"/>
          </a:xfrm>
          <a:prstGeom prst="rect">
            <a:avLst/>
          </a:prstGeom>
          <a:solidFill>
            <a:srgbClr val="FFD966"/>
          </a:solidFill>
          <a:ln w="38100" cap="flat" cmpd="sng">
            <a:solidFill>
              <a:srgbClr val="00B050"/>
            </a:solidFill>
            <a:prstDash val="solid"/>
            <a:round/>
            <a:headEnd type="none" w="sm" len="sm"/>
            <a:tailEnd type="none" w="sm" len="sm"/>
          </a:ln>
        </p:spPr>
        <p:txBody>
          <a:bodyPr spcFirstLastPara="1" wrap="square" lIns="91425" tIns="91425" rIns="91425" bIns="91425" anchor="t" anchorCtr="0">
            <a:normAutofit fontScale="90000"/>
          </a:bodyPr>
          <a:lstStyle/>
          <a:p>
            <a:pPr marL="0" lvl="0" indent="0" algn="just" rtl="0">
              <a:lnSpc>
                <a:spcPct val="115000"/>
              </a:lnSpc>
              <a:spcBef>
                <a:spcPts val="1200"/>
              </a:spcBef>
              <a:spcAft>
                <a:spcPts val="0"/>
              </a:spcAft>
              <a:buNone/>
            </a:pPr>
            <a:r>
              <a:rPr lang="en" sz="2000" b="1">
                <a:solidFill>
                  <a:srgbClr val="FF0000"/>
                </a:solidFill>
                <a:latin typeface="Arial"/>
                <a:ea typeface="Arial"/>
                <a:cs typeface="Arial"/>
                <a:sym typeface="Arial"/>
              </a:rPr>
              <a:t>Slide 13: Profitability Index Method (PI)</a:t>
            </a:r>
            <a:endParaRPr sz="2000" b="1">
              <a:solidFill>
                <a:srgbClr val="FF0000"/>
              </a:solidFill>
              <a:latin typeface="Arial"/>
              <a:ea typeface="Arial"/>
              <a:cs typeface="Arial"/>
              <a:sym typeface="Arial"/>
            </a:endParaRPr>
          </a:p>
          <a:p>
            <a:pPr marL="0" lvl="0" indent="0" algn="l" rtl="0">
              <a:spcBef>
                <a:spcPts val="0"/>
              </a:spcBef>
              <a:spcAft>
                <a:spcPts val="0"/>
              </a:spcAft>
              <a:buNone/>
            </a:pPr>
            <a:endParaRPr/>
          </a:p>
        </p:txBody>
      </p:sp>
      <p:sp>
        <p:nvSpPr>
          <p:cNvPr id="243" name="Google Shape;243;p30"/>
          <p:cNvSpPr txBox="1">
            <a:spLocks noGrp="1"/>
          </p:cNvSpPr>
          <p:nvPr>
            <p:ph type="body" idx="1"/>
          </p:nvPr>
        </p:nvSpPr>
        <p:spPr>
          <a:xfrm>
            <a:off x="269775" y="1054550"/>
            <a:ext cx="8585100" cy="3735300"/>
          </a:xfrm>
          <a:prstGeom prst="rect">
            <a:avLst/>
          </a:prstGeom>
          <a:ln w="28575" cap="flat" cmpd="sng">
            <a:solidFill>
              <a:srgbClr val="FF0000"/>
            </a:solidFill>
            <a:prstDash val="solid"/>
            <a:round/>
            <a:headEnd type="none" w="sm" len="sm"/>
            <a:tailEnd type="none" w="sm" len="sm"/>
          </a:ln>
        </p:spPr>
        <p:txBody>
          <a:bodyPr spcFirstLastPara="1" wrap="square" lIns="91425" tIns="91425" rIns="91425" bIns="91425" anchor="t" anchorCtr="0">
            <a:normAutofit/>
          </a:bodyPr>
          <a:lstStyle/>
          <a:p>
            <a:pPr marL="0" lvl="0" indent="0" algn="just" rtl="0">
              <a:spcBef>
                <a:spcPts val="1200"/>
              </a:spcBef>
              <a:spcAft>
                <a:spcPts val="0"/>
              </a:spcAft>
              <a:buNone/>
            </a:pPr>
            <a:r>
              <a:rPr lang="en" sz="1200" b="1">
                <a:solidFill>
                  <a:srgbClr val="000000"/>
                </a:solidFill>
                <a:latin typeface="Arial"/>
                <a:ea typeface="Arial"/>
                <a:cs typeface="Arial"/>
                <a:sym typeface="Arial"/>
              </a:rPr>
              <a:t>This method is also known as the Benefit-cost ratio method. It is based on the net present value method and calculates the benefit per dollar investment.</a:t>
            </a:r>
            <a:endParaRPr sz="1200" b="1">
              <a:solidFill>
                <a:srgbClr val="000000"/>
              </a:solidFill>
              <a:latin typeface="Arial"/>
              <a:ea typeface="Arial"/>
              <a:cs typeface="Arial"/>
              <a:sym typeface="Arial"/>
            </a:endParaRPr>
          </a:p>
          <a:p>
            <a:pPr marL="0" lvl="0" indent="0" algn="just" rtl="0">
              <a:spcBef>
                <a:spcPts val="1200"/>
              </a:spcBef>
              <a:spcAft>
                <a:spcPts val="0"/>
              </a:spcAft>
              <a:buNone/>
            </a:pPr>
            <a:r>
              <a:rPr lang="en" sz="1400" b="1">
                <a:solidFill>
                  <a:schemeClr val="accent6"/>
                </a:solidFill>
                <a:latin typeface="Arial"/>
                <a:ea typeface="Arial"/>
                <a:cs typeface="Arial"/>
                <a:sym typeface="Arial"/>
              </a:rPr>
              <a:t>             Profitability Index (PI)= ( Present value of all cash inflow/ Initial cash outlays)</a:t>
            </a:r>
            <a:endParaRPr sz="1400" b="1">
              <a:solidFill>
                <a:schemeClr val="accent6"/>
              </a:solidFill>
              <a:latin typeface="Arial"/>
              <a:ea typeface="Arial"/>
              <a:cs typeface="Arial"/>
              <a:sym typeface="Arial"/>
            </a:endParaRPr>
          </a:p>
          <a:p>
            <a:pPr marL="0" lvl="0" indent="0" algn="just" rtl="0">
              <a:spcBef>
                <a:spcPts val="1200"/>
              </a:spcBef>
              <a:spcAft>
                <a:spcPts val="0"/>
              </a:spcAft>
              <a:buNone/>
            </a:pPr>
            <a:r>
              <a:rPr lang="en" sz="1800" b="1">
                <a:solidFill>
                  <a:srgbClr val="FF0000"/>
                </a:solidFill>
                <a:latin typeface="Arial"/>
                <a:ea typeface="Arial"/>
                <a:cs typeface="Arial"/>
                <a:sym typeface="Arial"/>
              </a:rPr>
              <a:t>Decision Criteria:</a:t>
            </a:r>
            <a:endParaRPr sz="900" b="1">
              <a:solidFill>
                <a:srgbClr val="FF0000"/>
              </a:solidFill>
              <a:latin typeface="Arial"/>
              <a:ea typeface="Arial"/>
              <a:cs typeface="Arial"/>
              <a:sym typeface="Arial"/>
            </a:endParaRPr>
          </a:p>
          <a:p>
            <a:pPr marL="596900" lvl="0" indent="0" algn="just" rtl="0">
              <a:spcBef>
                <a:spcPts val="0"/>
              </a:spcBef>
              <a:spcAft>
                <a:spcPts val="0"/>
              </a:spcAft>
              <a:buNone/>
            </a:pPr>
            <a:r>
              <a:rPr lang="en" sz="1400" b="1">
                <a:solidFill>
                  <a:schemeClr val="accent6"/>
                </a:solidFill>
                <a:latin typeface="Arial"/>
                <a:ea typeface="Arial"/>
                <a:cs typeface="Arial"/>
                <a:sym typeface="Arial"/>
              </a:rPr>
              <a:t>1.</a:t>
            </a:r>
            <a:r>
              <a:rPr lang="en" sz="1400">
                <a:solidFill>
                  <a:schemeClr val="accent6"/>
                </a:solidFill>
                <a:latin typeface="Arial"/>
                <a:ea typeface="Arial"/>
                <a:cs typeface="Arial"/>
                <a:sym typeface="Arial"/>
              </a:rPr>
              <a:t> </a:t>
            </a:r>
            <a:r>
              <a:rPr lang="en" sz="1400" b="1">
                <a:solidFill>
                  <a:schemeClr val="accent6"/>
                </a:solidFill>
                <a:latin typeface="Arial"/>
                <a:ea typeface="Arial"/>
                <a:cs typeface="Arial"/>
                <a:sym typeface="Arial"/>
              </a:rPr>
              <a:t>If there is only one project:</a:t>
            </a:r>
            <a:endParaRPr sz="1400" b="1">
              <a:solidFill>
                <a:schemeClr val="accent6"/>
              </a:solidFill>
              <a:latin typeface="Arial"/>
              <a:ea typeface="Arial"/>
              <a:cs typeface="Arial"/>
              <a:sym typeface="Arial"/>
            </a:endParaRPr>
          </a:p>
          <a:p>
            <a:pPr marL="596900" lvl="0" indent="0" algn="just" rtl="0">
              <a:spcBef>
                <a:spcPts val="0"/>
              </a:spcBef>
              <a:spcAft>
                <a:spcPts val="0"/>
              </a:spcAft>
              <a:buNone/>
            </a:pPr>
            <a:endParaRPr sz="1200" b="1">
              <a:solidFill>
                <a:schemeClr val="accent6"/>
              </a:solidFill>
              <a:latin typeface="Arial"/>
              <a:ea typeface="Arial"/>
              <a:cs typeface="Arial"/>
              <a:sym typeface="Arial"/>
            </a:endParaRPr>
          </a:p>
          <a:p>
            <a:pPr marL="596900" lvl="0" indent="0" algn="just" rtl="0">
              <a:spcBef>
                <a:spcPts val="0"/>
              </a:spcBef>
              <a:spcAft>
                <a:spcPts val="0"/>
              </a:spcAft>
              <a:buNone/>
            </a:pPr>
            <a:r>
              <a:rPr lang="en" sz="1200">
                <a:solidFill>
                  <a:srgbClr val="000000"/>
                </a:solidFill>
                <a:latin typeface="Arial"/>
                <a:ea typeface="Arial"/>
                <a:cs typeface="Arial"/>
                <a:sym typeface="Arial"/>
              </a:rPr>
              <a:t>   If PI is greater than 1……………. Accept</a:t>
            </a:r>
            <a:endParaRPr sz="1200">
              <a:solidFill>
                <a:srgbClr val="000000"/>
              </a:solidFill>
              <a:latin typeface="Arial"/>
              <a:ea typeface="Arial"/>
              <a:cs typeface="Arial"/>
              <a:sym typeface="Arial"/>
            </a:endParaRPr>
          </a:p>
          <a:p>
            <a:pPr marL="596900" lvl="0" indent="0" algn="just" rtl="0">
              <a:spcBef>
                <a:spcPts val="0"/>
              </a:spcBef>
              <a:spcAft>
                <a:spcPts val="0"/>
              </a:spcAft>
              <a:buNone/>
            </a:pPr>
            <a:r>
              <a:rPr lang="en" sz="1200">
                <a:solidFill>
                  <a:srgbClr val="000000"/>
                </a:solidFill>
                <a:latin typeface="Arial"/>
                <a:ea typeface="Arial"/>
                <a:cs typeface="Arial"/>
                <a:sym typeface="Arial"/>
              </a:rPr>
              <a:t>   If PI is less than 1 ………………. Reject</a:t>
            </a:r>
            <a:endParaRPr sz="1200">
              <a:solidFill>
                <a:srgbClr val="000000"/>
              </a:solidFill>
              <a:latin typeface="Arial"/>
              <a:ea typeface="Arial"/>
              <a:cs typeface="Arial"/>
              <a:sym typeface="Arial"/>
            </a:endParaRPr>
          </a:p>
          <a:p>
            <a:pPr marL="596900" lvl="0" indent="0" algn="just" rtl="0">
              <a:spcBef>
                <a:spcPts val="0"/>
              </a:spcBef>
              <a:spcAft>
                <a:spcPts val="0"/>
              </a:spcAft>
              <a:buNone/>
            </a:pPr>
            <a:r>
              <a:rPr lang="en" sz="1200">
                <a:solidFill>
                  <a:srgbClr val="000000"/>
                </a:solidFill>
                <a:latin typeface="Arial"/>
                <a:ea typeface="Arial"/>
                <a:cs typeface="Arial"/>
                <a:sym typeface="Arial"/>
              </a:rPr>
              <a:t>   If PI is equal to 1 ………………..  Indifferent</a:t>
            </a:r>
            <a:endParaRPr sz="1200">
              <a:solidFill>
                <a:srgbClr val="000000"/>
              </a:solidFill>
              <a:latin typeface="Arial"/>
              <a:ea typeface="Arial"/>
              <a:cs typeface="Arial"/>
              <a:sym typeface="Arial"/>
            </a:endParaRPr>
          </a:p>
          <a:p>
            <a:pPr marL="596900" lvl="0" indent="0" algn="just" rtl="0">
              <a:spcBef>
                <a:spcPts val="0"/>
              </a:spcBef>
              <a:spcAft>
                <a:spcPts val="0"/>
              </a:spcAft>
              <a:buNone/>
            </a:pPr>
            <a:endParaRPr sz="1400">
              <a:solidFill>
                <a:srgbClr val="000000"/>
              </a:solidFill>
              <a:latin typeface="Arial"/>
              <a:ea typeface="Arial"/>
              <a:cs typeface="Arial"/>
              <a:sym typeface="Arial"/>
            </a:endParaRPr>
          </a:p>
          <a:p>
            <a:pPr marL="596900" lvl="0" indent="0" algn="just" rtl="0">
              <a:spcBef>
                <a:spcPts val="0"/>
              </a:spcBef>
              <a:spcAft>
                <a:spcPts val="0"/>
              </a:spcAft>
              <a:buNone/>
            </a:pPr>
            <a:r>
              <a:rPr lang="en" sz="1400" b="1">
                <a:solidFill>
                  <a:srgbClr val="0000FF"/>
                </a:solidFill>
                <a:latin typeface="Arial"/>
                <a:ea typeface="Arial"/>
                <a:cs typeface="Arial"/>
                <a:sym typeface="Arial"/>
              </a:rPr>
              <a:t>2.</a:t>
            </a:r>
            <a:r>
              <a:rPr lang="en" sz="1400">
                <a:solidFill>
                  <a:srgbClr val="0000FF"/>
                </a:solidFill>
                <a:latin typeface="Arial"/>
                <a:ea typeface="Arial"/>
                <a:cs typeface="Arial"/>
                <a:sym typeface="Arial"/>
              </a:rPr>
              <a:t>      </a:t>
            </a:r>
            <a:r>
              <a:rPr lang="en" sz="1400" b="1">
                <a:solidFill>
                  <a:srgbClr val="0000FF"/>
                </a:solidFill>
                <a:latin typeface="Arial"/>
                <a:ea typeface="Arial"/>
                <a:cs typeface="Arial"/>
                <a:sym typeface="Arial"/>
              </a:rPr>
              <a:t>If there are more than one project, the project with higher PI should be selected.</a:t>
            </a:r>
            <a:endParaRPr sz="1400" b="1">
              <a:solidFill>
                <a:srgbClr val="0000FF"/>
              </a:solidFill>
              <a:latin typeface="Arial"/>
              <a:ea typeface="Arial"/>
              <a:cs typeface="Arial"/>
              <a:sym typeface="Arial"/>
            </a:endParaRPr>
          </a:p>
          <a:p>
            <a:pPr marL="0" lvl="0" indent="0" algn="l" rtl="0">
              <a:spcBef>
                <a:spcPts val="0"/>
              </a:spcBef>
              <a:spcAft>
                <a:spcPts val="1200"/>
              </a:spcAft>
              <a:buNone/>
            </a:pPr>
            <a:endParaRPr sz="14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31"/>
          <p:cNvSpPr txBox="1">
            <a:spLocks noGrp="1"/>
          </p:cNvSpPr>
          <p:nvPr>
            <p:ph type="title"/>
          </p:nvPr>
        </p:nvSpPr>
        <p:spPr>
          <a:xfrm>
            <a:off x="327025" y="311150"/>
            <a:ext cx="8458200" cy="400200"/>
          </a:xfrm>
          <a:prstGeom prst="rect">
            <a:avLst/>
          </a:prstGeom>
          <a:solidFill>
            <a:srgbClr val="F1C232"/>
          </a:solidFill>
          <a:ln w="38100" cap="flat" cmpd="sng">
            <a:solidFill>
              <a:srgbClr val="00B050"/>
            </a:solidFill>
            <a:prstDash val="solid"/>
            <a:round/>
            <a:headEnd type="none" w="sm" len="sm"/>
            <a:tailEnd type="none" w="sm" len="sm"/>
          </a:ln>
        </p:spPr>
        <p:txBody>
          <a:bodyPr spcFirstLastPara="1" wrap="square" lIns="91425" tIns="91425" rIns="91425" bIns="91425" anchor="t" anchorCtr="0">
            <a:noAutofit/>
          </a:bodyPr>
          <a:lstStyle/>
          <a:p>
            <a:pPr marL="0" lvl="0" indent="0" algn="just" rtl="0">
              <a:lnSpc>
                <a:spcPct val="115000"/>
              </a:lnSpc>
              <a:spcBef>
                <a:spcPts val="1200"/>
              </a:spcBef>
              <a:spcAft>
                <a:spcPts val="0"/>
              </a:spcAft>
              <a:buNone/>
            </a:pPr>
            <a:r>
              <a:rPr lang="en" sz="1800" b="1">
                <a:solidFill>
                  <a:srgbClr val="FF0000"/>
                </a:solidFill>
                <a:latin typeface="Arial"/>
                <a:ea typeface="Arial"/>
                <a:cs typeface="Arial"/>
                <a:sym typeface="Arial"/>
              </a:rPr>
              <a:t>Slide 14: Merits and Demerits of Profitability Index Method:</a:t>
            </a:r>
            <a:endParaRPr sz="1800"/>
          </a:p>
        </p:txBody>
      </p:sp>
      <p:sp>
        <p:nvSpPr>
          <p:cNvPr id="249" name="Google Shape;249;p31"/>
          <p:cNvSpPr txBox="1">
            <a:spLocks noGrp="1"/>
          </p:cNvSpPr>
          <p:nvPr>
            <p:ph type="body" idx="1"/>
          </p:nvPr>
        </p:nvSpPr>
        <p:spPr>
          <a:xfrm>
            <a:off x="327025" y="830025"/>
            <a:ext cx="8458200" cy="4020900"/>
          </a:xfrm>
          <a:prstGeom prst="rect">
            <a:avLst/>
          </a:prstGeom>
          <a:ln w="38100" cap="flat" cmpd="sng">
            <a:solidFill>
              <a:srgbClr val="FF0000"/>
            </a:solidFill>
            <a:prstDash val="solid"/>
            <a:round/>
            <a:headEnd type="none" w="sm" len="sm"/>
            <a:tailEnd type="none" w="sm" len="sm"/>
          </a:ln>
        </p:spPr>
        <p:txBody>
          <a:bodyPr spcFirstLastPara="1" wrap="square" lIns="91425" tIns="91425" rIns="91425" bIns="91425" anchor="t" anchorCtr="0">
            <a:normAutofit fontScale="25000" lnSpcReduction="20000"/>
          </a:bodyPr>
          <a:lstStyle/>
          <a:p>
            <a:pPr marL="0" lvl="0" indent="0" algn="just" rtl="0">
              <a:spcBef>
                <a:spcPts val="1200"/>
              </a:spcBef>
              <a:spcAft>
                <a:spcPts val="0"/>
              </a:spcAft>
              <a:buNone/>
            </a:pPr>
            <a:r>
              <a:rPr lang="en" sz="3771" b="1">
                <a:solidFill>
                  <a:srgbClr val="FF0000"/>
                </a:solidFill>
                <a:latin typeface="Arial"/>
                <a:ea typeface="Arial"/>
                <a:cs typeface="Arial"/>
                <a:sym typeface="Arial"/>
              </a:rPr>
              <a:t> </a:t>
            </a:r>
            <a:r>
              <a:rPr lang="en" sz="5500" b="1">
                <a:solidFill>
                  <a:srgbClr val="FF0000"/>
                </a:solidFill>
                <a:latin typeface="Arial"/>
                <a:ea typeface="Arial"/>
                <a:cs typeface="Arial"/>
                <a:sym typeface="Arial"/>
              </a:rPr>
              <a:t>Merits of Profitability Index Method:</a:t>
            </a:r>
            <a:endParaRPr sz="5500" b="1">
              <a:solidFill>
                <a:srgbClr val="FF0000"/>
              </a:solidFill>
              <a:latin typeface="Arial"/>
              <a:ea typeface="Arial"/>
              <a:cs typeface="Arial"/>
              <a:sym typeface="Arial"/>
            </a:endParaRPr>
          </a:p>
          <a:p>
            <a:pPr marL="0" lvl="0" indent="0" algn="just" rtl="0">
              <a:spcBef>
                <a:spcPts val="0"/>
              </a:spcBef>
              <a:spcAft>
                <a:spcPts val="0"/>
              </a:spcAft>
              <a:buNone/>
            </a:pPr>
            <a:endParaRPr sz="4700" b="1">
              <a:solidFill>
                <a:srgbClr val="FF0000"/>
              </a:solidFill>
              <a:latin typeface="Arial"/>
              <a:ea typeface="Arial"/>
              <a:cs typeface="Arial"/>
              <a:sym typeface="Arial"/>
            </a:endParaRPr>
          </a:p>
          <a:p>
            <a:pPr marL="0" lvl="0" indent="0" algn="just" rtl="0">
              <a:spcBef>
                <a:spcPts val="0"/>
              </a:spcBef>
              <a:spcAft>
                <a:spcPts val="0"/>
              </a:spcAft>
              <a:buNone/>
            </a:pPr>
            <a:r>
              <a:rPr lang="en" sz="4700" b="1">
                <a:solidFill>
                  <a:srgbClr val="FF0000"/>
                </a:solidFill>
                <a:latin typeface="Arial"/>
                <a:ea typeface="Arial"/>
                <a:cs typeface="Arial"/>
                <a:sym typeface="Arial"/>
              </a:rPr>
              <a:t>     </a:t>
            </a:r>
            <a:r>
              <a:rPr lang="en" sz="4700">
                <a:solidFill>
                  <a:srgbClr val="000000"/>
                </a:solidFill>
                <a:latin typeface="Arial"/>
                <a:ea typeface="Arial"/>
                <a:cs typeface="Arial"/>
                <a:sym typeface="Arial"/>
              </a:rPr>
              <a:t>i) The PI considers the time value of money, making it suitable for long-term investments.</a:t>
            </a:r>
            <a:endParaRPr sz="4700">
              <a:solidFill>
                <a:srgbClr val="000000"/>
              </a:solidFill>
              <a:latin typeface="Arial"/>
              <a:ea typeface="Arial"/>
              <a:cs typeface="Arial"/>
              <a:sym typeface="Arial"/>
            </a:endParaRPr>
          </a:p>
          <a:p>
            <a:pPr marL="0" lvl="0" indent="0" algn="just" rtl="0">
              <a:spcBef>
                <a:spcPts val="0"/>
              </a:spcBef>
              <a:spcAft>
                <a:spcPts val="0"/>
              </a:spcAft>
              <a:buNone/>
            </a:pPr>
            <a:endParaRPr sz="4700">
              <a:solidFill>
                <a:srgbClr val="000000"/>
              </a:solidFill>
              <a:latin typeface="Arial"/>
              <a:ea typeface="Arial"/>
              <a:cs typeface="Arial"/>
              <a:sym typeface="Arial"/>
            </a:endParaRPr>
          </a:p>
          <a:p>
            <a:pPr marL="0" marR="177800" lvl="0" indent="0" algn="just" rtl="0">
              <a:spcBef>
                <a:spcPts val="0"/>
              </a:spcBef>
              <a:spcAft>
                <a:spcPts val="0"/>
              </a:spcAft>
              <a:buNone/>
            </a:pPr>
            <a:r>
              <a:rPr lang="en" sz="4700">
                <a:solidFill>
                  <a:srgbClr val="000000"/>
                </a:solidFill>
                <a:latin typeface="Arial"/>
                <a:ea typeface="Arial"/>
                <a:cs typeface="Arial"/>
                <a:sym typeface="Arial"/>
              </a:rPr>
              <a:t>     i) It measures the value generated per unit of investment, aiding in project prioritization with limited resources.</a:t>
            </a:r>
            <a:endParaRPr sz="4700">
              <a:solidFill>
                <a:srgbClr val="000000"/>
              </a:solidFill>
              <a:latin typeface="Arial"/>
              <a:ea typeface="Arial"/>
              <a:cs typeface="Arial"/>
              <a:sym typeface="Arial"/>
            </a:endParaRPr>
          </a:p>
          <a:p>
            <a:pPr marL="0" marR="177800" lvl="0" indent="0" algn="just" rtl="0">
              <a:spcBef>
                <a:spcPts val="0"/>
              </a:spcBef>
              <a:spcAft>
                <a:spcPts val="0"/>
              </a:spcAft>
              <a:buNone/>
            </a:pPr>
            <a:endParaRPr sz="4700">
              <a:solidFill>
                <a:srgbClr val="000000"/>
              </a:solidFill>
              <a:latin typeface="Arial"/>
              <a:ea typeface="Arial"/>
              <a:cs typeface="Arial"/>
              <a:sym typeface="Arial"/>
            </a:endParaRPr>
          </a:p>
          <a:p>
            <a:pPr marL="0" marR="114300" lvl="0" indent="0" algn="just" rtl="0">
              <a:spcBef>
                <a:spcPts val="0"/>
              </a:spcBef>
              <a:spcAft>
                <a:spcPts val="0"/>
              </a:spcAft>
              <a:buNone/>
            </a:pPr>
            <a:r>
              <a:rPr lang="en" sz="4700">
                <a:solidFill>
                  <a:srgbClr val="000000"/>
                </a:solidFill>
                <a:latin typeface="Arial"/>
                <a:ea typeface="Arial"/>
                <a:cs typeface="Arial"/>
                <a:sym typeface="Arial"/>
              </a:rPr>
              <a:t>    iii) Particularly useful for ranking projects when budget constraints exist.</a:t>
            </a:r>
            <a:endParaRPr sz="4700">
              <a:solidFill>
                <a:srgbClr val="000000"/>
              </a:solidFill>
              <a:latin typeface="Arial"/>
              <a:ea typeface="Arial"/>
              <a:cs typeface="Arial"/>
              <a:sym typeface="Arial"/>
            </a:endParaRPr>
          </a:p>
          <a:p>
            <a:pPr marL="0" marR="114300" lvl="0" indent="0" algn="just" rtl="0">
              <a:spcBef>
                <a:spcPts val="0"/>
              </a:spcBef>
              <a:spcAft>
                <a:spcPts val="0"/>
              </a:spcAft>
              <a:buNone/>
            </a:pPr>
            <a:endParaRPr sz="4700">
              <a:solidFill>
                <a:srgbClr val="000000"/>
              </a:solidFill>
              <a:latin typeface="Arial"/>
              <a:ea typeface="Arial"/>
              <a:cs typeface="Arial"/>
              <a:sym typeface="Arial"/>
            </a:endParaRPr>
          </a:p>
          <a:p>
            <a:pPr marL="0" marR="114300" lvl="0" indent="0" algn="just" rtl="0">
              <a:spcBef>
                <a:spcPts val="0"/>
              </a:spcBef>
              <a:spcAft>
                <a:spcPts val="0"/>
              </a:spcAft>
              <a:buNone/>
            </a:pPr>
            <a:r>
              <a:rPr lang="en" sz="4700">
                <a:solidFill>
                  <a:srgbClr val="000000"/>
                </a:solidFill>
                <a:latin typeface="Arial"/>
                <a:ea typeface="Arial"/>
                <a:cs typeface="Arial"/>
                <a:sym typeface="Arial"/>
              </a:rPr>
              <a:t>    iv) PI techniques gives better results in case of projects having different outlays.</a:t>
            </a:r>
            <a:endParaRPr sz="4700">
              <a:solidFill>
                <a:srgbClr val="000000"/>
              </a:solidFill>
              <a:latin typeface="Arial"/>
              <a:ea typeface="Arial"/>
              <a:cs typeface="Arial"/>
              <a:sym typeface="Arial"/>
            </a:endParaRPr>
          </a:p>
          <a:p>
            <a:pPr marL="0" marR="114300" lvl="0" indent="0" algn="just" rtl="0">
              <a:spcBef>
                <a:spcPts val="0"/>
              </a:spcBef>
              <a:spcAft>
                <a:spcPts val="0"/>
              </a:spcAft>
              <a:buNone/>
            </a:pPr>
            <a:endParaRPr sz="4700">
              <a:solidFill>
                <a:srgbClr val="000000"/>
              </a:solidFill>
              <a:latin typeface="Arial"/>
              <a:ea typeface="Arial"/>
              <a:cs typeface="Arial"/>
              <a:sym typeface="Arial"/>
            </a:endParaRPr>
          </a:p>
          <a:p>
            <a:pPr marL="0" marR="114300" lvl="0" indent="0" algn="just" rtl="0">
              <a:spcBef>
                <a:spcPts val="0"/>
              </a:spcBef>
              <a:spcAft>
                <a:spcPts val="0"/>
              </a:spcAft>
              <a:buNone/>
            </a:pPr>
            <a:r>
              <a:rPr lang="en" sz="4700">
                <a:solidFill>
                  <a:srgbClr val="000000"/>
                </a:solidFill>
                <a:latin typeface="Arial"/>
                <a:ea typeface="Arial"/>
                <a:cs typeface="Arial"/>
                <a:sym typeface="Arial"/>
              </a:rPr>
              <a:t>    v) The PI considers cash flows from project inception to completion, ensuring a thorough assessment of financial viability.</a:t>
            </a:r>
            <a:endParaRPr sz="4700">
              <a:solidFill>
                <a:srgbClr val="000000"/>
              </a:solidFill>
              <a:latin typeface="Arial"/>
              <a:ea typeface="Arial"/>
              <a:cs typeface="Arial"/>
              <a:sym typeface="Arial"/>
            </a:endParaRPr>
          </a:p>
          <a:p>
            <a:pPr marL="0" lvl="0" indent="0" algn="just" rtl="0">
              <a:spcBef>
                <a:spcPts val="1200"/>
              </a:spcBef>
              <a:spcAft>
                <a:spcPts val="0"/>
              </a:spcAft>
              <a:buNone/>
            </a:pPr>
            <a:r>
              <a:rPr lang="en" sz="5900" b="1">
                <a:solidFill>
                  <a:srgbClr val="FF0000"/>
                </a:solidFill>
                <a:latin typeface="Arial"/>
                <a:ea typeface="Arial"/>
                <a:cs typeface="Arial"/>
                <a:sym typeface="Arial"/>
              </a:rPr>
              <a:t>Demerits of Profitability Index</a:t>
            </a:r>
            <a:endParaRPr sz="5900" b="1">
              <a:solidFill>
                <a:srgbClr val="FF0000"/>
              </a:solidFill>
              <a:latin typeface="Arial"/>
              <a:ea typeface="Arial"/>
              <a:cs typeface="Arial"/>
              <a:sym typeface="Arial"/>
            </a:endParaRPr>
          </a:p>
          <a:p>
            <a:pPr marL="0" lvl="0" indent="0" algn="just" rtl="0">
              <a:spcBef>
                <a:spcPts val="1200"/>
              </a:spcBef>
              <a:spcAft>
                <a:spcPts val="0"/>
              </a:spcAft>
              <a:buNone/>
            </a:pPr>
            <a:r>
              <a:rPr lang="en" sz="1200" b="1">
                <a:solidFill>
                  <a:srgbClr val="FF0000"/>
                </a:solidFill>
                <a:latin typeface="Arial"/>
                <a:ea typeface="Arial"/>
                <a:cs typeface="Arial"/>
                <a:sym typeface="Arial"/>
              </a:rPr>
              <a:t> </a:t>
            </a:r>
            <a:endParaRPr sz="4800" b="1">
              <a:solidFill>
                <a:srgbClr val="FF0000"/>
              </a:solidFill>
              <a:latin typeface="Arial"/>
              <a:ea typeface="Arial"/>
              <a:cs typeface="Arial"/>
              <a:sym typeface="Arial"/>
            </a:endParaRPr>
          </a:p>
          <a:p>
            <a:pPr marL="0" lvl="0" indent="0" algn="just" rtl="0">
              <a:spcBef>
                <a:spcPts val="0"/>
              </a:spcBef>
              <a:spcAft>
                <a:spcPts val="0"/>
              </a:spcAft>
              <a:buNone/>
            </a:pPr>
            <a:r>
              <a:rPr lang="en" sz="4800">
                <a:solidFill>
                  <a:srgbClr val="000000"/>
                </a:solidFill>
                <a:latin typeface="Arial"/>
                <a:ea typeface="Arial"/>
                <a:cs typeface="Arial"/>
                <a:sym typeface="Arial"/>
              </a:rPr>
              <a:t>  </a:t>
            </a:r>
            <a:r>
              <a:rPr lang="en" sz="4400">
                <a:solidFill>
                  <a:srgbClr val="000000"/>
                </a:solidFill>
                <a:latin typeface="Arial"/>
                <a:ea typeface="Arial"/>
                <a:cs typeface="Arial"/>
                <a:sym typeface="Arial"/>
              </a:rPr>
              <a:t>i) PI method Ignores project size that is it may favor smaller projects with higher relative returns, potentially neglecting larger, more impactful investments.</a:t>
            </a:r>
            <a:endParaRPr sz="4400">
              <a:solidFill>
                <a:srgbClr val="000000"/>
              </a:solidFill>
              <a:latin typeface="Arial"/>
              <a:ea typeface="Arial"/>
              <a:cs typeface="Arial"/>
              <a:sym typeface="Arial"/>
            </a:endParaRPr>
          </a:p>
          <a:p>
            <a:pPr marL="520700" lvl="0" indent="0" algn="just" rtl="0">
              <a:spcBef>
                <a:spcPts val="0"/>
              </a:spcBef>
              <a:spcAft>
                <a:spcPts val="0"/>
              </a:spcAft>
              <a:buNone/>
            </a:pPr>
            <a:r>
              <a:rPr lang="en" sz="4400">
                <a:solidFill>
                  <a:srgbClr val="000000"/>
                </a:solidFill>
                <a:latin typeface="Arial"/>
                <a:ea typeface="Arial"/>
                <a:cs typeface="Arial"/>
                <a:sym typeface="Arial"/>
              </a:rPr>
              <a:t> </a:t>
            </a:r>
            <a:endParaRPr sz="4400">
              <a:solidFill>
                <a:srgbClr val="000000"/>
              </a:solidFill>
              <a:latin typeface="Arial"/>
              <a:ea typeface="Arial"/>
              <a:cs typeface="Arial"/>
              <a:sym typeface="Arial"/>
            </a:endParaRPr>
          </a:p>
          <a:p>
            <a:pPr marL="0" lvl="0" indent="0" algn="just" rtl="0">
              <a:spcBef>
                <a:spcPts val="0"/>
              </a:spcBef>
              <a:spcAft>
                <a:spcPts val="0"/>
              </a:spcAft>
              <a:buNone/>
            </a:pPr>
            <a:r>
              <a:rPr lang="en" sz="4400">
                <a:solidFill>
                  <a:srgbClr val="000000"/>
                </a:solidFill>
                <a:latin typeface="Arial"/>
                <a:ea typeface="Arial"/>
                <a:cs typeface="Arial"/>
                <a:sym typeface="Arial"/>
              </a:rPr>
              <a:t>  ii) PI method doesn't consider reinvestment rates. It assumes reinvestment at the project's rate, which may not reflect actual market rates, leading to inaccuracies.</a:t>
            </a:r>
            <a:endParaRPr sz="4400">
              <a:solidFill>
                <a:srgbClr val="000000"/>
              </a:solidFill>
              <a:latin typeface="Arial"/>
              <a:ea typeface="Arial"/>
              <a:cs typeface="Arial"/>
              <a:sym typeface="Arial"/>
            </a:endParaRPr>
          </a:p>
          <a:p>
            <a:pPr marL="520700" lvl="0" indent="0" algn="just" rtl="0">
              <a:spcBef>
                <a:spcPts val="0"/>
              </a:spcBef>
              <a:spcAft>
                <a:spcPts val="0"/>
              </a:spcAft>
              <a:buNone/>
            </a:pPr>
            <a:r>
              <a:rPr lang="en" sz="4400">
                <a:solidFill>
                  <a:srgbClr val="000000"/>
                </a:solidFill>
                <a:latin typeface="Arial"/>
                <a:ea typeface="Arial"/>
                <a:cs typeface="Arial"/>
                <a:sym typeface="Arial"/>
              </a:rPr>
              <a:t> </a:t>
            </a:r>
            <a:endParaRPr sz="4400">
              <a:solidFill>
                <a:srgbClr val="000000"/>
              </a:solidFill>
              <a:latin typeface="Arial"/>
              <a:ea typeface="Arial"/>
              <a:cs typeface="Arial"/>
              <a:sym typeface="Arial"/>
            </a:endParaRPr>
          </a:p>
          <a:p>
            <a:pPr marL="0" lvl="0" indent="0" algn="just" rtl="0">
              <a:spcBef>
                <a:spcPts val="0"/>
              </a:spcBef>
              <a:spcAft>
                <a:spcPts val="0"/>
              </a:spcAft>
              <a:buNone/>
            </a:pPr>
            <a:r>
              <a:rPr lang="en" sz="4400">
                <a:solidFill>
                  <a:srgbClr val="000000"/>
                </a:solidFill>
                <a:latin typeface="Arial"/>
                <a:ea typeface="Arial"/>
                <a:cs typeface="Arial"/>
                <a:sym typeface="Arial"/>
              </a:rPr>
              <a:t>  iii) PI Method May not be useful for mutually exclusive projects: When choosing between projects, PI can be misleading, as it doesn't account for differing project sizes or durations.</a:t>
            </a:r>
            <a:endParaRPr sz="4400">
              <a:solidFill>
                <a:srgbClr val="000000"/>
              </a:solidFill>
              <a:latin typeface="Arial"/>
              <a:ea typeface="Arial"/>
              <a:cs typeface="Arial"/>
              <a:sym typeface="Arial"/>
            </a:endParaRPr>
          </a:p>
          <a:p>
            <a:pPr marL="0" lvl="0" indent="0" algn="just" rtl="0">
              <a:spcBef>
                <a:spcPts val="1200"/>
              </a:spcBef>
              <a:spcAft>
                <a:spcPts val="0"/>
              </a:spcAft>
              <a:buNone/>
            </a:pPr>
            <a:r>
              <a:rPr lang="en" sz="4800">
                <a:solidFill>
                  <a:srgbClr val="000000"/>
                </a:solidFill>
                <a:latin typeface="Arial"/>
                <a:ea typeface="Arial"/>
                <a:cs typeface="Arial"/>
                <a:sym typeface="Arial"/>
              </a:rPr>
              <a:t> </a:t>
            </a:r>
            <a:endParaRPr sz="4800">
              <a:solidFill>
                <a:srgbClr val="000000"/>
              </a:solidFill>
              <a:latin typeface="Arial"/>
              <a:ea typeface="Arial"/>
              <a:cs typeface="Arial"/>
              <a:sym typeface="Arial"/>
            </a:endParaRPr>
          </a:p>
          <a:p>
            <a:pPr marL="0" lvl="0" indent="0" algn="just" rtl="0">
              <a:spcBef>
                <a:spcPts val="1200"/>
              </a:spcBef>
              <a:spcAft>
                <a:spcPts val="0"/>
              </a:spcAft>
              <a:buNone/>
            </a:pPr>
            <a:r>
              <a:rPr lang="en" sz="1100">
                <a:solidFill>
                  <a:srgbClr val="000000"/>
                </a:solidFill>
                <a:latin typeface="Arial"/>
                <a:ea typeface="Arial"/>
                <a:cs typeface="Arial"/>
                <a:sym typeface="Arial"/>
              </a:rPr>
              <a:t> </a:t>
            </a:r>
            <a:endParaRPr sz="1100">
              <a:solidFill>
                <a:srgbClr val="000000"/>
              </a:solidFill>
              <a:latin typeface="Arial"/>
              <a:ea typeface="Arial"/>
              <a:cs typeface="Arial"/>
              <a:sym typeface="Arial"/>
            </a:endParaRPr>
          </a:p>
          <a:p>
            <a:pPr marL="0" lvl="0" indent="0" algn="just" rtl="0">
              <a:spcBef>
                <a:spcPts val="1200"/>
              </a:spcBef>
              <a:spcAft>
                <a:spcPts val="0"/>
              </a:spcAft>
              <a:buNone/>
            </a:pPr>
            <a:r>
              <a:rPr lang="en" sz="1100">
                <a:solidFill>
                  <a:srgbClr val="000000"/>
                </a:solidFill>
                <a:latin typeface="Arial"/>
                <a:ea typeface="Arial"/>
                <a:cs typeface="Arial"/>
                <a:sym typeface="Arial"/>
              </a:rPr>
              <a:t> </a:t>
            </a:r>
            <a:endParaRPr sz="1100">
              <a:solidFill>
                <a:srgbClr val="000000"/>
              </a:solidFill>
              <a:latin typeface="Arial"/>
              <a:ea typeface="Arial"/>
              <a:cs typeface="Arial"/>
              <a:sym typeface="Arial"/>
            </a:endParaRPr>
          </a:p>
          <a:p>
            <a:pPr marL="0" lvl="0" indent="0" algn="l" rtl="0">
              <a:spcBef>
                <a:spcPts val="0"/>
              </a:spcBef>
              <a:spcAft>
                <a:spcPts val="1200"/>
              </a:spcAft>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53"/>
        <p:cNvGrpSpPr/>
        <p:nvPr/>
      </p:nvGrpSpPr>
      <p:grpSpPr>
        <a:xfrm>
          <a:off x="0" y="0"/>
          <a:ext cx="0" cy="0"/>
          <a:chOff x="0" y="0"/>
          <a:chExt cx="0" cy="0"/>
        </a:xfrm>
      </p:grpSpPr>
      <p:sp>
        <p:nvSpPr>
          <p:cNvPr id="254" name="Google Shape;254;p32"/>
          <p:cNvSpPr txBox="1">
            <a:spLocks noGrp="1"/>
          </p:cNvSpPr>
          <p:nvPr>
            <p:ph type="title"/>
          </p:nvPr>
        </p:nvSpPr>
        <p:spPr>
          <a:xfrm>
            <a:off x="272150" y="401400"/>
            <a:ext cx="8552100" cy="653100"/>
          </a:xfrm>
          <a:prstGeom prst="rect">
            <a:avLst/>
          </a:prstGeom>
          <a:solidFill>
            <a:srgbClr val="F1C232"/>
          </a:solidFill>
          <a:ln w="38100" cap="flat" cmpd="sng">
            <a:solidFill>
              <a:srgbClr val="00B050"/>
            </a:solidFill>
            <a:prstDash val="solid"/>
            <a:round/>
            <a:headEnd type="none" w="sm" len="sm"/>
            <a:tailEnd type="none" w="sm" len="sm"/>
          </a:ln>
        </p:spPr>
        <p:txBody>
          <a:bodyPr spcFirstLastPara="1" wrap="square" lIns="91425" tIns="91425" rIns="91425" bIns="91425" anchor="t" anchorCtr="0">
            <a:normAutofit/>
          </a:bodyPr>
          <a:lstStyle/>
          <a:p>
            <a:pPr marL="0" lvl="0" indent="0" algn="l" rtl="0">
              <a:spcBef>
                <a:spcPts val="0"/>
              </a:spcBef>
              <a:spcAft>
                <a:spcPts val="0"/>
              </a:spcAft>
              <a:buNone/>
            </a:pPr>
            <a:r>
              <a:rPr lang="en"/>
              <a:t>Discounted Payback Period Method</a:t>
            </a:r>
            <a:endParaRPr/>
          </a:p>
        </p:txBody>
      </p:sp>
      <p:sp>
        <p:nvSpPr>
          <p:cNvPr id="255" name="Google Shape;255;p32"/>
          <p:cNvSpPr txBox="1">
            <a:spLocks noGrp="1"/>
          </p:cNvSpPr>
          <p:nvPr>
            <p:ph type="body" idx="1"/>
          </p:nvPr>
        </p:nvSpPr>
        <p:spPr>
          <a:xfrm>
            <a:off x="323150" y="1268725"/>
            <a:ext cx="8450100" cy="3500700"/>
          </a:xfrm>
          <a:prstGeom prst="rect">
            <a:avLst/>
          </a:prstGeom>
          <a:ln w="28575" cap="flat" cmpd="sng">
            <a:solidFill>
              <a:srgbClr val="FF0000"/>
            </a:solidFill>
            <a:prstDash val="solid"/>
            <a:round/>
            <a:headEnd type="none" w="sm" len="sm"/>
            <a:tailEnd type="none" w="sm" len="sm"/>
          </a:ln>
        </p:spPr>
        <p:txBody>
          <a:bodyPr spcFirstLastPara="1" wrap="square" lIns="91425" tIns="91425" rIns="91425" bIns="91425" anchor="t" anchorCtr="0">
            <a:normAutofit fontScale="62500" lnSpcReduction="10000"/>
          </a:bodyPr>
          <a:lstStyle/>
          <a:p>
            <a:pPr marL="0" lvl="0" indent="0" algn="just" rtl="0">
              <a:spcBef>
                <a:spcPts val="0"/>
              </a:spcBef>
              <a:spcAft>
                <a:spcPts val="0"/>
              </a:spcAft>
              <a:buNone/>
            </a:pPr>
            <a:r>
              <a:rPr lang="en" sz="1960">
                <a:solidFill>
                  <a:schemeClr val="accent6"/>
                </a:solidFill>
              </a:rPr>
              <a:t>The discounted payback period (DPP)</a:t>
            </a:r>
            <a:r>
              <a:rPr lang="en" sz="1960"/>
              <a:t> is a capital budgeting technique used to evaluate the profitability of a project or investment. It takes into account the time value of money by discounting future cash flows to their present value. The DPP is calculated as the number of years it takes for the cumulative present value of a project's cash flows to equal the initial investment.</a:t>
            </a:r>
            <a:endParaRPr sz="1960"/>
          </a:p>
          <a:p>
            <a:pPr marL="0" lvl="0" indent="0" algn="just" rtl="0">
              <a:spcBef>
                <a:spcPts val="1200"/>
              </a:spcBef>
              <a:spcAft>
                <a:spcPts val="0"/>
              </a:spcAft>
              <a:buNone/>
            </a:pPr>
            <a:r>
              <a:rPr lang="en" sz="2440" b="1">
                <a:solidFill>
                  <a:srgbClr val="FF0000"/>
                </a:solidFill>
              </a:rPr>
              <a:t>Accept/Reject Criterion of Discounted Payback Period:</a:t>
            </a:r>
            <a:endParaRPr sz="2440" b="1">
              <a:solidFill>
                <a:srgbClr val="FF0000"/>
              </a:solidFill>
            </a:endParaRPr>
          </a:p>
          <a:p>
            <a:pPr marL="0" lvl="0" indent="0" algn="just" rtl="0">
              <a:spcBef>
                <a:spcPts val="1200"/>
              </a:spcBef>
              <a:spcAft>
                <a:spcPts val="0"/>
              </a:spcAft>
              <a:buNone/>
            </a:pPr>
            <a:r>
              <a:rPr lang="en" sz="2600" b="1">
                <a:solidFill>
                  <a:schemeClr val="accent6"/>
                </a:solidFill>
              </a:rPr>
              <a:t>Acceptance Criterion:</a:t>
            </a:r>
            <a:endParaRPr sz="2600" b="1">
              <a:solidFill>
                <a:schemeClr val="accent6"/>
              </a:solidFill>
            </a:endParaRPr>
          </a:p>
          <a:p>
            <a:pPr marL="0" lvl="0" indent="0" algn="just" rtl="0">
              <a:spcBef>
                <a:spcPts val="1200"/>
              </a:spcBef>
              <a:spcAft>
                <a:spcPts val="0"/>
              </a:spcAft>
              <a:buNone/>
            </a:pPr>
            <a:r>
              <a:rPr lang="en" sz="1800"/>
              <a:t>If the discounted payback period of a project is less than or equal to the predetermined maximum payback period (or threshold), the project is accepted.</a:t>
            </a:r>
            <a:endParaRPr sz="1800"/>
          </a:p>
          <a:p>
            <a:pPr marL="0" lvl="0" indent="0" algn="just" rtl="0">
              <a:spcBef>
                <a:spcPts val="1200"/>
              </a:spcBef>
              <a:spcAft>
                <a:spcPts val="0"/>
              </a:spcAft>
              <a:buNone/>
            </a:pPr>
            <a:r>
              <a:rPr lang="en" sz="2600" b="1">
                <a:solidFill>
                  <a:schemeClr val="accent6"/>
                </a:solidFill>
              </a:rPr>
              <a:t>Rejection Criterion:</a:t>
            </a:r>
            <a:endParaRPr sz="2600" b="1">
              <a:solidFill>
                <a:schemeClr val="accent6"/>
              </a:solidFill>
            </a:endParaRPr>
          </a:p>
          <a:p>
            <a:pPr marL="0" lvl="0" indent="0" algn="just" rtl="0">
              <a:spcBef>
                <a:spcPts val="1200"/>
              </a:spcBef>
              <a:spcAft>
                <a:spcPts val="0"/>
              </a:spcAft>
              <a:buNone/>
            </a:pPr>
            <a:r>
              <a:rPr lang="en" sz="1800"/>
              <a:t>If the discounted payback period exceeds the predetermined maximum payback period, the project is rejected.</a:t>
            </a:r>
            <a:endParaRPr sz="1800"/>
          </a:p>
          <a:p>
            <a:pPr marL="0" lvl="0" indent="0" algn="just" rtl="0">
              <a:spcBef>
                <a:spcPts val="1200"/>
              </a:spcBef>
              <a:spcAft>
                <a:spcPts val="0"/>
              </a:spcAft>
              <a:buNone/>
            </a:pPr>
            <a:endParaRPr sz="1800"/>
          </a:p>
          <a:p>
            <a:pPr marL="0" lvl="0" indent="0" algn="l" rtl="0">
              <a:spcBef>
                <a:spcPts val="1200"/>
              </a:spcBef>
              <a:spcAft>
                <a:spcPts val="1200"/>
              </a:spcAft>
              <a:buNone/>
            </a:pPr>
            <a:endParaRPr sz="18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59"/>
        <p:cNvGrpSpPr/>
        <p:nvPr/>
      </p:nvGrpSpPr>
      <p:grpSpPr>
        <a:xfrm>
          <a:off x="0" y="0"/>
          <a:ext cx="0" cy="0"/>
          <a:chOff x="0" y="0"/>
          <a:chExt cx="0" cy="0"/>
        </a:xfrm>
      </p:grpSpPr>
      <p:sp>
        <p:nvSpPr>
          <p:cNvPr id="260" name="Google Shape;260;p33"/>
          <p:cNvSpPr txBox="1">
            <a:spLocks noGrp="1"/>
          </p:cNvSpPr>
          <p:nvPr>
            <p:ph type="title"/>
          </p:nvPr>
        </p:nvSpPr>
        <p:spPr>
          <a:xfrm>
            <a:off x="344100" y="392975"/>
            <a:ext cx="8455800" cy="954600"/>
          </a:xfrm>
          <a:prstGeom prst="rect">
            <a:avLst/>
          </a:prstGeom>
          <a:solidFill>
            <a:srgbClr val="F1C232"/>
          </a:solidFill>
        </p:spPr>
        <p:txBody>
          <a:bodyPr spcFirstLastPara="1" wrap="square" lIns="91425" tIns="91425" rIns="91425" bIns="91425" anchor="t" anchorCtr="0">
            <a:normAutofit/>
          </a:bodyPr>
          <a:lstStyle/>
          <a:p>
            <a:pPr marL="0" lvl="0" indent="0" algn="l" rtl="0">
              <a:spcBef>
                <a:spcPts val="0"/>
              </a:spcBef>
              <a:spcAft>
                <a:spcPts val="0"/>
              </a:spcAft>
              <a:buSzPts val="990"/>
              <a:buNone/>
            </a:pPr>
            <a:r>
              <a:rPr lang="en" sz="2600">
                <a:solidFill>
                  <a:srgbClr val="131314"/>
                </a:solidFill>
              </a:rPr>
              <a:t>Slide 16: Pros and Cons of Discounted Payback Period</a:t>
            </a:r>
            <a:endParaRPr sz="2600">
              <a:solidFill>
                <a:srgbClr val="131314"/>
              </a:solidFill>
            </a:endParaRPr>
          </a:p>
        </p:txBody>
      </p:sp>
      <p:sp>
        <p:nvSpPr>
          <p:cNvPr id="261" name="Google Shape;261;p33"/>
          <p:cNvSpPr txBox="1">
            <a:spLocks noGrp="1"/>
          </p:cNvSpPr>
          <p:nvPr>
            <p:ph type="body" idx="1"/>
          </p:nvPr>
        </p:nvSpPr>
        <p:spPr>
          <a:xfrm>
            <a:off x="344100" y="1639050"/>
            <a:ext cx="8455800" cy="3250800"/>
          </a:xfrm>
          <a:prstGeom prst="rect">
            <a:avLst/>
          </a:prstGeom>
          <a:ln w="28575" cap="flat" cmpd="sng">
            <a:solidFill>
              <a:srgbClr val="FF0000"/>
            </a:solidFill>
            <a:prstDash val="solid"/>
            <a:round/>
            <a:headEnd type="none" w="sm" len="sm"/>
            <a:tailEnd type="none" w="sm" len="sm"/>
          </a:ln>
        </p:spPr>
        <p:txBody>
          <a:bodyPr spcFirstLastPara="1" wrap="square" lIns="91425" tIns="91425" rIns="91425" bIns="91425" anchor="t" anchorCtr="0">
            <a:normAutofit fontScale="25000" lnSpcReduction="20000"/>
          </a:bodyPr>
          <a:lstStyle/>
          <a:p>
            <a:pPr marL="0" lvl="0" indent="0" algn="l" rtl="0">
              <a:spcBef>
                <a:spcPts val="0"/>
              </a:spcBef>
              <a:spcAft>
                <a:spcPts val="0"/>
              </a:spcAft>
              <a:buNone/>
            </a:pPr>
            <a:r>
              <a:rPr lang="en" sz="5607" b="1">
                <a:solidFill>
                  <a:schemeClr val="accent6"/>
                </a:solidFill>
              </a:rPr>
              <a:t>Advantages of Discounted Payback Period:</a:t>
            </a:r>
            <a:endParaRPr sz="5607" b="1">
              <a:solidFill>
                <a:schemeClr val="accent6"/>
              </a:solidFill>
            </a:endParaRPr>
          </a:p>
          <a:p>
            <a:pPr marL="0" lvl="0" indent="0" algn="l" rtl="0">
              <a:spcBef>
                <a:spcPts val="1200"/>
              </a:spcBef>
              <a:spcAft>
                <a:spcPts val="0"/>
              </a:spcAft>
              <a:buNone/>
            </a:pPr>
            <a:r>
              <a:rPr lang="en" sz="4407"/>
              <a:t>     i) Accounts for the time value of money, providing a more accurate measure.</a:t>
            </a:r>
            <a:endParaRPr sz="4407"/>
          </a:p>
          <a:p>
            <a:pPr marL="0" lvl="0" indent="0" algn="l" rtl="0">
              <a:spcBef>
                <a:spcPts val="1200"/>
              </a:spcBef>
              <a:spcAft>
                <a:spcPts val="0"/>
              </a:spcAft>
              <a:buNone/>
            </a:pPr>
            <a:r>
              <a:rPr lang="en" sz="4407"/>
              <a:t>     ii) imple and intuitive concept for decision-makers.</a:t>
            </a:r>
            <a:endParaRPr sz="4407"/>
          </a:p>
          <a:p>
            <a:pPr marL="0" lvl="0" indent="0" algn="l" rtl="0">
              <a:spcBef>
                <a:spcPts val="1200"/>
              </a:spcBef>
              <a:spcAft>
                <a:spcPts val="0"/>
              </a:spcAft>
              <a:buNone/>
            </a:pPr>
            <a:r>
              <a:rPr lang="en" sz="4407"/>
              <a:t>    iii) Offers a sense of risk by measuring the speed of capital recovery.</a:t>
            </a:r>
            <a:endParaRPr sz="4407"/>
          </a:p>
          <a:p>
            <a:pPr marL="0" lvl="0" indent="0" algn="l" rtl="0">
              <a:spcBef>
                <a:spcPts val="1200"/>
              </a:spcBef>
              <a:spcAft>
                <a:spcPts val="0"/>
              </a:spcAft>
              <a:buNone/>
            </a:pPr>
            <a:r>
              <a:rPr lang="en" sz="4407"/>
              <a:t>     iv) Useful for evaluating liquidity, as shorter payback periods mean quicker access to funds.</a:t>
            </a:r>
            <a:endParaRPr sz="4407"/>
          </a:p>
          <a:p>
            <a:pPr marL="0" lvl="0" indent="0" algn="l" rtl="0">
              <a:spcBef>
                <a:spcPts val="1200"/>
              </a:spcBef>
              <a:spcAft>
                <a:spcPts val="0"/>
              </a:spcAft>
              <a:buNone/>
            </a:pPr>
            <a:r>
              <a:rPr lang="en" sz="5607" b="1">
                <a:solidFill>
                  <a:schemeClr val="accent6"/>
                </a:solidFill>
              </a:rPr>
              <a:t>Disadvantages of Discounted Payback Period:</a:t>
            </a:r>
            <a:endParaRPr sz="5607" b="1">
              <a:solidFill>
                <a:schemeClr val="accent6"/>
              </a:solidFill>
            </a:endParaRPr>
          </a:p>
          <a:p>
            <a:pPr marL="0" lvl="0" indent="0" algn="l" rtl="0">
              <a:spcBef>
                <a:spcPts val="1200"/>
              </a:spcBef>
              <a:spcAft>
                <a:spcPts val="0"/>
              </a:spcAft>
              <a:buNone/>
            </a:pPr>
            <a:r>
              <a:rPr lang="en" sz="4407"/>
              <a:t>      i) Does not consider cash flows occurring after the payback period.</a:t>
            </a:r>
            <a:endParaRPr sz="4407"/>
          </a:p>
          <a:p>
            <a:pPr marL="0" lvl="0" indent="0" algn="l" rtl="0">
              <a:spcBef>
                <a:spcPts val="1200"/>
              </a:spcBef>
              <a:spcAft>
                <a:spcPts val="0"/>
              </a:spcAft>
              <a:buNone/>
            </a:pPr>
            <a:r>
              <a:rPr lang="en" sz="4407"/>
              <a:t>     ii) Requires the choice of a discount rate, which can be subjective.</a:t>
            </a:r>
            <a:endParaRPr sz="4407"/>
          </a:p>
          <a:p>
            <a:pPr marL="0" lvl="0" indent="0" algn="l" rtl="0">
              <a:spcBef>
                <a:spcPts val="1200"/>
              </a:spcBef>
              <a:spcAft>
                <a:spcPts val="0"/>
              </a:spcAft>
              <a:buNone/>
            </a:pPr>
            <a:r>
              <a:rPr lang="en" sz="4407"/>
              <a:t>      iv) Fails to assess overall profitability, unlike NPV or IRR.</a:t>
            </a:r>
            <a:endParaRPr sz="4407"/>
          </a:p>
          <a:p>
            <a:pPr marL="0" lvl="0" indent="0" algn="l" rtl="0">
              <a:spcBef>
                <a:spcPts val="1200"/>
              </a:spcBef>
              <a:spcAft>
                <a:spcPts val="0"/>
              </a:spcAft>
              <a:buNone/>
            </a:pPr>
            <a:r>
              <a:rPr lang="en" sz="4407"/>
              <a:t>      iv) Treats cash flows before and after the payback period differently.</a:t>
            </a:r>
            <a:endParaRPr sz="4407"/>
          </a:p>
          <a:p>
            <a:pPr marL="0" lvl="0" indent="0" algn="l" rtl="0">
              <a:spcBef>
                <a:spcPts val="1200"/>
              </a:spcBef>
              <a:spcAft>
                <a:spcPts val="0"/>
              </a:spcAft>
              <a:buNone/>
            </a:pPr>
            <a:r>
              <a:rPr lang="en" sz="4407"/>
              <a:t>Tends to favor shorter-term projects, potentially discouraging long-term investments.</a:t>
            </a:r>
            <a:endParaRPr sz="4407"/>
          </a:p>
          <a:p>
            <a:pPr marL="0" lvl="0" indent="0" algn="l" rtl="0">
              <a:spcBef>
                <a:spcPts val="1200"/>
              </a:spcBef>
              <a:spcAft>
                <a:spcPts val="1200"/>
              </a:spcAft>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5"/>
        <p:cNvGrpSpPr/>
        <p:nvPr/>
      </p:nvGrpSpPr>
      <p:grpSpPr>
        <a:xfrm>
          <a:off x="0" y="0"/>
          <a:ext cx="0" cy="0"/>
          <a:chOff x="0" y="0"/>
          <a:chExt cx="0" cy="0"/>
        </a:xfrm>
      </p:grpSpPr>
      <p:sp>
        <p:nvSpPr>
          <p:cNvPr id="266" name="Google Shape;266;p34"/>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a:solidFill>
                  <a:srgbClr val="FF00FF"/>
                </a:solidFill>
              </a:rPr>
              <a:t>The End</a:t>
            </a:r>
            <a:endParaRPr>
              <a:solidFill>
                <a:srgbClr val="FF00FF"/>
              </a:solidFill>
            </a:endParaRPr>
          </a:p>
        </p:txBody>
      </p:sp>
      <p:sp>
        <p:nvSpPr>
          <p:cNvPr id="267" name="Google Shape;267;p34"/>
          <p:cNvSpPr txBox="1">
            <a:spLocks noGrp="1"/>
          </p:cNvSpPr>
          <p:nvPr>
            <p:ph type="body" idx="1"/>
          </p:nvPr>
        </p:nvSpPr>
        <p:spPr>
          <a:xfrm>
            <a:off x="377200" y="2194550"/>
            <a:ext cx="8394300" cy="2345400"/>
          </a:xfrm>
          <a:prstGeom prst="rect">
            <a:avLst/>
          </a:prstGeom>
        </p:spPr>
        <p:txBody>
          <a:bodyPr spcFirstLastPara="1" wrap="square" lIns="91425" tIns="91425" rIns="91425" bIns="91425" anchor="t" anchorCtr="0">
            <a:normAutofit/>
          </a:bodyPr>
          <a:lstStyle/>
          <a:p>
            <a:pPr marL="0" lvl="0" indent="0" algn="ctr" rtl="0">
              <a:spcBef>
                <a:spcPts val="0"/>
              </a:spcBef>
              <a:spcAft>
                <a:spcPts val="1200"/>
              </a:spcAft>
              <a:buNone/>
            </a:pPr>
            <a:r>
              <a:rPr lang="en" sz="2700" b="1">
                <a:solidFill>
                  <a:schemeClr val="accent4"/>
                </a:solidFill>
              </a:rPr>
              <a:t>Thank You</a:t>
            </a:r>
            <a:endParaRPr sz="2700" b="1">
              <a:solidFill>
                <a:schemeClr val="accent4"/>
              </a:solidFill>
            </a:endParaRPr>
          </a:p>
        </p:txBody>
      </p:sp>
      <p:sp>
        <p:nvSpPr>
          <p:cNvPr id="268" name="Google Shape;268;p34"/>
          <p:cNvSpPr txBox="1"/>
          <p:nvPr/>
        </p:nvSpPr>
        <p:spPr>
          <a:xfrm>
            <a:off x="282300" y="965875"/>
            <a:ext cx="8579400" cy="384900"/>
          </a:xfrm>
          <a:prstGeom prst="rect">
            <a:avLst/>
          </a:prstGeom>
          <a:noFill/>
          <a:ln w="9525" cap="flat" cmpd="sng">
            <a:solidFill>
              <a:srgbClr val="F47C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endParaRPr sz="1300">
              <a:solidFill>
                <a:schemeClr val="dk2"/>
              </a:solidFill>
              <a:latin typeface="Calibri"/>
              <a:ea typeface="Calibri"/>
              <a:cs typeface="Calibri"/>
              <a:sym typeface="Calibri"/>
            </a:endParaRPr>
          </a:p>
        </p:txBody>
      </p:sp>
      <p:sp>
        <p:nvSpPr>
          <p:cNvPr id="269" name="Google Shape;269;p34"/>
          <p:cNvSpPr txBox="1"/>
          <p:nvPr/>
        </p:nvSpPr>
        <p:spPr>
          <a:xfrm>
            <a:off x="1755650" y="3140975"/>
            <a:ext cx="73998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300">
              <a:solidFill>
                <a:schemeClr val="dk2"/>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TotalTime>
  <Words>1695</Words>
  <Application>Microsoft Office PowerPoint</Application>
  <PresentationFormat>On-screen Show (16:9)</PresentationFormat>
  <Paragraphs>172</Paragraphs>
  <Slides>19</Slides>
  <Notes>19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Nunito</vt:lpstr>
      <vt:lpstr>Monotype Corsiva</vt:lpstr>
      <vt:lpstr>Nunito Black</vt:lpstr>
      <vt:lpstr>Calibri</vt:lpstr>
      <vt:lpstr>Poppins</vt:lpstr>
      <vt:lpstr>Shift</vt:lpstr>
      <vt:lpstr>PowerPoint Presentation</vt:lpstr>
      <vt:lpstr>PowerPoint Presentation</vt:lpstr>
      <vt:lpstr>“Capital budgeting is a process used by organizations to evaluate and select long-term investment projects that will create value for the company.” Capital Budgeting is defined as the firm’s formal process for the acquisition and investment of capital” “Capital Budgeting is long-term planning for making and financing proposed capital outlays.” Charles T Horngreen </vt:lpstr>
      <vt:lpstr>Slide 2:The Main features of Capital budgeting are   </vt:lpstr>
      <vt:lpstr>Slide 3: Significance of capital budgeting: </vt:lpstr>
      <vt:lpstr>Slide 4: Techniques of Capital Budgeting:</vt:lpstr>
      <vt:lpstr>Slide 5: Payback Period Method </vt:lpstr>
      <vt:lpstr>Slide 6: Formula for Calculating Payback Period </vt:lpstr>
      <vt:lpstr>                i) It is easy to calculate and simple to understand.        ii) It Measures the liquidity of the investment.    iii) This method is handy for industries with uncertainty because it focuses on quickly getting your investment back.    iii) For firms seeking rapid investment recovery, the payback period method is ideal for determining how quickly they can recoup their initial investments. </vt:lpstr>
      <vt:lpstr>Slide 8: Demerits of the Payback Period Method </vt:lpstr>
      <vt:lpstr>Slide 9: Average Rate of Return Method: </vt:lpstr>
      <vt:lpstr>Slide 10:Pros &amp; Cons of Accounting Rate of Return Method </vt:lpstr>
      <vt:lpstr>Slide 11: Net Present Value Method: </vt:lpstr>
      <vt:lpstr>Slide 12: Merits and Demerits of Net Present Value Method </vt:lpstr>
      <vt:lpstr>Slide 13: Profitability Index Method (PI) </vt:lpstr>
      <vt:lpstr>Slide 14: Merits and Demerits of Profitability Index Method:</vt:lpstr>
      <vt:lpstr>Discounted Payback Period Method</vt:lpstr>
      <vt:lpstr>Slide 16: Pros and Cons of Discounted Payback Period</vt:lpstr>
      <vt:lpstr>The End</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User</cp:lastModifiedBy>
  <cp:revision>2</cp:revision>
  <dcterms:modified xsi:type="dcterms:W3CDTF">2024-10-27T05:07:03Z</dcterms:modified>
</cp:coreProperties>
</file>