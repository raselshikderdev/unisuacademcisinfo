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7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109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0438" y="213040"/>
            <a:ext cx="7315200" cy="2595025"/>
          </a:xfrm>
        </p:spPr>
        <p:txBody>
          <a:bodyPr>
            <a:normAutofit/>
          </a:bodyPr>
          <a:lstStyle/>
          <a:p>
            <a:r>
              <a:rPr dirty="0"/>
              <a:t>Comprehensive Overview of Risk, Return, CAPM, and Financial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0438" y="3217956"/>
            <a:ext cx="7315200" cy="1144632"/>
          </a:xfrm>
        </p:spPr>
        <p:txBody>
          <a:bodyPr>
            <a:normAutofit/>
          </a:bodyPr>
          <a:lstStyle/>
          <a:p>
            <a:r>
              <a:rPr dirty="0"/>
              <a:t>A detailed analysis of risk management, diversification, CAPM, and market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723" y="0"/>
            <a:ext cx="7315200" cy="1154097"/>
          </a:xfrm>
        </p:spPr>
        <p:txBody>
          <a:bodyPr>
            <a:normAutofit/>
          </a:bodyPr>
          <a:lstStyle/>
          <a:p>
            <a:r>
              <a:rPr dirty="0"/>
              <a:t>Defining Risk and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770" y="1626833"/>
            <a:ext cx="8581292" cy="4158505"/>
          </a:xfrm>
        </p:spPr>
        <p:txBody>
          <a:bodyPr>
            <a:normAutofit/>
          </a:bodyPr>
          <a:lstStyle/>
          <a:p>
            <a:pPr algn="just"/>
            <a:r>
              <a:rPr sz="2800" dirty="0" smtClean="0">
                <a:solidFill>
                  <a:srgbClr val="FF0000"/>
                </a:solidFill>
              </a:rPr>
              <a:t>Risk</a:t>
            </a:r>
            <a:r>
              <a:rPr sz="2800" dirty="0">
                <a:solidFill>
                  <a:srgbClr val="FF0000"/>
                </a:solidFill>
              </a:rPr>
              <a:t>: </a:t>
            </a:r>
            <a:r>
              <a:rPr dirty="0"/>
              <a:t>The uncertainty about the future outcomes of an investment</a:t>
            </a:r>
            <a:r>
              <a:rPr dirty="0" smtClean="0"/>
              <a:t>.</a:t>
            </a:r>
            <a:r>
              <a:rPr lang="en-US" dirty="0" smtClean="0"/>
              <a:t> Risk can be define as the chances of financial loses. Or, The deviation from expected return to actual return. </a:t>
            </a:r>
          </a:p>
          <a:p>
            <a:pPr algn="just"/>
            <a:endParaRPr sz="2400" dirty="0">
              <a:solidFill>
                <a:srgbClr val="FF0000"/>
              </a:solidFill>
            </a:endParaRPr>
          </a:p>
          <a:p>
            <a:pPr algn="just"/>
            <a:r>
              <a:rPr sz="2400" dirty="0" smtClean="0">
                <a:solidFill>
                  <a:srgbClr val="FF0000"/>
                </a:solidFill>
              </a:rPr>
              <a:t>Return</a:t>
            </a:r>
            <a:r>
              <a:rPr sz="2400" dirty="0">
                <a:solidFill>
                  <a:srgbClr val="FF0000"/>
                </a:solidFill>
              </a:rPr>
              <a:t>: </a:t>
            </a:r>
            <a:r>
              <a:rPr dirty="0"/>
              <a:t>The gain or loss from an investment over a specified period</a:t>
            </a:r>
            <a:r>
              <a:rPr dirty="0" smtClean="0"/>
              <a:t>.</a:t>
            </a:r>
            <a:endParaRPr lang="en-US" dirty="0" smtClean="0"/>
          </a:p>
          <a:p>
            <a:pPr marL="45720" indent="0" algn="just">
              <a:buNone/>
            </a:pPr>
            <a:r>
              <a:rPr lang="en-US" dirty="0" smtClean="0"/>
              <a:t>  Return= The sum of Capital gain and Dividend gain</a:t>
            </a:r>
            <a:endParaRPr lang="en-US" dirty="0" smtClean="0"/>
          </a:p>
          <a:p>
            <a:pPr marL="45720" indent="0" algn="just">
              <a:buNone/>
            </a:pPr>
            <a:endParaRPr dirty="0"/>
          </a:p>
          <a:p>
            <a:pPr algn="just"/>
            <a:r>
              <a:rPr sz="2400" b="1" dirty="0" smtClean="0">
                <a:solidFill>
                  <a:srgbClr val="FF0000"/>
                </a:solidFill>
              </a:rPr>
              <a:t>The </a:t>
            </a:r>
            <a:r>
              <a:rPr sz="2400" b="1" dirty="0">
                <a:solidFill>
                  <a:srgbClr val="FF0000"/>
                </a:solidFill>
              </a:rPr>
              <a:t>relationship: </a:t>
            </a:r>
            <a:r>
              <a:rPr dirty="0"/>
              <a:t>Higher potential returns are often associated with higher </a:t>
            </a:r>
            <a:r>
              <a:rPr dirty="0" smtClean="0"/>
              <a:t>risk</a:t>
            </a:r>
            <a:r>
              <a:rPr lang="en-US" dirty="0" smtClean="0"/>
              <a:t> and vice versa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08" y="29708"/>
            <a:ext cx="7315200" cy="1005654"/>
          </a:xfrm>
        </p:spPr>
        <p:txBody>
          <a:bodyPr/>
          <a:lstStyle/>
          <a:p>
            <a:r>
              <a:rPr lang="en-US" dirty="0" smtClean="0"/>
              <a:t>        </a:t>
            </a:r>
            <a:r>
              <a:rPr dirty="0" smtClean="0"/>
              <a:t>Types </a:t>
            </a:r>
            <a:r>
              <a:rPr dirty="0"/>
              <a:t>of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224" y="1116623"/>
            <a:ext cx="8765930" cy="50907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sz="2400" dirty="0" smtClean="0">
                <a:solidFill>
                  <a:srgbClr val="FF0000"/>
                </a:solidFill>
              </a:rPr>
              <a:t>Systematic </a:t>
            </a:r>
            <a:r>
              <a:rPr sz="2400" dirty="0">
                <a:solidFill>
                  <a:srgbClr val="FF0000"/>
                </a:solidFill>
              </a:rPr>
              <a:t>Risk: </a:t>
            </a:r>
            <a:r>
              <a:rPr lang="en-US" dirty="0"/>
              <a:t>Also known as market risk or non-diversifiable risk, it is the risk inherent to the entire market or economy. It's influenced by factors like economic downturns, interest rate changes, political instability, and natural disasters</a:t>
            </a:r>
            <a:r>
              <a:rPr lang="en-US" dirty="0" smtClean="0"/>
              <a:t>.</a:t>
            </a:r>
          </a:p>
          <a:p>
            <a:pPr marL="4572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b="1" dirty="0">
                <a:solidFill>
                  <a:srgbClr val="00B050"/>
                </a:solidFill>
              </a:rPr>
              <a:t>Impact:</a:t>
            </a:r>
            <a:r>
              <a:rPr lang="en-US" dirty="0"/>
              <a:t> Systematic risk affects all securities in the market, regardless of </a:t>
            </a:r>
            <a:r>
              <a:rPr lang="en-US" dirty="0" smtClean="0"/>
              <a:t> the </a:t>
            </a:r>
            <a:r>
              <a:rPr lang="en-US" dirty="0"/>
              <a:t>individual company's performance</a:t>
            </a:r>
            <a:r>
              <a:rPr lang="en-US" dirty="0" smtClean="0"/>
              <a:t>.</a:t>
            </a:r>
          </a:p>
          <a:p>
            <a:pPr marL="45720" indent="0" algn="just">
              <a:buNone/>
            </a:pPr>
            <a:r>
              <a:rPr lang="en-US" dirty="0" smtClean="0">
                <a:solidFill>
                  <a:srgbClr val="00B050"/>
                </a:solidFill>
              </a:rPr>
              <a:t>    Mitigating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While it's impossible to completely eliminate systematic risk, investors can partially manage it by diversifying their portfolios across different asset classes (like stocks, bonds, and real estate) and industries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sz="2400" dirty="0" smtClean="0">
                <a:solidFill>
                  <a:srgbClr val="FF0000"/>
                </a:solidFill>
              </a:rPr>
              <a:t>Unsystematic </a:t>
            </a:r>
            <a:r>
              <a:rPr sz="2400" dirty="0">
                <a:solidFill>
                  <a:srgbClr val="FF0000"/>
                </a:solidFill>
              </a:rPr>
              <a:t>Risk:</a:t>
            </a:r>
            <a:r>
              <a:rPr dirty="0"/>
              <a:t> </a:t>
            </a:r>
            <a:r>
              <a:rPr lang="en-US" dirty="0"/>
              <a:t>Also known as specific risk or diversifiable risk, it is the risk associated with a particular company or industry. It's influenced by factors like product failures, labor disputes, lawsuits, or changes in management</a:t>
            </a:r>
            <a:r>
              <a:rPr lang="en-US" dirty="0" smtClean="0"/>
              <a:t>.</a:t>
            </a:r>
          </a:p>
          <a:p>
            <a:pPr marL="45720" indent="0" algn="just">
              <a:buNone/>
            </a:pPr>
            <a:r>
              <a:rPr lang="en-US" dirty="0" smtClean="0"/>
              <a:t>     </a:t>
            </a:r>
            <a:r>
              <a:rPr lang="en-US" dirty="0" smtClean="0">
                <a:solidFill>
                  <a:srgbClr val="00B050"/>
                </a:solidFill>
              </a:rPr>
              <a:t>Impact</a:t>
            </a:r>
            <a:r>
              <a:rPr lang="en-US" dirty="0">
                <a:solidFill>
                  <a:srgbClr val="00B050"/>
                </a:solidFill>
              </a:rPr>
              <a:t>:</a:t>
            </a:r>
            <a:r>
              <a:rPr lang="en-US" dirty="0"/>
              <a:t> Unsystematic risk primarily affects individual securities</a:t>
            </a:r>
            <a:r>
              <a:rPr lang="en-US" dirty="0" smtClean="0"/>
              <a:t>.</a:t>
            </a:r>
          </a:p>
          <a:p>
            <a:pPr marL="45720" indent="0" algn="just">
              <a:buNone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   Mitigating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Investors can significantly reduce unsystematic risk by diversifying their portfolios across multiple companies within different industries.</a:t>
            </a:r>
            <a:endParaRPr dirty="0"/>
          </a:p>
          <a:p>
            <a:pPr algn="just"/>
            <a:r>
              <a:rPr sz="2400" dirty="0" smtClean="0">
                <a:solidFill>
                  <a:srgbClr val="FF0000"/>
                </a:solidFill>
              </a:rPr>
              <a:t>Total </a:t>
            </a:r>
            <a:r>
              <a:rPr sz="2400" dirty="0">
                <a:solidFill>
                  <a:srgbClr val="FF0000"/>
                </a:solidFill>
              </a:rPr>
              <a:t>Risk: </a:t>
            </a:r>
            <a:r>
              <a:rPr dirty="0"/>
              <a:t>The combination of systematic and unsystematic risks.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0"/>
            <a:ext cx="8642838" cy="1154097"/>
          </a:xfrm>
        </p:spPr>
        <p:txBody>
          <a:bodyPr>
            <a:normAutofit/>
          </a:bodyPr>
          <a:lstStyle/>
          <a:p>
            <a:r>
              <a:rPr dirty="0"/>
              <a:t>Measuring Risk: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731" y="1611554"/>
            <a:ext cx="8405445" cy="3539527"/>
          </a:xfrm>
        </p:spPr>
        <p:txBody>
          <a:bodyPr/>
          <a:lstStyle/>
          <a:p>
            <a:pPr algn="just"/>
            <a:r>
              <a:rPr sz="2400" b="1" dirty="0" smtClean="0">
                <a:solidFill>
                  <a:srgbClr val="00B050"/>
                </a:solidFill>
              </a:rPr>
              <a:t>Standard </a:t>
            </a:r>
            <a:r>
              <a:rPr sz="2400" b="1" dirty="0">
                <a:solidFill>
                  <a:srgbClr val="00B050"/>
                </a:solidFill>
              </a:rPr>
              <a:t>deviation </a:t>
            </a:r>
            <a:r>
              <a:rPr dirty="0"/>
              <a:t>shows how much returns can deviate from the expected return.</a:t>
            </a:r>
          </a:p>
          <a:p>
            <a:pPr marL="45720" indent="0" algn="just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dirty="0"/>
              <a:t>Higher standard deviation = higher investment risk.</a:t>
            </a:r>
          </a:p>
          <a:p>
            <a:pPr marL="45720" indent="0" algn="just">
              <a:buNone/>
            </a:pPr>
            <a:r>
              <a:rPr lang="en-US" smtClean="0"/>
              <a:t>      </a:t>
            </a:r>
            <a:r>
              <a:rPr smtClean="0"/>
              <a:t>• </a:t>
            </a:r>
            <a:r>
              <a:rPr dirty="0"/>
              <a:t>It helps investors understand volatility in investment returns.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462" y="0"/>
            <a:ext cx="7719646" cy="1154097"/>
          </a:xfrm>
        </p:spPr>
        <p:txBody>
          <a:bodyPr>
            <a:normAutofit/>
          </a:bodyPr>
          <a:lstStyle/>
          <a:p>
            <a:r>
              <a:rPr sz="3200" dirty="0"/>
              <a:t>Probability Distribution to Measure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462" y="1530118"/>
            <a:ext cx="7315200" cy="3539527"/>
          </a:xfrm>
        </p:spPr>
        <p:txBody>
          <a:bodyPr/>
          <a:lstStyle/>
          <a:p>
            <a:r>
              <a:rPr dirty="0"/>
              <a:t>• Probability distribution describes possible outcomes and their likelihood.</a:t>
            </a:r>
          </a:p>
          <a:p>
            <a:r>
              <a:rPr dirty="0"/>
              <a:t>• Normal distribution (bell curve) is commonly used in finance.</a:t>
            </a:r>
          </a:p>
          <a:p>
            <a:r>
              <a:rPr dirty="0"/>
              <a:t>• It helps estimate how likely different outcomes (returns) are to occur.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969" y="390618"/>
            <a:ext cx="7315200" cy="1154097"/>
          </a:xfrm>
        </p:spPr>
        <p:txBody>
          <a:bodyPr/>
          <a:lstStyle/>
          <a:p>
            <a:r>
              <a:rPr dirty="0"/>
              <a:t>Expected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761" y="2215918"/>
            <a:ext cx="8088924" cy="3539527"/>
          </a:xfrm>
        </p:spPr>
        <p:txBody>
          <a:bodyPr/>
          <a:lstStyle/>
          <a:p>
            <a:r>
              <a:rPr dirty="0"/>
              <a:t>• Expected return is the weighted average of all possible outcomes.</a:t>
            </a:r>
          </a:p>
          <a:p>
            <a:r>
              <a:rPr dirty="0"/>
              <a:t>• Formula: E(R) = Σ [Probability * Return].</a:t>
            </a:r>
          </a:p>
          <a:p>
            <a:r>
              <a:rPr dirty="0"/>
              <a:t>• It provides a central estimate of what an investment is likely to earn.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6510"/>
            <a:ext cx="7315200" cy="1154097"/>
          </a:xfrm>
        </p:spPr>
        <p:txBody>
          <a:bodyPr/>
          <a:lstStyle/>
          <a:p>
            <a:r>
              <a:rPr dirty="0"/>
              <a:t>Risk-Return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477" y="1688379"/>
            <a:ext cx="7315200" cy="3539527"/>
          </a:xfrm>
        </p:spPr>
        <p:txBody>
          <a:bodyPr/>
          <a:lstStyle/>
          <a:p>
            <a:pPr algn="just"/>
            <a:r>
              <a:rPr dirty="0"/>
              <a:t>• Higher risk is usually associated with higher potential returns.</a:t>
            </a:r>
          </a:p>
          <a:p>
            <a:pPr algn="just"/>
            <a:r>
              <a:rPr dirty="0"/>
              <a:t>• Low-risk investments like bonds offer lower returns.</a:t>
            </a:r>
          </a:p>
          <a:p>
            <a:pPr algn="just"/>
            <a:r>
              <a:rPr dirty="0"/>
              <a:t>• Higher-risk investments like stocks offer higher potential returns, but with greater volatility.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930" y="304999"/>
            <a:ext cx="7315200" cy="855585"/>
          </a:xfrm>
        </p:spPr>
        <p:txBody>
          <a:bodyPr/>
          <a:lstStyle/>
          <a:p>
            <a:r>
              <a:rPr dirty="0"/>
              <a:t>Attributes Towards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631" y="1574080"/>
            <a:ext cx="7315200" cy="3539527"/>
          </a:xfrm>
        </p:spPr>
        <p:txBody>
          <a:bodyPr/>
          <a:lstStyle/>
          <a:p>
            <a:pPr algn="just"/>
            <a:r>
              <a:rPr dirty="0"/>
              <a:t>1. Risk Aversion: Preference for lower risk and certainty of returns.</a:t>
            </a:r>
          </a:p>
          <a:p>
            <a:pPr algn="just"/>
            <a:r>
              <a:rPr dirty="0"/>
              <a:t>2. Risk Seeking: Preference for higher risk with a hope for higher rewards.</a:t>
            </a:r>
          </a:p>
          <a:p>
            <a:pPr algn="just"/>
            <a:r>
              <a:rPr dirty="0"/>
              <a:t>3. Risk Neutrality: Indifference to risk, focusing solely on expected returns.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16" y="390619"/>
            <a:ext cx="7315200" cy="708420"/>
          </a:xfrm>
        </p:spPr>
        <p:txBody>
          <a:bodyPr/>
          <a:lstStyle/>
          <a:p>
            <a:r>
              <a:rPr dirty="0"/>
              <a:t>Diversification: Reducing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516" y="1538910"/>
            <a:ext cx="7315200" cy="3539527"/>
          </a:xfrm>
        </p:spPr>
        <p:txBody>
          <a:bodyPr/>
          <a:lstStyle/>
          <a:p>
            <a:pPr algn="just"/>
            <a:r>
              <a:rPr dirty="0"/>
              <a:t>• Diversification means spreading investments across different asset classes.</a:t>
            </a:r>
          </a:p>
          <a:p>
            <a:pPr algn="just"/>
            <a:r>
              <a:rPr dirty="0"/>
              <a:t>• It reduces unsystematic risk (company-specific risk).</a:t>
            </a:r>
          </a:p>
          <a:p>
            <a:pPr algn="just"/>
            <a:r>
              <a:rPr dirty="0"/>
              <a:t>• A well-diversified portfolio helps manage risks without sacrificing returns.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54" y="0"/>
            <a:ext cx="7315200" cy="1154097"/>
          </a:xfrm>
        </p:spPr>
        <p:txBody>
          <a:bodyPr/>
          <a:lstStyle/>
          <a:p>
            <a:r>
              <a:rPr dirty="0"/>
              <a:t>The Power of 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54" y="1532423"/>
            <a:ext cx="7315200" cy="3539527"/>
          </a:xfrm>
        </p:spPr>
        <p:txBody>
          <a:bodyPr/>
          <a:lstStyle/>
          <a:p>
            <a:pPr algn="just"/>
            <a:r>
              <a:rPr dirty="0"/>
              <a:t>• Combining assets with low correlation reduces overall portfolio risk.</a:t>
            </a:r>
          </a:p>
          <a:p>
            <a:pPr algn="just"/>
            <a:r>
              <a:rPr dirty="0"/>
              <a:t>• As one asset class drops, another may rise, balancing the risk.</a:t>
            </a:r>
          </a:p>
          <a:p>
            <a:pPr algn="just"/>
            <a:r>
              <a:rPr dirty="0"/>
              <a:t>• Diversification doesn't eliminate systematic (market-wide) risk.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315200" cy="1154097"/>
          </a:xfrm>
        </p:spPr>
        <p:txBody>
          <a:bodyPr/>
          <a:lstStyle/>
          <a:p>
            <a:r>
              <a:rPr dirty="0"/>
              <a:t>Introduction to CAPM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061" y="1435451"/>
            <a:ext cx="7315200" cy="3539527"/>
          </a:xfrm>
        </p:spPr>
        <p:txBody>
          <a:bodyPr/>
          <a:lstStyle/>
          <a:p>
            <a:r>
              <a:rPr dirty="0"/>
              <a:t>• CAPM explains the relationship between systematic risk and expected return.</a:t>
            </a:r>
          </a:p>
          <a:p>
            <a:r>
              <a:rPr dirty="0"/>
              <a:t>• Formula: E(R) = </a:t>
            </a:r>
            <a:r>
              <a:rPr dirty="0" err="1"/>
              <a:t>Rf</a:t>
            </a:r>
            <a:r>
              <a:rPr dirty="0"/>
              <a:t> + β * (</a:t>
            </a:r>
            <a:r>
              <a:rPr dirty="0" err="1"/>
              <a:t>Rm</a:t>
            </a:r>
            <a:r>
              <a:rPr dirty="0"/>
              <a:t> - </a:t>
            </a:r>
            <a:r>
              <a:rPr dirty="0" err="1"/>
              <a:t>Rf</a:t>
            </a:r>
            <a:r>
              <a:rPr dirty="0"/>
              <a:t>).</a:t>
            </a:r>
          </a:p>
          <a:p>
            <a:r>
              <a:rPr dirty="0"/>
              <a:t>Where:</a:t>
            </a:r>
          </a:p>
          <a:p>
            <a:r>
              <a:rPr dirty="0"/>
              <a:t>  - E(R) = Expected return</a:t>
            </a:r>
          </a:p>
          <a:p>
            <a:r>
              <a:rPr dirty="0"/>
              <a:t>  - </a:t>
            </a:r>
            <a:r>
              <a:rPr dirty="0" err="1"/>
              <a:t>Rf</a:t>
            </a:r>
            <a:r>
              <a:rPr dirty="0"/>
              <a:t> = Risk-free rate</a:t>
            </a:r>
          </a:p>
          <a:p>
            <a:r>
              <a:rPr dirty="0"/>
              <a:t>  - β = Beta (volatility relative to market)</a:t>
            </a:r>
          </a:p>
          <a:p>
            <a:r>
              <a:rPr dirty="0"/>
              <a:t>  - </a:t>
            </a:r>
            <a:r>
              <a:rPr dirty="0" err="1"/>
              <a:t>Rm</a:t>
            </a:r>
            <a:r>
              <a:rPr dirty="0"/>
              <a:t> = Market return.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53" y="217077"/>
            <a:ext cx="7315200" cy="1154097"/>
          </a:xfrm>
        </p:spPr>
        <p:txBody>
          <a:bodyPr/>
          <a:lstStyle/>
          <a:p>
            <a:r>
              <a:rPr dirty="0"/>
              <a:t>Understanding Beta in CAPM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67509"/>
            <a:ext cx="7315200" cy="3539527"/>
          </a:xfrm>
        </p:spPr>
        <p:txBody>
          <a:bodyPr/>
          <a:lstStyle/>
          <a:p>
            <a:pPr algn="just"/>
            <a:r>
              <a:rPr dirty="0"/>
              <a:t>• Beta measures an asset’s volatility relative to the overall market.</a:t>
            </a:r>
          </a:p>
          <a:p>
            <a:pPr algn="just"/>
            <a:r>
              <a:rPr dirty="0"/>
              <a:t>• Beta &gt; 1: The asset is more volatile than the market.</a:t>
            </a:r>
          </a:p>
          <a:p>
            <a:pPr algn="just"/>
            <a:r>
              <a:rPr dirty="0"/>
              <a:t>• Beta &lt; 1: The asset is less volatile than the market.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474998"/>
            <a:ext cx="7948246" cy="685373"/>
          </a:xfrm>
        </p:spPr>
        <p:txBody>
          <a:bodyPr>
            <a:normAutofit/>
          </a:bodyPr>
          <a:lstStyle/>
          <a:p>
            <a:r>
              <a:rPr sz="3200" dirty="0"/>
              <a:t>Risk-Free Rate and Market Risk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162" y="1424183"/>
            <a:ext cx="8247184" cy="3539527"/>
          </a:xfrm>
        </p:spPr>
        <p:txBody>
          <a:bodyPr/>
          <a:lstStyle/>
          <a:p>
            <a:pPr algn="just"/>
            <a:r>
              <a:rPr dirty="0"/>
              <a:t>• Risk-free rate (</a:t>
            </a:r>
            <a:r>
              <a:rPr dirty="0" err="1"/>
              <a:t>Rf</a:t>
            </a:r>
            <a:r>
              <a:rPr dirty="0"/>
              <a:t>) is the return on a riskless investment (like government bonds).</a:t>
            </a:r>
          </a:p>
          <a:p>
            <a:pPr algn="just"/>
            <a:r>
              <a:rPr dirty="0"/>
              <a:t>• Market risk premium (</a:t>
            </a:r>
            <a:r>
              <a:rPr dirty="0" err="1"/>
              <a:t>Rm</a:t>
            </a:r>
            <a:r>
              <a:rPr dirty="0"/>
              <a:t> - </a:t>
            </a:r>
            <a:r>
              <a:rPr dirty="0" err="1"/>
              <a:t>Rf</a:t>
            </a:r>
            <a:r>
              <a:rPr dirty="0"/>
              <a:t>) is the extra return investors expect for taking on risk.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54" y="124118"/>
            <a:ext cx="7315200" cy="1154097"/>
          </a:xfrm>
        </p:spPr>
        <p:txBody>
          <a:bodyPr/>
          <a:lstStyle/>
          <a:p>
            <a:r>
              <a:rPr dirty="0"/>
              <a:t>Example of CAPM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54" y="1538910"/>
            <a:ext cx="7315200" cy="3539527"/>
          </a:xfrm>
        </p:spPr>
        <p:txBody>
          <a:bodyPr/>
          <a:lstStyle/>
          <a:p>
            <a:r>
              <a:rPr dirty="0"/>
              <a:t>Assume:</a:t>
            </a:r>
          </a:p>
          <a:p>
            <a:r>
              <a:rPr dirty="0"/>
              <a:t>• Risk-free rate (</a:t>
            </a:r>
            <a:r>
              <a:rPr dirty="0" err="1"/>
              <a:t>Rf</a:t>
            </a:r>
            <a:r>
              <a:rPr dirty="0"/>
              <a:t>) = 2%</a:t>
            </a:r>
          </a:p>
          <a:p>
            <a:r>
              <a:rPr dirty="0"/>
              <a:t>• Market return (</a:t>
            </a:r>
            <a:r>
              <a:rPr dirty="0" err="1"/>
              <a:t>Rm</a:t>
            </a:r>
            <a:r>
              <a:rPr dirty="0"/>
              <a:t>) = 8%</a:t>
            </a:r>
          </a:p>
          <a:p>
            <a:r>
              <a:rPr dirty="0"/>
              <a:t>• Beta (β) = 1.5</a:t>
            </a:r>
          </a:p>
          <a:p>
            <a:r>
              <a:rPr dirty="0"/>
              <a:t>Expected return = 2% + 1.5 * (8% - 2%) = 11%.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56"/>
            <a:ext cx="7315200" cy="1154097"/>
          </a:xfrm>
        </p:spPr>
        <p:txBody>
          <a:bodyPr/>
          <a:lstStyle/>
          <a:p>
            <a:r>
              <a:rPr dirty="0"/>
              <a:t>Efficient Financial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10310"/>
            <a:ext cx="7315200" cy="3539527"/>
          </a:xfrm>
        </p:spPr>
        <p:txBody>
          <a:bodyPr/>
          <a:lstStyle/>
          <a:p>
            <a:pPr algn="just"/>
            <a:r>
              <a:rPr dirty="0"/>
              <a:t>• Efficient markets reflect all available information in asset prices.</a:t>
            </a:r>
          </a:p>
          <a:p>
            <a:pPr algn="just"/>
            <a:r>
              <a:rPr dirty="0"/>
              <a:t>• Efficient Market Hypothesis (EMH) suggests it's impossible to consistently outperform the market without taking additional risks.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of Market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Weak Form: Prices reflect all past market information (e.g., historical prices).</a:t>
            </a:r>
          </a:p>
          <a:p>
            <a:r>
              <a:t>2. Semi-strong Form: Prices reflect all publicly available information.</a:t>
            </a:r>
          </a:p>
          <a:p>
            <a:r>
              <a:t>3. Strong Form: Prices reflect all information, both public and private.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6208"/>
            <a:ext cx="7315200" cy="943508"/>
          </a:xfrm>
        </p:spPr>
        <p:txBody>
          <a:bodyPr>
            <a:normAutofit fontScale="90000"/>
          </a:bodyPr>
          <a:lstStyle/>
          <a:p>
            <a:r>
              <a:rPr dirty="0"/>
              <a:t>Implications of Market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88380"/>
            <a:ext cx="7315200" cy="3539527"/>
          </a:xfrm>
        </p:spPr>
        <p:txBody>
          <a:bodyPr/>
          <a:lstStyle/>
          <a:p>
            <a:r>
              <a:rPr dirty="0"/>
              <a:t>• In efficient markets, active management struggles to beat the market.</a:t>
            </a:r>
          </a:p>
          <a:p>
            <a:r>
              <a:rPr dirty="0"/>
              <a:t>• Passive investing, like index funds, may provide better long-term returns due to lower costs.</a:t>
            </a:r>
          </a:p>
          <a:p>
            <a:r>
              <a:rPr dirty="0"/>
              <a:t>• Market anomalies challenge EMH but are often short-lived.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64</TotalTime>
  <Words>899</Words>
  <Application>Microsoft Office PowerPoint</Application>
  <PresentationFormat>On-screen Show (4:3)</PresentationFormat>
  <Paragraphs>77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Perspective</vt:lpstr>
      <vt:lpstr>Comprehensive Overview of Risk, Return, CAPM, and Financial Markets</vt:lpstr>
      <vt:lpstr>Defining Risk and Return</vt:lpstr>
      <vt:lpstr>        Types of Risk</vt:lpstr>
      <vt:lpstr>Measuring Risk: Standard Deviation</vt:lpstr>
      <vt:lpstr>Probability Distribution to Measure Risk</vt:lpstr>
      <vt:lpstr>Expected Return</vt:lpstr>
      <vt:lpstr>Risk-Return Tradeoff</vt:lpstr>
      <vt:lpstr>Attributes Towards Risk</vt:lpstr>
      <vt:lpstr>Diversification: Reducing Risk</vt:lpstr>
      <vt:lpstr>The Power of Diversification</vt:lpstr>
      <vt:lpstr>Introduction to CAPM</vt:lpstr>
      <vt:lpstr>Understanding Beta in CAPM</vt:lpstr>
      <vt:lpstr>Risk-Free Rate and Market Risk Premium</vt:lpstr>
      <vt:lpstr>Example of CAPM Calculation</vt:lpstr>
      <vt:lpstr>Efficient Financial Markets</vt:lpstr>
      <vt:lpstr>Forms of Market Efficiency</vt:lpstr>
      <vt:lpstr>Implications of Market Efficiency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Overview of Risk, Return, CAPM, and Financial Markets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2024-09-24T08:34:05Z</dcterms:modified>
  <cp:category/>
</cp:coreProperties>
</file>