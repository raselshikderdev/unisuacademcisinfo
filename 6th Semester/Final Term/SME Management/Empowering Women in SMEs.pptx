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256" r:id="rId5"/>
    <p:sldId id="257" r:id="rId6"/>
    <p:sldId id="286" r:id="rId7"/>
    <p:sldId id="289" r:id="rId8"/>
    <p:sldId id="299" r:id="rId9"/>
    <p:sldId id="300" r:id="rId10"/>
    <p:sldId id="292" r:id="rId11"/>
    <p:sldId id="301" r:id="rId12"/>
    <p:sldId id="303" r:id="rId13"/>
    <p:sldId id="296" r:id="rId14"/>
    <p:sldId id="30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5646" autoAdjust="0"/>
  </p:normalViewPr>
  <p:slideViewPr>
    <p:cSldViewPr snapToGrid="0">
      <p:cViewPr varScale="1">
        <p:scale>
          <a:sx n="74" d="100"/>
          <a:sy n="74" d="100"/>
        </p:scale>
        <p:origin x="965" y="72"/>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3/13/2026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3/13/2026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12EE-9884-A383-EB47-F1614292B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B41CF-3DAF-3C8F-2C49-D879BF7329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8E960C-244A-995B-653C-F27AE1405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307E1-2CA2-8595-6178-EF2FC3E2B42E}"/>
              </a:ext>
            </a:extLst>
          </p:cNvPr>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2218499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90853-D8F4-6B40-4322-247C8E2F2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7F553B-FDF2-D875-9486-89A2368CF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D56B8-199F-2406-D3C1-BC65690CE8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81AD6A-7B58-A924-E7E9-5B64CF9B9FC6}"/>
              </a:ext>
            </a:extLst>
          </p:cNvPr>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3393657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42765-8B70-5866-8AED-3C0BBDE68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9FC0A-2B91-BF81-CF8D-445658A1BA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212038-FE73-47A8-958E-487A3296D7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628FB1-C3A7-A87F-24D3-7C1815B930BE}"/>
              </a:ext>
            </a:extLst>
          </p:cNvPr>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3730150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6B286-2C05-429F-DB6D-6B58ACE43F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7AF5B-4060-2281-A0A5-19FFEEEE4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AEE304-9856-16C1-6825-83A3D7EA1B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0694FC-DE67-4E74-B393-1460CBEE0317}"/>
              </a:ext>
            </a:extLst>
          </p:cNvPr>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24137805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399008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98F47-309F-3B39-FFF4-570A5AA3A4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A68D0-94C0-0BE8-3B4C-7CE2CB59AB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FE764-5897-BF10-6920-0010007109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31322D-2135-BD66-D139-F806ACC18121}"/>
              </a:ext>
            </a:extLst>
          </p:cNvPr>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3661595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75" r:id="rId8"/>
    <p:sldLayoutId id="2147483661" r:id="rId9"/>
    <p:sldLayoutId id="2147483666" r:id="rId10"/>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hyperlink" Target="https://www.eoi.es/blogs/imsd/page/2/" TargetMode="Externa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a:t>Empowering Women in SMEs</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a:bodyPr>
          <a:lstStyle/>
          <a:p>
            <a:r>
              <a:rPr lang="en-US" sz="2400" b="1" dirty="0"/>
              <a:t>Learning Objectives:</a:t>
            </a:r>
          </a:p>
          <a:p>
            <a:r>
              <a:rPr lang="en-US" sz="2400" dirty="0"/>
              <a:t>By the end of this lecture, students will:</a:t>
            </a:r>
          </a:p>
          <a:p>
            <a:pPr>
              <a:buFont typeface="Arial" panose="020B0604020202020204" pitchFamily="34" charset="0"/>
              <a:buChar char="•"/>
            </a:pPr>
            <a:r>
              <a:rPr lang="en-US" sz="2400" dirty="0"/>
              <a:t>Understand the role of women in SMEs.</a:t>
            </a:r>
          </a:p>
          <a:p>
            <a:pPr>
              <a:buFont typeface="Arial" panose="020B0604020202020204" pitchFamily="34" charset="0"/>
              <a:buChar char="•"/>
            </a:pPr>
            <a:r>
              <a:rPr lang="en-US" sz="2400" dirty="0"/>
              <a:t>Identify key challenges faced by women entrepreneurs.</a:t>
            </a:r>
          </a:p>
          <a:p>
            <a:pPr>
              <a:buFont typeface="Arial" panose="020B0604020202020204" pitchFamily="34" charset="0"/>
              <a:buChar char="•"/>
            </a:pPr>
            <a:r>
              <a:rPr lang="en-US" sz="2400" dirty="0"/>
              <a:t>Explore strategic solutions to empower women in SMEs.</a:t>
            </a:r>
          </a:p>
          <a:p>
            <a:pPr>
              <a:buFont typeface="Arial" panose="020B0604020202020204" pitchFamily="34" charset="0"/>
              <a:buChar char="•"/>
            </a:pPr>
            <a:r>
              <a:rPr lang="en-US" sz="2400" dirty="0"/>
              <a:t>Evaluate the socioeconomic impact of women-led businesses.</a:t>
            </a:r>
          </a:p>
          <a:p>
            <a:pPr>
              <a:buFont typeface="Arial" panose="020B0604020202020204" pitchFamily="34" charset="0"/>
              <a:buChar char="•"/>
            </a:pPr>
            <a:r>
              <a:rPr lang="en-US" sz="2400" dirty="0"/>
              <a:t>Discuss future career opportunities for women in entrepreneurship.</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8DD4-4828-CE87-0C5C-42BE175E8DA5}"/>
              </a:ext>
            </a:extLst>
          </p:cNvPr>
          <p:cNvSpPr>
            <a:spLocks noGrp="1"/>
          </p:cNvSpPr>
          <p:nvPr>
            <p:ph type="title"/>
          </p:nvPr>
        </p:nvSpPr>
        <p:spPr>
          <a:xfrm>
            <a:off x="1167492" y="1371600"/>
            <a:ext cx="5486400" cy="4114800"/>
          </a:xfrm>
        </p:spPr>
        <p:txBody>
          <a:bodyPr/>
          <a:lstStyle/>
          <a:p>
            <a:r>
              <a:rPr lang="en-US" dirty="0"/>
              <a:t>The Power of Women</a:t>
            </a:r>
          </a:p>
        </p:txBody>
      </p:sp>
      <p:pic>
        <p:nvPicPr>
          <p:cNvPr id="10" name="Picture Placeholder 9">
            <a:extLst>
              <a:ext uri="{FF2B5EF4-FFF2-40B4-BE49-F238E27FC236}">
                <a16:creationId xmlns:a16="http://schemas.microsoft.com/office/drawing/2014/main" id="{FCA2FB5B-570E-D181-A4B1-1DCB61C08948}"/>
              </a:ext>
            </a:extLst>
          </p:cNvPr>
          <p:cNvPicPr>
            <a:picLocks noGrp="1" noChangeAspect="1"/>
          </p:cNvPicPr>
          <p:nvPr>
            <p:ph type="pic" sz="quarter" idx="10"/>
          </p:nvPr>
        </p:nvPicPr>
        <p:blipFill>
          <a:blip r:embed="rId3">
            <a:extLst>
              <a:ext uri="{BEBA8EAE-BF5A-486C-A8C5-ECC9F3942E4B}">
                <a14:imgProps xmlns:a14="http://schemas.microsoft.com/office/drawing/2010/main">
                  <a14:imgLayer r:embed="rId4">
                    <a14:imgEffect>
                      <a14:saturation sat="0"/>
                    </a14:imgEffect>
                  </a14:imgLayer>
                </a14:imgProps>
              </a:ext>
              <a:ext uri="{837473B0-CC2E-450A-ABE3-18F120FF3D39}">
                <a1611:picAttrSrcUrl xmlns:a1611="http://schemas.microsoft.com/office/drawing/2016/11/main" r:id="rId5"/>
              </a:ext>
            </a:extLst>
          </a:blip>
          <a:srcRect l="10977" r="22662"/>
          <a:stretch/>
        </p:blipFill>
        <p:spPr>
          <a:xfrm>
            <a:off x="7183438" y="1168400"/>
            <a:ext cx="4500562" cy="4521200"/>
          </a:xfrm>
          <a:solidFill>
            <a:srgbClr val="8593A8"/>
          </a:solidFill>
        </p:spPr>
      </p:pic>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a:lstStyle/>
          <a:p>
            <a:r>
              <a:rPr lang="en-US" dirty="0"/>
              <a:t>Defining the role of women in SMEs</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1166813" y="2652713"/>
            <a:ext cx="9780587" cy="3436937"/>
          </a:xfrm>
        </p:spPr>
        <p:txBody>
          <a:bodyPr>
            <a:normAutofit/>
          </a:bodyPr>
          <a:lstStyle/>
          <a:p>
            <a:pPr algn="just"/>
            <a:r>
              <a:rPr lang="en-US" sz="2400" b="1" dirty="0"/>
              <a:t>Women Entrepreneurs (WE)</a:t>
            </a:r>
            <a:r>
              <a:rPr lang="en-US" sz="2400" dirty="0"/>
              <a:t> refer to women who initiate, organize, manage, and grow a business venture. They play a significant role in economic development by creating jobs, fostering innovation, and contributing to various industries.</a:t>
            </a:r>
          </a:p>
          <a:p>
            <a:pPr algn="just"/>
            <a:r>
              <a:rPr lang="en-US" sz="2400" dirty="0"/>
              <a:t>Women play a transformative role in SMEs, driving economic progress, innovation, and social impact. Addressing the challenges they face through financial support, policy reforms, and digital empowerment will unlock their full potential and lead to more inclusive economic growth. </a:t>
            </a:r>
          </a:p>
        </p:txBody>
      </p:sp>
    </p:spTree>
    <p:extLst>
      <p:ext uri="{BB962C8B-B14F-4D97-AF65-F5344CB8AC3E}">
        <p14:creationId xmlns:p14="http://schemas.microsoft.com/office/powerpoint/2010/main" val="2529338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11A9C-C643-BBD4-A405-9EAA21407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DF3F3-9E54-F51F-70F2-B48E76D3E290}"/>
              </a:ext>
            </a:extLst>
          </p:cNvPr>
          <p:cNvSpPr>
            <a:spLocks noGrp="1"/>
          </p:cNvSpPr>
          <p:nvPr>
            <p:ph type="title"/>
          </p:nvPr>
        </p:nvSpPr>
        <p:spPr>
          <a:xfrm>
            <a:off x="1158864" y="102021"/>
            <a:ext cx="9779183" cy="1744415"/>
          </a:xfrm>
        </p:spPr>
        <p:txBody>
          <a:bodyPr/>
          <a:lstStyle/>
          <a:p>
            <a:r>
              <a:rPr lang="en-US" dirty="0"/>
              <a:t>Key Challenges Faced by Women in SMEs</a:t>
            </a:r>
          </a:p>
        </p:txBody>
      </p:sp>
      <p:sp>
        <p:nvSpPr>
          <p:cNvPr id="3" name="Content Placeholder 2">
            <a:extLst>
              <a:ext uri="{FF2B5EF4-FFF2-40B4-BE49-F238E27FC236}">
                <a16:creationId xmlns:a16="http://schemas.microsoft.com/office/drawing/2014/main" id="{65BE0407-9C0C-09ED-C50C-5F8C88B812E3}"/>
              </a:ext>
            </a:extLst>
          </p:cNvPr>
          <p:cNvSpPr>
            <a:spLocks noGrp="1"/>
          </p:cNvSpPr>
          <p:nvPr>
            <p:ph idx="1"/>
          </p:nvPr>
        </p:nvSpPr>
        <p:spPr>
          <a:xfrm>
            <a:off x="1158865" y="2017466"/>
            <a:ext cx="9779182" cy="3926133"/>
          </a:xfrm>
        </p:spPr>
        <p:txBody>
          <a:bodyPr vert="horz" lIns="91440" tIns="45720" rIns="91440" bIns="45720" rtlCol="0" anchor="t">
            <a:noAutofit/>
          </a:bodyPr>
          <a:lstStyle/>
          <a:p>
            <a:pPr marL="457200" indent="-457200" algn="just">
              <a:lnSpc>
                <a:spcPct val="100000"/>
              </a:lnSpc>
              <a:buFont typeface="Arial" panose="020B0604020202020204" pitchFamily="34" charset="0"/>
              <a:buChar char="•"/>
            </a:pPr>
            <a:r>
              <a:rPr lang="en-US" sz="2400" b="1" dirty="0"/>
              <a:t>Financial Barriers: </a:t>
            </a:r>
            <a:r>
              <a:rPr lang="en-US" sz="2400" dirty="0"/>
              <a:t>Limited access to funding and investment.</a:t>
            </a:r>
          </a:p>
          <a:p>
            <a:pPr marL="457200" indent="-457200" algn="just">
              <a:lnSpc>
                <a:spcPct val="100000"/>
              </a:lnSpc>
              <a:buFont typeface="Arial" panose="020B0604020202020204" pitchFamily="34" charset="0"/>
              <a:buChar char="•"/>
            </a:pPr>
            <a:r>
              <a:rPr lang="en-US" sz="2400" b="1" dirty="0"/>
              <a:t>Legal and Regulatory Hurdles:</a:t>
            </a:r>
            <a:r>
              <a:rPr lang="en-US" sz="2400" dirty="0"/>
              <a:t> Issues with business registration and ownership rights.</a:t>
            </a:r>
          </a:p>
          <a:p>
            <a:pPr marL="457200" indent="-457200" algn="just">
              <a:lnSpc>
                <a:spcPct val="100000"/>
              </a:lnSpc>
              <a:buFont typeface="Arial" panose="020B0604020202020204" pitchFamily="34" charset="0"/>
              <a:buChar char="•"/>
            </a:pPr>
            <a:r>
              <a:rPr lang="en-US" sz="2400" b="1" dirty="0"/>
              <a:t>Cultural and Social Norms: </a:t>
            </a:r>
            <a:r>
              <a:rPr lang="en-US" sz="2400" dirty="0"/>
              <a:t>Gender bias, societal expectations, and work-life balance.</a:t>
            </a:r>
          </a:p>
          <a:p>
            <a:pPr marL="457200" indent="-457200" algn="just">
              <a:lnSpc>
                <a:spcPct val="100000"/>
              </a:lnSpc>
              <a:buFont typeface="Arial" panose="020B0604020202020204" pitchFamily="34" charset="0"/>
              <a:buChar char="•"/>
            </a:pPr>
            <a:r>
              <a:rPr lang="en-US" sz="2400" b="1" dirty="0"/>
              <a:t>Limited Access to Markets: </a:t>
            </a:r>
            <a:r>
              <a:rPr lang="en-US" sz="2400" dirty="0"/>
              <a:t>Difficulty in expanding businesses and reaching customers.</a:t>
            </a:r>
          </a:p>
          <a:p>
            <a:pPr marL="457200" indent="-457200" algn="just">
              <a:lnSpc>
                <a:spcPct val="100000"/>
              </a:lnSpc>
              <a:buFont typeface="Arial" panose="020B0604020202020204" pitchFamily="34" charset="0"/>
              <a:buChar char="•"/>
            </a:pPr>
            <a:r>
              <a:rPr lang="en-US" sz="2400" b="1" dirty="0"/>
              <a:t>Skill Development Gaps: </a:t>
            </a:r>
            <a:r>
              <a:rPr lang="en-US" sz="2400" dirty="0"/>
              <a:t>Lack of training in financial management, marketing, and technology.</a:t>
            </a:r>
          </a:p>
        </p:txBody>
      </p:sp>
    </p:spTree>
    <p:extLst>
      <p:ext uri="{BB962C8B-B14F-4D97-AF65-F5344CB8AC3E}">
        <p14:creationId xmlns:p14="http://schemas.microsoft.com/office/powerpoint/2010/main" val="1155982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4F8A2-6668-82D2-9D4D-8FE854E48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473E1-6527-5E9F-DBD3-AF134BC6EA12}"/>
              </a:ext>
            </a:extLst>
          </p:cNvPr>
          <p:cNvSpPr>
            <a:spLocks noGrp="1"/>
          </p:cNvSpPr>
          <p:nvPr>
            <p:ph type="title"/>
          </p:nvPr>
        </p:nvSpPr>
        <p:spPr>
          <a:xfrm>
            <a:off x="1158864" y="102021"/>
            <a:ext cx="9779183" cy="1744415"/>
          </a:xfrm>
        </p:spPr>
        <p:txBody>
          <a:bodyPr/>
          <a:lstStyle/>
          <a:p>
            <a:r>
              <a:rPr lang="en-US" dirty="0"/>
              <a:t>Strategic Solutions to Empower Women in SMEs</a:t>
            </a:r>
          </a:p>
        </p:txBody>
      </p:sp>
      <p:sp>
        <p:nvSpPr>
          <p:cNvPr id="3" name="Content Placeholder 2">
            <a:extLst>
              <a:ext uri="{FF2B5EF4-FFF2-40B4-BE49-F238E27FC236}">
                <a16:creationId xmlns:a16="http://schemas.microsoft.com/office/drawing/2014/main" id="{33D63703-E1BA-14A2-233B-F4CCD5279E9D}"/>
              </a:ext>
            </a:extLst>
          </p:cNvPr>
          <p:cNvSpPr>
            <a:spLocks noGrp="1"/>
          </p:cNvSpPr>
          <p:nvPr>
            <p:ph idx="1"/>
          </p:nvPr>
        </p:nvSpPr>
        <p:spPr>
          <a:xfrm>
            <a:off x="1158865" y="2017466"/>
            <a:ext cx="9779182" cy="3926133"/>
          </a:xfrm>
        </p:spPr>
        <p:txBody>
          <a:bodyPr vert="horz" lIns="91440" tIns="45720" rIns="91440" bIns="45720" rtlCol="0" anchor="t">
            <a:noAutofit/>
          </a:bodyPr>
          <a:lstStyle/>
          <a:p>
            <a:pPr marL="457200" indent="-457200" algn="just">
              <a:lnSpc>
                <a:spcPct val="100000"/>
              </a:lnSpc>
              <a:buFont typeface="Arial" panose="020B0604020202020204" pitchFamily="34" charset="0"/>
              <a:buChar char="•"/>
            </a:pPr>
            <a:r>
              <a:rPr lang="en-US" sz="2400" b="1" dirty="0"/>
              <a:t>Access to Finance: </a:t>
            </a:r>
            <a:r>
              <a:rPr lang="en-US" sz="2400" dirty="0"/>
              <a:t>Microloans, government grants, and women-focused investment programs.</a:t>
            </a:r>
          </a:p>
          <a:p>
            <a:pPr marL="457200" indent="-457200" algn="just">
              <a:lnSpc>
                <a:spcPct val="100000"/>
              </a:lnSpc>
              <a:buFont typeface="Arial" panose="020B0604020202020204" pitchFamily="34" charset="0"/>
              <a:buChar char="•"/>
            </a:pPr>
            <a:r>
              <a:rPr lang="en-US" sz="2400" b="1" dirty="0"/>
              <a:t>Policy Reforms: </a:t>
            </a:r>
            <a:r>
              <a:rPr lang="en-US" sz="2400" dirty="0"/>
              <a:t>Government initiatives supporting women entrepreneurs.</a:t>
            </a:r>
          </a:p>
          <a:p>
            <a:pPr marL="457200" indent="-457200" algn="just">
              <a:lnSpc>
                <a:spcPct val="100000"/>
              </a:lnSpc>
              <a:buFont typeface="Arial" panose="020B0604020202020204" pitchFamily="34" charset="0"/>
              <a:buChar char="•"/>
            </a:pPr>
            <a:r>
              <a:rPr lang="en-US" sz="2400" b="1" dirty="0"/>
              <a:t>Networking and Mentorship: </a:t>
            </a:r>
            <a:r>
              <a:rPr lang="en-US" sz="2400" dirty="0"/>
              <a:t>Women business networks and leadership training programs.</a:t>
            </a:r>
          </a:p>
          <a:p>
            <a:pPr marL="457200" indent="-457200" algn="just">
              <a:lnSpc>
                <a:spcPct val="100000"/>
              </a:lnSpc>
              <a:buFont typeface="Arial" panose="020B0604020202020204" pitchFamily="34" charset="0"/>
              <a:buChar char="•"/>
            </a:pPr>
            <a:r>
              <a:rPr lang="en-US" sz="2400" b="1" dirty="0"/>
              <a:t>Education and Skill Development: </a:t>
            </a:r>
            <a:r>
              <a:rPr lang="en-US" sz="2400" dirty="0"/>
              <a:t>Business training, digital literacy, and financial management programs.</a:t>
            </a:r>
          </a:p>
          <a:p>
            <a:pPr marL="457200" indent="-457200" algn="just">
              <a:lnSpc>
                <a:spcPct val="100000"/>
              </a:lnSpc>
              <a:buFont typeface="Arial" panose="020B0604020202020204" pitchFamily="34" charset="0"/>
              <a:buChar char="•"/>
            </a:pPr>
            <a:r>
              <a:rPr lang="en-US" sz="2400" b="1" dirty="0"/>
              <a:t>Technology and Innovation: </a:t>
            </a:r>
            <a:r>
              <a:rPr lang="en-US" sz="2400" dirty="0"/>
              <a:t>Use of e-commerce and digital platforms to expand business reach.</a:t>
            </a:r>
          </a:p>
        </p:txBody>
      </p:sp>
    </p:spTree>
    <p:extLst>
      <p:ext uri="{BB962C8B-B14F-4D97-AF65-F5344CB8AC3E}">
        <p14:creationId xmlns:p14="http://schemas.microsoft.com/office/powerpoint/2010/main" val="637952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Evaluating Socioeconomic Impacts of Women in SMEs</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7492" y="2519978"/>
            <a:ext cx="5394325" cy="3436937"/>
          </a:xfrm>
        </p:spPr>
        <p:txBody>
          <a:bodyPr>
            <a:noAutofit/>
          </a:bodyPr>
          <a:lstStyle/>
          <a:p>
            <a:pPr marL="342900" indent="-342900" algn="just">
              <a:buFont typeface="Wingdings" panose="05000000000000000000" pitchFamily="2" charset="2"/>
              <a:buChar char="Ø"/>
            </a:pPr>
            <a:r>
              <a:rPr lang="en-US" sz="2400" dirty="0"/>
              <a:t>Economic Growth: Contribution to GDP and job creation.</a:t>
            </a:r>
          </a:p>
          <a:p>
            <a:pPr marL="342900" indent="-342900" algn="just">
              <a:buFont typeface="Wingdings" panose="05000000000000000000" pitchFamily="2" charset="2"/>
              <a:buChar char="Ø"/>
            </a:pPr>
            <a:r>
              <a:rPr lang="en-US" sz="2400" dirty="0"/>
              <a:t>Poverty Reduction: Financial independence leading to improved living standards.</a:t>
            </a:r>
          </a:p>
          <a:p>
            <a:pPr marL="342900" indent="-342900" algn="just">
              <a:buFont typeface="Wingdings" panose="05000000000000000000" pitchFamily="2" charset="2"/>
              <a:buChar char="Ø"/>
            </a:pPr>
            <a:r>
              <a:rPr lang="en-US" sz="2400" dirty="0"/>
              <a:t>Social Development: Increased investment in health, education, and community development.</a:t>
            </a:r>
          </a:p>
          <a:p>
            <a:pPr marL="342900" indent="-342900" algn="just">
              <a:buFont typeface="Wingdings" panose="05000000000000000000" pitchFamily="2" charset="2"/>
              <a:buChar char="Ø"/>
            </a:pPr>
            <a:r>
              <a:rPr lang="en-US" sz="2400" dirty="0"/>
              <a:t>Diversity and Innovation: How women-led SMEs drive innovation and inclusivity.</a:t>
            </a:r>
          </a:p>
        </p:txBody>
      </p:sp>
      <p:pic>
        <p:nvPicPr>
          <p:cNvPr id="25" name="Picture Placeholder 24" descr="A couple of people looking at a computer">
            <a:extLst>
              <a:ext uri="{FF2B5EF4-FFF2-40B4-BE49-F238E27FC236}">
                <a16:creationId xmlns:a16="http://schemas.microsoft.com/office/drawing/2014/main" id="{E57751D1-D655-B1C0-2407-A8826F551024}"/>
              </a:ext>
            </a:extLst>
          </p:cNvPr>
          <p:cNvPicPr>
            <a:picLocks noGrp="1" noChangeAspect="1"/>
          </p:cNvPicPr>
          <p:nvPr>
            <p:ph type="pic" sz="quarter" idx="14"/>
          </p:nvPr>
        </p:nvPicPr>
        <p:blipFill>
          <a:blip r:embed="rId3">
            <a:duotone>
              <a:schemeClr val="accent4">
                <a:shade val="45000"/>
                <a:satMod val="135000"/>
              </a:schemeClr>
              <a:prstClr val="white"/>
            </a:duotone>
          </a:blip>
          <a:srcRect l="16667" r="16667"/>
          <a:stretch/>
        </p:blipFill>
        <p:spPr>
          <a:xfrm>
            <a:off x="7317920" y="1447800"/>
            <a:ext cx="4214010" cy="4214010"/>
          </a:xfrm>
        </p:spPr>
      </p:pic>
    </p:spTree>
    <p:extLst>
      <p:ext uri="{BB962C8B-B14F-4D97-AF65-F5344CB8AC3E}">
        <p14:creationId xmlns:p14="http://schemas.microsoft.com/office/powerpoint/2010/main" val="362649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FE650-B9DE-C969-AE3C-FC2E4CE17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6F8017-D500-CF4A-1330-AE41F3FD081D}"/>
              </a:ext>
            </a:extLst>
          </p:cNvPr>
          <p:cNvSpPr>
            <a:spLocks noGrp="1"/>
          </p:cNvSpPr>
          <p:nvPr>
            <p:ph type="title"/>
          </p:nvPr>
        </p:nvSpPr>
        <p:spPr>
          <a:xfrm>
            <a:off x="1167492" y="457200"/>
            <a:ext cx="10643508" cy="1371600"/>
          </a:xfrm>
        </p:spPr>
        <p:txBody>
          <a:bodyPr/>
          <a:lstStyle/>
          <a:p>
            <a:r>
              <a:rPr lang="en-US" dirty="0"/>
              <a:t>Advancing Future Career Opportunities for Women</a:t>
            </a:r>
          </a:p>
        </p:txBody>
      </p:sp>
      <p:sp>
        <p:nvSpPr>
          <p:cNvPr id="3" name="Content Placeholder 2">
            <a:extLst>
              <a:ext uri="{FF2B5EF4-FFF2-40B4-BE49-F238E27FC236}">
                <a16:creationId xmlns:a16="http://schemas.microsoft.com/office/drawing/2014/main" id="{702C523C-FBF7-D292-C412-F7FFDF76D70F}"/>
              </a:ext>
            </a:extLst>
          </p:cNvPr>
          <p:cNvSpPr>
            <a:spLocks noGrp="1"/>
          </p:cNvSpPr>
          <p:nvPr>
            <p:ph idx="15"/>
          </p:nvPr>
        </p:nvSpPr>
        <p:spPr>
          <a:xfrm>
            <a:off x="1167492" y="2357746"/>
            <a:ext cx="5394325" cy="3436937"/>
          </a:xfrm>
        </p:spPr>
        <p:txBody>
          <a:bodyPr>
            <a:noAutofit/>
          </a:bodyPr>
          <a:lstStyle/>
          <a:p>
            <a:pPr marL="342900" indent="-342900" algn="just">
              <a:buFont typeface="Wingdings" panose="05000000000000000000" pitchFamily="2" charset="2"/>
              <a:buChar char="Ø"/>
            </a:pPr>
            <a:r>
              <a:rPr lang="en-US" sz="2400" dirty="0"/>
              <a:t>By emerging fields for women entrepreneurs (e-commerce, fintech, social enterprises).</a:t>
            </a:r>
          </a:p>
          <a:p>
            <a:pPr marL="342900" indent="-342900" algn="just">
              <a:buFont typeface="Wingdings" panose="05000000000000000000" pitchFamily="2" charset="2"/>
              <a:buChar char="Ø"/>
            </a:pPr>
            <a:r>
              <a:rPr lang="en-US" sz="2400" dirty="0"/>
              <a:t>Promoting the role of digital transformation in creating new opportunities.</a:t>
            </a:r>
          </a:p>
          <a:p>
            <a:pPr marL="342900" indent="-342900" algn="just">
              <a:buFont typeface="Wingdings" panose="05000000000000000000" pitchFamily="2" charset="2"/>
              <a:buChar char="Ø"/>
            </a:pPr>
            <a:r>
              <a:rPr lang="en-US" sz="2400" dirty="0"/>
              <a:t>Government and private sector support in fostering female entrepreneurship.</a:t>
            </a:r>
          </a:p>
          <a:p>
            <a:pPr marL="342900" indent="-342900" algn="just">
              <a:buFont typeface="Wingdings" panose="05000000000000000000" pitchFamily="2" charset="2"/>
              <a:buChar char="Ø"/>
            </a:pPr>
            <a:r>
              <a:rPr lang="en-US" sz="2400" dirty="0"/>
              <a:t>Encouraging leadership roles for women in business and management</a:t>
            </a:r>
          </a:p>
        </p:txBody>
      </p:sp>
      <p:pic>
        <p:nvPicPr>
          <p:cNvPr id="5" name="Picture 4">
            <a:extLst>
              <a:ext uri="{FF2B5EF4-FFF2-40B4-BE49-F238E27FC236}">
                <a16:creationId xmlns:a16="http://schemas.microsoft.com/office/drawing/2014/main" id="{44EA2B87-3668-42C9-20DF-2007EE14B97F}"/>
              </a:ext>
            </a:extLst>
          </p:cNvPr>
          <p:cNvPicPr>
            <a:picLocks noChangeAspect="1"/>
          </p:cNvPicPr>
          <p:nvPr/>
        </p:nvPicPr>
        <p:blipFill>
          <a:blip r:embed="rId3"/>
          <a:stretch>
            <a:fillRect/>
          </a:stretch>
        </p:blipFill>
        <p:spPr>
          <a:xfrm>
            <a:off x="7172258" y="1562278"/>
            <a:ext cx="4505334" cy="4523624"/>
          </a:xfrm>
          <a:prstGeom prst="rect">
            <a:avLst/>
          </a:prstGeom>
        </p:spPr>
      </p:pic>
    </p:spTree>
    <p:extLst>
      <p:ext uri="{BB962C8B-B14F-4D97-AF65-F5344CB8AC3E}">
        <p14:creationId xmlns:p14="http://schemas.microsoft.com/office/powerpoint/2010/main" val="1806308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BAE77-A969-512D-95A3-E2F3DB58D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897A0-8647-7303-3DC6-F290A5C5B70F}"/>
              </a:ext>
            </a:extLst>
          </p:cNvPr>
          <p:cNvSpPr>
            <a:spLocks noGrp="1"/>
          </p:cNvSpPr>
          <p:nvPr>
            <p:ph type="title"/>
          </p:nvPr>
        </p:nvSpPr>
        <p:spPr>
          <a:xfrm>
            <a:off x="1167492" y="457200"/>
            <a:ext cx="10643508" cy="1371600"/>
          </a:xfrm>
        </p:spPr>
        <p:txBody>
          <a:bodyPr/>
          <a:lstStyle/>
          <a:p>
            <a:r>
              <a:rPr lang="en-US" dirty="0"/>
              <a:t>Advancing Future Career Opportunities for Women</a:t>
            </a:r>
          </a:p>
        </p:txBody>
      </p:sp>
      <p:sp>
        <p:nvSpPr>
          <p:cNvPr id="3" name="Content Placeholder 2">
            <a:extLst>
              <a:ext uri="{FF2B5EF4-FFF2-40B4-BE49-F238E27FC236}">
                <a16:creationId xmlns:a16="http://schemas.microsoft.com/office/drawing/2014/main" id="{36E1F556-1B79-AC2B-7018-003F4DB71BDD}"/>
              </a:ext>
            </a:extLst>
          </p:cNvPr>
          <p:cNvSpPr>
            <a:spLocks noGrp="1"/>
          </p:cNvSpPr>
          <p:nvPr>
            <p:ph idx="15"/>
          </p:nvPr>
        </p:nvSpPr>
        <p:spPr>
          <a:xfrm>
            <a:off x="1167492" y="2357746"/>
            <a:ext cx="5394325" cy="3436937"/>
          </a:xfrm>
        </p:spPr>
        <p:txBody>
          <a:bodyPr>
            <a:noAutofit/>
          </a:bodyPr>
          <a:lstStyle/>
          <a:p>
            <a:pPr marL="342900" indent="-342900" algn="just">
              <a:buFont typeface="Wingdings" panose="05000000000000000000" pitchFamily="2" charset="2"/>
              <a:buChar char="Ø"/>
            </a:pPr>
            <a:r>
              <a:rPr lang="en-US" sz="2400" dirty="0"/>
              <a:t>E-commerce &amp; Digital Platforms – Selling products/services online.</a:t>
            </a:r>
          </a:p>
          <a:p>
            <a:pPr marL="342900" indent="-342900" algn="just">
              <a:buFont typeface="Wingdings" panose="05000000000000000000" pitchFamily="2" charset="2"/>
              <a:buChar char="Ø"/>
            </a:pPr>
            <a:r>
              <a:rPr lang="en-US" sz="2400" dirty="0"/>
              <a:t>Social Enterprises – Businesses addressing social issues.</a:t>
            </a:r>
          </a:p>
          <a:p>
            <a:pPr marL="342900" indent="-342900" algn="just">
              <a:buFont typeface="Wingdings" panose="05000000000000000000" pitchFamily="2" charset="2"/>
              <a:buChar char="Ø"/>
            </a:pPr>
            <a:r>
              <a:rPr lang="en-US" sz="2400" dirty="0"/>
              <a:t>Fintech &amp; Microfinance – Expanding financial inclusion.</a:t>
            </a:r>
          </a:p>
          <a:p>
            <a:pPr marL="342900" indent="-342900" algn="just">
              <a:buFont typeface="Wingdings" panose="05000000000000000000" pitchFamily="2" charset="2"/>
              <a:buChar char="Ø"/>
            </a:pPr>
            <a:r>
              <a:rPr lang="en-US" sz="2400" dirty="0"/>
              <a:t>Leadership Roles – Women in executive and managerial positions.</a:t>
            </a:r>
          </a:p>
          <a:p>
            <a:pPr marL="342900" indent="-342900" algn="just">
              <a:buFont typeface="Wingdings" panose="05000000000000000000" pitchFamily="2" charset="2"/>
              <a:buChar char="Ø"/>
            </a:pPr>
            <a:r>
              <a:rPr lang="en-US" sz="2400" dirty="0"/>
              <a:t>STEM-based Entrepreneurship – Encouraging women in tech and innovation sectors.</a:t>
            </a:r>
          </a:p>
        </p:txBody>
      </p:sp>
      <p:pic>
        <p:nvPicPr>
          <p:cNvPr id="5" name="Picture 4">
            <a:extLst>
              <a:ext uri="{FF2B5EF4-FFF2-40B4-BE49-F238E27FC236}">
                <a16:creationId xmlns:a16="http://schemas.microsoft.com/office/drawing/2014/main" id="{D3BF5BF1-EA1E-56FE-CE22-45239337E3F3}"/>
              </a:ext>
            </a:extLst>
          </p:cNvPr>
          <p:cNvPicPr>
            <a:picLocks noChangeAspect="1"/>
          </p:cNvPicPr>
          <p:nvPr/>
        </p:nvPicPr>
        <p:blipFill>
          <a:blip r:embed="rId3"/>
          <a:stretch>
            <a:fillRect/>
          </a:stretch>
        </p:blipFill>
        <p:spPr>
          <a:xfrm>
            <a:off x="7172258" y="1562278"/>
            <a:ext cx="4505334" cy="4523624"/>
          </a:xfrm>
          <a:prstGeom prst="rect">
            <a:avLst/>
          </a:prstGeom>
        </p:spPr>
      </p:pic>
    </p:spTree>
    <p:extLst>
      <p:ext uri="{BB962C8B-B14F-4D97-AF65-F5344CB8AC3E}">
        <p14:creationId xmlns:p14="http://schemas.microsoft.com/office/powerpoint/2010/main" val="1549182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275048" y="0"/>
            <a:ext cx="6220278" cy="2158508"/>
          </a:xfrm>
        </p:spPr>
        <p:txBody>
          <a:bodyPr/>
          <a:lstStyle/>
          <a:p>
            <a:r>
              <a:rPr lang="en-US" sz="3600" b="0" i="0" dirty="0">
                <a:solidFill>
                  <a:srgbClr val="212529"/>
                </a:solidFill>
                <a:effectLst/>
                <a:latin typeface="-apple-system"/>
              </a:rPr>
              <a:t>Grameen Bank Promoting Women Employment under Social Entrepreneurship Model in Bangladesh</a:t>
            </a:r>
          </a:p>
        </p:txBody>
      </p:sp>
      <p:pic>
        <p:nvPicPr>
          <p:cNvPr id="3" name="Picture 2" descr="A qr code with a dinosaur&#10;&#10;AI-generated content may be incorrect.">
            <a:extLst>
              <a:ext uri="{FF2B5EF4-FFF2-40B4-BE49-F238E27FC236}">
                <a16:creationId xmlns:a16="http://schemas.microsoft.com/office/drawing/2014/main" id="{173A8C03-45ED-F0E9-9FD2-A0A7F73F805E}"/>
              </a:ext>
            </a:extLst>
          </p:cNvPr>
          <p:cNvPicPr>
            <a:picLocks noChangeAspect="1"/>
          </p:cNvPicPr>
          <p:nvPr/>
        </p:nvPicPr>
        <p:blipFill>
          <a:blip r:embed="rId3"/>
          <a:stretch>
            <a:fillRect/>
          </a:stretch>
        </p:blipFill>
        <p:spPr>
          <a:xfrm>
            <a:off x="2244901" y="2529983"/>
            <a:ext cx="3851099" cy="3851099"/>
          </a:xfrm>
          <a:prstGeom prst="rect">
            <a:avLst/>
          </a:prstGeom>
        </p:spPr>
      </p:pic>
      <p:sp>
        <p:nvSpPr>
          <p:cNvPr id="6" name="Flowchart: Alternate Process 5">
            <a:extLst>
              <a:ext uri="{FF2B5EF4-FFF2-40B4-BE49-F238E27FC236}">
                <a16:creationId xmlns:a16="http://schemas.microsoft.com/office/drawing/2014/main" id="{91EF6EE2-3DF3-86E0-9844-C3D06DB36591}"/>
              </a:ext>
            </a:extLst>
          </p:cNvPr>
          <p:cNvSpPr/>
          <p:nvPr/>
        </p:nvSpPr>
        <p:spPr>
          <a:xfrm>
            <a:off x="3521521" y="2203387"/>
            <a:ext cx="1297858" cy="427703"/>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Scan it</a:t>
            </a:r>
            <a:endParaRPr lang="en-US" dirty="0"/>
          </a:p>
        </p:txBody>
      </p:sp>
    </p:spTree>
    <p:extLst>
      <p:ext uri="{BB962C8B-B14F-4D97-AF65-F5344CB8AC3E}">
        <p14:creationId xmlns:p14="http://schemas.microsoft.com/office/powerpoint/2010/main" val="1609673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55B4C-82AA-004D-72C6-ECFC287479F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9042084-A96B-1EC4-B9E4-FD649995F58C}"/>
              </a:ext>
            </a:extLst>
          </p:cNvPr>
          <p:cNvSpPr>
            <a:spLocks noGrp="1"/>
          </p:cNvSpPr>
          <p:nvPr>
            <p:ph type="ctrTitle"/>
          </p:nvPr>
        </p:nvSpPr>
        <p:spPr>
          <a:xfrm>
            <a:off x="1167494" y="252549"/>
            <a:ext cx="6220278" cy="3262811"/>
          </a:xfrm>
        </p:spPr>
        <p:txBody>
          <a:bodyPr/>
          <a:lstStyle/>
          <a:p>
            <a:r>
              <a:rPr lang="en-US"/>
              <a:t>Thank you!</a:t>
            </a:r>
            <a:endParaRPr lang="en-US" dirty="0"/>
          </a:p>
        </p:txBody>
      </p:sp>
      <p:sp>
        <p:nvSpPr>
          <p:cNvPr id="5" name="Subtitle 4">
            <a:extLst>
              <a:ext uri="{FF2B5EF4-FFF2-40B4-BE49-F238E27FC236}">
                <a16:creationId xmlns:a16="http://schemas.microsoft.com/office/drawing/2014/main" id="{E9EAAC2A-2CD5-2CA5-01F4-DDBBB7D3AEA0}"/>
              </a:ext>
            </a:extLst>
          </p:cNvPr>
          <p:cNvSpPr>
            <a:spLocks noGrp="1"/>
          </p:cNvSpPr>
          <p:nvPr>
            <p:ph type="subTitle" idx="1"/>
          </p:nvPr>
        </p:nvSpPr>
        <p:spPr>
          <a:xfrm>
            <a:off x="1167493" y="3685939"/>
            <a:ext cx="6220277" cy="2919512"/>
          </a:xfrm>
        </p:spPr>
        <p:txBody>
          <a:bodyPr/>
          <a:lstStyle/>
          <a:p>
            <a:endParaRPr lang="en-US" dirty="0"/>
          </a:p>
        </p:txBody>
      </p:sp>
    </p:spTree>
    <p:extLst>
      <p:ext uri="{BB962C8B-B14F-4D97-AF65-F5344CB8AC3E}">
        <p14:creationId xmlns:p14="http://schemas.microsoft.com/office/powerpoint/2010/main" val="1515129184"/>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50</TotalTime>
  <Words>491</Words>
  <Application>Microsoft Office PowerPoint</Application>
  <PresentationFormat>Widescreen</PresentationFormat>
  <Paragraphs>55</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-apple-system</vt:lpstr>
      <vt:lpstr>Arial</vt:lpstr>
      <vt:lpstr>Calibri</vt:lpstr>
      <vt:lpstr>Tenorite</vt:lpstr>
      <vt:lpstr>Wingdings</vt:lpstr>
      <vt:lpstr>Custom</vt:lpstr>
      <vt:lpstr>Empowering Women in SMEs</vt:lpstr>
      <vt:lpstr>Agenda</vt:lpstr>
      <vt:lpstr>The Power of Women</vt:lpstr>
      <vt:lpstr>Defining the role of women in SMEs</vt:lpstr>
      <vt:lpstr>Key Challenges Faced by Women in SMEs</vt:lpstr>
      <vt:lpstr>Strategic Solutions to Empower Women in SMEs</vt:lpstr>
      <vt:lpstr>Evaluating Socioeconomic Impacts of Women in SMEs</vt:lpstr>
      <vt:lpstr>Advancing Future Career Opportunities for Women</vt:lpstr>
      <vt:lpstr>Advancing Future Career Opportunities for Women</vt:lpstr>
      <vt:lpstr>Grameen Bank Promoting Women Employment under Social Entrepreneurship Model in Bangladesh</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Empowering Women in SMEs</dc:title>
  <dc:creator>Fazle Rabbi Rafin</dc:creator>
  <cp:lastModifiedBy>Natasha Shikder</cp:lastModifiedBy>
  <cp:revision>5</cp:revision>
  <dcterms:created xsi:type="dcterms:W3CDTF">2025-03-05T14:39:08Z</dcterms:created>
  <dcterms:modified xsi:type="dcterms:W3CDTF">2026-03-13T17:51:53Z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