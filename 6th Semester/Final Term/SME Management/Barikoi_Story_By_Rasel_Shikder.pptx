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s8sHBLkRhxqf3ZgM/WOHFz5sh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2244">
              <a:alpha val="50196"/>
            </a:srgbClr>
          </a:solidFill>
          <a:ln cap="flat" cmpd="sng" w="12700">
            <a:solidFill>
              <a:srgbClr val="00224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1133">
              <a:alpha val="45098"/>
            </a:srgbClr>
          </a:solidFill>
          <a:ln cap="flat" cmpd="sng" w="12700">
            <a:solidFill>
              <a:srgbClr val="001133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1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234440" y="4754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Arial"/>
              <a:buNone/>
            </a:pPr>
            <a:r>
              <a:rPr i="1" lang="en-US" sz="1500">
                <a:solidFill>
                  <a:srgbClr val="00D4FF"/>
                </a:solidFill>
              </a:rPr>
              <a:t>SME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7200" y="96012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Barikoi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05740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Mapping Bangladesh's Future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2788920"/>
            <a:ext cx="3474720" cy="347472"/>
          </a:xfrm>
          <a:prstGeom prst="rect">
            <a:avLst/>
          </a:prstGeom>
          <a:solidFill>
            <a:srgbClr val="001A3A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75488" y="2807208"/>
            <a:ext cx="34381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Case Study  ·  Startup Success 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3337560"/>
            <a:ext cx="5029200" cy="141732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94360" y="34015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011680" y="34015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Rasel Shikder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4360" y="37216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Student ID: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011680" y="37216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BBA2402032084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94360" y="40416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Institution: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011680" y="40416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Sonargaon University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94360" y="43616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011680" y="43616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100">
                <a:solidFill>
                  <a:srgbClr val="FFFFFF"/>
                </a:solidFill>
              </a:rPr>
              <a:t>9 April,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400800" y="137160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812280" y="137160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223760" y="137160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635240" y="137160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046720" y="137160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8458200" y="137160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400800" y="192024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812280" y="192024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7223760" y="192024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7635240" y="192024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8046720" y="192024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8458200" y="192024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400800" y="246888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6812280" y="246888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7223760" y="246888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7635240" y="246888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046720" y="246888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458200" y="246888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6400800" y="301752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6812280" y="301752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7223760" y="301752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7635240" y="301752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8046720" y="301752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8458200" y="301752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6400800" y="356616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6812280" y="356616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7223760" y="3566160"/>
            <a:ext cx="91440" cy="9144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7635240" y="356616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8046720" y="356616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8458200" y="3566160"/>
            <a:ext cx="91440" cy="91440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6812280" y="1920240"/>
            <a:ext cx="164592" cy="164592"/>
          </a:xfrm>
          <a:prstGeom prst="ellipse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7635240" y="1645920"/>
            <a:ext cx="164592" cy="164592"/>
          </a:xfrm>
          <a:prstGeom prst="ellipse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8229600" y="3017520"/>
            <a:ext cx="164592" cy="164592"/>
          </a:xfrm>
          <a:prstGeom prst="ellipse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7223760" y="3566160"/>
            <a:ext cx="164592" cy="164592"/>
          </a:xfrm>
          <a:prstGeom prst="ellipse">
            <a:avLst/>
          </a:prstGeom>
          <a:solidFill>
            <a:srgbClr val="00D4FF">
              <a:alpha val="80000"/>
            </a:srgbClr>
          </a:solidFill>
          <a:ln cap="flat" cmpd="sng" w="12700">
            <a:solidFill>
              <a:srgbClr val="00D4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001A3A">
              <a:alpha val="70196"/>
            </a:srgbClr>
          </a:solidFill>
          <a:ln cap="flat" cmpd="sng" w="12700">
            <a:solidFill>
              <a:srgbClr val="0022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200400" y="1097280"/>
            <a:ext cx="2743200" cy="2743200"/>
          </a:xfrm>
          <a:prstGeom prst="ellipse">
            <a:avLst/>
          </a:prstGeom>
          <a:solidFill>
            <a:srgbClr val="003366">
              <a:alpha val="54901"/>
            </a:srgbClr>
          </a:solidFill>
          <a:ln cap="flat" cmpd="sng" w="12700">
            <a:solidFill>
              <a:srgbClr val="003366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548640" y="1920240"/>
            <a:ext cx="8046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is finding an address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 Bangladesh so hard?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1 in 3 deliveries fails due to vague addressing.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0" y="731520"/>
            <a:ext cx="54864" cy="3657600"/>
          </a:xfrm>
          <a:prstGeom prst="rect">
            <a:avLst/>
          </a:prstGeom>
          <a:solidFill>
            <a:srgbClr val="FF3355"/>
          </a:solidFill>
          <a:ln cap="flat" cmpd="sng" w="12700">
            <a:solidFill>
              <a:srgbClr val="FF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74320" y="274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3355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77724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No reliable map.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No standard address.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No GPS accuracy.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669280" y="822960"/>
            <a:ext cx="3200400" cy="1005840"/>
          </a:xfrm>
          <a:prstGeom prst="rect">
            <a:avLst/>
          </a:prstGeom>
          <a:solidFill>
            <a:srgbClr val="1A0010"/>
          </a:solidFill>
          <a:ln cap="flat" cmpd="sng" w="12700">
            <a:solidFill>
              <a:srgbClr val="FF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872" y="1078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6382512" y="98755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Delivery drivers lost daily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669280" y="2194560"/>
            <a:ext cx="3200400" cy="1005840"/>
          </a:xfrm>
          <a:prstGeom prst="rect">
            <a:avLst/>
          </a:prstGeom>
          <a:solidFill>
            <a:srgbClr val="1A0010"/>
          </a:solidFill>
          <a:ln cap="flat" cmpd="sng" w="12700">
            <a:solidFill>
              <a:srgbClr val="FF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872" y="2450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382512" y="235915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Wrong GPS pins everywhere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669280" y="3566160"/>
            <a:ext cx="3200400" cy="1005840"/>
          </a:xfrm>
          <a:prstGeom prst="rect">
            <a:avLst/>
          </a:prstGeom>
          <a:solidFill>
            <a:srgbClr val="1A0010"/>
          </a:solidFill>
          <a:ln cap="flat" cmpd="sng" w="12700">
            <a:solidFill>
              <a:srgbClr val="FF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3872" y="38221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382512" y="373075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local landmark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3355"/>
          </a:solidFill>
          <a:ln cap="flat" cmpd="sng" w="12700">
            <a:solidFill>
              <a:srgbClr val="FF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4114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9D"/>
                </a:solidFill>
                <a:latin typeface="Arial"/>
                <a:ea typeface="Arial"/>
                <a:cs typeface="Arial"/>
                <a:sym typeface="Arial"/>
              </a:rPr>
              <a:t>THE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Build Bangladesh's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own map. From scratch.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FF9D"/>
                </a:solidFill>
                <a:latin typeface="Arial"/>
                <a:ea typeface="Arial"/>
                <a:cs typeface="Arial"/>
                <a:sym typeface="Arial"/>
              </a:rPr>
              <a:t>Crowdsourced. Hyperlocal. In Bangla.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82880" y="24688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BARIKOI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82880" y="32004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বাড়িকই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82880" y="3840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Founded 2017 · Dhaka, Bangladesh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206240" y="640080"/>
            <a:ext cx="4663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Mapping the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Unmapped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206240" y="2331720"/>
            <a:ext cx="1417320" cy="1188720"/>
          </a:xfrm>
          <a:prstGeom prst="rect">
            <a:avLst/>
          </a:prstGeom>
          <a:solidFill>
            <a:srgbClr val="05102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206240" y="23957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5M+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06240" y="30175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Locations mapped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806440" y="2331720"/>
            <a:ext cx="1417320" cy="1188720"/>
          </a:xfrm>
          <a:prstGeom prst="rect">
            <a:avLst/>
          </a:prstGeom>
          <a:solidFill>
            <a:srgbClr val="05102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806440" y="23957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500+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806440" y="30175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Business clients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406640" y="2331720"/>
            <a:ext cx="1417320" cy="1188720"/>
          </a:xfrm>
          <a:prstGeom prst="rect">
            <a:avLst/>
          </a:prstGeom>
          <a:solidFill>
            <a:srgbClr val="051020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406640" y="23957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1st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406640" y="30175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Bangladeshi map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206240" y="370332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"Localize. Digitize. Connect."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65760" y="27432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65760" y="77724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One Platform. Total Location Intelligence.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" y="1737360"/>
            <a:ext cx="2651760" cy="28346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1737360"/>
            <a:ext cx="26517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9202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Barikoi Maps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8640" y="32004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Bangladesh's 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map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91840" y="1737360"/>
            <a:ext cx="2651760" cy="28346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291840" y="1737360"/>
            <a:ext cx="2651760" cy="73152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9202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00FF9D"/>
                </a:solidFill>
                <a:latin typeface="Arial Black"/>
                <a:ea typeface="Arial Black"/>
                <a:cs typeface="Arial Black"/>
                <a:sym typeface="Arial Black"/>
              </a:rPr>
              <a:t>Location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383280" y="32004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Geocoding &amp; 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developers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126480" y="1737360"/>
            <a:ext cx="2651760" cy="28346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126480" y="1737360"/>
            <a:ext cx="2651760" cy="73152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19202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6217920" y="2651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9900"/>
                </a:solidFill>
                <a:latin typeface="Arial Black"/>
                <a:ea typeface="Arial Black"/>
                <a:cs typeface="Arial Black"/>
                <a:sym typeface="Arial Black"/>
              </a:rPr>
              <a:t>Smart Apps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217920" y="320040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Ride-share,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navigation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0" y="640080"/>
            <a:ext cx="54864" cy="384048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7432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FF9D"/>
                </a:solidFill>
                <a:latin typeface="Arial"/>
                <a:ea typeface="Arial"/>
                <a:cs typeface="Arial"/>
                <a:sym typeface="Arial"/>
              </a:rPr>
              <a:t>REAL-WORLD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74320" y="749808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 Blac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Lives changed.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 Black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Businesses transformed.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74320" y="2331720"/>
            <a:ext cx="4572000" cy="74980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74320" y="2331720"/>
            <a:ext cx="54864" cy="74980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7802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1005840" y="24048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E-commerce logistics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005840" y="2715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Pathao, Shajgoj cut delivery time by 40%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4320" y="3182112"/>
            <a:ext cx="4572000" cy="74980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274320" y="3182112"/>
            <a:ext cx="54864" cy="749808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328416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1005840" y="325526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Ride-hailing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005840" y="3566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Accurate pickup points for millions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4320" y="4032504"/>
            <a:ext cx="4572000" cy="74980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274320" y="4032504"/>
            <a:ext cx="54864" cy="749808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788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1005840" y="410565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Urban planning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05840" y="44165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Govt &amp; NGOs use data for city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303520" y="822960"/>
            <a:ext cx="3474720" cy="37490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D1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5303520" y="118872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8000"/>
              <a:buFont typeface="Arial Black"/>
              <a:buNone/>
            </a:pPr>
            <a:r>
              <a:rPr b="1" i="0" lang="en-US" sz="8000" u="none" cap="none" strike="noStrike">
                <a:solidFill>
                  <a:srgbClr val="00FF9D"/>
                </a:solidFill>
                <a:latin typeface="Arial Black"/>
                <a:ea typeface="Arial Black"/>
                <a:cs typeface="Arial Black"/>
                <a:sym typeface="Arial Black"/>
              </a:rPr>
              <a:t>40%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303520" y="25603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faster delivery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partner businesses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303520" y="3657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10M+ API calls /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GROWTH TRAJECTORY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65760" y="6858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From startup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 national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backbone.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840480" y="548640"/>
            <a:ext cx="5029200" cy="2286000"/>
          </a:xfrm>
          <a:prstGeom prst="rect">
            <a:avLst/>
          </a:prstGeom>
          <a:solidFill>
            <a:srgbClr val="020810"/>
          </a:solidFill>
          <a:ln cap="flat" cmpd="sng" w="12700">
            <a:solidFill>
              <a:srgbClr val="11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041648" y="2121408"/>
            <a:ext cx="438912" cy="576072"/>
          </a:xfrm>
          <a:prstGeom prst="rect">
            <a:avLst/>
          </a:prstGeom>
          <a:solidFill>
            <a:srgbClr val="00D4FF">
              <a:alpha val="45098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736592" y="1792224"/>
            <a:ext cx="438912" cy="905256"/>
          </a:xfrm>
          <a:prstGeom prst="rect">
            <a:avLst/>
          </a:prstGeom>
          <a:solidFill>
            <a:srgbClr val="00D4FF">
              <a:alpha val="50196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431536" y="1421892"/>
            <a:ext cx="438912" cy="1275588"/>
          </a:xfrm>
          <a:prstGeom prst="rect">
            <a:avLst/>
          </a:prstGeom>
          <a:solidFill>
            <a:srgbClr val="00D4FF">
              <a:alpha val="54901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126480" y="1175004"/>
            <a:ext cx="438912" cy="1522476"/>
          </a:xfrm>
          <a:prstGeom prst="rect">
            <a:avLst/>
          </a:prstGeom>
          <a:solidFill>
            <a:srgbClr val="00D4FF">
              <a:alpha val="60000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821424" y="969264"/>
            <a:ext cx="438912" cy="1728216"/>
          </a:xfrm>
          <a:prstGeom prst="rect">
            <a:avLst/>
          </a:prstGeom>
          <a:solidFill>
            <a:srgbClr val="00D4FF">
              <a:alpha val="65098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516368" y="784098"/>
            <a:ext cx="438912" cy="1913382"/>
          </a:xfrm>
          <a:prstGeom prst="rect">
            <a:avLst/>
          </a:prstGeom>
          <a:solidFill>
            <a:srgbClr val="00D4FF">
              <a:alpha val="70196"/>
            </a:srgbClr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211312" y="640080"/>
            <a:ext cx="438912" cy="2057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1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931920" y="621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API calls / month  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8"/>
          <p:cNvCxnSpPr/>
          <p:nvPr/>
        </p:nvCxnSpPr>
        <p:spPr>
          <a:xfrm>
            <a:off x="457200" y="3291840"/>
            <a:ext cx="8229600" cy="0"/>
          </a:xfrm>
          <a:prstGeom prst="straightConnector1">
            <a:avLst/>
          </a:prstGeom>
          <a:noFill/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8"/>
          <p:cNvSpPr/>
          <p:nvPr/>
        </p:nvSpPr>
        <p:spPr>
          <a:xfrm>
            <a:off x="841248" y="3127248"/>
            <a:ext cx="329184" cy="329184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65760" y="3456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2017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3785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0040" y="4069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First geocoder for BD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218688" y="3127248"/>
            <a:ext cx="329184" cy="329184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743200" y="3456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2019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743200" y="3785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Launch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697480" y="4069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Developer platform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596128" y="3127248"/>
            <a:ext cx="329184" cy="329184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120640" y="3456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2021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120640" y="3785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Scale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074920" y="4069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500+ clients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973568" y="3127248"/>
            <a:ext cx="329184" cy="329184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498080" y="34564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498080" y="3785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5M+ POIs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452360" y="4069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Most detailed BD 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2244">
              <a:alpha val="40000"/>
            </a:srgbClr>
          </a:solidFill>
          <a:ln cap="flat" cmpd="sng" w="12700">
            <a:solidFill>
              <a:srgbClr val="0022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1133">
              <a:alpha val="34901"/>
            </a:srgbClr>
          </a:solidFill>
          <a:ln cap="flat" cmpd="sng" w="12700">
            <a:solidFill>
              <a:srgbClr val="0011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SUCCESS FACTORS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65760" y="749808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Barikoi Won.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1737360"/>
            <a:ext cx="3749040" cy="12344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40080" y="1737360"/>
            <a:ext cx="54864" cy="12344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214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1325880" y="19019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Local-First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325880" y="226771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for Bangladesh,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adapted from abroad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846320" y="1737360"/>
            <a:ext cx="3749040" cy="12344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846320" y="1737360"/>
            <a:ext cx="54864" cy="123444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1214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5532120" y="19019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Arial Black"/>
                <a:ea typeface="Arial Black"/>
                <a:cs typeface="Arial Black"/>
                <a:sym typeface="Arial Black"/>
              </a:rPr>
              <a:t>Open Developer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532120" y="226771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Enabled an ecosystem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500+ businesses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40080" y="3200400"/>
            <a:ext cx="3749040" cy="12344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40080" y="3200400"/>
            <a:ext cx="54864" cy="1234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5844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/>
          <p:nvPr/>
        </p:nvSpPr>
        <p:spPr>
          <a:xfrm>
            <a:off x="1325880" y="33649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D700"/>
                </a:solidFill>
                <a:latin typeface="Arial Black"/>
                <a:ea typeface="Arial Black"/>
                <a:cs typeface="Arial Black"/>
                <a:sym typeface="Arial Black"/>
              </a:rPr>
              <a:t>Community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325880" y="373075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Crowdsourced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foreign map had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846320" y="3200400"/>
            <a:ext cx="3749040" cy="12344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846320" y="3200400"/>
            <a:ext cx="54864" cy="12344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5844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/>
          <p:nvPr/>
        </p:nvSpPr>
        <p:spPr>
          <a:xfrm>
            <a:off x="5532120" y="336499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6B6B"/>
                </a:solidFill>
                <a:latin typeface="Arial Black"/>
                <a:ea typeface="Arial Black"/>
                <a:cs typeface="Arial Black"/>
                <a:sym typeface="Arial Black"/>
              </a:rPr>
              <a:t>Bold Vision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532120" y="3730752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Solving a real,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ignored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1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0" y="137160"/>
            <a:ext cx="9144000" cy="109728"/>
          </a:xfrm>
          <a:prstGeom prst="rect">
            <a:avLst/>
          </a:prstGeom>
          <a:solidFill>
            <a:srgbClr val="005577">
              <a:alpha val="60000"/>
            </a:srgbClr>
          </a:solidFill>
          <a:ln cap="flat" cmpd="sng" w="12700">
            <a:solidFill>
              <a:srgbClr val="005577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1122">
              <a:alpha val="80000"/>
            </a:srgbClr>
          </a:solidFill>
          <a:ln cap="flat" cmpd="sng" w="12700">
            <a:solidFill>
              <a:srgbClr val="00112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017520" y="914400"/>
            <a:ext cx="3108960" cy="3108960"/>
          </a:xfrm>
          <a:prstGeom prst="ellipse">
            <a:avLst/>
          </a:prstGeom>
          <a:solidFill>
            <a:srgbClr val="002244">
              <a:alpha val="70196"/>
            </a:srgbClr>
          </a:solidFill>
          <a:ln cap="flat" cmpd="sng" w="12700">
            <a:solidFill>
              <a:srgbClr val="002244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40" y="5029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Local problems deserve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local solutions.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Barikoi didn't wait for Google.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It built Bangladesh's own future.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0" y="4983480"/>
            <a:ext cx="45720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572000" y="4983480"/>
            <a:ext cx="4572000" cy="16002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14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40F20"/>
          </a:solidFill>
          <a:ln cap="flat" cmpd="sng" w="12700">
            <a:solidFill>
              <a:srgbClr val="040F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5010912" y="0"/>
            <a:ext cx="36576" cy="51435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82880" y="274320"/>
            <a:ext cx="4572000" cy="4572000"/>
          </a:xfrm>
          <a:prstGeom prst="ellipse">
            <a:avLst/>
          </a:prstGeom>
          <a:solidFill>
            <a:srgbClr val="001A3A">
              <a:alpha val="54901"/>
            </a:srgbClr>
          </a:solidFill>
          <a:ln cap="flat" cmpd="sng" w="12700">
            <a:solidFill>
              <a:srgbClr val="001A3A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365760" y="64008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0"/>
              <a:buFont typeface="Arial Black"/>
              <a:buNone/>
            </a:pPr>
            <a:r>
              <a:rPr b="1" i="0" lang="en-US" sz="7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65760" y="16916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400"/>
              <a:buFont typeface="Arial Black"/>
              <a:buNone/>
            </a:pPr>
            <a:r>
              <a:rPr b="1" i="0" lang="en-US" sz="7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You!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1"/>
          <p:cNvCxnSpPr/>
          <p:nvPr/>
        </p:nvCxnSpPr>
        <p:spPr>
          <a:xfrm>
            <a:off x="365760" y="2834640"/>
            <a:ext cx="4389120" cy="0"/>
          </a:xfrm>
          <a:prstGeom prst="straightConnector1">
            <a:avLst/>
          </a:prstGeom>
          <a:noFill/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1"/>
          <p:cNvSpPr/>
          <p:nvPr/>
        </p:nvSpPr>
        <p:spPr>
          <a:xfrm>
            <a:off x="365760" y="29718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9D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0FF9D"/>
                </a:solidFill>
                <a:latin typeface="Arial"/>
                <a:ea typeface="Arial"/>
                <a:cs typeface="Arial"/>
                <a:sym typeface="Arial"/>
              </a:rPr>
              <a:t>Open for Questions &amp; Discussion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65760" y="34015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Arial"/>
              <a:buNone/>
            </a:pPr>
            <a:r>
              <a:rPr b="0" i="1" lang="en-US" sz="13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We'd love to hear your thoughts.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5897880" y="5486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BARIKOI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303520" y="10241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Case Study </a:t>
            </a:r>
            <a:r>
              <a:rPr b="0" i="1" lang="en-US" sz="10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1"/>
          <p:cNvCxnSpPr/>
          <p:nvPr/>
        </p:nvCxnSpPr>
        <p:spPr>
          <a:xfrm>
            <a:off x="5303520" y="1389888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1"/>
          <p:cNvSpPr/>
          <p:nvPr/>
        </p:nvSpPr>
        <p:spPr>
          <a:xfrm>
            <a:off x="5303520" y="1536192"/>
            <a:ext cx="3566160" cy="201168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5303520" y="1536192"/>
            <a:ext cx="45720" cy="201168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440680" y="160934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92240" y="160934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Rasel Shikder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440680" y="197510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ID: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492240" y="197510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BBA2402032084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440680" y="234086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Course: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492240" y="234086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SME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440680" y="270662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Institution: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492240" y="270662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200">
                <a:solidFill>
                  <a:srgbClr val="FFFFFF"/>
                </a:solidFill>
              </a:rPr>
              <a:t>Sonargaon University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40680" y="307238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Email: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492240" y="307238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FFFFFF"/>
                </a:solidFill>
              </a:rPr>
              <a:t>rasel.sikder777.rk@gmail.com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303520" y="37033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References available upon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6576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Arial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Arial"/>
                <a:ea typeface="Arial"/>
                <a:cs typeface="Arial"/>
                <a:sym typeface="Arial"/>
              </a:rPr>
              <a:t>"Map your future. Build local."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0" y="4983480"/>
            <a:ext cx="5029200" cy="1600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029200" y="4983480"/>
            <a:ext cx="4114800" cy="160020"/>
          </a:xfrm>
          <a:prstGeom prst="rect">
            <a:avLst/>
          </a:prstGeom>
          <a:solidFill>
            <a:srgbClr val="00FF9D"/>
          </a:solidFill>
          <a:ln cap="flat" cmpd="sng" w="12700">
            <a:solidFill>
              <a:srgbClr val="00FF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2026-04-07T19:15:47Z</dcterms:created>
  <dc:creator>Barikoi Story Deck</dc:creator>
</cp:coreProperties>
</file>