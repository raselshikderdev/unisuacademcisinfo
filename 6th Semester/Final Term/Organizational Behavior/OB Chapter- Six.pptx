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68" r:id="rId15"/>
    <p:sldId id="269" r:id="rId16"/>
    <p:sldId id="270"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2230826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1300349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3650988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ACC3807-DD4E-4F15-9275-56C37076AAFD}"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1924295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ACC3807-DD4E-4F15-9275-56C37076AAFD}" type="datetimeFigureOut">
              <a:rPr lang="en-US" smtClean="0"/>
              <a:t>1/8/2024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2420427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ACC3807-DD4E-4F15-9275-56C37076AAFD}" type="datetimeFigureOut">
              <a:rPr lang="en-US" smtClean="0"/>
              <a:t>1/8/2024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3427936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C3807-DD4E-4F15-9275-56C37076AAFD}" type="datetimeFigureOut">
              <a:rPr lang="en-US" smtClean="0"/>
              <a:t>1/8/2024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2555669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CC3807-DD4E-4F15-9275-56C37076AAFD}"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2186166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ACC3807-DD4E-4F15-9275-56C37076AAFD}"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3757852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396899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B78596F-6EE5-47FD-8D68-CA10154694E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90452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ACC3807-DD4E-4F15-9275-56C37076AAFD}"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68555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ACC3807-DD4E-4F15-9275-56C37076AAFD}"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B78596F-6EE5-47FD-8D68-CA10154694E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403001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DACC3807-DD4E-4F15-9275-56C37076AAFD}"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3845038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959491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CC3807-DD4E-4F15-9275-56C37076AAFD}"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B78596F-6EE5-47FD-8D68-CA10154694ED}" type="slidenum">
              <a:rPr lang="en-US" smtClean="0"/>
              <a:t>‹#›</a:t>
            </a:fld>
            <a:endParaRPr lang="en-US"/>
          </a:p>
        </p:txBody>
      </p:sp>
    </p:spTree>
    <p:extLst>
      <p:ext uri="{BB962C8B-B14F-4D97-AF65-F5344CB8AC3E}">
        <p14:creationId xmlns:p14="http://schemas.microsoft.com/office/powerpoint/2010/main" val="31302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ACC3807-DD4E-4F15-9275-56C37076AAFD}" type="datetimeFigureOut">
              <a:rPr lang="en-US" smtClean="0"/>
              <a:t>1/8/2024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B78596F-6EE5-47FD-8D68-CA10154694ED}" type="slidenum">
              <a:rPr lang="en-US" smtClean="0"/>
              <a:t>‹#›</a:t>
            </a:fld>
            <a:endParaRPr lang="en-US"/>
          </a:p>
        </p:txBody>
      </p:sp>
    </p:spTree>
    <p:extLst>
      <p:ext uri="{BB962C8B-B14F-4D97-AF65-F5344CB8AC3E}">
        <p14:creationId xmlns:p14="http://schemas.microsoft.com/office/powerpoint/2010/main" val="12090890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1296538"/>
            <a:ext cx="8915399" cy="2132462"/>
          </a:xfrm>
        </p:spPr>
        <p:txBody>
          <a:bodyPr/>
          <a:lstStyle/>
          <a:p>
            <a:pPr algn="ctr"/>
            <a:r>
              <a:rPr lang="en-US" b="1" dirty="0" smtClean="0">
                <a:solidFill>
                  <a:srgbClr val="92D050"/>
                </a:solidFill>
              </a:rPr>
              <a:t>Chapter-Six</a:t>
            </a:r>
            <a:br>
              <a:rPr lang="en-US" b="1" dirty="0" smtClean="0">
                <a:solidFill>
                  <a:srgbClr val="92D050"/>
                </a:solidFill>
              </a:rPr>
            </a:br>
            <a:r>
              <a:rPr lang="en-US" b="1" dirty="0" smtClean="0">
                <a:solidFill>
                  <a:srgbClr val="92D050"/>
                </a:solidFill>
              </a:rPr>
              <a:t>Personality and Values</a:t>
            </a:r>
            <a:endParaRPr lang="en-US" b="1" dirty="0">
              <a:solidFill>
                <a:srgbClr val="92D050"/>
              </a:solidFill>
            </a:endParaRPr>
          </a:p>
        </p:txBody>
      </p:sp>
      <p:sp>
        <p:nvSpPr>
          <p:cNvPr id="3" name="Subtitle 2"/>
          <p:cNvSpPr>
            <a:spLocks noGrp="1"/>
          </p:cNvSpPr>
          <p:nvPr>
            <p:ph type="subTitle" idx="1"/>
          </p:nvPr>
        </p:nvSpPr>
        <p:spPr>
          <a:xfrm>
            <a:off x="2589213" y="3780431"/>
            <a:ext cx="8915399" cy="2347414"/>
          </a:xfrm>
        </p:spPr>
        <p:txBody>
          <a:bodyPr>
            <a:normAutofit/>
          </a:bodyPr>
          <a:lstStyle/>
          <a:p>
            <a:pPr algn="ctr"/>
            <a:r>
              <a:rPr lang="en-US" sz="2400" b="1" dirty="0" smtClean="0">
                <a:solidFill>
                  <a:srgbClr val="00B0F0"/>
                </a:solidFill>
              </a:rPr>
              <a:t>Md. </a:t>
            </a:r>
            <a:r>
              <a:rPr lang="en-US" sz="2400" b="1" dirty="0" err="1" smtClean="0">
                <a:solidFill>
                  <a:srgbClr val="00B0F0"/>
                </a:solidFill>
              </a:rPr>
              <a:t>Mostakin</a:t>
            </a:r>
            <a:r>
              <a:rPr lang="en-US" sz="2400" b="1" dirty="0" smtClean="0">
                <a:solidFill>
                  <a:srgbClr val="00B0F0"/>
                </a:solidFill>
              </a:rPr>
              <a:t> </a:t>
            </a:r>
            <a:r>
              <a:rPr lang="en-US" sz="2400" b="1" smtClean="0">
                <a:solidFill>
                  <a:srgbClr val="00B0F0"/>
                </a:solidFill>
              </a:rPr>
              <a:t>Arafat Riaz</a:t>
            </a:r>
            <a:endParaRPr lang="en-US" sz="2400" b="1" dirty="0" smtClean="0">
              <a:solidFill>
                <a:srgbClr val="00B0F0"/>
              </a:solidFill>
            </a:endParaRPr>
          </a:p>
          <a:p>
            <a:pPr algn="ctr"/>
            <a:r>
              <a:rPr lang="en-US" sz="2400" b="1" dirty="0" smtClean="0">
                <a:solidFill>
                  <a:srgbClr val="00B0F0"/>
                </a:solidFill>
              </a:rPr>
              <a:t>Lecturer</a:t>
            </a:r>
          </a:p>
          <a:p>
            <a:pPr algn="ctr"/>
            <a:r>
              <a:rPr lang="en-US" sz="2400" b="1" dirty="0" smtClean="0">
                <a:solidFill>
                  <a:srgbClr val="00B0F0"/>
                </a:solidFill>
              </a:rPr>
              <a:t>Department of Business Administration</a:t>
            </a:r>
          </a:p>
          <a:p>
            <a:pPr algn="ctr"/>
            <a:r>
              <a:rPr lang="en-US" sz="2400" b="1" dirty="0" smtClean="0">
                <a:solidFill>
                  <a:srgbClr val="00B0F0"/>
                </a:solidFill>
              </a:rPr>
              <a:t>Sonargaon University</a:t>
            </a:r>
            <a:endParaRPr lang="en-US" sz="2400" b="1" dirty="0">
              <a:solidFill>
                <a:srgbClr val="00B0F0"/>
              </a:solidFill>
            </a:endParaRPr>
          </a:p>
        </p:txBody>
      </p:sp>
    </p:spTree>
    <p:extLst>
      <p:ext uri="{BB962C8B-B14F-4D97-AF65-F5344CB8AC3E}">
        <p14:creationId xmlns:p14="http://schemas.microsoft.com/office/powerpoint/2010/main" val="964678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0541"/>
          </a:xfrm>
          <a:solidFill>
            <a:schemeClr val="accent6"/>
          </a:solidFill>
        </p:spPr>
        <p:txBody>
          <a:bodyPr>
            <a:normAutofit fontScale="90000"/>
          </a:bodyPr>
          <a:lstStyle/>
          <a:p>
            <a:pPr algn="ctr"/>
            <a:r>
              <a:rPr lang="en-US" b="1" dirty="0" smtClean="0"/>
              <a:t>Definition of Personality</a:t>
            </a:r>
            <a:endParaRPr lang="en-US" b="1" dirty="0"/>
          </a:p>
        </p:txBody>
      </p:sp>
      <p:sp>
        <p:nvSpPr>
          <p:cNvPr id="3" name="Content Placeholder 2"/>
          <p:cNvSpPr>
            <a:spLocks noGrp="1"/>
          </p:cNvSpPr>
          <p:nvPr>
            <p:ph idx="1"/>
          </p:nvPr>
        </p:nvSpPr>
        <p:spPr>
          <a:xfrm>
            <a:off x="2589212" y="1501254"/>
            <a:ext cx="8915400" cy="4763068"/>
          </a:xfrm>
        </p:spPr>
        <p:txBody>
          <a:bodyPr>
            <a:noAutofit/>
          </a:bodyPr>
          <a:lstStyle/>
          <a:p>
            <a:pPr algn="just"/>
            <a:r>
              <a:rPr lang="en-US" sz="2800" dirty="0">
                <a:latin typeface="Times New Roman" panose="02020603050405020304" pitchFamily="18" charset="0"/>
                <a:cs typeface="Times New Roman" panose="02020603050405020304" pitchFamily="18" charset="0"/>
              </a:rPr>
              <a:t>An individual’s personality is a unique combination of emotional, thought, and behavioral patterns that affect how a person react to situations and interacts with others. It’s our natural way of doing things and relating to others. Personality is most often described in terms of measurable traits a person exhibits.</a:t>
            </a:r>
          </a:p>
          <a:p>
            <a:pPr algn="just"/>
            <a:r>
              <a:rPr lang="en-US" sz="2800" dirty="0">
                <a:latin typeface="Times New Roman" panose="02020603050405020304" pitchFamily="18" charset="0"/>
                <a:cs typeface="Times New Roman" panose="02020603050405020304" pitchFamily="18" charset="0"/>
              </a:rPr>
              <a:t>Over the years, researchers have attempted to identify, those traits that best describe personality. The two most well-known approaches are the Myers-Briggs Type Indicators (MBTI) and the Big Five Model.</a:t>
            </a:r>
          </a:p>
          <a:p>
            <a:pPr marL="0" indent="0">
              <a:buNone/>
            </a:pPr>
            <a:endParaRPr lang="en-US" sz="2800" dirty="0"/>
          </a:p>
        </p:txBody>
      </p:sp>
    </p:spTree>
    <p:extLst>
      <p:ext uri="{BB962C8B-B14F-4D97-AF65-F5344CB8AC3E}">
        <p14:creationId xmlns:p14="http://schemas.microsoft.com/office/powerpoint/2010/main" val="1983454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1484"/>
          </a:xfrm>
          <a:solidFill>
            <a:schemeClr val="accent6"/>
          </a:solidFill>
        </p:spPr>
        <p:txBody>
          <a:bodyPr>
            <a:normAutofit fontScale="90000"/>
          </a:bodyPr>
          <a:lstStyle/>
          <a:p>
            <a:pPr algn="ctr"/>
            <a:r>
              <a:rPr lang="en-US" b="1" dirty="0" smtClean="0"/>
              <a:t>Personality Determinants</a:t>
            </a:r>
            <a:endParaRPr lang="en-US" b="1" dirty="0"/>
          </a:p>
        </p:txBody>
      </p:sp>
      <p:sp>
        <p:nvSpPr>
          <p:cNvPr id="3" name="Content Placeholder 2"/>
          <p:cNvSpPr>
            <a:spLocks noGrp="1"/>
          </p:cNvSpPr>
          <p:nvPr>
            <p:ph idx="1"/>
          </p:nvPr>
        </p:nvSpPr>
        <p:spPr>
          <a:xfrm>
            <a:off x="2589212" y="1255594"/>
            <a:ext cx="8915400" cy="5268036"/>
          </a:xfrm>
        </p:spPr>
        <p:txBody>
          <a:bodyPr>
            <a:normAutofit/>
          </a:bodyPr>
          <a:lstStyle/>
          <a:p>
            <a:pPr marL="0" indent="0" algn="just">
              <a:buNone/>
            </a:pPr>
            <a:r>
              <a:rPr lang="en-US" sz="2400" dirty="0" smtClean="0">
                <a:latin typeface="Times New Roman" panose="02020603050405020304" pitchFamily="18" charset="0"/>
                <a:cs typeface="Times New Roman" panose="02020603050405020304" pitchFamily="18" charset="0"/>
              </a:rPr>
              <a:t>An early debate centered on whether an indibidual’s personality is the result of heredity or environment. Personality appears to be a result of both; however, research tends to support the importance of heredity over environment.</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Heredity</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Environment</a:t>
            </a:r>
          </a:p>
          <a:p>
            <a:pPr algn="just">
              <a:buFont typeface="Wingdings" panose="05000000000000000000" pitchFamily="2" charset="2"/>
              <a:buChar char="v"/>
            </a:pPr>
            <a:r>
              <a:rPr lang="en-US" sz="2400" b="1" dirty="0" smtClean="0">
                <a:solidFill>
                  <a:srgbClr val="00B0F0"/>
                </a:solidFill>
                <a:latin typeface="Times New Roman" panose="02020603050405020304" pitchFamily="18" charset="0"/>
                <a:cs typeface="Times New Roman" panose="02020603050405020304" pitchFamily="18" charset="0"/>
              </a:rPr>
              <a:t>Heredity: </a:t>
            </a:r>
            <a:r>
              <a:rPr lang="en-US" sz="2400" dirty="0" smtClean="0">
                <a:latin typeface="Times New Roman" panose="02020603050405020304" pitchFamily="18" charset="0"/>
                <a:cs typeface="Times New Roman" panose="02020603050405020304" pitchFamily="18" charset="0"/>
              </a:rPr>
              <a:t>Heredity refers to factors determined at conception. Physical stature, facial features, gender, temperament, muscle composition and reflexes, energy level and biological rhythms are either completely and substantially influenced by parentage – by your biological parents, physiological, and inherent psychological makeup.</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9954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1484"/>
          </a:xfrm>
          <a:solidFill>
            <a:schemeClr val="accent6"/>
          </a:solidFill>
        </p:spPr>
        <p:txBody>
          <a:bodyPr>
            <a:normAutofit fontScale="90000"/>
          </a:bodyPr>
          <a:lstStyle/>
          <a:p>
            <a:pPr algn="ctr"/>
            <a:r>
              <a:rPr lang="en-US" b="1" dirty="0"/>
              <a:t>Personality Determinants</a:t>
            </a:r>
            <a:endParaRPr lang="en-US" dirty="0"/>
          </a:p>
        </p:txBody>
      </p:sp>
      <p:sp>
        <p:nvSpPr>
          <p:cNvPr id="3" name="Content Placeholder 2"/>
          <p:cNvSpPr>
            <a:spLocks noGrp="1"/>
          </p:cNvSpPr>
          <p:nvPr>
            <p:ph idx="1"/>
          </p:nvPr>
        </p:nvSpPr>
        <p:spPr>
          <a:xfrm>
            <a:off x="2589212" y="1255594"/>
            <a:ext cx="8915400" cy="5390866"/>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This is not to suggest that personality never changes. People’s scores on dependability tend to increase over time, as when young adults start families and establish careers. </a:t>
            </a:r>
          </a:p>
          <a:p>
            <a:pPr algn="just">
              <a:buFont typeface="Wingdings" panose="05000000000000000000" pitchFamily="2" charset="2"/>
              <a:buChar char="v"/>
            </a:pPr>
            <a:r>
              <a:rPr lang="en-US" sz="2400" b="1" dirty="0" smtClean="0">
                <a:solidFill>
                  <a:srgbClr val="00B0F0"/>
                </a:solidFill>
                <a:latin typeface="Times New Roman" panose="02020603050405020304" pitchFamily="18" charset="0"/>
                <a:cs typeface="Times New Roman" panose="02020603050405020304" pitchFamily="18" charset="0"/>
              </a:rPr>
              <a:t>Environment</a:t>
            </a:r>
            <a:r>
              <a:rPr lang="en-US" sz="2400" b="1"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Personality is not solely determined by genetic characteristics. Heredity provides only the blueprint in terms of chromosomes and genes. However, the ability to operate on that gene is largely dependent on the presence of a suitable environment. For example, a person may have mathematical ability but this ability cannot be refined unless that person is provided with the opportunity to exercise his ability for </a:t>
            </a:r>
            <a:r>
              <a:rPr lang="en-US" sz="2400" dirty="0" smtClean="0">
                <a:latin typeface="Times New Roman" panose="02020603050405020304" pitchFamily="18" charset="0"/>
                <a:cs typeface="Times New Roman" panose="02020603050405020304" pitchFamily="18" charset="0"/>
              </a:rPr>
              <a:t>math's.</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Social Factors</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Cultural Factors</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Economic Factors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06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341194"/>
            <a:ext cx="8911687" cy="641445"/>
          </a:xfrm>
          <a:solidFill>
            <a:schemeClr val="accent6"/>
          </a:solidFill>
        </p:spPr>
        <p:txBody>
          <a:bodyPr>
            <a:normAutofit/>
          </a:bodyPr>
          <a:lstStyle/>
          <a:p>
            <a:pPr algn="ctr"/>
            <a:r>
              <a:rPr lang="en-US" b="1" dirty="0"/>
              <a:t>Personality Determinants</a:t>
            </a:r>
            <a:endParaRPr lang="en-US" dirty="0"/>
          </a:p>
        </p:txBody>
      </p:sp>
      <p:sp>
        <p:nvSpPr>
          <p:cNvPr id="3" name="Content Placeholder 2"/>
          <p:cNvSpPr>
            <a:spLocks noGrp="1"/>
          </p:cNvSpPr>
          <p:nvPr>
            <p:ph idx="1"/>
          </p:nvPr>
        </p:nvSpPr>
        <p:spPr>
          <a:xfrm>
            <a:off x="2589212" y="1091821"/>
            <a:ext cx="8915400" cy="5472752"/>
          </a:xfrm>
        </p:spPr>
        <p:txBody>
          <a:bodyPr>
            <a:normAutofit/>
          </a:bodyPr>
          <a:lstStyle/>
          <a:p>
            <a:pPr algn="just"/>
            <a:r>
              <a:rPr lang="en-US" sz="2400" b="1" dirty="0" smtClean="0">
                <a:solidFill>
                  <a:srgbClr val="00B0F0"/>
                </a:solidFill>
                <a:latin typeface="Times New Roman" panose="02020603050405020304" pitchFamily="18" charset="0"/>
                <a:cs typeface="Times New Roman" panose="02020603050405020304" pitchFamily="18" charset="0"/>
              </a:rPr>
              <a:t>Social Factors</a:t>
            </a:r>
            <a:r>
              <a:rPr lang="en-US" sz="2400" b="1"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Human beings are social animals. We are born and brought up in society. Therefore, social conditions, social institutions – family, school, marriage, religion, peer groups and </a:t>
            </a:r>
            <a:r>
              <a:rPr lang="en-US" sz="2400" dirty="0" smtClean="0">
                <a:latin typeface="Times New Roman" panose="02020603050405020304" pitchFamily="18" charset="0"/>
                <a:cs typeface="Times New Roman" panose="02020603050405020304" pitchFamily="18" charset="0"/>
              </a:rPr>
              <a:t>neighborhood </a:t>
            </a:r>
            <a:r>
              <a:rPr lang="en-US" sz="2400" dirty="0">
                <a:latin typeface="Times New Roman" panose="02020603050405020304" pitchFamily="18" charset="0"/>
                <a:cs typeface="Times New Roman" panose="02020603050405020304" pitchFamily="18" charset="0"/>
              </a:rPr>
              <a:t>as well as various other social groups will all affect the development of personality</a:t>
            </a:r>
            <a:r>
              <a:rPr lang="en-US" sz="2400" dirty="0" smtClean="0">
                <a:latin typeface="Times New Roman" panose="02020603050405020304" pitchFamily="18" charset="0"/>
                <a:cs typeface="Times New Roman" panose="02020603050405020304" pitchFamily="18" charset="0"/>
              </a:rPr>
              <a:t>.</a:t>
            </a:r>
          </a:p>
          <a:p>
            <a:pPr algn="just"/>
            <a:r>
              <a:rPr lang="en-US" sz="2400" b="1" dirty="0" smtClean="0">
                <a:solidFill>
                  <a:srgbClr val="00B0F0"/>
                </a:solidFill>
                <a:latin typeface="Times New Roman" panose="02020603050405020304" pitchFamily="18" charset="0"/>
                <a:cs typeface="Times New Roman" panose="02020603050405020304" pitchFamily="18" charset="0"/>
              </a:rPr>
              <a:t>Cultural Factors: </a:t>
            </a:r>
            <a:r>
              <a:rPr lang="en-US" sz="2400" dirty="0">
                <a:latin typeface="Times New Roman" panose="02020603050405020304" pitchFamily="18" charset="0"/>
                <a:cs typeface="Times New Roman" panose="02020603050405020304" pitchFamily="18" charset="0"/>
              </a:rPr>
              <a:t>Culture is a comprehensive phrase that encompasses all practices, traditions, people, styles, fads, and other aspects of life. We are all influenced by one or more cultures. As a result, a cultural impact on personality is unavoidable</a:t>
            </a:r>
            <a:r>
              <a:rPr lang="en-US" sz="2400" dirty="0" smtClean="0">
                <a:latin typeface="Times New Roman" panose="02020603050405020304" pitchFamily="18" charset="0"/>
                <a:cs typeface="Times New Roman" panose="02020603050405020304" pitchFamily="18" charset="0"/>
              </a:rPr>
              <a:t>.</a:t>
            </a:r>
          </a:p>
          <a:p>
            <a:pPr algn="just"/>
            <a:r>
              <a:rPr lang="en-US" sz="2400" b="1" dirty="0" smtClean="0">
                <a:solidFill>
                  <a:srgbClr val="00B0F0"/>
                </a:solidFill>
                <a:latin typeface="Times New Roman" panose="02020603050405020304" pitchFamily="18" charset="0"/>
                <a:cs typeface="Times New Roman" panose="02020603050405020304" pitchFamily="18" charset="0"/>
              </a:rPr>
              <a:t>Economic Factors: </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was demonstrated that our attitude and perception, as well as our personality, are influenced by economic factors. You may have noticed that children from low-income families frequently have low self-confidence, feelings of inferiority, and shyness.</a:t>
            </a:r>
          </a:p>
        </p:txBody>
      </p:sp>
    </p:spTree>
    <p:extLst>
      <p:ext uri="{BB962C8B-B14F-4D97-AF65-F5344CB8AC3E}">
        <p14:creationId xmlns:p14="http://schemas.microsoft.com/office/powerpoint/2010/main" val="446939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35950"/>
          </a:xfrm>
          <a:solidFill>
            <a:schemeClr val="accent6"/>
          </a:solidFill>
        </p:spPr>
        <p:txBody>
          <a:bodyPr>
            <a:normAutofit fontScale="90000"/>
          </a:bodyPr>
          <a:lstStyle/>
          <a:p>
            <a:pPr algn="ctr"/>
            <a:r>
              <a:rPr lang="en-US" b="1" dirty="0" smtClean="0"/>
              <a:t>Myers-Briggs Type Indicators (MBTI)</a:t>
            </a:r>
            <a:endParaRPr lang="en-US" b="1" dirty="0"/>
          </a:p>
        </p:txBody>
      </p:sp>
      <p:sp>
        <p:nvSpPr>
          <p:cNvPr id="3" name="Content Placeholder 2"/>
          <p:cNvSpPr>
            <a:spLocks noGrp="1"/>
          </p:cNvSpPr>
          <p:nvPr>
            <p:ph idx="1"/>
          </p:nvPr>
        </p:nvSpPr>
        <p:spPr>
          <a:xfrm>
            <a:off x="2589212" y="1296537"/>
            <a:ext cx="8915400" cy="4954138"/>
          </a:xfrm>
        </p:spPr>
        <p:txBody>
          <a:bodyPr>
            <a:noAutofit/>
          </a:bodyPr>
          <a:lstStyle/>
          <a:p>
            <a:pPr algn="just"/>
            <a:r>
              <a:rPr lang="en-US" sz="2800" dirty="0" smtClean="0">
                <a:latin typeface="Times New Roman" panose="02020603050405020304" pitchFamily="18" charset="0"/>
                <a:cs typeface="Times New Roman" panose="02020603050405020304" pitchFamily="18" charset="0"/>
              </a:rPr>
              <a:t>One popular approach to classifying personality traits is the personality-assessment instrument known as the MBTI. This 100-question assessment ask people how they usually act or feel in different situations. On the basis of their answers, individuals are classified as exhibiting a preference in four categories. These are-</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Extraversion or Introversion (E or I)</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Sensing or Intuition (S or N)</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Thinking or Feeling (T or F)</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Judging or Perceiving (J or P)</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914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chemeClr val="accent6"/>
          </a:solidFill>
        </p:spPr>
        <p:txBody>
          <a:bodyPr>
            <a:normAutofit fontScale="90000"/>
          </a:bodyPr>
          <a:lstStyle/>
          <a:p>
            <a:pPr algn="ctr"/>
            <a:r>
              <a:rPr lang="en-US" b="1" dirty="0"/>
              <a:t>Myers-Briggs Type Indicators (MBTI)</a:t>
            </a:r>
            <a:endParaRPr lang="en-US" dirty="0"/>
          </a:p>
        </p:txBody>
      </p:sp>
      <p:sp>
        <p:nvSpPr>
          <p:cNvPr id="3" name="Content Placeholder 2"/>
          <p:cNvSpPr>
            <a:spLocks noGrp="1"/>
          </p:cNvSpPr>
          <p:nvPr>
            <p:ph idx="1"/>
          </p:nvPr>
        </p:nvSpPr>
        <p:spPr>
          <a:xfrm>
            <a:off x="2589212" y="1351127"/>
            <a:ext cx="8915400" cy="4844957"/>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Extraversion (E) Versus Introversion (I): </a:t>
            </a:r>
            <a:r>
              <a:rPr lang="en-US" sz="2800" dirty="0" smtClean="0">
                <a:latin typeface="Times New Roman" panose="02020603050405020304" pitchFamily="18" charset="0"/>
                <a:cs typeface="Times New Roman" panose="02020603050405020304" pitchFamily="18" charset="0"/>
              </a:rPr>
              <a:t>Individuals showing a preference for extraversion are outgoing, social, and assertive. They need a work environment that’s varied and action oriented, that lets them be with others, and that gives them a variety of experiences. Individual showing a preference for introversion are quiet and shy. They focus on understanding and prefer a work environment that is quiet and concentrated, that lets them be alone, and that gives them a chance to explore in depth a limited set of experiences.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2280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chemeClr val="accent6"/>
          </a:solidFill>
        </p:spPr>
        <p:txBody>
          <a:bodyPr>
            <a:normAutofit fontScale="90000"/>
          </a:bodyPr>
          <a:lstStyle/>
          <a:p>
            <a:pPr algn="ctr"/>
            <a:r>
              <a:rPr lang="en-US" b="1" dirty="0"/>
              <a:t>Myers-Briggs Type Indicators (MBTI)</a:t>
            </a:r>
            <a:endParaRPr lang="en-US" dirty="0"/>
          </a:p>
        </p:txBody>
      </p:sp>
      <p:sp>
        <p:nvSpPr>
          <p:cNvPr id="3" name="Content Placeholder 2"/>
          <p:cNvSpPr>
            <a:spLocks noGrp="1"/>
          </p:cNvSpPr>
          <p:nvPr>
            <p:ph idx="1"/>
          </p:nvPr>
        </p:nvSpPr>
        <p:spPr>
          <a:xfrm>
            <a:off x="2589212" y="1296537"/>
            <a:ext cx="8915400" cy="4614685"/>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Sensing (S) Versus Intuition (N): </a:t>
            </a:r>
            <a:r>
              <a:rPr lang="en-US" sz="2800" dirty="0" smtClean="0">
                <a:latin typeface="Times New Roman" panose="02020603050405020304" pitchFamily="18" charset="0"/>
                <a:cs typeface="Times New Roman" panose="02020603050405020304" pitchFamily="18" charset="0"/>
              </a:rPr>
              <a:t>Sensing types are practical and prefer routine and order. They dislike new problems unless there are standard ways to solve them, have a high need for closure, show patience with routine details, and tend to be good at precise work. On the other hand, intuition types rely on unconscious processes and look at the ‘big picture’. They are individuals who like solving problems, dislike doing the same thing over and over again, jump to conclusions, are impatient with routine details, and dislike taking time for precision.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637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90541"/>
          </a:xfrm>
          <a:solidFill>
            <a:schemeClr val="accent6"/>
          </a:solidFill>
        </p:spPr>
        <p:txBody>
          <a:bodyPr>
            <a:normAutofit fontScale="90000"/>
          </a:bodyPr>
          <a:lstStyle/>
          <a:p>
            <a:pPr algn="ctr"/>
            <a:r>
              <a:rPr lang="en-US" b="1" dirty="0"/>
              <a:t>Myers-Briggs Type Indicators (MBTI)</a:t>
            </a:r>
            <a:endParaRPr lang="en-US" dirty="0"/>
          </a:p>
        </p:txBody>
      </p:sp>
      <p:sp>
        <p:nvSpPr>
          <p:cNvPr id="3" name="Content Placeholder 2"/>
          <p:cNvSpPr>
            <a:spLocks noGrp="1"/>
          </p:cNvSpPr>
          <p:nvPr>
            <p:ph idx="1"/>
          </p:nvPr>
        </p:nvSpPr>
        <p:spPr>
          <a:xfrm>
            <a:off x="2589212" y="1392072"/>
            <a:ext cx="8915400" cy="4981432"/>
          </a:xfrm>
        </p:spPr>
        <p:txBody>
          <a:bodyPr>
            <a:no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Thinking (T) Versus Feeling (F):</a:t>
            </a: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Thinking types use reason and logic to handle problems. They are unemotional and uninterested in people’s feelings, like analysis and putting things into logical order, are able to reprimand people and fire them when necessary, may seem hard-hearted, and tend to relate well only to other thinking types. Feeling types rely on their personal values and emotions. They are aware of other people and their feelings, like harmony, need occasional praise, dislike telling people unpleasant thinks, tend to be sympathetic, and relate well to most people.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6072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35950"/>
          </a:xfrm>
          <a:solidFill>
            <a:schemeClr val="accent6"/>
          </a:solidFill>
        </p:spPr>
        <p:txBody>
          <a:bodyPr>
            <a:normAutofit fontScale="90000"/>
          </a:bodyPr>
          <a:lstStyle/>
          <a:p>
            <a:pPr algn="ctr"/>
            <a:r>
              <a:rPr lang="en-US" b="1" dirty="0"/>
              <a:t>Myers-Briggs Type Indicators (MBTI)</a:t>
            </a:r>
            <a:endParaRPr lang="en-US" dirty="0"/>
          </a:p>
        </p:txBody>
      </p:sp>
      <p:sp>
        <p:nvSpPr>
          <p:cNvPr id="3" name="Content Placeholder 2"/>
          <p:cNvSpPr>
            <a:spLocks noGrp="1"/>
          </p:cNvSpPr>
          <p:nvPr>
            <p:ph idx="1"/>
          </p:nvPr>
        </p:nvSpPr>
        <p:spPr>
          <a:xfrm>
            <a:off x="2589212" y="1310185"/>
            <a:ext cx="8915400" cy="4601037"/>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Judging (J) Versus Perceiving (P): </a:t>
            </a:r>
            <a:r>
              <a:rPr lang="en-US" sz="2800" dirty="0" smtClean="0">
                <a:latin typeface="Times New Roman" panose="02020603050405020304" pitchFamily="18" charset="0"/>
                <a:cs typeface="Times New Roman" panose="02020603050405020304" pitchFamily="18" charset="0"/>
              </a:rPr>
              <a:t>Judging types want to control and prefer their world to be ordered and structured. They are good planners, decisive, purposeful, and exacting. They focus on completing a task , make decisions quickly, and want only the information necessary to get a task done. Perceiving types are flexible and spontaneous. They are curious, adaptable, and tolerant. They focus on starting a task, postpone decisions, and want to find out all about the task before starting it.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137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6893"/>
          </a:xfrm>
          <a:solidFill>
            <a:schemeClr val="accent6"/>
          </a:solidFill>
        </p:spPr>
        <p:txBody>
          <a:bodyPr>
            <a:normAutofit fontScale="90000"/>
          </a:bodyPr>
          <a:lstStyle/>
          <a:p>
            <a:pPr algn="ctr"/>
            <a:r>
              <a:rPr lang="en-US" b="1" dirty="0" smtClean="0"/>
              <a:t>The BIG Five Model</a:t>
            </a:r>
            <a:endParaRPr lang="en-US" b="1" dirty="0"/>
          </a:p>
        </p:txBody>
      </p:sp>
      <p:sp>
        <p:nvSpPr>
          <p:cNvPr id="3" name="Content Placeholder 2"/>
          <p:cNvSpPr>
            <a:spLocks noGrp="1"/>
          </p:cNvSpPr>
          <p:nvPr>
            <p:ph idx="1"/>
          </p:nvPr>
        </p:nvSpPr>
        <p:spPr>
          <a:xfrm>
            <a:off x="2589212" y="1296537"/>
            <a:ext cx="8915400" cy="5363570"/>
          </a:xfrm>
        </p:spPr>
        <p:txBody>
          <a:bodyPr/>
          <a:lstStyle/>
          <a:p>
            <a:pPr marL="0" indent="0" algn="just">
              <a:buNone/>
            </a:pPr>
            <a:r>
              <a:rPr lang="en-US" sz="2400" dirty="0" smtClean="0">
                <a:latin typeface="Times New Roman" panose="02020603050405020304" pitchFamily="18" charset="0"/>
                <a:cs typeface="Times New Roman" panose="02020603050405020304" pitchFamily="18" charset="0"/>
              </a:rPr>
              <a:t>In recent years, research has shown that five basic personality dimensions underlie all others and encompass most of the significant variation in human personality. The five personality traits in the </a:t>
            </a:r>
            <a:r>
              <a:rPr lang="en-US" sz="2400" b="1" dirty="0" smtClean="0">
                <a:latin typeface="Times New Roman" panose="02020603050405020304" pitchFamily="18" charset="0"/>
                <a:cs typeface="Times New Roman" panose="02020603050405020304" pitchFamily="18" charset="0"/>
              </a:rPr>
              <a:t>BIG Five Model </a:t>
            </a:r>
            <a:r>
              <a:rPr lang="en-US" sz="2400" dirty="0" smtClean="0">
                <a:latin typeface="Times New Roman" panose="02020603050405020304" pitchFamily="18" charset="0"/>
                <a:cs typeface="Times New Roman" panose="02020603050405020304" pitchFamily="18" charset="0"/>
              </a:rPr>
              <a:t>are-</a:t>
            </a:r>
          </a:p>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Extraversion:</a:t>
            </a:r>
            <a:r>
              <a:rPr lang="en-US" sz="2400" dirty="0" smtClean="0">
                <a:solidFill>
                  <a:srgbClr val="00B0F0"/>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extraversion dimension captures our relational approach toward the social world. Extraverts tend to be gregarious, assertive, and sociable. They experience more positive emotions than do introverts, and they more freely express their feelings.</a:t>
            </a:r>
          </a:p>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Agreeableness: </a:t>
            </a:r>
            <a:r>
              <a:rPr lang="en-US" sz="2400" dirty="0" smtClean="0">
                <a:latin typeface="Times New Roman" panose="02020603050405020304" pitchFamily="18" charset="0"/>
                <a:cs typeface="Times New Roman" panose="02020603050405020304" pitchFamily="18" charset="0"/>
              </a:rPr>
              <a:t>The agreeableness dimensions refers to an individual’s propensity to defer to others. Agreeable people are more cooperative, warm, and trusting. You might expect agreeable people to be happier than disagreeable people.</a:t>
            </a:r>
            <a:endParaRPr lang="en-US" dirty="0"/>
          </a:p>
        </p:txBody>
      </p:sp>
    </p:spTree>
    <p:extLst>
      <p:ext uri="{BB962C8B-B14F-4D97-AF65-F5344CB8AC3E}">
        <p14:creationId xmlns:p14="http://schemas.microsoft.com/office/powerpoint/2010/main" val="63895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chemeClr val="accent6"/>
          </a:solidFill>
        </p:spPr>
        <p:txBody>
          <a:bodyPr>
            <a:normAutofit fontScale="90000"/>
          </a:bodyPr>
          <a:lstStyle/>
          <a:p>
            <a:pPr algn="ctr"/>
            <a:r>
              <a:rPr lang="en-US" b="1" dirty="0"/>
              <a:t>The BIG Five Model</a:t>
            </a:r>
            <a:endParaRPr lang="en-US" dirty="0"/>
          </a:p>
        </p:txBody>
      </p:sp>
      <p:sp>
        <p:nvSpPr>
          <p:cNvPr id="3" name="Content Placeholder 2"/>
          <p:cNvSpPr>
            <a:spLocks noGrp="1"/>
          </p:cNvSpPr>
          <p:nvPr>
            <p:ph idx="1"/>
          </p:nvPr>
        </p:nvSpPr>
        <p:spPr>
          <a:xfrm>
            <a:off x="2589212" y="1351128"/>
            <a:ext cx="8915400" cy="5145206"/>
          </a:xfrm>
        </p:spPr>
        <p:txBody>
          <a:bodyPr>
            <a:normAutofit/>
          </a:bodyPr>
          <a:lstStyle/>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Conscientiousness</a:t>
            </a:r>
            <a:r>
              <a:rPr lang="en-US" sz="2400" b="1" dirty="0">
                <a:solidFill>
                  <a:srgbClr val="00B0F0"/>
                </a:solidFill>
                <a:latin typeface="Times New Roman" panose="02020603050405020304" pitchFamily="18" charset="0"/>
                <a:cs typeface="Times New Roman" panose="02020603050405020304" pitchFamily="18" charset="0"/>
              </a:rPr>
              <a:t>:</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degree to which someone is reliable, responsible, dependable, persistent, and achievement oriented. </a:t>
            </a:r>
            <a:r>
              <a:rPr lang="en-US" sz="2400" dirty="0" smtClean="0">
                <a:latin typeface="Times New Roman" panose="02020603050405020304" pitchFamily="18" charset="0"/>
                <a:cs typeface="Times New Roman" panose="02020603050405020304" pitchFamily="18" charset="0"/>
              </a:rPr>
              <a:t>A highly conscientious person is responsible, organized, dependable, and persistent. Those who score low on this dimension are easily distracted, disorganized, and unreliable.</a:t>
            </a:r>
            <a:endParaRPr lang="en-US" sz="2400"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Emotional </a:t>
            </a:r>
            <a:r>
              <a:rPr lang="en-US" sz="2400" b="1" dirty="0">
                <a:solidFill>
                  <a:srgbClr val="00B0F0"/>
                </a:solidFill>
                <a:latin typeface="Times New Roman" panose="02020603050405020304" pitchFamily="18" charset="0"/>
                <a:cs typeface="Times New Roman" panose="02020603050405020304" pitchFamily="18" charset="0"/>
              </a:rPr>
              <a:t>Stability: </a:t>
            </a:r>
            <a:r>
              <a:rPr lang="en-US" sz="2400" dirty="0">
                <a:latin typeface="Times New Roman" panose="02020603050405020304" pitchFamily="18" charset="0"/>
                <a:cs typeface="Times New Roman" panose="02020603050405020304" pitchFamily="18" charset="0"/>
              </a:rPr>
              <a:t>The degree to which someone is calm, enthusiastic, and secure (positive) or tense, nervous, depressed, and insecure (negative</a:t>
            </a:r>
            <a:r>
              <a:rPr lang="en-US" sz="2400" dirty="0" smtClean="0">
                <a:latin typeface="Times New Roman" panose="02020603050405020304" pitchFamily="18" charset="0"/>
                <a:cs typeface="Times New Roman" panose="02020603050405020304" pitchFamily="18" charset="0"/>
              </a:rPr>
              <a:t>). The emotional stability dimension taps a person’s ability to withstand stress.</a:t>
            </a:r>
            <a:endParaRPr lang="en-US" sz="2400" b="1" dirty="0" smtClean="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Openness to Experience: </a:t>
            </a:r>
            <a:r>
              <a:rPr lang="en-US" sz="2400" dirty="0" smtClean="0">
                <a:latin typeface="Times New Roman" panose="02020603050405020304" pitchFamily="18" charset="0"/>
                <a:cs typeface="Times New Roman" panose="02020603050405020304" pitchFamily="18" charset="0"/>
              </a:rPr>
              <a:t>The degree to which someone has a wide range of interests and is imaginative, fascinated with novelty, artistically sensitive, and intellectual. Open people are creative, curious, and artistically sensitive.</a:t>
            </a:r>
          </a:p>
        </p:txBody>
      </p:sp>
    </p:spTree>
    <p:extLst>
      <p:ext uri="{BB962C8B-B14F-4D97-AF65-F5344CB8AC3E}">
        <p14:creationId xmlns:p14="http://schemas.microsoft.com/office/powerpoint/2010/main" val="2288433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76893"/>
          </a:xfrm>
          <a:solidFill>
            <a:schemeClr val="accent6"/>
          </a:solidFill>
        </p:spPr>
        <p:txBody>
          <a:bodyPr>
            <a:normAutofit fontScale="90000"/>
          </a:bodyPr>
          <a:lstStyle/>
          <a:p>
            <a:pPr algn="ctr"/>
            <a:r>
              <a:rPr lang="en-US" b="1" dirty="0"/>
              <a:t>The BIG Five Model</a:t>
            </a:r>
            <a:endParaRPr lang="en-US" dirty="0"/>
          </a:p>
        </p:txBody>
      </p:sp>
      <p:sp>
        <p:nvSpPr>
          <p:cNvPr id="3" name="Content Placeholder 2"/>
          <p:cNvSpPr>
            <a:spLocks noGrp="1"/>
          </p:cNvSpPr>
          <p:nvPr>
            <p:ph idx="1"/>
          </p:nvPr>
        </p:nvSpPr>
        <p:spPr>
          <a:xfrm>
            <a:off x="2589212" y="1364776"/>
            <a:ext cx="8915400" cy="4546446"/>
          </a:xfrm>
        </p:spPr>
        <p:txBody>
          <a:bodyPr>
            <a:normAutofit lnSpcReduction="10000"/>
          </a:bodyPr>
          <a:lstStyle/>
          <a:p>
            <a:pPr algn="just"/>
            <a:r>
              <a:rPr lang="en-US" sz="2800" dirty="0">
                <a:latin typeface="Times New Roman" panose="02020603050405020304" pitchFamily="18" charset="0"/>
                <a:cs typeface="Times New Roman" panose="02020603050405020304" pitchFamily="18" charset="0"/>
              </a:rPr>
              <a:t>The BIG Five Model provides more than just a personality framework. Research has shown that important relationship exist between these personality dimensions and job performance. For example, extraversion predicted performance in managerial and sales positions – occupations in which high social interaction necessary. Another study that looked at whether the five factor-model could predict managerial performance found it could if 360-degree performance ratings ( that is, performance ratings from supervisors, peers, and subordinates) were used.</a:t>
            </a:r>
          </a:p>
          <a:p>
            <a:endParaRPr lang="en-US" dirty="0"/>
          </a:p>
        </p:txBody>
      </p:sp>
    </p:spTree>
    <p:extLst>
      <p:ext uri="{BB962C8B-B14F-4D97-AF65-F5344CB8AC3E}">
        <p14:creationId xmlns:p14="http://schemas.microsoft.com/office/powerpoint/2010/main" val="1193488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chemeClr val="accent6"/>
          </a:solidFill>
        </p:spPr>
        <p:txBody>
          <a:bodyPr>
            <a:normAutofit fontScale="90000"/>
          </a:bodyPr>
          <a:lstStyle/>
          <a:p>
            <a:pPr algn="ctr"/>
            <a:r>
              <a:rPr lang="en-US" b="1" dirty="0" smtClean="0"/>
              <a:t>Additional Personality Insights</a:t>
            </a:r>
            <a:endParaRPr lang="en-US" b="1" dirty="0"/>
          </a:p>
        </p:txBody>
      </p:sp>
      <p:sp>
        <p:nvSpPr>
          <p:cNvPr id="3" name="Content Placeholder 2"/>
          <p:cNvSpPr>
            <a:spLocks noGrp="1"/>
          </p:cNvSpPr>
          <p:nvPr>
            <p:ph idx="1"/>
          </p:nvPr>
        </p:nvSpPr>
        <p:spPr>
          <a:xfrm>
            <a:off x="2589212" y="1173708"/>
            <a:ext cx="8915400" cy="5281684"/>
          </a:xfrm>
        </p:spPr>
        <p:txBody>
          <a:bodyPr>
            <a:noAutofit/>
          </a:bodyPr>
          <a:lstStyle/>
          <a:p>
            <a:pPr marL="0" indent="0" algn="just">
              <a:buNone/>
            </a:pPr>
            <a:r>
              <a:rPr lang="en-US" sz="2800" dirty="0" smtClean="0">
                <a:latin typeface="Times New Roman" panose="02020603050405020304" pitchFamily="18" charset="0"/>
                <a:cs typeface="Times New Roman" panose="02020603050405020304" pitchFamily="18" charset="0"/>
              </a:rPr>
              <a:t>Although the traits in the Big Five are highly relevant to understanding behavior, they aren’t the only personality traits that can describe someone’s personality. Five other personality traits are powerful predictors of behavior in organizations. </a:t>
            </a:r>
          </a:p>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Locus of Control: </a:t>
            </a:r>
            <a:r>
              <a:rPr lang="en-US" sz="2800" dirty="0" smtClean="0">
                <a:latin typeface="Times New Roman" panose="02020603050405020304" pitchFamily="18" charset="0"/>
                <a:cs typeface="Times New Roman" panose="02020603050405020304" pitchFamily="18" charset="0"/>
              </a:rPr>
              <a:t>Some people believe they control their own fate. Others see themselves as pawns, believing that what happens to them in their lives is due to luck or chance. The locus of control in the first case is internal; these people believe they control their own destiny. The locus of control in the second case is external; these people believe their lives are controlled by outside forces.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141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409434"/>
            <a:ext cx="8911687" cy="573205"/>
          </a:xfrm>
          <a:solidFill>
            <a:schemeClr val="accent6"/>
          </a:solidFill>
        </p:spPr>
        <p:txBody>
          <a:bodyPr>
            <a:normAutofit fontScale="90000"/>
          </a:bodyPr>
          <a:lstStyle/>
          <a:p>
            <a:pPr algn="ctr"/>
            <a:r>
              <a:rPr lang="en-US" b="1" dirty="0"/>
              <a:t>Additional Personality </a:t>
            </a:r>
            <a:r>
              <a:rPr lang="en-US" b="1" dirty="0" smtClean="0"/>
              <a:t>Insights</a:t>
            </a:r>
            <a:endParaRPr lang="en-US" dirty="0"/>
          </a:p>
        </p:txBody>
      </p:sp>
      <p:sp>
        <p:nvSpPr>
          <p:cNvPr id="3" name="Content Placeholder 2"/>
          <p:cNvSpPr>
            <a:spLocks noGrp="1"/>
          </p:cNvSpPr>
          <p:nvPr>
            <p:ph idx="1"/>
          </p:nvPr>
        </p:nvSpPr>
        <p:spPr>
          <a:xfrm>
            <a:off x="2589212" y="982639"/>
            <a:ext cx="8915400" cy="5636525"/>
          </a:xfrm>
        </p:spPr>
        <p:txBody>
          <a:bodyPr>
            <a:noAutofit/>
          </a:bodyPr>
          <a:lstStyle/>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Machiavellianism: </a:t>
            </a:r>
            <a:r>
              <a:rPr lang="en-US" sz="2400" dirty="0" smtClean="0">
                <a:latin typeface="Times New Roman" panose="02020603050405020304" pitchFamily="18" charset="0"/>
                <a:cs typeface="Times New Roman" panose="02020603050405020304" pitchFamily="18" charset="0"/>
              </a:rPr>
              <a:t>The second characteristics is called Machiavellianism (Mach), named after Niccolo Machiavelli, who wrote in the sixteenth century on how to gain and manipulate power. An individual high in Machiavellianism is pragmatic, maintains emotional distance, and believes that ends can justify means. In jobs that require bargaining skills or that have substantial rewards for excelling, high Machs are productive.</a:t>
            </a:r>
          </a:p>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Self-Esteem: </a:t>
            </a:r>
            <a:r>
              <a:rPr lang="en-US" sz="2400" dirty="0" smtClean="0">
                <a:latin typeface="Times New Roman" panose="02020603050405020304" pitchFamily="18" charset="0"/>
                <a:cs typeface="Times New Roman" panose="02020603050405020304" pitchFamily="18" charset="0"/>
              </a:rPr>
              <a:t>People differ in the degree to which they like or dislike themselves, a trait called self-esteem. Research on self-esteem (SE) offers some interesting behavioral insights. For example, self-esteem is directly related to expectations for success. Those high in SE believe they possess the ability they need to succeed at work. Individuals with high SEs will take more risks in job selection and are more likely to choose unconventional jobs than people with low SE.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9824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232012"/>
            <a:ext cx="8911687" cy="627797"/>
          </a:xfrm>
          <a:solidFill>
            <a:schemeClr val="accent6"/>
          </a:solidFill>
        </p:spPr>
        <p:txBody>
          <a:bodyPr>
            <a:normAutofit fontScale="90000"/>
          </a:bodyPr>
          <a:lstStyle/>
          <a:p>
            <a:pPr algn="ctr"/>
            <a:r>
              <a:rPr lang="en-US" b="1" dirty="0"/>
              <a:t>Additional Personality </a:t>
            </a:r>
            <a:r>
              <a:rPr lang="en-US" b="1" dirty="0" smtClean="0"/>
              <a:t>Insights</a:t>
            </a:r>
            <a:endParaRPr lang="en-US" dirty="0"/>
          </a:p>
        </p:txBody>
      </p:sp>
      <p:sp>
        <p:nvSpPr>
          <p:cNvPr id="3" name="Content Placeholder 2"/>
          <p:cNvSpPr>
            <a:spLocks noGrp="1"/>
          </p:cNvSpPr>
          <p:nvPr>
            <p:ph idx="1"/>
          </p:nvPr>
        </p:nvSpPr>
        <p:spPr>
          <a:xfrm>
            <a:off x="2589212" y="859809"/>
            <a:ext cx="8915400" cy="5813945"/>
          </a:xfrm>
        </p:spPr>
        <p:txBody>
          <a:bodyPr>
            <a:normAutofit lnSpcReduction="10000"/>
          </a:bodyPr>
          <a:lstStyle/>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Self-Monitoring :</a:t>
            </a:r>
            <a:r>
              <a:rPr lang="en-US" sz="2400" dirty="0" smtClean="0">
                <a:solidFill>
                  <a:srgbClr val="00B0F0"/>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Self-monitoring is a personality trait that measures the ability to adjust behavior to external situational factors. Individuals high in self-monitoring show considerable adaptability in adjusting their behavior. They are highly sensitive to external cues and can behave differently in different situations. High self-monitors are capable of presenting striking contradictions between their public persona and their private selves. Low self-monitors can’t adjust their behavior.</a:t>
            </a:r>
          </a:p>
          <a:p>
            <a:pPr algn="just">
              <a:buFont typeface="Wingdings" panose="05000000000000000000" pitchFamily="2" charset="2"/>
              <a:buChar char="§"/>
            </a:pPr>
            <a:r>
              <a:rPr lang="en-US" sz="2400" b="1" dirty="0" smtClean="0">
                <a:solidFill>
                  <a:srgbClr val="00B0F0"/>
                </a:solidFill>
                <a:latin typeface="Times New Roman" panose="02020603050405020304" pitchFamily="18" charset="0"/>
                <a:cs typeface="Times New Roman" panose="02020603050405020304" pitchFamily="18" charset="0"/>
              </a:rPr>
              <a:t>Risk-Taking:</a:t>
            </a:r>
            <a:r>
              <a:rPr lang="en-US" sz="2400" dirty="0" smtClean="0">
                <a:solidFill>
                  <a:srgbClr val="00B0F0"/>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People differ in their willingness to take chances. Differences in the propensity to assume or to avoid risk have been shown to affect how long it takes managers to make a decision and how much information they require before making a choice. For instance, in one study where managers worked on simulated exercises that require them to make hiring decisions, high risk-taking managers took less time to make decisions and used less information in making their choices than low risk-taking managers.</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4803702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63245"/>
          </a:xfrm>
          <a:solidFill>
            <a:schemeClr val="accent6"/>
          </a:solidFill>
        </p:spPr>
        <p:txBody>
          <a:bodyPr>
            <a:normAutofit fontScale="90000"/>
          </a:bodyPr>
          <a:lstStyle/>
          <a:p>
            <a:pPr algn="ctr"/>
            <a:r>
              <a:rPr lang="en-US" b="1" dirty="0" smtClean="0"/>
              <a:t>Values</a:t>
            </a:r>
            <a:endParaRPr lang="en-US" b="1" dirty="0"/>
          </a:p>
        </p:txBody>
      </p:sp>
      <p:sp>
        <p:nvSpPr>
          <p:cNvPr id="3" name="Content Placeholder 2"/>
          <p:cNvSpPr>
            <a:spLocks noGrp="1"/>
          </p:cNvSpPr>
          <p:nvPr>
            <p:ph idx="1"/>
          </p:nvPr>
        </p:nvSpPr>
        <p:spPr>
          <a:xfrm>
            <a:off x="2589212" y="1323833"/>
            <a:ext cx="8915400" cy="5254388"/>
          </a:xfrm>
        </p:spPr>
        <p:txBody>
          <a:bodyPr>
            <a:normAutofit/>
          </a:bodyPr>
          <a:lstStyle/>
          <a:p>
            <a:pPr algn="just"/>
            <a:r>
              <a:rPr lang="en-US" sz="2400" dirty="0" smtClean="0">
                <a:latin typeface="Times New Roman" panose="02020603050405020304" pitchFamily="18" charset="0"/>
                <a:cs typeface="Times New Roman" panose="02020603050405020304" pitchFamily="18" charset="0"/>
              </a:rPr>
              <a:t>Values represent basic convictions that a specific mode of conduct or end state of existence is personally or socially preferable to an opposite or converse mode of conduct or end-state of existence. Values contain a judgmental element because they carry an individual’s ideas about what is right, good, or desirable. They have both content and intensity attributes. </a:t>
            </a:r>
          </a:p>
          <a:p>
            <a:pPr algn="just"/>
            <a:r>
              <a:rPr lang="en-US" sz="2400" dirty="0" smtClean="0">
                <a:latin typeface="Times New Roman" panose="02020603050405020304" pitchFamily="18" charset="0"/>
                <a:cs typeface="Times New Roman" panose="02020603050405020304" pitchFamily="18" charset="0"/>
              </a:rPr>
              <a:t>Values tend to be relatively stable and enduring. Many of the values we hold are established in our early years – by parents, teachers, friends and others. If we question values, they may change, but more often they are reinforced. There is also evidence linking personality to values, implying our values may be partly determined by genetically transmitted traits.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04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35950"/>
          </a:xfrm>
          <a:solidFill>
            <a:schemeClr val="accent6"/>
          </a:solidFill>
        </p:spPr>
        <p:txBody>
          <a:bodyPr>
            <a:normAutofit fontScale="90000"/>
          </a:bodyPr>
          <a:lstStyle/>
          <a:p>
            <a:pPr algn="ctr"/>
            <a:r>
              <a:rPr lang="en-US" b="1" dirty="0" smtClean="0"/>
              <a:t>Cultural Values (Hofstede’s Framework)</a:t>
            </a:r>
            <a:endParaRPr lang="en-US" b="1" dirty="0"/>
          </a:p>
        </p:txBody>
      </p:sp>
      <p:sp>
        <p:nvSpPr>
          <p:cNvPr id="3" name="Content Placeholder 2"/>
          <p:cNvSpPr>
            <a:spLocks noGrp="1"/>
          </p:cNvSpPr>
          <p:nvPr>
            <p:ph idx="1"/>
          </p:nvPr>
        </p:nvSpPr>
        <p:spPr>
          <a:xfrm>
            <a:off x="2589212" y="1269242"/>
            <a:ext cx="8915400" cy="5459104"/>
          </a:xfrm>
        </p:spPr>
        <p:txBody>
          <a:bodyPr>
            <a:noAutofit/>
          </a:bodyPr>
          <a:lstStyle/>
          <a:p>
            <a:pPr algn="just"/>
            <a:r>
              <a:rPr lang="en-US" sz="2400" dirty="0" smtClean="0">
                <a:latin typeface="Times New Roman" panose="02020603050405020304" pitchFamily="18" charset="0"/>
                <a:cs typeface="Times New Roman" panose="02020603050405020304" pitchFamily="18" charset="0"/>
              </a:rPr>
              <a:t>Unlike personality, which is largely genetically determined, values are learned. They are passed down through generations and vary by cultures. One of the most widely referenced approaches for analyzing variations among cultures was done in the late 1970s by Geert Hofstede. Hofstede surveyed more than 116,000 IBM employees in 40 countries about their work- related values and found that managers and employees varied on five value dimensions of national culture:</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Power distance</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Individualism versus collectivism</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Masculinity versus femininity</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Uncertainty avoidance</a:t>
            </a:r>
          </a:p>
          <a:p>
            <a:pPr algn="just">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Long-term versus short-term orientation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8391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504968"/>
            <a:ext cx="8911687" cy="586853"/>
          </a:xfrm>
          <a:solidFill>
            <a:schemeClr val="accent6"/>
          </a:solidFill>
        </p:spPr>
        <p:txBody>
          <a:bodyPr>
            <a:normAutofit fontScale="90000"/>
          </a:bodyPr>
          <a:lstStyle/>
          <a:p>
            <a:pPr algn="ctr"/>
            <a:r>
              <a:rPr lang="en-US" b="1" dirty="0"/>
              <a:t>Cultural Values (Hofstede’s Framework)</a:t>
            </a:r>
            <a:endParaRPr lang="en-US" dirty="0"/>
          </a:p>
        </p:txBody>
      </p:sp>
      <p:sp>
        <p:nvSpPr>
          <p:cNvPr id="3" name="Content Placeholder 2"/>
          <p:cNvSpPr>
            <a:spLocks noGrp="1"/>
          </p:cNvSpPr>
          <p:nvPr>
            <p:ph idx="1"/>
          </p:nvPr>
        </p:nvSpPr>
        <p:spPr>
          <a:xfrm>
            <a:off x="2589212" y="1091821"/>
            <a:ext cx="8915400" cy="5663821"/>
          </a:xfrm>
        </p:spPr>
        <p:txBody>
          <a:bodyPr>
            <a:no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Power Distance: </a:t>
            </a:r>
            <a:r>
              <a:rPr lang="en-US" sz="2800" dirty="0" smtClean="0">
                <a:latin typeface="Times New Roman" panose="02020603050405020304" pitchFamily="18" charset="0"/>
                <a:cs typeface="Times New Roman" panose="02020603050405020304" pitchFamily="18" charset="0"/>
              </a:rPr>
              <a:t>Power distance describes the degree to which people in a country accept that power in institutions and organizations is distributed unequally. A high rating on power distance means large inequalities of power and wealth exist and are tolerated in the culture, as in a class or caste system that discourages upward mobility.</a:t>
            </a:r>
          </a:p>
          <a:p>
            <a:pPr algn="just"/>
            <a:r>
              <a:rPr lang="en-US" sz="2800" b="1" dirty="0" smtClean="0">
                <a:solidFill>
                  <a:srgbClr val="00B0F0"/>
                </a:solidFill>
                <a:latin typeface="Times New Roman" panose="02020603050405020304" pitchFamily="18" charset="0"/>
                <a:cs typeface="Times New Roman" panose="02020603050405020304" pitchFamily="18" charset="0"/>
              </a:rPr>
              <a:t>Individualism Versus Collectivism: </a:t>
            </a:r>
            <a:r>
              <a:rPr lang="en-US" sz="2800" dirty="0" smtClean="0">
                <a:latin typeface="Times New Roman" panose="02020603050405020304" pitchFamily="18" charset="0"/>
                <a:cs typeface="Times New Roman" panose="02020603050405020304" pitchFamily="18" charset="0"/>
              </a:rPr>
              <a:t>Individualism is the degree to which people prefer to act as individuals rather than as  members of  groups and believe in an individual’s rights above all else. Collectivism emphasizes a tight social framework in which people expect others in groups of which they are a part to look after them and protect them.</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362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17836"/>
          </a:xfrm>
          <a:solidFill>
            <a:schemeClr val="accent6"/>
          </a:solidFill>
        </p:spPr>
        <p:txBody>
          <a:bodyPr>
            <a:normAutofit fontScale="90000"/>
          </a:bodyPr>
          <a:lstStyle/>
          <a:p>
            <a:pPr algn="ctr"/>
            <a:r>
              <a:rPr lang="en-US" b="1" dirty="0"/>
              <a:t>Cultural Values (Hofstede’s Framework)</a:t>
            </a:r>
            <a:endParaRPr lang="en-US" dirty="0"/>
          </a:p>
        </p:txBody>
      </p:sp>
      <p:sp>
        <p:nvSpPr>
          <p:cNvPr id="3" name="Content Placeholder 2"/>
          <p:cNvSpPr>
            <a:spLocks noGrp="1"/>
          </p:cNvSpPr>
          <p:nvPr>
            <p:ph idx="1"/>
          </p:nvPr>
        </p:nvSpPr>
        <p:spPr>
          <a:xfrm>
            <a:off x="2589212" y="1241946"/>
            <a:ext cx="8915400" cy="5390866"/>
          </a:xfrm>
        </p:spPr>
        <p:txBody>
          <a:bodyPr>
            <a:normAutofit/>
          </a:bodyPr>
          <a:lstStyle/>
          <a:p>
            <a:pPr algn="just"/>
            <a:r>
              <a:rPr lang="en-US" sz="2400" b="1" dirty="0" smtClean="0">
                <a:solidFill>
                  <a:srgbClr val="00B0F0"/>
                </a:solidFill>
                <a:latin typeface="Times New Roman" panose="02020603050405020304" pitchFamily="18" charset="0"/>
                <a:cs typeface="Times New Roman" panose="02020603050405020304" pitchFamily="18" charset="0"/>
              </a:rPr>
              <a:t>Masculinity Versus Femininity</a:t>
            </a:r>
            <a:r>
              <a:rPr lang="en-US" sz="2400" dirty="0" smtClean="0">
                <a:solidFill>
                  <a:srgbClr val="00B0F0"/>
                </a:solidFill>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Hofstede’s construct of masculinity is the degree to which the cultures favors traditional masculine roles such as achievement, power, and control, as opposed to viewing men and women as equals. A high masculinity rating indicates the culture has separate roles for men and women, with men dominating the society.</a:t>
            </a:r>
          </a:p>
          <a:p>
            <a:pPr algn="just"/>
            <a:r>
              <a:rPr lang="en-US" sz="2400" b="1" dirty="0" smtClean="0">
                <a:solidFill>
                  <a:srgbClr val="00B0F0"/>
                </a:solidFill>
                <a:latin typeface="Times New Roman" panose="02020603050405020304" pitchFamily="18" charset="0"/>
                <a:cs typeface="Times New Roman" panose="02020603050405020304" pitchFamily="18" charset="0"/>
              </a:rPr>
              <a:t>Uncertainty Avoidance: </a:t>
            </a:r>
            <a:r>
              <a:rPr lang="en-US" sz="2400" dirty="0" smtClean="0">
                <a:latin typeface="Times New Roman" panose="02020603050405020304" pitchFamily="18" charset="0"/>
                <a:cs typeface="Times New Roman" panose="02020603050405020304" pitchFamily="18" charset="0"/>
              </a:rPr>
              <a:t>The degree to which people in a country prefer structured over unstructured situations defines their uncertainty avoidance. In cultures scoring high on uncertainty avoidance, people have increased anxiety about </a:t>
            </a:r>
            <a:r>
              <a:rPr lang="en-US" sz="2400" dirty="0">
                <a:latin typeface="Times New Roman" panose="02020603050405020304" pitchFamily="18" charset="0"/>
                <a:cs typeface="Times New Roman" panose="02020603050405020304" pitchFamily="18" charset="0"/>
              </a:rPr>
              <a:t>u</a:t>
            </a:r>
            <a:r>
              <a:rPr lang="en-US" sz="2400" dirty="0" smtClean="0">
                <a:latin typeface="Times New Roman" panose="02020603050405020304" pitchFamily="18" charset="0"/>
                <a:cs typeface="Times New Roman" panose="02020603050405020304" pitchFamily="18" charset="0"/>
              </a:rPr>
              <a:t>ncertainty and ambiguity and use laws and controls to reduce uncertainty. People in cultures low on uncertainty avoidance are more accepting of ambiguity, are less rule oriented, take more risks, and accept change more rapidly.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4403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549597"/>
          </a:xfrm>
          <a:solidFill>
            <a:schemeClr val="accent6"/>
          </a:solidFill>
        </p:spPr>
        <p:txBody>
          <a:bodyPr>
            <a:normAutofit fontScale="90000"/>
          </a:bodyPr>
          <a:lstStyle/>
          <a:p>
            <a:pPr algn="ctr"/>
            <a:r>
              <a:rPr lang="en-US" b="1" dirty="0"/>
              <a:t>Cultural Values (Hofstede’s Framework)</a:t>
            </a:r>
            <a:endParaRPr lang="en-US" dirty="0"/>
          </a:p>
        </p:txBody>
      </p:sp>
      <p:sp>
        <p:nvSpPr>
          <p:cNvPr id="3" name="Content Placeholder 2"/>
          <p:cNvSpPr>
            <a:spLocks noGrp="1"/>
          </p:cNvSpPr>
          <p:nvPr>
            <p:ph idx="1"/>
          </p:nvPr>
        </p:nvSpPr>
        <p:spPr>
          <a:xfrm>
            <a:off x="2589212" y="1392072"/>
            <a:ext cx="8915400" cy="4519150"/>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Long-term Versus Short-term Orientations:</a:t>
            </a: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This typology measures a society’s devotion to traditional values. People in a culture with long-term orientation look to the future and value thrift, persistence, and tradition. In a short-term orientation, people value the here and now, they also accept change more readily and don’t see commitments as impediments to change.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989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1"/>
            <a:ext cx="8915399" cy="914400"/>
          </a:xfrm>
        </p:spPr>
        <p:txBody>
          <a:bodyPr/>
          <a:lstStyle/>
          <a:p>
            <a:pPr algn="ctr"/>
            <a:r>
              <a:rPr lang="en-US" b="1" dirty="0" smtClean="0">
                <a:solidFill>
                  <a:srgbClr val="00B0F0"/>
                </a:solidFill>
              </a:rPr>
              <a:t>END OF CHAPTER</a:t>
            </a:r>
            <a:endParaRPr lang="en-US" b="1" dirty="0">
              <a:solidFill>
                <a:srgbClr val="00B0F0"/>
              </a:solidFill>
            </a:endParaRPr>
          </a:p>
        </p:txBody>
      </p:sp>
      <p:sp>
        <p:nvSpPr>
          <p:cNvPr id="3" name="Subtitle 2"/>
          <p:cNvSpPr>
            <a:spLocks noGrp="1"/>
          </p:cNvSpPr>
          <p:nvPr>
            <p:ph type="subTitle" idx="1"/>
          </p:nvPr>
        </p:nvSpPr>
        <p:spPr>
          <a:xfrm>
            <a:off x="2589213" y="4053385"/>
            <a:ext cx="8915399" cy="1050878"/>
          </a:xfrm>
        </p:spPr>
        <p:txBody>
          <a:bodyPr>
            <a:normAutofit/>
          </a:bodyPr>
          <a:lstStyle/>
          <a:p>
            <a:pPr algn="ctr"/>
            <a:r>
              <a:rPr lang="en-US" sz="4800" b="1" dirty="0" smtClean="0">
                <a:solidFill>
                  <a:srgbClr val="7030A0"/>
                </a:solidFill>
              </a:rPr>
              <a:t>HAVE A GOOD DAY</a:t>
            </a:r>
            <a:endParaRPr lang="en-US" sz="4800" b="1" dirty="0">
              <a:solidFill>
                <a:srgbClr val="7030A0"/>
              </a:solidFill>
            </a:endParaRPr>
          </a:p>
        </p:txBody>
      </p:sp>
    </p:spTree>
    <p:extLst>
      <p:ext uri="{BB962C8B-B14F-4D97-AF65-F5344CB8AC3E}">
        <p14:creationId xmlns:p14="http://schemas.microsoft.com/office/powerpoint/2010/main" val="17755852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424</TotalTime>
  <Words>2287</Words>
  <Application>Microsoft Office PowerPoint</Application>
  <PresentationFormat>Widescreen</PresentationFormat>
  <Paragraphs>76</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Century Gothic</vt:lpstr>
      <vt:lpstr>Courier New</vt:lpstr>
      <vt:lpstr>Times New Roman</vt:lpstr>
      <vt:lpstr>Wingdings</vt:lpstr>
      <vt:lpstr>Wingdings 3</vt:lpstr>
      <vt:lpstr>Wisp</vt:lpstr>
      <vt:lpstr>Chapter-Six Personality and Values</vt:lpstr>
      <vt:lpstr>Definition of Personality</vt:lpstr>
      <vt:lpstr>Personality Determinants</vt:lpstr>
      <vt:lpstr>Personality Determinants</vt:lpstr>
      <vt:lpstr>Personality Determinants</vt:lpstr>
      <vt:lpstr>Myers-Briggs Type Indicators (MBTI)</vt:lpstr>
      <vt:lpstr>Myers-Briggs Type Indicators (MBTI)</vt:lpstr>
      <vt:lpstr>Myers-Briggs Type Indicators (MBTI)</vt:lpstr>
      <vt:lpstr>Myers-Briggs Type Indicators (MBTI)</vt:lpstr>
      <vt:lpstr>Myers-Briggs Type Indicators (MBTI)</vt:lpstr>
      <vt:lpstr>The BIG Five Model</vt:lpstr>
      <vt:lpstr>The BIG Five Model</vt:lpstr>
      <vt:lpstr>The BIG Five Model</vt:lpstr>
      <vt:lpstr>Additional Personality Insights</vt:lpstr>
      <vt:lpstr>Additional Personality Insights</vt:lpstr>
      <vt:lpstr>Additional Personality Insights</vt:lpstr>
      <vt:lpstr>Values</vt:lpstr>
      <vt:lpstr>Cultural Values (Hofstede’s Framework)</vt:lpstr>
      <vt:lpstr>Cultural Values (Hofstede’s Framework)</vt:lpstr>
      <vt:lpstr>Cultural Values (Hofstede’s Framework)</vt:lpstr>
      <vt:lpstr>Cultural Values (Hofstede’s Framework)</vt:lpstr>
      <vt:lpstr>END OF CHAPTER</vt:lpstr>
    </vt:vector>
  </TitlesOfParts>
  <Company>CyberSpace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Chapter-Four Personality and Values</dc:title>
  <dc:creator>admin</dc:creator>
  <cp:lastModifiedBy>User</cp:lastModifiedBy>
  <cp:revision>35</cp:revision>
  <dcterms:created xsi:type="dcterms:W3CDTF">2023-02-26T08:37:51Z</dcterms:created>
  <dcterms:modified xsi:type="dcterms:W3CDTF">2024-01-08T08:01:33Z</dcterms:modified>
</cp:coreProperties>
</file>