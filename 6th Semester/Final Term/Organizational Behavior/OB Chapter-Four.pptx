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74" d="100"/>
          <a:sy n="74" d="100"/>
        </p:scale>
        <p:origin x="57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88D77B5A-6261-4516-962C-F8D18A26C292}" type="datetimeFigureOut">
              <a:rPr lang="en-US" smtClean="0"/>
              <a:t>1/8/2024</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2846DC7A-00B0-4BE2-842E-D08C1DA38640}" type="slidenum">
              <a:rPr lang="en-US" smtClean="0"/>
              <a:t>‹#›</a:t>
            </a:fld>
            <a:endParaRPr lang="en-US"/>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8010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8D77B5A-6261-4516-962C-F8D18A26C292}"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46DC7A-00B0-4BE2-842E-D08C1DA38640}" type="slidenum">
              <a:rPr lang="en-US" smtClean="0"/>
              <a:t>‹#›</a:t>
            </a:fld>
            <a:endParaRPr lang="en-US"/>
          </a:p>
        </p:txBody>
      </p:sp>
    </p:spTree>
    <p:extLst>
      <p:ext uri="{BB962C8B-B14F-4D97-AF65-F5344CB8AC3E}">
        <p14:creationId xmlns:p14="http://schemas.microsoft.com/office/powerpoint/2010/main" val="3514143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8D77B5A-6261-4516-962C-F8D18A26C292}"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46DC7A-00B0-4BE2-842E-D08C1DA38640}" type="slidenum">
              <a:rPr lang="en-US" smtClean="0"/>
              <a:t>‹#›</a:t>
            </a:fld>
            <a:endParaRPr lang="en-US"/>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4936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8D77B5A-6261-4516-962C-F8D18A26C292}" type="datetimeFigureOut">
              <a:rPr lang="en-US" smtClean="0"/>
              <a:t>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46DC7A-00B0-4BE2-842E-D08C1DA38640}" type="slidenum">
              <a:rPr lang="en-US" smtClean="0"/>
              <a:t>‹#›</a:t>
            </a:fld>
            <a:endParaRPr lang="en-US"/>
          </a:p>
        </p:txBody>
      </p:sp>
    </p:spTree>
    <p:extLst>
      <p:ext uri="{BB962C8B-B14F-4D97-AF65-F5344CB8AC3E}">
        <p14:creationId xmlns:p14="http://schemas.microsoft.com/office/powerpoint/2010/main" val="3898400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8D77B5A-6261-4516-962C-F8D18A26C292}" type="datetimeFigureOut">
              <a:rPr lang="en-US" smtClean="0"/>
              <a:t>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46DC7A-00B0-4BE2-842E-D08C1DA38640}" type="slidenum">
              <a:rPr lang="en-US" smtClean="0"/>
              <a:t>‹#›</a:t>
            </a:fld>
            <a:endParaRPr lang="en-US"/>
          </a:p>
        </p:txBody>
      </p:sp>
    </p:spTree>
    <p:extLst>
      <p:ext uri="{BB962C8B-B14F-4D97-AF65-F5344CB8AC3E}">
        <p14:creationId xmlns:p14="http://schemas.microsoft.com/office/powerpoint/2010/main" val="42165971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8D77B5A-6261-4516-962C-F8D18A26C292}" type="datetimeFigureOut">
              <a:rPr lang="en-US" smtClean="0"/>
              <a:t>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46DC7A-00B0-4BE2-842E-D08C1DA38640}" type="slidenum">
              <a:rPr lang="en-US" smtClean="0"/>
              <a:t>‹#›</a:t>
            </a:fld>
            <a:endParaRPr lang="en-US"/>
          </a:p>
        </p:txBody>
      </p:sp>
    </p:spTree>
    <p:extLst>
      <p:ext uri="{BB962C8B-B14F-4D97-AF65-F5344CB8AC3E}">
        <p14:creationId xmlns:p14="http://schemas.microsoft.com/office/powerpoint/2010/main" val="1570518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D77B5A-6261-4516-962C-F8D18A26C292}" type="datetimeFigureOut">
              <a:rPr lang="en-US" smtClean="0"/>
              <a:t>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46DC7A-00B0-4BE2-842E-D08C1DA38640}" type="slidenum">
              <a:rPr lang="en-US" smtClean="0"/>
              <a:t>‹#›</a:t>
            </a:fld>
            <a:endParaRPr lang="en-US"/>
          </a:p>
        </p:txBody>
      </p:sp>
    </p:spTree>
    <p:extLst>
      <p:ext uri="{BB962C8B-B14F-4D97-AF65-F5344CB8AC3E}">
        <p14:creationId xmlns:p14="http://schemas.microsoft.com/office/powerpoint/2010/main" val="761606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smtClean="0"/>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8D77B5A-6261-4516-962C-F8D18A26C292}" type="datetimeFigureOut">
              <a:rPr lang="en-US" smtClean="0"/>
              <a:t>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46DC7A-00B0-4BE2-842E-D08C1DA38640}" type="slidenum">
              <a:rPr lang="en-US" smtClean="0"/>
              <a:t>‹#›</a:t>
            </a:fld>
            <a:endParaRPr lang="en-US"/>
          </a:p>
        </p:txBody>
      </p:sp>
    </p:spTree>
    <p:extLst>
      <p:ext uri="{BB962C8B-B14F-4D97-AF65-F5344CB8AC3E}">
        <p14:creationId xmlns:p14="http://schemas.microsoft.com/office/powerpoint/2010/main" val="35764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88D77B5A-6261-4516-962C-F8D18A26C292}" type="datetimeFigureOut">
              <a:rPr lang="en-US" smtClean="0"/>
              <a:t>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46DC7A-00B0-4BE2-842E-D08C1DA38640}" type="slidenum">
              <a:rPr lang="en-US" smtClean="0"/>
              <a:t>‹#›</a:t>
            </a:fld>
            <a:endParaRPr lang="en-US"/>
          </a:p>
        </p:txBody>
      </p:sp>
    </p:spTree>
    <p:extLst>
      <p:ext uri="{BB962C8B-B14F-4D97-AF65-F5344CB8AC3E}">
        <p14:creationId xmlns:p14="http://schemas.microsoft.com/office/powerpoint/2010/main" val="3035945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8D77B5A-6261-4516-962C-F8D18A26C292}"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46DC7A-00B0-4BE2-842E-D08C1DA38640}" type="slidenum">
              <a:rPr lang="en-US" smtClean="0"/>
              <a:t>‹#›</a:t>
            </a:fld>
            <a:endParaRPr lang="en-US"/>
          </a:p>
        </p:txBody>
      </p:sp>
    </p:spTree>
    <p:extLst>
      <p:ext uri="{BB962C8B-B14F-4D97-AF65-F5344CB8AC3E}">
        <p14:creationId xmlns:p14="http://schemas.microsoft.com/office/powerpoint/2010/main" val="3932247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8D77B5A-6261-4516-962C-F8D18A26C292}" type="datetimeFigureOut">
              <a:rPr lang="en-US" smtClean="0"/>
              <a:t>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46DC7A-00B0-4BE2-842E-D08C1DA38640}" type="slidenum">
              <a:rPr lang="en-US" smtClean="0"/>
              <a:t>‹#›</a:t>
            </a:fld>
            <a:endParaRPr lang="en-US"/>
          </a:p>
        </p:txBody>
      </p:sp>
    </p:spTree>
    <p:extLst>
      <p:ext uri="{BB962C8B-B14F-4D97-AF65-F5344CB8AC3E}">
        <p14:creationId xmlns:p14="http://schemas.microsoft.com/office/powerpoint/2010/main" val="7428182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88D77B5A-6261-4516-962C-F8D18A26C292}" type="datetimeFigureOut">
              <a:rPr lang="en-US" smtClean="0"/>
              <a:t>1/8/2024</a:t>
            </a:fld>
            <a:endParaRPr 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2846DC7A-00B0-4BE2-842E-D08C1DA38640}" type="slidenum">
              <a:rPr lang="en-US" smtClean="0"/>
              <a:t>‹#›</a:t>
            </a:fld>
            <a:endParaRPr lang="en-US"/>
          </a:p>
        </p:txBody>
      </p:sp>
    </p:spTree>
    <p:extLst>
      <p:ext uri="{BB962C8B-B14F-4D97-AF65-F5344CB8AC3E}">
        <p14:creationId xmlns:p14="http://schemas.microsoft.com/office/powerpoint/2010/main" val="3418653308"/>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038" y="882376"/>
            <a:ext cx="9698901" cy="2118401"/>
          </a:xfrm>
        </p:spPr>
        <p:txBody>
          <a:bodyPr>
            <a:normAutofit/>
          </a:bodyPr>
          <a:lstStyle/>
          <a:p>
            <a:r>
              <a:rPr lang="en-US" sz="4400" b="1" dirty="0" smtClean="0">
                <a:solidFill>
                  <a:srgbClr val="0070C0"/>
                </a:solidFill>
              </a:rPr>
              <a:t>Chapter-Four</a:t>
            </a:r>
            <a:br>
              <a:rPr lang="en-US" sz="4400" b="1" dirty="0" smtClean="0">
                <a:solidFill>
                  <a:srgbClr val="0070C0"/>
                </a:solidFill>
              </a:rPr>
            </a:br>
            <a:r>
              <a:rPr lang="en-US" sz="4400" b="1" dirty="0" smtClean="0">
                <a:solidFill>
                  <a:srgbClr val="0070C0"/>
                </a:solidFill>
              </a:rPr>
              <a:t>Organizational Change and Stress Management</a:t>
            </a:r>
            <a:endParaRPr lang="en-US" sz="4400" b="1" dirty="0">
              <a:solidFill>
                <a:srgbClr val="0070C0"/>
              </a:solidFill>
            </a:endParaRPr>
          </a:p>
        </p:txBody>
      </p:sp>
      <p:sp>
        <p:nvSpPr>
          <p:cNvPr id="3" name="Subtitle 2"/>
          <p:cNvSpPr>
            <a:spLocks noGrp="1"/>
          </p:cNvSpPr>
          <p:nvPr>
            <p:ph type="subTitle" idx="1"/>
          </p:nvPr>
        </p:nvSpPr>
        <p:spPr>
          <a:xfrm>
            <a:off x="1524000" y="3753134"/>
            <a:ext cx="9144000" cy="2402006"/>
          </a:xfrm>
        </p:spPr>
        <p:txBody>
          <a:bodyPr>
            <a:noAutofit/>
          </a:bodyPr>
          <a:lstStyle/>
          <a:p>
            <a:r>
              <a:rPr lang="en-US" sz="2800" b="1" dirty="0" smtClean="0">
                <a:solidFill>
                  <a:srgbClr val="002060"/>
                </a:solidFill>
              </a:rPr>
              <a:t>Md. </a:t>
            </a:r>
            <a:r>
              <a:rPr lang="en-US" sz="2800" b="1" dirty="0" err="1" smtClean="0">
                <a:solidFill>
                  <a:srgbClr val="002060"/>
                </a:solidFill>
              </a:rPr>
              <a:t>Mostakin</a:t>
            </a:r>
            <a:r>
              <a:rPr lang="en-US" sz="2800" b="1" dirty="0" smtClean="0">
                <a:solidFill>
                  <a:srgbClr val="002060"/>
                </a:solidFill>
              </a:rPr>
              <a:t> Arafat Riaz</a:t>
            </a:r>
            <a:endParaRPr lang="en-US" sz="2800" b="1" dirty="0" smtClean="0">
              <a:solidFill>
                <a:srgbClr val="002060"/>
              </a:solidFill>
            </a:endParaRPr>
          </a:p>
          <a:p>
            <a:r>
              <a:rPr lang="en-US" sz="2800" b="1" dirty="0" smtClean="0">
                <a:solidFill>
                  <a:srgbClr val="002060"/>
                </a:solidFill>
              </a:rPr>
              <a:t>Lecturer</a:t>
            </a:r>
          </a:p>
          <a:p>
            <a:r>
              <a:rPr lang="en-US" sz="2800" b="1" dirty="0" smtClean="0">
                <a:solidFill>
                  <a:srgbClr val="002060"/>
                </a:solidFill>
              </a:rPr>
              <a:t>Department of Business Administration</a:t>
            </a:r>
          </a:p>
          <a:p>
            <a:r>
              <a:rPr lang="en-US" sz="2800" b="1" dirty="0" smtClean="0">
                <a:solidFill>
                  <a:srgbClr val="002060"/>
                </a:solidFill>
              </a:rPr>
              <a:t>Sonargaon University</a:t>
            </a:r>
          </a:p>
        </p:txBody>
      </p:sp>
    </p:spTree>
    <p:extLst>
      <p:ext uri="{BB962C8B-B14F-4D97-AF65-F5344CB8AC3E}">
        <p14:creationId xmlns:p14="http://schemas.microsoft.com/office/powerpoint/2010/main" val="174688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423082"/>
            <a:ext cx="9875520" cy="736978"/>
          </a:xfrm>
          <a:solidFill>
            <a:srgbClr val="002060"/>
          </a:solidFill>
        </p:spPr>
        <p:txBody>
          <a:bodyPr/>
          <a:lstStyle/>
          <a:p>
            <a:pPr algn="ctr"/>
            <a:r>
              <a:rPr lang="en-US" b="1" dirty="0" smtClean="0">
                <a:latin typeface="Times New Roman" panose="02020603050405020304" pitchFamily="18" charset="0"/>
                <a:cs typeface="Times New Roman" panose="02020603050405020304" pitchFamily="18" charset="0"/>
              </a:rPr>
              <a:t>Organizational Change</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43000" y="1310185"/>
            <a:ext cx="9872871" cy="5049672"/>
          </a:xfrm>
        </p:spPr>
        <p:txBody>
          <a:bodyPr>
            <a:normAutofit/>
          </a:bodyPr>
          <a:lstStyle/>
          <a:p>
            <a:pPr algn="just"/>
            <a:r>
              <a:rPr lang="en-US" sz="2800" dirty="0">
                <a:latin typeface="Times New Roman" panose="02020603050405020304" pitchFamily="18" charset="0"/>
                <a:cs typeface="Times New Roman" panose="02020603050405020304" pitchFamily="18" charset="0"/>
              </a:rPr>
              <a:t>Organizational change refers to the actions in which a company or business alters a major component of its organization, such as its culture, the underlying technologies or infrastructure it uses to operate</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or its internal processes</a:t>
            </a:r>
            <a:r>
              <a:rPr lang="en-US" sz="2800" dirty="0" smtClean="0">
                <a:latin typeface="Times New Roman" panose="02020603050405020304" pitchFamily="18" charset="0"/>
                <a:cs typeface="Times New Roman" panose="02020603050405020304" pitchFamily="18" charset="0"/>
              </a:rPr>
              <a:t>.</a:t>
            </a:r>
          </a:p>
          <a:p>
            <a:pPr algn="just"/>
            <a:r>
              <a:rPr lang="en-US" sz="2800" dirty="0">
                <a:latin typeface="Times New Roman" panose="02020603050405020304" pitchFamily="18" charset="0"/>
                <a:cs typeface="Times New Roman" panose="02020603050405020304" pitchFamily="18" charset="0"/>
              </a:rPr>
              <a:t>Organizational change management is the process of guiding organizational change to a successful resolution, and it typically includes three major phases: preparation, implementation, and follow-through</a:t>
            </a:r>
            <a:r>
              <a:rPr lang="en-US" sz="2800" dirty="0" smtClean="0">
                <a:latin typeface="Times New Roman" panose="02020603050405020304" pitchFamily="18" charset="0"/>
                <a:cs typeface="Times New Roman" panose="02020603050405020304" pitchFamily="18" charset="0"/>
              </a:rPr>
              <a:t>.</a:t>
            </a:r>
          </a:p>
          <a:p>
            <a:pPr algn="just"/>
            <a:r>
              <a:rPr lang="en-US" sz="2800" dirty="0" smtClean="0">
                <a:latin typeface="Times New Roman" panose="02020603050405020304" pitchFamily="18" charset="0"/>
                <a:cs typeface="Times New Roman" panose="02020603050405020304" pitchFamily="18" charset="0"/>
              </a:rPr>
              <a:t>No company today is in a particularly stable environment. Even those with a dominant market share must change, sometimes radically</a:t>
            </a:r>
            <a:r>
              <a:rPr lang="en-US" sz="2800" dirty="0" smtClean="0"/>
              <a:t>.</a:t>
            </a:r>
            <a:endParaRPr lang="en-US" sz="2800" dirty="0"/>
          </a:p>
        </p:txBody>
      </p:sp>
    </p:spTree>
    <p:extLst>
      <p:ext uri="{BB962C8B-B14F-4D97-AF65-F5344CB8AC3E}">
        <p14:creationId xmlns:p14="http://schemas.microsoft.com/office/powerpoint/2010/main" val="3863768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9875520" cy="686937"/>
          </a:xfrm>
          <a:solidFill>
            <a:srgbClr val="002060"/>
          </a:solidFill>
        </p:spPr>
        <p:txBody>
          <a:bodyPr>
            <a:normAutofit fontScale="90000"/>
          </a:bodyPr>
          <a:lstStyle/>
          <a:p>
            <a:pPr algn="ctr"/>
            <a:r>
              <a:rPr lang="en-US" b="1" dirty="0" smtClean="0"/>
              <a:t>Forces for Change</a:t>
            </a:r>
            <a:endParaRPr lang="en-US" b="1" dirty="0"/>
          </a:p>
        </p:txBody>
      </p:sp>
      <p:sp>
        <p:nvSpPr>
          <p:cNvPr id="3" name="Content Placeholder 2"/>
          <p:cNvSpPr>
            <a:spLocks noGrp="1"/>
          </p:cNvSpPr>
          <p:nvPr>
            <p:ph idx="1"/>
          </p:nvPr>
        </p:nvSpPr>
        <p:spPr>
          <a:xfrm>
            <a:off x="1143000" y="1569493"/>
            <a:ext cx="9872871" cy="4763068"/>
          </a:xfrm>
        </p:spPr>
        <p:txBody>
          <a:bodyPr/>
          <a:lstStyle/>
          <a:p>
            <a:pPr marL="45720" indent="0" algn="just">
              <a:buNone/>
            </a:pPr>
            <a:r>
              <a:rPr lang="en-US" sz="2800" dirty="0" smtClean="0">
                <a:latin typeface="Times New Roman" panose="02020603050405020304" pitchFamily="18" charset="0"/>
                <a:cs typeface="Times New Roman" panose="02020603050405020304" pitchFamily="18" charset="0"/>
              </a:rPr>
              <a:t>“Change or die!” is the rallying cry among today’s managers worldwide. Six specific forces that stimulate change are given below- </a:t>
            </a:r>
          </a:p>
          <a:p>
            <a:pPr algn="just">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Changing nature of the workforce</a:t>
            </a:r>
          </a:p>
          <a:p>
            <a:pPr algn="just">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Technology</a:t>
            </a:r>
          </a:p>
          <a:p>
            <a:pPr algn="just">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Economic shocks</a:t>
            </a:r>
          </a:p>
          <a:p>
            <a:pPr algn="just">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Competition</a:t>
            </a:r>
          </a:p>
          <a:p>
            <a:pPr algn="just">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Social trends</a:t>
            </a:r>
          </a:p>
          <a:p>
            <a:pPr algn="just">
              <a:buFont typeface="Wingdings" panose="05000000000000000000" pitchFamily="2" charset="2"/>
              <a:buChar char="§"/>
            </a:pPr>
            <a:r>
              <a:rPr lang="en-US" sz="2800" dirty="0" smtClean="0">
                <a:latin typeface="Times New Roman" panose="02020603050405020304" pitchFamily="18" charset="0"/>
                <a:cs typeface="Times New Roman" panose="02020603050405020304" pitchFamily="18" charset="0"/>
              </a:rPr>
              <a:t>World politics</a:t>
            </a:r>
          </a:p>
          <a:p>
            <a:pPr marL="45720" indent="0">
              <a:buNone/>
            </a:pPr>
            <a:endParaRPr lang="en-US" dirty="0"/>
          </a:p>
        </p:txBody>
      </p:sp>
    </p:spTree>
    <p:extLst>
      <p:ext uri="{BB962C8B-B14F-4D97-AF65-F5344CB8AC3E}">
        <p14:creationId xmlns:p14="http://schemas.microsoft.com/office/powerpoint/2010/main" val="2810996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82137"/>
            <a:ext cx="9875520" cy="627797"/>
          </a:xfrm>
          <a:solidFill>
            <a:srgbClr val="002060"/>
          </a:solidFill>
        </p:spPr>
        <p:txBody>
          <a:bodyPr>
            <a:normAutofit fontScale="90000"/>
          </a:bodyPr>
          <a:lstStyle/>
          <a:p>
            <a:pPr algn="ctr"/>
            <a:r>
              <a:rPr lang="en-US" b="1" dirty="0"/>
              <a:t>Forces for Change</a:t>
            </a:r>
          </a:p>
        </p:txBody>
      </p:sp>
      <p:sp>
        <p:nvSpPr>
          <p:cNvPr id="3" name="Content Placeholder 2"/>
          <p:cNvSpPr>
            <a:spLocks noGrp="1"/>
          </p:cNvSpPr>
          <p:nvPr>
            <p:ph idx="1"/>
          </p:nvPr>
        </p:nvSpPr>
        <p:spPr>
          <a:xfrm>
            <a:off x="1143000" y="1160061"/>
            <a:ext cx="9872871" cy="5363570"/>
          </a:xfrm>
        </p:spPr>
        <p:txBody>
          <a:bodyPr>
            <a:noAutofit/>
          </a:bodyPr>
          <a:lstStyle/>
          <a:p>
            <a:pPr algn="just"/>
            <a:r>
              <a:rPr lang="en-US" sz="2800" b="1" dirty="0" smtClean="0">
                <a:solidFill>
                  <a:srgbClr val="00B0F0"/>
                </a:solidFill>
                <a:latin typeface="Times New Roman" panose="02020603050405020304" pitchFamily="18" charset="0"/>
                <a:cs typeface="Times New Roman" panose="02020603050405020304" pitchFamily="18" charset="0"/>
              </a:rPr>
              <a:t>Changing Nature of the Workforce: </a:t>
            </a:r>
            <a:r>
              <a:rPr lang="en-US" sz="2800" dirty="0" smtClean="0">
                <a:latin typeface="Times New Roman" panose="02020603050405020304" pitchFamily="18" charset="0"/>
                <a:cs typeface="Times New Roman" panose="02020603050405020304" pitchFamily="18" charset="0"/>
              </a:rPr>
              <a:t>Almost every organization must adjust to a multicultural environment, demographic changes, immigration, and outsourcing.</a:t>
            </a:r>
          </a:p>
          <a:p>
            <a:pPr algn="just"/>
            <a:r>
              <a:rPr lang="en-US" sz="2800" b="1" dirty="0" smtClean="0">
                <a:solidFill>
                  <a:srgbClr val="00B0F0"/>
                </a:solidFill>
                <a:latin typeface="Times New Roman" panose="02020603050405020304" pitchFamily="18" charset="0"/>
                <a:cs typeface="Times New Roman" panose="02020603050405020304" pitchFamily="18" charset="0"/>
              </a:rPr>
              <a:t>Technology:</a:t>
            </a:r>
            <a:r>
              <a:rPr lang="en-US" sz="2800" b="1" dirty="0" smtClean="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Technology is continually changing jobs and organizations. It is not difficult to imagine the idea of an office becoming an antiquated concept in the near future.</a:t>
            </a:r>
          </a:p>
          <a:p>
            <a:pPr algn="just"/>
            <a:r>
              <a:rPr lang="en-US" sz="2800" b="1" dirty="0" smtClean="0">
                <a:solidFill>
                  <a:srgbClr val="00B0F0"/>
                </a:solidFill>
                <a:latin typeface="Times New Roman" panose="02020603050405020304" pitchFamily="18" charset="0"/>
                <a:cs typeface="Times New Roman" panose="02020603050405020304" pitchFamily="18" charset="0"/>
              </a:rPr>
              <a:t>Economic Shocks: </a:t>
            </a:r>
            <a:r>
              <a:rPr lang="en-US" sz="2800" dirty="0" smtClean="0">
                <a:latin typeface="Times New Roman" panose="02020603050405020304" pitchFamily="18" charset="0"/>
                <a:cs typeface="Times New Roman" panose="02020603050405020304" pitchFamily="18" charset="0"/>
              </a:rPr>
              <a:t>Economic shocks also have a significant impact on organizations. During the great recession of 2007 to 2009, millions of jobs were lost worldwide; home values dropped dramatically; and many large well-known corporations disappeared or were acquired. Recovery has occurred in many countries, and with it has come new job prospects and investments.</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1463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9875520" cy="605051"/>
          </a:xfrm>
          <a:solidFill>
            <a:srgbClr val="002060"/>
          </a:solidFill>
        </p:spPr>
        <p:txBody>
          <a:bodyPr>
            <a:normAutofit fontScale="90000"/>
          </a:bodyPr>
          <a:lstStyle/>
          <a:p>
            <a:pPr algn="ctr"/>
            <a:r>
              <a:rPr lang="en-US" b="1" dirty="0"/>
              <a:t>Forces for Change</a:t>
            </a:r>
          </a:p>
        </p:txBody>
      </p:sp>
      <p:sp>
        <p:nvSpPr>
          <p:cNvPr id="3" name="Content Placeholder 2"/>
          <p:cNvSpPr>
            <a:spLocks noGrp="1"/>
          </p:cNvSpPr>
          <p:nvPr>
            <p:ph idx="1"/>
          </p:nvPr>
        </p:nvSpPr>
        <p:spPr>
          <a:xfrm>
            <a:off x="1143000" y="1433015"/>
            <a:ext cx="9872871" cy="4662985"/>
          </a:xfrm>
        </p:spPr>
        <p:txBody>
          <a:bodyPr>
            <a:normAutofit/>
          </a:bodyPr>
          <a:lstStyle/>
          <a:p>
            <a:pPr algn="just"/>
            <a:r>
              <a:rPr lang="en-US" sz="2800" b="1" dirty="0" smtClean="0">
                <a:solidFill>
                  <a:srgbClr val="00B0F0"/>
                </a:solidFill>
                <a:latin typeface="Times New Roman" panose="02020603050405020304" pitchFamily="18" charset="0"/>
                <a:cs typeface="Times New Roman" panose="02020603050405020304" pitchFamily="18" charset="0"/>
              </a:rPr>
              <a:t>Competition: </a:t>
            </a:r>
            <a:r>
              <a:rPr lang="en-US" sz="2800" dirty="0" smtClean="0">
                <a:latin typeface="Times New Roman" panose="02020603050405020304" pitchFamily="18" charset="0"/>
                <a:cs typeface="Times New Roman" panose="02020603050405020304" pitchFamily="18" charset="0"/>
              </a:rPr>
              <a:t>Competition is changing. Competitors are as likely to be across the ocean as across town. Successful organizations are fast on their feet, capable of developing new products rapidly and getting them to market quickly. In other words, they are flexible and require an equally flexible and responsive workforce. </a:t>
            </a:r>
          </a:p>
          <a:p>
            <a:pPr algn="just"/>
            <a:r>
              <a:rPr lang="en-US" sz="2800" b="1" dirty="0" smtClean="0">
                <a:solidFill>
                  <a:srgbClr val="00B0F0"/>
                </a:solidFill>
                <a:latin typeface="Times New Roman" panose="02020603050405020304" pitchFamily="18" charset="0"/>
                <a:cs typeface="Times New Roman" panose="02020603050405020304" pitchFamily="18" charset="0"/>
              </a:rPr>
              <a:t>Social Trends: </a:t>
            </a:r>
            <a:r>
              <a:rPr lang="en-US" sz="2800" dirty="0" smtClean="0">
                <a:latin typeface="Times New Roman" panose="02020603050405020304" pitchFamily="18" charset="0"/>
                <a:cs typeface="Times New Roman" panose="02020603050405020304" pitchFamily="18" charset="0"/>
              </a:rPr>
              <a:t>Social trends don’t remain static either. Organization must therefore adjust product and marketing strategies continually to be sensitive to changing social trends. Consumers, employees, and organizational leaders are also increasingly sensitive to environmental concerns. </a:t>
            </a:r>
          </a:p>
        </p:txBody>
      </p:sp>
    </p:spTree>
    <p:extLst>
      <p:ext uri="{BB962C8B-B14F-4D97-AF65-F5344CB8AC3E}">
        <p14:creationId xmlns:p14="http://schemas.microsoft.com/office/powerpoint/2010/main" val="3630359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9875520" cy="686937"/>
          </a:xfrm>
          <a:solidFill>
            <a:srgbClr val="002060"/>
          </a:solidFill>
        </p:spPr>
        <p:txBody>
          <a:bodyPr>
            <a:normAutofit fontScale="90000"/>
          </a:bodyPr>
          <a:lstStyle/>
          <a:p>
            <a:pPr algn="ctr"/>
            <a:r>
              <a:rPr lang="en-US" b="1" dirty="0"/>
              <a:t>Forces for Change</a:t>
            </a:r>
            <a:endParaRPr lang="en-US" dirty="0"/>
          </a:p>
        </p:txBody>
      </p:sp>
      <p:sp>
        <p:nvSpPr>
          <p:cNvPr id="3" name="Content Placeholder 2"/>
          <p:cNvSpPr>
            <a:spLocks noGrp="1"/>
          </p:cNvSpPr>
          <p:nvPr>
            <p:ph idx="1"/>
          </p:nvPr>
        </p:nvSpPr>
        <p:spPr>
          <a:xfrm>
            <a:off x="1143000" y="1555845"/>
            <a:ext cx="9872871" cy="4540155"/>
          </a:xfrm>
        </p:spPr>
        <p:txBody>
          <a:bodyPr>
            <a:normAutofit/>
          </a:bodyPr>
          <a:lstStyle/>
          <a:p>
            <a:pPr algn="just"/>
            <a:r>
              <a:rPr lang="en-US" sz="2800" b="1" dirty="0" smtClean="0">
                <a:solidFill>
                  <a:srgbClr val="00B0F0"/>
                </a:solidFill>
                <a:latin typeface="Times New Roman" panose="02020603050405020304" pitchFamily="18" charset="0"/>
                <a:cs typeface="Times New Roman" panose="02020603050405020304" pitchFamily="18" charset="0"/>
              </a:rPr>
              <a:t>World Politics: </a:t>
            </a:r>
            <a:r>
              <a:rPr lang="en-US" sz="2800" dirty="0" smtClean="0">
                <a:latin typeface="Times New Roman" panose="02020603050405020304" pitchFamily="18" charset="0"/>
                <a:cs typeface="Times New Roman" panose="02020603050405020304" pitchFamily="18" charset="0"/>
              </a:rPr>
              <a:t>Not even globalization’s strongest proponents could have imagined the change in world politics in recent years. We have seen a major set of financial crises that have rocked global markets, a dramatic rise in the power and influence of China, populism and nationalist movements gaining headway in Europe and the United States and intense shakeups in governments across the Arab world. </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0155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1"/>
            <a:ext cx="9875520" cy="673290"/>
          </a:xfrm>
          <a:solidFill>
            <a:srgbClr val="002060"/>
          </a:solidFill>
        </p:spPr>
        <p:txBody>
          <a:bodyPr>
            <a:normAutofit fontScale="90000"/>
          </a:bodyPr>
          <a:lstStyle/>
          <a:p>
            <a:pPr algn="ctr"/>
            <a:r>
              <a:rPr lang="en-US" b="1" dirty="0" smtClean="0"/>
              <a:t>Overcoming Resistance to Change</a:t>
            </a:r>
            <a:endParaRPr lang="en-US" b="1" dirty="0"/>
          </a:p>
        </p:txBody>
      </p:sp>
      <p:sp>
        <p:nvSpPr>
          <p:cNvPr id="3" name="Content Placeholder 2"/>
          <p:cNvSpPr>
            <a:spLocks noGrp="1"/>
          </p:cNvSpPr>
          <p:nvPr>
            <p:ph idx="1"/>
          </p:nvPr>
        </p:nvSpPr>
        <p:spPr>
          <a:xfrm>
            <a:off x="1143000" y="1514901"/>
            <a:ext cx="10048164" cy="4804012"/>
          </a:xfrm>
        </p:spPr>
        <p:txBody>
          <a:bodyPr>
            <a:noAutofit/>
          </a:bodyPr>
          <a:lstStyle/>
          <a:p>
            <a:pPr algn="just"/>
            <a:r>
              <a:rPr lang="en-US" sz="2400" dirty="0" smtClean="0">
                <a:latin typeface="Times New Roman" panose="02020603050405020304" pitchFamily="18" charset="0"/>
                <a:cs typeface="Times New Roman" panose="02020603050405020304" pitchFamily="18" charset="0"/>
              </a:rPr>
              <a:t>Eight tactics can help change agents deal with resistance to change. These are - </a:t>
            </a:r>
          </a:p>
          <a:p>
            <a:pPr algn="just">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Communication</a:t>
            </a:r>
          </a:p>
          <a:p>
            <a:pPr algn="just">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Participation</a:t>
            </a:r>
          </a:p>
          <a:p>
            <a:pPr algn="just">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Building Support and Commitment</a:t>
            </a:r>
          </a:p>
          <a:p>
            <a:pPr algn="just">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Develop Positive Relationship</a:t>
            </a:r>
          </a:p>
          <a:p>
            <a:pPr algn="just">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Implementing Changes Fairly</a:t>
            </a:r>
          </a:p>
          <a:p>
            <a:pPr algn="just">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Manipulation and Cooptation</a:t>
            </a:r>
          </a:p>
          <a:p>
            <a:pPr algn="just">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Selecting People Who Accept Change</a:t>
            </a:r>
          </a:p>
          <a:p>
            <a:pPr algn="just">
              <a:buFont typeface="Courier New" panose="02070309020205020404" pitchFamily="49" charset="0"/>
              <a:buChar char="o"/>
            </a:pPr>
            <a:r>
              <a:rPr lang="en-US" sz="2400" dirty="0" smtClean="0">
                <a:latin typeface="Times New Roman" panose="02020603050405020304" pitchFamily="18" charset="0"/>
                <a:cs typeface="Times New Roman" panose="02020603050405020304" pitchFamily="18" charset="0"/>
              </a:rPr>
              <a:t>Coercion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0318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9875520" cy="591403"/>
          </a:xfrm>
          <a:solidFill>
            <a:srgbClr val="002060"/>
          </a:solidFill>
        </p:spPr>
        <p:txBody>
          <a:bodyPr>
            <a:normAutofit fontScale="90000"/>
          </a:bodyPr>
          <a:lstStyle/>
          <a:p>
            <a:pPr algn="ctr"/>
            <a:r>
              <a:rPr lang="en-US" b="1" dirty="0"/>
              <a:t>Overcoming Resistance to Change</a:t>
            </a:r>
            <a:endParaRPr lang="en-US" dirty="0"/>
          </a:p>
        </p:txBody>
      </p:sp>
      <p:sp>
        <p:nvSpPr>
          <p:cNvPr id="3" name="Content Placeholder 2"/>
          <p:cNvSpPr>
            <a:spLocks noGrp="1"/>
          </p:cNvSpPr>
          <p:nvPr>
            <p:ph idx="1"/>
          </p:nvPr>
        </p:nvSpPr>
        <p:spPr>
          <a:xfrm>
            <a:off x="1143000" y="1296538"/>
            <a:ext cx="9872871" cy="5022376"/>
          </a:xfrm>
        </p:spPr>
        <p:txBody>
          <a:bodyPr>
            <a:noAutofit/>
          </a:bodyPr>
          <a:lstStyle/>
          <a:p>
            <a:pPr algn="just">
              <a:buFont typeface="Wingdings" panose="05000000000000000000" pitchFamily="2" charset="2"/>
              <a:buChar char="§"/>
            </a:pPr>
            <a:r>
              <a:rPr lang="en-US" sz="2800" b="1" dirty="0" smtClean="0">
                <a:solidFill>
                  <a:srgbClr val="00B0F0"/>
                </a:solidFill>
                <a:latin typeface="Times New Roman" panose="02020603050405020304" pitchFamily="18" charset="0"/>
                <a:cs typeface="Times New Roman" panose="02020603050405020304" pitchFamily="18" charset="0"/>
              </a:rPr>
              <a:t>Communication: </a:t>
            </a:r>
            <a:r>
              <a:rPr lang="en-US" sz="2800" dirty="0" smtClean="0">
                <a:latin typeface="Times New Roman" panose="02020603050405020304" pitchFamily="18" charset="0"/>
                <a:cs typeface="Times New Roman" panose="02020603050405020304" pitchFamily="18" charset="0"/>
              </a:rPr>
              <a:t>Communication is more important than ever in times of change. One study of </a:t>
            </a:r>
            <a:r>
              <a:rPr lang="en-US" sz="2800" dirty="0">
                <a:latin typeface="Times New Roman" panose="02020603050405020304" pitchFamily="18" charset="0"/>
                <a:cs typeface="Times New Roman" panose="02020603050405020304" pitchFamily="18" charset="0"/>
              </a:rPr>
              <a:t>G</a:t>
            </a:r>
            <a:r>
              <a:rPr lang="en-US" sz="2800" dirty="0" smtClean="0">
                <a:latin typeface="Times New Roman" panose="02020603050405020304" pitchFamily="18" charset="0"/>
                <a:cs typeface="Times New Roman" panose="02020603050405020304" pitchFamily="18" charset="0"/>
              </a:rPr>
              <a:t>erman companies revealed changes are most effective when a company communicates a rationale that balances the interest of various stakeholders. Other research on a changing organization in the Philippines found that formal information sessions decreased employees anxiety about the change. </a:t>
            </a:r>
          </a:p>
          <a:p>
            <a:pPr algn="just">
              <a:buFont typeface="Wingdings" panose="05000000000000000000" pitchFamily="2" charset="2"/>
              <a:buChar char="§"/>
            </a:pPr>
            <a:r>
              <a:rPr lang="en-US" sz="2800" b="1" dirty="0" smtClean="0">
                <a:solidFill>
                  <a:srgbClr val="00B0F0"/>
                </a:solidFill>
                <a:latin typeface="Times New Roman" panose="02020603050405020304" pitchFamily="18" charset="0"/>
                <a:cs typeface="Times New Roman" panose="02020603050405020304" pitchFamily="18" charset="0"/>
              </a:rPr>
              <a:t>Participation:</a:t>
            </a:r>
            <a:r>
              <a:rPr lang="en-US" sz="2800" dirty="0" smtClean="0">
                <a:solidFill>
                  <a:srgbClr val="00B0F0"/>
                </a:solidFill>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It’s difficult to resist a change decision in which we have participated. Assuming participations have the expertise to make a meaningful contribution, their involvement can reduce resistance, obtain commitment, and increase the quality of the change decision.</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7313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9875520" cy="550460"/>
          </a:xfrm>
          <a:solidFill>
            <a:srgbClr val="002060"/>
          </a:solidFill>
        </p:spPr>
        <p:txBody>
          <a:bodyPr>
            <a:normAutofit fontScale="90000"/>
          </a:bodyPr>
          <a:lstStyle/>
          <a:p>
            <a:pPr algn="ctr"/>
            <a:r>
              <a:rPr lang="en-US" b="1" dirty="0"/>
              <a:t>Overcoming Resistance to Change</a:t>
            </a:r>
            <a:endParaRPr lang="en-US" dirty="0"/>
          </a:p>
        </p:txBody>
      </p:sp>
      <p:sp>
        <p:nvSpPr>
          <p:cNvPr id="3" name="Content Placeholder 2"/>
          <p:cNvSpPr>
            <a:spLocks noGrp="1"/>
          </p:cNvSpPr>
          <p:nvPr>
            <p:ph idx="1"/>
          </p:nvPr>
        </p:nvSpPr>
        <p:spPr>
          <a:xfrm>
            <a:off x="1143000" y="1310185"/>
            <a:ext cx="9872871" cy="5240740"/>
          </a:xfrm>
        </p:spPr>
        <p:txBody>
          <a:bodyPr>
            <a:noAutofit/>
          </a:bodyPr>
          <a:lstStyle/>
          <a:p>
            <a:pPr algn="just">
              <a:buFont typeface="Wingdings" panose="05000000000000000000" pitchFamily="2" charset="2"/>
              <a:buChar char="§"/>
            </a:pPr>
            <a:r>
              <a:rPr lang="en-US" sz="2800" b="1" dirty="0" smtClean="0">
                <a:solidFill>
                  <a:srgbClr val="00B0F0"/>
                </a:solidFill>
                <a:latin typeface="Times New Roman" panose="02020603050405020304" pitchFamily="18" charset="0"/>
                <a:cs typeface="Times New Roman" panose="02020603050405020304" pitchFamily="18" charset="0"/>
              </a:rPr>
              <a:t>Building Support and Commitment</a:t>
            </a:r>
            <a:r>
              <a:rPr lang="en-US" sz="2800" dirty="0" smtClean="0">
                <a:solidFill>
                  <a:srgbClr val="00B0F0"/>
                </a:solidFill>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When managers or employees have low emotional commitment to change, they resist it and favor the status quo. Employees are also more accepting of changes when they are committed to the organization as a whole. Motivating employees and emphasizing their commitment to the organization overall can help them commit emotionally to the change rather than embrace the status quo.</a:t>
            </a:r>
          </a:p>
          <a:p>
            <a:pPr algn="just">
              <a:buFont typeface="Wingdings" panose="05000000000000000000" pitchFamily="2" charset="2"/>
              <a:buChar char="§"/>
            </a:pPr>
            <a:r>
              <a:rPr lang="en-US" sz="2800" b="1" dirty="0" smtClean="0">
                <a:solidFill>
                  <a:srgbClr val="00B0F0"/>
                </a:solidFill>
                <a:latin typeface="Times New Roman" panose="02020603050405020304" pitchFamily="18" charset="0"/>
                <a:cs typeface="Times New Roman" panose="02020603050405020304" pitchFamily="18" charset="0"/>
              </a:rPr>
              <a:t>Develop Positive Relationship: </a:t>
            </a:r>
            <a:r>
              <a:rPr lang="en-US" sz="2800" dirty="0" smtClean="0">
                <a:latin typeface="Times New Roman" panose="02020603050405020304" pitchFamily="18" charset="0"/>
                <a:cs typeface="Times New Roman" panose="02020603050405020304" pitchFamily="18" charset="0"/>
              </a:rPr>
              <a:t>People are more willing to accept changes if they trust the managers implementing them and see them as legitimate. Those who had a more positive relationship with their supervisor, and who felt that the work environment supported development, were much more positive about the change process.</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2459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368491"/>
            <a:ext cx="9875520" cy="641444"/>
          </a:xfrm>
          <a:solidFill>
            <a:srgbClr val="002060"/>
          </a:solidFill>
        </p:spPr>
        <p:txBody>
          <a:bodyPr>
            <a:normAutofit fontScale="90000"/>
          </a:bodyPr>
          <a:lstStyle/>
          <a:p>
            <a:pPr algn="ctr"/>
            <a:r>
              <a:rPr lang="en-US" b="1" dirty="0"/>
              <a:t>Overcoming Resistance to Change</a:t>
            </a:r>
            <a:endParaRPr lang="en-US" dirty="0"/>
          </a:p>
        </p:txBody>
      </p:sp>
      <p:sp>
        <p:nvSpPr>
          <p:cNvPr id="3" name="Content Placeholder 2"/>
          <p:cNvSpPr>
            <a:spLocks noGrp="1"/>
          </p:cNvSpPr>
          <p:nvPr>
            <p:ph idx="1"/>
          </p:nvPr>
        </p:nvSpPr>
        <p:spPr>
          <a:xfrm>
            <a:off x="1143000" y="1105469"/>
            <a:ext cx="9872871" cy="5568286"/>
          </a:xfrm>
        </p:spPr>
        <p:txBody>
          <a:bodyPr>
            <a:noAutofit/>
          </a:bodyPr>
          <a:lstStyle/>
          <a:p>
            <a:pPr algn="just">
              <a:buFont typeface="Wingdings" panose="05000000000000000000" pitchFamily="2" charset="2"/>
              <a:buChar char="§"/>
            </a:pPr>
            <a:r>
              <a:rPr lang="en-US" sz="2800" b="1" dirty="0" smtClean="0">
                <a:solidFill>
                  <a:srgbClr val="00B0F0"/>
                </a:solidFill>
                <a:latin typeface="Times New Roman" panose="02020603050405020304" pitchFamily="18" charset="0"/>
                <a:cs typeface="Times New Roman" panose="02020603050405020304" pitchFamily="18" charset="0"/>
              </a:rPr>
              <a:t>Implementing Changes Fairly: </a:t>
            </a:r>
            <a:r>
              <a:rPr lang="en-US" sz="2800" dirty="0" smtClean="0">
                <a:latin typeface="Times New Roman" panose="02020603050405020304" pitchFamily="18" charset="0"/>
                <a:cs typeface="Times New Roman" panose="02020603050405020304" pitchFamily="18" charset="0"/>
              </a:rPr>
              <a:t>One way organizations can minimize negative impact is to make sure change is implemented fairly. Procedural fairness is especially important when employees perceive an outcome as negative, so it’s crucial that employees see the reason for the change, are kept informed about its progress, and perceive its implementation as consistent and fair.</a:t>
            </a:r>
          </a:p>
          <a:p>
            <a:pPr algn="just">
              <a:buFont typeface="Wingdings" panose="05000000000000000000" pitchFamily="2" charset="2"/>
              <a:buChar char="§"/>
            </a:pPr>
            <a:r>
              <a:rPr lang="en-US" sz="2800" b="1" dirty="0" smtClean="0">
                <a:solidFill>
                  <a:srgbClr val="00B0F0"/>
                </a:solidFill>
                <a:latin typeface="Times New Roman" panose="02020603050405020304" pitchFamily="18" charset="0"/>
                <a:cs typeface="Times New Roman" panose="02020603050405020304" pitchFamily="18" charset="0"/>
              </a:rPr>
              <a:t>Manipulation and Cooptation: </a:t>
            </a:r>
            <a:r>
              <a:rPr lang="en-US" sz="2800" dirty="0" smtClean="0">
                <a:latin typeface="Times New Roman" panose="02020603050405020304" pitchFamily="18" charset="0"/>
                <a:cs typeface="Times New Roman" panose="02020603050405020304" pitchFamily="18" charset="0"/>
              </a:rPr>
              <a:t>Manipulation refers to convert influence attempts. Twisting facts to make them more attractive, withholding information, and creating false rumors to get employees to accept change are all examples of manipulation. Cooptation, on the other hand, combines manipulation and participation. It seeks to buy off the leaders of a resistance group by giving them a key role, seeking their advice not to find a better solution but to get their endorsement.</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12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9875520" cy="564107"/>
          </a:xfrm>
          <a:solidFill>
            <a:srgbClr val="002060"/>
          </a:solidFill>
        </p:spPr>
        <p:txBody>
          <a:bodyPr>
            <a:normAutofit fontScale="90000"/>
          </a:bodyPr>
          <a:lstStyle/>
          <a:p>
            <a:pPr algn="ctr"/>
            <a:r>
              <a:rPr lang="en-US" b="1" dirty="0"/>
              <a:t>Overcoming Resistance to Change</a:t>
            </a:r>
            <a:endParaRPr lang="en-US" dirty="0"/>
          </a:p>
        </p:txBody>
      </p:sp>
      <p:sp>
        <p:nvSpPr>
          <p:cNvPr id="3" name="Content Placeholder 2"/>
          <p:cNvSpPr>
            <a:spLocks noGrp="1"/>
          </p:cNvSpPr>
          <p:nvPr>
            <p:ph idx="1"/>
          </p:nvPr>
        </p:nvSpPr>
        <p:spPr>
          <a:xfrm>
            <a:off x="1143000" y="1364776"/>
            <a:ext cx="9872871" cy="5145206"/>
          </a:xfrm>
        </p:spPr>
        <p:txBody>
          <a:bodyPr>
            <a:noAutofit/>
          </a:bodyPr>
          <a:lstStyle/>
          <a:p>
            <a:pPr algn="just">
              <a:buFont typeface="Wingdings" panose="05000000000000000000" pitchFamily="2" charset="2"/>
              <a:buChar char="§"/>
            </a:pPr>
            <a:r>
              <a:rPr lang="en-US" sz="2800" b="1" dirty="0" smtClean="0">
                <a:solidFill>
                  <a:srgbClr val="00B0F0"/>
                </a:solidFill>
                <a:latin typeface="Times New Roman" panose="02020603050405020304" pitchFamily="18" charset="0"/>
                <a:cs typeface="Times New Roman" panose="02020603050405020304" pitchFamily="18" charset="0"/>
              </a:rPr>
              <a:t>Selecting People Who Accept Change</a:t>
            </a:r>
            <a:r>
              <a:rPr lang="en-US" sz="2800" dirty="0" smtClean="0">
                <a:solidFill>
                  <a:srgbClr val="00B0F0"/>
                </a:solidFill>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Research suggests the ability to accept and adapt easily to change is related to personality – some people are simply more receptive to change. Individual who are emotionally stable, have high core self-evaluation, are willing to take risks, and are flexible in their behavior are prime candidates.</a:t>
            </a:r>
          </a:p>
          <a:p>
            <a:pPr algn="just">
              <a:buFont typeface="Wingdings" panose="05000000000000000000" pitchFamily="2" charset="2"/>
              <a:buChar char="§"/>
            </a:pPr>
            <a:r>
              <a:rPr lang="en-US" sz="2800" b="1" dirty="0" smtClean="0">
                <a:solidFill>
                  <a:srgbClr val="00B0F0"/>
                </a:solidFill>
                <a:latin typeface="Times New Roman" panose="02020603050405020304" pitchFamily="18" charset="0"/>
                <a:cs typeface="Times New Roman" panose="02020603050405020304" pitchFamily="18" charset="0"/>
              </a:rPr>
              <a:t>Coercion:</a:t>
            </a:r>
            <a:r>
              <a:rPr lang="en-US" sz="2800" dirty="0" smtClean="0">
                <a:solidFill>
                  <a:srgbClr val="00B0F0"/>
                </a:solidFill>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Last on the list of tactics is coercion, the application of direct threats or force on the resisters. If management is determined to close a manufacturing plant whose employees don’t acquiesce to a pay cut, the company is using coercion. Other examples threatening employees with transfer, blocked promotion, negative performance evaluation, and poor letters of recommendation.</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9730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9875520" cy="686937"/>
          </a:xfrm>
          <a:solidFill>
            <a:srgbClr val="002060"/>
          </a:solidFill>
        </p:spPr>
        <p:txBody>
          <a:bodyPr>
            <a:normAutofit fontScale="90000"/>
          </a:bodyPr>
          <a:lstStyle/>
          <a:p>
            <a:pPr algn="ctr"/>
            <a:r>
              <a:rPr lang="en-US" sz="4000" b="1" dirty="0" smtClean="0"/>
              <a:t>Approaches to Managing Organizational Change</a:t>
            </a:r>
            <a:endParaRPr lang="en-US" sz="4000" b="1" dirty="0"/>
          </a:p>
        </p:txBody>
      </p:sp>
      <p:sp>
        <p:nvSpPr>
          <p:cNvPr id="3" name="Content Placeholder 2"/>
          <p:cNvSpPr>
            <a:spLocks noGrp="1"/>
          </p:cNvSpPr>
          <p:nvPr>
            <p:ph idx="1"/>
          </p:nvPr>
        </p:nvSpPr>
        <p:spPr>
          <a:xfrm>
            <a:off x="1143000" y="1473958"/>
            <a:ext cx="9872871" cy="4622042"/>
          </a:xfrm>
        </p:spPr>
        <p:txBody>
          <a:bodyPr>
            <a:normAutofit/>
          </a:bodyPr>
          <a:lstStyle/>
          <a:p>
            <a:pPr marL="45720" indent="0" algn="just">
              <a:buNone/>
            </a:pPr>
            <a:r>
              <a:rPr lang="en-US" sz="2800" dirty="0" smtClean="0">
                <a:latin typeface="Times New Roman" panose="02020603050405020304" pitchFamily="18" charset="0"/>
                <a:cs typeface="Times New Roman" panose="02020603050405020304" pitchFamily="18" charset="0"/>
              </a:rPr>
              <a:t>We now turn to several approaches to managing change. These are -</a:t>
            </a:r>
          </a:p>
          <a:p>
            <a:pPr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Kurt Lewin’s Three Steep Model of The Change Process</a:t>
            </a:r>
          </a:p>
          <a:p>
            <a:pPr algn="just">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John Kotter Eight-Step Plan for Implementing Change</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3271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0351" y="395785"/>
            <a:ext cx="10105404" cy="805218"/>
          </a:xfrm>
          <a:solidFill>
            <a:srgbClr val="002060"/>
          </a:solidFill>
        </p:spPr>
        <p:txBody>
          <a:bodyPr>
            <a:normAutofit fontScale="90000"/>
          </a:bodyPr>
          <a:lstStyle/>
          <a:p>
            <a:pPr algn="just"/>
            <a:r>
              <a:rPr lang="en-US" sz="4000" b="1" dirty="0"/>
              <a:t>Kurt Lewin’s Three Steep Model </a:t>
            </a:r>
            <a:r>
              <a:rPr lang="en-US" sz="4000" b="1" dirty="0" smtClean="0"/>
              <a:t>of Change Process</a:t>
            </a:r>
            <a:endParaRPr lang="en-US" dirty="0"/>
          </a:p>
        </p:txBody>
      </p:sp>
      <p:sp>
        <p:nvSpPr>
          <p:cNvPr id="3" name="Content Placeholder 2"/>
          <p:cNvSpPr>
            <a:spLocks noGrp="1"/>
          </p:cNvSpPr>
          <p:nvPr>
            <p:ph idx="1"/>
          </p:nvPr>
        </p:nvSpPr>
        <p:spPr>
          <a:xfrm>
            <a:off x="1143000" y="1337481"/>
            <a:ext cx="9872871" cy="5213443"/>
          </a:xfrm>
        </p:spPr>
        <p:txBody>
          <a:bodyPr>
            <a:noAutofit/>
          </a:bodyPr>
          <a:lstStyle/>
          <a:p>
            <a:pPr algn="just"/>
            <a:r>
              <a:rPr lang="en-US" sz="2400" dirty="0">
                <a:latin typeface="Times New Roman" panose="02020603050405020304" pitchFamily="18" charset="0"/>
                <a:cs typeface="Times New Roman" panose="02020603050405020304" pitchFamily="18" charset="0"/>
              </a:rPr>
              <a:t>Kurt Lewin’s Three Stages model or the Planned Approach to Organizational is one of the cornerstone models which is relevant in the present scenario even</a:t>
            </a:r>
            <a:r>
              <a:rPr lang="en-US" sz="2400" dirty="0" smtClean="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Lewin, a social scientist and a physicist, during early 1950s propounded a simple framework for understanding the process of organizational change known as the Three-Stage Theory which he referred as Unfreeze, Change (Transition) </a:t>
            </a:r>
            <a:r>
              <a:rPr lang="en-US" sz="2400" dirty="0" smtClean="0">
                <a:latin typeface="Times New Roman" panose="02020603050405020304" pitchFamily="18" charset="0"/>
                <a:cs typeface="Times New Roman" panose="02020603050405020304" pitchFamily="18" charset="0"/>
              </a:rPr>
              <a:t>and Freeze (Refreeze).</a:t>
            </a:r>
          </a:p>
          <a:p>
            <a:pPr algn="just"/>
            <a:r>
              <a:rPr lang="en-US" sz="2400" dirty="0">
                <a:latin typeface="Times New Roman" panose="02020603050405020304" pitchFamily="18" charset="0"/>
                <a:cs typeface="Times New Roman" panose="02020603050405020304" pitchFamily="18" charset="0"/>
              </a:rPr>
              <a:t>According to Lewin, Change for any individual or an organization is a complicated journey which may not be very simple and mostly involves several stages of transitions or misunderstandings before attaining the stage of equilibrium or stability</a:t>
            </a:r>
            <a:r>
              <a:rPr lang="en-US" sz="2400" dirty="0" smtClean="0">
                <a:latin typeface="Times New Roman" panose="02020603050405020304" pitchFamily="18" charset="0"/>
                <a:cs typeface="Times New Roman" panose="02020603050405020304" pitchFamily="18" charset="0"/>
              </a:rPr>
              <a:t>.</a:t>
            </a:r>
          </a:p>
          <a:p>
            <a:pPr algn="just"/>
            <a:r>
              <a:rPr lang="en-US" sz="2400" dirty="0">
                <a:latin typeface="Times New Roman" panose="02020603050405020304" pitchFamily="18" charset="0"/>
                <a:cs typeface="Times New Roman" panose="02020603050405020304" pitchFamily="18" charset="0"/>
              </a:rPr>
              <a:t>For explaining the process of organizational change, he used the analogy of how an ice block changes its shape to transform into a cone of ice through the process of unfreezing.</a:t>
            </a:r>
          </a:p>
        </p:txBody>
      </p:sp>
    </p:spTree>
    <p:extLst>
      <p:ext uri="{BB962C8B-B14F-4D97-AF65-F5344CB8AC3E}">
        <p14:creationId xmlns:p14="http://schemas.microsoft.com/office/powerpoint/2010/main" val="40255330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2999" y="609600"/>
            <a:ext cx="10089107" cy="673290"/>
          </a:xfrm>
          <a:solidFill>
            <a:srgbClr val="002060"/>
          </a:solidFill>
        </p:spPr>
        <p:txBody>
          <a:bodyPr>
            <a:normAutofit/>
          </a:bodyPr>
          <a:lstStyle/>
          <a:p>
            <a:r>
              <a:rPr lang="en-US" sz="3600" b="1" dirty="0"/>
              <a:t>Kurt Lewin’s Three Steep Model of Change Process</a:t>
            </a:r>
            <a:endParaRPr lang="en-US" sz="3600" dirty="0"/>
          </a:p>
        </p:txBody>
      </p:sp>
      <p:pic>
        <p:nvPicPr>
          <p:cNvPr id="5" name="Content Placeholder 4"/>
          <p:cNvPicPr>
            <a:picLocks noGrp="1" noChangeAspect="1"/>
          </p:cNvPicPr>
          <p:nvPr>
            <p:ph idx="1"/>
          </p:nvPr>
        </p:nvPicPr>
        <p:blipFill rotWithShape="1">
          <a:blip r:embed="rId2"/>
          <a:srcRect b="16364"/>
          <a:stretch/>
        </p:blipFill>
        <p:spPr>
          <a:xfrm>
            <a:off x="1555845" y="3603009"/>
            <a:ext cx="9462675" cy="2415654"/>
          </a:xfrm>
          <a:prstGeom prst="rect">
            <a:avLst/>
          </a:prstGeom>
        </p:spPr>
      </p:pic>
      <p:pic>
        <p:nvPicPr>
          <p:cNvPr id="1028" name="Picture 4" descr="Three Stage Theor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5844" y="1665027"/>
            <a:ext cx="9280477" cy="1555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3842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2999" y="609600"/>
            <a:ext cx="10102755" cy="700585"/>
          </a:xfrm>
          <a:solidFill>
            <a:srgbClr val="002060"/>
          </a:solidFill>
        </p:spPr>
        <p:txBody>
          <a:bodyPr>
            <a:normAutofit/>
          </a:bodyPr>
          <a:lstStyle/>
          <a:p>
            <a:r>
              <a:rPr lang="en-US" sz="3600" b="1" dirty="0"/>
              <a:t>Kurt Lewin’s Three Steep Model of Change Process</a:t>
            </a:r>
            <a:endParaRPr lang="en-US" sz="3600" dirty="0"/>
          </a:p>
        </p:txBody>
      </p:sp>
      <p:sp>
        <p:nvSpPr>
          <p:cNvPr id="3" name="Content Placeholder 2"/>
          <p:cNvSpPr>
            <a:spLocks noGrp="1"/>
          </p:cNvSpPr>
          <p:nvPr>
            <p:ph idx="1"/>
          </p:nvPr>
        </p:nvSpPr>
        <p:spPr>
          <a:xfrm>
            <a:off x="1143000" y="1596788"/>
            <a:ext cx="9872871" cy="4499212"/>
          </a:xfrm>
        </p:spPr>
        <p:txBody>
          <a:bodyPr>
            <a:normAutofit/>
          </a:bodyPr>
          <a:lstStyle/>
          <a:p>
            <a:pPr algn="just"/>
            <a:r>
              <a:rPr lang="en-US" sz="2800" b="1" dirty="0">
                <a:solidFill>
                  <a:srgbClr val="00B0F0"/>
                </a:solidFill>
                <a:latin typeface="Times New Roman" panose="02020603050405020304" pitchFamily="18" charset="0"/>
                <a:cs typeface="Times New Roman" panose="02020603050405020304" pitchFamily="18" charset="0"/>
              </a:rPr>
              <a:t>Stage 1 - Unfreezing:</a:t>
            </a:r>
            <a:r>
              <a:rPr lang="en-US" sz="2800" dirty="0">
                <a:latin typeface="Times New Roman" panose="02020603050405020304" pitchFamily="18" charset="0"/>
                <a:cs typeface="Times New Roman" panose="02020603050405020304" pitchFamily="18" charset="0"/>
              </a:rPr>
              <a:t> This is the first stage of transition and one of the most critical stages in the entire process of change management. It involves improving the readiness as well as the willingness of people to change by fostering a realization for moving from the existing comfort zone to a transformed situation.</a:t>
            </a:r>
          </a:p>
          <a:p>
            <a:pPr algn="just"/>
            <a:r>
              <a:rPr lang="en-US" sz="2800" dirty="0">
                <a:latin typeface="Times New Roman" panose="02020603050405020304" pitchFamily="18" charset="0"/>
                <a:cs typeface="Times New Roman" panose="02020603050405020304" pitchFamily="18" charset="0"/>
              </a:rPr>
              <a:t>It involves making people aware of the need for change and improving their motivation for accepting the new ways of working for better results. During this stage, effective communication plays a vital role in getting the desired support and involvement of the people in the change process.</a:t>
            </a:r>
          </a:p>
          <a:p>
            <a:pPr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1628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2999" y="609600"/>
            <a:ext cx="10130051" cy="714233"/>
          </a:xfrm>
          <a:solidFill>
            <a:srgbClr val="002060"/>
          </a:solidFill>
        </p:spPr>
        <p:txBody>
          <a:bodyPr>
            <a:normAutofit/>
          </a:bodyPr>
          <a:lstStyle/>
          <a:p>
            <a:r>
              <a:rPr lang="en-US" sz="3600" b="1" dirty="0"/>
              <a:t>Kurt Lewin’s Three Steep Model of Change Process</a:t>
            </a:r>
            <a:endParaRPr lang="en-US" sz="3600" dirty="0"/>
          </a:p>
        </p:txBody>
      </p:sp>
      <p:sp>
        <p:nvSpPr>
          <p:cNvPr id="3" name="Content Placeholder 2"/>
          <p:cNvSpPr>
            <a:spLocks noGrp="1"/>
          </p:cNvSpPr>
          <p:nvPr>
            <p:ph idx="1"/>
          </p:nvPr>
        </p:nvSpPr>
        <p:spPr>
          <a:xfrm>
            <a:off x="1143000" y="1514901"/>
            <a:ext cx="9872871" cy="4581099"/>
          </a:xfrm>
        </p:spPr>
        <p:txBody>
          <a:bodyPr/>
          <a:lstStyle/>
          <a:p>
            <a:pPr algn="just"/>
            <a:r>
              <a:rPr lang="en-US" sz="2800" b="1" dirty="0">
                <a:solidFill>
                  <a:srgbClr val="00B0F0"/>
                </a:solidFill>
                <a:latin typeface="Times New Roman" panose="02020603050405020304" pitchFamily="18" charset="0"/>
                <a:cs typeface="Times New Roman" panose="02020603050405020304" pitchFamily="18" charset="0"/>
              </a:rPr>
              <a:t>Stage 2 - Change:</a:t>
            </a:r>
            <a:r>
              <a:rPr lang="en-US" sz="2800" dirty="0">
                <a:latin typeface="Times New Roman" panose="02020603050405020304" pitchFamily="18" charset="0"/>
                <a:cs typeface="Times New Roman" panose="02020603050405020304" pitchFamily="18" charset="0"/>
              </a:rPr>
              <a:t> This stage can also be regarded as the stage of Transition or the stage of actual implementation of change. It involves the acceptance of the new ways of doing things. This is the stage in which the people are unfrozen, and the actual change is implemented.</a:t>
            </a:r>
          </a:p>
          <a:p>
            <a:pPr algn="just"/>
            <a:r>
              <a:rPr lang="en-US" sz="2800" dirty="0">
                <a:latin typeface="Times New Roman" panose="02020603050405020304" pitchFamily="18" charset="0"/>
                <a:cs typeface="Times New Roman" panose="02020603050405020304" pitchFamily="18" charset="0"/>
              </a:rPr>
              <a:t>During this stage, careful planning, effective communication and encouraging the involvement of individuals for endorsing the change is necessary. It is believed that this stage of transition is not that easy due to the uncertainties or people are fearful of the consequences of adopting a change process.</a:t>
            </a:r>
          </a:p>
          <a:p>
            <a:pPr marL="45720" indent="0">
              <a:buNone/>
            </a:pPr>
            <a:endParaRPr lang="en-US" dirty="0"/>
          </a:p>
        </p:txBody>
      </p:sp>
    </p:spTree>
    <p:extLst>
      <p:ext uri="{BB962C8B-B14F-4D97-AF65-F5344CB8AC3E}">
        <p14:creationId xmlns:p14="http://schemas.microsoft.com/office/powerpoint/2010/main" val="4183167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1"/>
            <a:ext cx="10170994" cy="673290"/>
          </a:xfrm>
          <a:solidFill>
            <a:srgbClr val="002060"/>
          </a:solidFill>
        </p:spPr>
        <p:txBody>
          <a:bodyPr>
            <a:normAutofit/>
          </a:bodyPr>
          <a:lstStyle/>
          <a:p>
            <a:r>
              <a:rPr lang="en-US" sz="3600" b="1" dirty="0"/>
              <a:t>Kurt Lewin’s Three Steep Model of Change Process</a:t>
            </a:r>
            <a:endParaRPr lang="en-US" sz="3600" dirty="0"/>
          </a:p>
        </p:txBody>
      </p:sp>
      <p:sp>
        <p:nvSpPr>
          <p:cNvPr id="3" name="Content Placeholder 2"/>
          <p:cNvSpPr>
            <a:spLocks noGrp="1"/>
          </p:cNvSpPr>
          <p:nvPr>
            <p:ph idx="1"/>
          </p:nvPr>
        </p:nvSpPr>
        <p:spPr>
          <a:xfrm>
            <a:off x="1143000" y="1473958"/>
            <a:ext cx="9872871" cy="4622042"/>
          </a:xfrm>
        </p:spPr>
        <p:txBody>
          <a:bodyPr>
            <a:noAutofit/>
          </a:bodyPr>
          <a:lstStyle/>
          <a:p>
            <a:pPr algn="just"/>
            <a:r>
              <a:rPr lang="en-US" sz="2800" b="1" dirty="0">
                <a:solidFill>
                  <a:srgbClr val="00B0F0"/>
                </a:solidFill>
                <a:latin typeface="Times New Roman" panose="02020603050405020304" pitchFamily="18" charset="0"/>
                <a:cs typeface="Times New Roman" panose="02020603050405020304" pitchFamily="18" charset="0"/>
              </a:rPr>
              <a:t>Stage 3 - Freeze (Refreezing):</a:t>
            </a:r>
            <a:r>
              <a:rPr lang="en-US" sz="2800" dirty="0">
                <a:latin typeface="Times New Roman" panose="02020603050405020304" pitchFamily="18" charset="0"/>
                <a:cs typeface="Times New Roman" panose="02020603050405020304" pitchFamily="18" charset="0"/>
              </a:rPr>
              <a:t> During this stage, the people move from the stage of transition (change) to a much more stable state which we can regard as the state of equilibrium.</a:t>
            </a:r>
          </a:p>
          <a:p>
            <a:pPr algn="just"/>
            <a:r>
              <a:rPr lang="en-US" sz="2800" dirty="0">
                <a:latin typeface="Times New Roman" panose="02020603050405020304" pitchFamily="18" charset="0"/>
                <a:cs typeface="Times New Roman" panose="02020603050405020304" pitchFamily="18" charset="0"/>
              </a:rPr>
              <a:t>The stage of Refreezing is the ultimate stage in which people accept or internalize the new ways of working or change, accept it as a part of their life and establish new relationships.</a:t>
            </a:r>
          </a:p>
          <a:p>
            <a:pPr algn="just"/>
            <a:r>
              <a:rPr lang="en-US" sz="2800" dirty="0">
                <a:latin typeface="Times New Roman" panose="02020603050405020304" pitchFamily="18" charset="0"/>
                <a:cs typeface="Times New Roman" panose="02020603050405020304" pitchFamily="18" charset="0"/>
              </a:rPr>
              <a:t>For strengthening and reinforcing the new </a:t>
            </a:r>
            <a:r>
              <a:rPr lang="en-US" sz="2800" dirty="0" smtClean="0">
                <a:latin typeface="Times New Roman" panose="02020603050405020304" pitchFamily="18" charset="0"/>
                <a:cs typeface="Times New Roman" panose="02020603050405020304" pitchFamily="18" charset="0"/>
              </a:rPr>
              <a:t>behavior </a:t>
            </a:r>
            <a:r>
              <a:rPr lang="en-US" sz="2800" dirty="0">
                <a:latin typeface="Times New Roman" panose="02020603050405020304" pitchFamily="18" charset="0"/>
                <a:cs typeface="Times New Roman" panose="02020603050405020304" pitchFamily="18" charset="0"/>
              </a:rPr>
              <a:t>or changes in the way of working, the employees should be rewarded, recognized and provided positive reinforcements, supporting policies or structures can help in reinforcing the transformed ways of working.</a:t>
            </a:r>
          </a:p>
        </p:txBody>
      </p:sp>
    </p:spTree>
    <p:extLst>
      <p:ext uri="{BB962C8B-B14F-4D97-AF65-F5344CB8AC3E}">
        <p14:creationId xmlns:p14="http://schemas.microsoft.com/office/powerpoint/2010/main" val="26643359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3457" y="559558"/>
            <a:ext cx="10713491" cy="668741"/>
          </a:xfrm>
          <a:solidFill>
            <a:srgbClr val="002060"/>
          </a:solidFill>
        </p:spPr>
        <p:txBody>
          <a:bodyPr>
            <a:noAutofit/>
          </a:bodyPr>
          <a:lstStyle/>
          <a:p>
            <a:pPr algn="ctr"/>
            <a:r>
              <a:rPr lang="en-US" sz="3200" b="1" dirty="0"/>
              <a:t>John Kotter Eight-Step Plan for Implementing </a:t>
            </a:r>
            <a:r>
              <a:rPr lang="en-US" sz="3200" b="1" dirty="0" smtClean="0"/>
              <a:t>Change</a:t>
            </a:r>
            <a:endParaRPr lang="en-US" sz="3200" b="1" dirty="0"/>
          </a:p>
        </p:txBody>
      </p:sp>
      <p:sp>
        <p:nvSpPr>
          <p:cNvPr id="3" name="Content Placeholder 2"/>
          <p:cNvSpPr>
            <a:spLocks noGrp="1"/>
          </p:cNvSpPr>
          <p:nvPr>
            <p:ph idx="1"/>
          </p:nvPr>
        </p:nvSpPr>
        <p:spPr>
          <a:xfrm>
            <a:off x="719919" y="1426332"/>
            <a:ext cx="9872871" cy="5179183"/>
          </a:xfrm>
        </p:spPr>
        <p:txBody>
          <a:bodyPr/>
          <a:lstStyle/>
          <a:p>
            <a:pPr algn="just"/>
            <a:r>
              <a:rPr lang="en-US" sz="2400" dirty="0">
                <a:latin typeface="Times New Roman" panose="02020603050405020304" pitchFamily="18" charset="0"/>
                <a:cs typeface="Times New Roman" panose="02020603050405020304" pitchFamily="18" charset="0"/>
              </a:rPr>
              <a:t>John Kotter (1996), a Harvard Business School Professor and a renowned change expert, in his book “Leading Change”, introduced 8 Step Model of Change which he developed on the basis of research </a:t>
            </a:r>
            <a:r>
              <a:rPr lang="en-US" sz="2400" dirty="0" smtClean="0">
                <a:latin typeface="Times New Roman" panose="02020603050405020304" pitchFamily="18" charset="0"/>
                <a:cs typeface="Times New Roman" panose="02020603050405020304" pitchFamily="18" charset="0"/>
              </a:rPr>
              <a:t>on </a:t>
            </a:r>
            <a:r>
              <a:rPr lang="en-US" sz="2400" dirty="0">
                <a:latin typeface="Times New Roman" panose="02020603050405020304" pitchFamily="18" charset="0"/>
                <a:cs typeface="Times New Roman" panose="02020603050405020304" pitchFamily="18" charset="0"/>
              </a:rPr>
              <a:t>100 organizations which were going through a process of change</a:t>
            </a:r>
            <a:r>
              <a:rPr lang="en-US" sz="2400" dirty="0" smtClean="0">
                <a:latin typeface="Times New Roman" panose="02020603050405020304" pitchFamily="18" charset="0"/>
                <a:cs typeface="Times New Roman" panose="02020603050405020304" pitchFamily="18" charset="0"/>
              </a:rPr>
              <a:t>.</a:t>
            </a:r>
          </a:p>
          <a:p>
            <a:endParaRPr lang="en-US" dirty="0" smtClean="0"/>
          </a:p>
          <a:p>
            <a:pPr marL="45720" indent="0">
              <a:buNone/>
            </a:pPr>
            <a:endParaRPr lang="en-US" dirty="0"/>
          </a:p>
        </p:txBody>
      </p:sp>
      <p:pic>
        <p:nvPicPr>
          <p:cNvPr id="2054" name="Picture 6" descr="Change Management Models: John Kotter's 8 Steps to Lead Chan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1563" y="2866029"/>
            <a:ext cx="6687403" cy="3739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499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10375710" cy="755176"/>
          </a:xfrm>
          <a:solidFill>
            <a:srgbClr val="002060"/>
          </a:solidFill>
        </p:spPr>
        <p:txBody>
          <a:bodyPr>
            <a:normAutofit fontScale="90000"/>
          </a:bodyPr>
          <a:lstStyle/>
          <a:p>
            <a:pPr algn="ctr"/>
            <a:r>
              <a:rPr lang="en-US" sz="3600" b="1" dirty="0"/>
              <a:t>John Kotter Eight-Step Plan for Implementing Change</a:t>
            </a:r>
          </a:p>
        </p:txBody>
      </p:sp>
      <p:sp>
        <p:nvSpPr>
          <p:cNvPr id="3" name="Content Placeholder 2"/>
          <p:cNvSpPr>
            <a:spLocks noGrp="1"/>
          </p:cNvSpPr>
          <p:nvPr>
            <p:ph idx="1"/>
          </p:nvPr>
        </p:nvSpPr>
        <p:spPr>
          <a:xfrm>
            <a:off x="1143000" y="1528549"/>
            <a:ext cx="9872871" cy="5049672"/>
          </a:xfrm>
        </p:spPr>
        <p:txBody>
          <a:bodyPr>
            <a:noAutofit/>
          </a:bodyPr>
          <a:lstStyle/>
          <a:p>
            <a:pPr algn="just"/>
            <a:r>
              <a:rPr lang="en-US" sz="2800" b="1" dirty="0" smtClean="0">
                <a:solidFill>
                  <a:srgbClr val="00B0F0"/>
                </a:solidFill>
                <a:latin typeface="Times New Roman" panose="02020603050405020304" pitchFamily="18" charset="0"/>
                <a:cs typeface="Times New Roman" panose="02020603050405020304" pitchFamily="18" charset="0"/>
              </a:rPr>
              <a:t>Step-1 Create a Sense of Urgency: </a:t>
            </a:r>
            <a:r>
              <a:rPr lang="en-US" sz="2800" dirty="0">
                <a:latin typeface="Times New Roman" panose="02020603050405020304" pitchFamily="18" charset="0"/>
                <a:cs typeface="Times New Roman" panose="02020603050405020304" pitchFamily="18" charset="0"/>
              </a:rPr>
              <a:t>For change to happen, it helps if the whole company really wants it. Develop a sense of urgency around the need for change. This may help you spark the initial motivation to get things moving</a:t>
            </a:r>
            <a:r>
              <a:rPr lang="en-US" sz="2800" dirty="0" smtClean="0">
                <a:latin typeface="Times New Roman" panose="02020603050405020304" pitchFamily="18" charset="0"/>
                <a:cs typeface="Times New Roman" panose="02020603050405020304" pitchFamily="18" charset="0"/>
              </a:rPr>
              <a:t>.</a:t>
            </a:r>
          </a:p>
          <a:p>
            <a:pPr algn="just"/>
            <a:r>
              <a:rPr lang="en-US" sz="2800" b="1" dirty="0" smtClean="0">
                <a:solidFill>
                  <a:srgbClr val="00B0F0"/>
                </a:solidFill>
                <a:latin typeface="Times New Roman" panose="02020603050405020304" pitchFamily="18" charset="0"/>
                <a:cs typeface="Times New Roman" panose="02020603050405020304" pitchFamily="18" charset="0"/>
              </a:rPr>
              <a:t>Step-2 Form a Guiding Coalition: </a:t>
            </a:r>
            <a:r>
              <a:rPr lang="en-US" sz="2800" dirty="0">
                <a:latin typeface="Times New Roman" panose="02020603050405020304" pitchFamily="18" charset="0"/>
                <a:cs typeface="Times New Roman" panose="02020603050405020304" pitchFamily="18" charset="0"/>
              </a:rPr>
              <a:t>Convince people that change is necessary. This often takes strong leadership and visible support from key people within your organization. Managing change isn't enough – you have to lead it</a:t>
            </a:r>
            <a:r>
              <a:rPr lang="en-US" sz="2800" dirty="0" smtClean="0">
                <a:latin typeface="Times New Roman" panose="02020603050405020304" pitchFamily="18" charset="0"/>
                <a:cs typeface="Times New Roman" panose="02020603050405020304" pitchFamily="18" charset="0"/>
              </a:rPr>
              <a:t>.</a:t>
            </a:r>
          </a:p>
          <a:p>
            <a:pPr algn="just"/>
            <a:r>
              <a:rPr lang="en-US" sz="2800" b="1" dirty="0" smtClean="0">
                <a:solidFill>
                  <a:srgbClr val="00B0F0"/>
                </a:solidFill>
                <a:latin typeface="Times New Roman" panose="02020603050405020304" pitchFamily="18" charset="0"/>
                <a:cs typeface="Times New Roman" panose="02020603050405020304" pitchFamily="18" charset="0"/>
              </a:rPr>
              <a:t>Step-3  Create a Vision for Change: </a:t>
            </a:r>
            <a:r>
              <a:rPr lang="en-US" sz="2800" dirty="0">
                <a:latin typeface="Times New Roman" panose="02020603050405020304" pitchFamily="18" charset="0"/>
                <a:cs typeface="Times New Roman" panose="02020603050405020304" pitchFamily="18" charset="0"/>
              </a:rPr>
              <a:t>When you first start thinking about change, there will probably be many great ideas and solutions floating around. Link these concepts to an overall vision that people can grasp easily and remember.</a:t>
            </a:r>
          </a:p>
        </p:txBody>
      </p:sp>
    </p:spTree>
    <p:extLst>
      <p:ext uri="{BB962C8B-B14F-4D97-AF65-F5344CB8AC3E}">
        <p14:creationId xmlns:p14="http://schemas.microsoft.com/office/powerpoint/2010/main" val="3383456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10375710" cy="632346"/>
          </a:xfrm>
          <a:solidFill>
            <a:srgbClr val="002060"/>
          </a:solidFill>
        </p:spPr>
        <p:txBody>
          <a:bodyPr>
            <a:normAutofit fontScale="90000"/>
          </a:bodyPr>
          <a:lstStyle/>
          <a:p>
            <a:pPr algn="ctr"/>
            <a:r>
              <a:rPr lang="en-US" sz="3600" b="1" dirty="0"/>
              <a:t>John Kotter Eight-Step Plan for Implementing Change</a:t>
            </a:r>
          </a:p>
        </p:txBody>
      </p:sp>
      <p:sp>
        <p:nvSpPr>
          <p:cNvPr id="3" name="Content Placeholder 2"/>
          <p:cNvSpPr>
            <a:spLocks noGrp="1"/>
          </p:cNvSpPr>
          <p:nvPr>
            <p:ph idx="1"/>
          </p:nvPr>
        </p:nvSpPr>
        <p:spPr>
          <a:xfrm>
            <a:off x="1143000" y="1337481"/>
            <a:ext cx="9872871" cy="4872250"/>
          </a:xfrm>
        </p:spPr>
        <p:txBody>
          <a:bodyPr>
            <a:normAutofit/>
          </a:bodyPr>
          <a:lstStyle/>
          <a:p>
            <a:pPr algn="just"/>
            <a:r>
              <a:rPr lang="en-US" sz="2800" b="1" dirty="0" smtClean="0">
                <a:solidFill>
                  <a:srgbClr val="00B0F0"/>
                </a:solidFill>
                <a:latin typeface="Times New Roman" panose="02020603050405020304" pitchFamily="18" charset="0"/>
                <a:cs typeface="Times New Roman" panose="02020603050405020304" pitchFamily="18" charset="0"/>
              </a:rPr>
              <a:t>Step-4 Communicate the Vision</a:t>
            </a:r>
            <a:r>
              <a:rPr lang="en-US" sz="2800" b="1" dirty="0">
                <a:solidFill>
                  <a:srgbClr val="00B0F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What you do with your vision after you create it will determine your success. Your message will probably have strong competition from other day-to-day communications within the company, so you need to communicate it frequently and powerfully, and embed it within everything that you do</a:t>
            </a:r>
            <a:r>
              <a:rPr lang="en-US" sz="2800" dirty="0" smtClean="0">
                <a:latin typeface="Times New Roman" panose="02020603050405020304" pitchFamily="18" charset="0"/>
                <a:cs typeface="Times New Roman" panose="02020603050405020304" pitchFamily="18" charset="0"/>
              </a:rPr>
              <a:t>.</a:t>
            </a:r>
          </a:p>
          <a:p>
            <a:pPr algn="just"/>
            <a:r>
              <a:rPr lang="en-US" sz="2800" b="1" dirty="0" smtClean="0">
                <a:solidFill>
                  <a:srgbClr val="00B0F0"/>
                </a:solidFill>
                <a:latin typeface="Times New Roman" panose="02020603050405020304" pitchFamily="18" charset="0"/>
                <a:cs typeface="Times New Roman" panose="02020603050405020304" pitchFamily="18" charset="0"/>
              </a:rPr>
              <a:t>Step-5  Empower Others to Act on the Vision</a:t>
            </a:r>
            <a:r>
              <a:rPr lang="en-US" sz="2800" dirty="0" smtClean="0">
                <a:solidFill>
                  <a:srgbClr val="00B0F0"/>
                </a:solidFill>
                <a:latin typeface="Times New Roman" panose="02020603050405020304" pitchFamily="18" charset="0"/>
                <a:cs typeface="Times New Roman" panose="02020603050405020304" pitchFamily="18" charset="0"/>
              </a:rPr>
              <a:t>:</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If you follow these steps and reach this point in the change process, you've been talking about your vision and building buy-in from all levels of the organization. Hopefully, your staff wants to get busy and achieve the benefits that you've been promoting.</a:t>
            </a:r>
          </a:p>
        </p:txBody>
      </p:sp>
    </p:spTree>
    <p:extLst>
      <p:ext uri="{BB962C8B-B14F-4D97-AF65-F5344CB8AC3E}">
        <p14:creationId xmlns:p14="http://schemas.microsoft.com/office/powerpoint/2010/main" val="1016085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10375710" cy="673290"/>
          </a:xfrm>
          <a:solidFill>
            <a:srgbClr val="002060"/>
          </a:solidFill>
        </p:spPr>
        <p:txBody>
          <a:bodyPr>
            <a:normAutofit fontScale="90000"/>
          </a:bodyPr>
          <a:lstStyle/>
          <a:p>
            <a:pPr algn="ctr"/>
            <a:r>
              <a:rPr lang="en-US" sz="3600" b="1" dirty="0"/>
              <a:t>John Kotter Eight-Step Plan for Implementing Change</a:t>
            </a:r>
          </a:p>
        </p:txBody>
      </p:sp>
      <p:sp>
        <p:nvSpPr>
          <p:cNvPr id="3" name="Content Placeholder 2"/>
          <p:cNvSpPr>
            <a:spLocks noGrp="1"/>
          </p:cNvSpPr>
          <p:nvPr>
            <p:ph idx="1"/>
          </p:nvPr>
        </p:nvSpPr>
        <p:spPr>
          <a:xfrm>
            <a:off x="1143000" y="1378424"/>
            <a:ext cx="9872871" cy="4940489"/>
          </a:xfrm>
        </p:spPr>
        <p:txBody>
          <a:bodyPr>
            <a:noAutofit/>
          </a:bodyPr>
          <a:lstStyle/>
          <a:p>
            <a:pPr algn="just"/>
            <a:r>
              <a:rPr lang="en-US" sz="2400" b="1" dirty="0" smtClean="0">
                <a:solidFill>
                  <a:srgbClr val="00B0F0"/>
                </a:solidFill>
                <a:latin typeface="Times New Roman" panose="02020603050405020304" pitchFamily="18" charset="0"/>
                <a:cs typeface="Times New Roman" panose="02020603050405020304" pitchFamily="18" charset="0"/>
              </a:rPr>
              <a:t>Step-6 </a:t>
            </a:r>
            <a:r>
              <a:rPr lang="en-US" sz="2400" b="1" dirty="0">
                <a:solidFill>
                  <a:srgbClr val="00B0F0"/>
                </a:solidFill>
                <a:latin typeface="Times New Roman" panose="02020603050405020304" pitchFamily="18" charset="0"/>
                <a:cs typeface="Times New Roman" panose="02020603050405020304" pitchFamily="18" charset="0"/>
              </a:rPr>
              <a:t>Create Short-Term </a:t>
            </a:r>
            <a:r>
              <a:rPr lang="en-US" sz="2400" b="1" dirty="0" smtClean="0">
                <a:solidFill>
                  <a:srgbClr val="00B0F0"/>
                </a:solidFill>
                <a:latin typeface="Times New Roman" panose="02020603050405020304" pitchFamily="18" charset="0"/>
                <a:cs typeface="Times New Roman" panose="02020603050405020304" pitchFamily="18" charset="0"/>
              </a:rPr>
              <a:t>Wins</a:t>
            </a:r>
            <a:r>
              <a:rPr lang="en-US" sz="2400" b="1" dirty="0">
                <a:solidFill>
                  <a:srgbClr val="00B0F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Nothing motivates more than success. Give your company a taste of victory early in the change process. Within a short time frame (this could be a month or a year, depending on the type of change), you'll want to have some "quick wins" that your staff can see. Without this, critics and negative thinkers might hurt your progress.</a:t>
            </a:r>
            <a:r>
              <a:rPr lang="en-US" sz="2400" dirty="0" smtClean="0">
                <a:latin typeface="Times New Roman" panose="02020603050405020304" pitchFamily="18" charset="0"/>
                <a:cs typeface="Times New Roman" panose="02020603050405020304" pitchFamily="18" charset="0"/>
              </a:rPr>
              <a:t> </a:t>
            </a:r>
          </a:p>
          <a:p>
            <a:pPr algn="just"/>
            <a:r>
              <a:rPr lang="en-US" sz="2400" b="1" dirty="0" smtClean="0">
                <a:solidFill>
                  <a:srgbClr val="00B0F0"/>
                </a:solidFill>
                <a:latin typeface="Times New Roman" panose="02020603050405020304" pitchFamily="18" charset="0"/>
                <a:cs typeface="Times New Roman" panose="02020603050405020304" pitchFamily="18" charset="0"/>
              </a:rPr>
              <a:t>Step-7 Build on the Change: </a:t>
            </a:r>
            <a:r>
              <a:rPr lang="en-US" sz="2400" dirty="0">
                <a:latin typeface="Times New Roman" panose="02020603050405020304" pitchFamily="18" charset="0"/>
                <a:cs typeface="Times New Roman" panose="02020603050405020304" pitchFamily="18" charset="0"/>
              </a:rPr>
              <a:t>Kotter argues that many change projects fail because victory is declared too early. Real change runs deep. Quick wins are only the beginning of what needs to be done to achieve long-term change</a:t>
            </a:r>
            <a:r>
              <a:rPr lang="en-US" sz="2400" dirty="0" smtClean="0">
                <a:latin typeface="Times New Roman" panose="02020603050405020304" pitchFamily="18" charset="0"/>
                <a:cs typeface="Times New Roman" panose="02020603050405020304" pitchFamily="18" charset="0"/>
              </a:rPr>
              <a:t>.</a:t>
            </a:r>
          </a:p>
          <a:p>
            <a:pPr algn="just"/>
            <a:r>
              <a:rPr lang="en-US" sz="2400" b="1" dirty="0" smtClean="0">
                <a:solidFill>
                  <a:srgbClr val="00B0F0"/>
                </a:solidFill>
                <a:latin typeface="Times New Roman" panose="02020603050405020304" pitchFamily="18" charset="0"/>
                <a:cs typeface="Times New Roman" panose="02020603050405020304" pitchFamily="18" charset="0"/>
              </a:rPr>
              <a:t>Step-8 Institutionalize the Change: </a:t>
            </a:r>
            <a:r>
              <a:rPr lang="en-US" sz="2400" dirty="0">
                <a:latin typeface="Times New Roman" panose="02020603050405020304" pitchFamily="18" charset="0"/>
                <a:cs typeface="Times New Roman" panose="02020603050405020304" pitchFamily="18" charset="0"/>
              </a:rPr>
              <a:t>Finally, to make any change stick, it should become part of the core of your organization. Your corporate culture often determines what gets done, so the values behind your vision must show in day-to-day work.</a:t>
            </a:r>
          </a:p>
        </p:txBody>
      </p:sp>
    </p:spTree>
    <p:extLst>
      <p:ext uri="{BB962C8B-B14F-4D97-AF65-F5344CB8AC3E}">
        <p14:creationId xmlns:p14="http://schemas.microsoft.com/office/powerpoint/2010/main" val="29343415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9875520" cy="645994"/>
          </a:xfrm>
          <a:solidFill>
            <a:srgbClr val="002060"/>
          </a:solidFill>
        </p:spPr>
        <p:txBody>
          <a:bodyPr>
            <a:normAutofit fontScale="90000"/>
          </a:bodyPr>
          <a:lstStyle/>
          <a:p>
            <a:pPr algn="ctr"/>
            <a:r>
              <a:rPr lang="en-US" b="1" dirty="0" smtClean="0"/>
              <a:t>Stress</a:t>
            </a:r>
            <a:endParaRPr lang="en-US" b="1" dirty="0"/>
          </a:p>
        </p:txBody>
      </p:sp>
      <p:sp>
        <p:nvSpPr>
          <p:cNvPr id="3" name="Content Placeholder 2"/>
          <p:cNvSpPr>
            <a:spLocks noGrp="1"/>
          </p:cNvSpPr>
          <p:nvPr>
            <p:ph idx="1"/>
          </p:nvPr>
        </p:nvSpPr>
        <p:spPr>
          <a:xfrm>
            <a:off x="1143000" y="1433015"/>
            <a:ext cx="9872871" cy="4662985"/>
          </a:xfrm>
        </p:spPr>
        <p:txBody>
          <a:bodyPr>
            <a:normAutofit/>
          </a:bodyPr>
          <a:lstStyle/>
          <a:p>
            <a:pPr algn="just"/>
            <a:r>
              <a:rPr lang="en-US" sz="2800" dirty="0" smtClean="0">
                <a:latin typeface="Times New Roman" panose="02020603050405020304" pitchFamily="18" charset="0"/>
                <a:cs typeface="Times New Roman" panose="02020603050405020304" pitchFamily="18" charset="0"/>
              </a:rPr>
              <a:t>Stress is an unpleasant psychological process that occurs in response to environmental pressures. Stress is a dynamic condition in which an individual is confronted with an opportunity, demand, or resource related to what the individual desires and for which the outcome is perceived to be both uncertain and important. </a:t>
            </a:r>
            <a:endParaRPr lang="en-US" sz="2800" dirty="0">
              <a:latin typeface="Times New Roman" panose="02020603050405020304" pitchFamily="18" charset="0"/>
              <a:cs typeface="Times New Roman" panose="02020603050405020304" pitchFamily="18" charset="0"/>
            </a:endParaRPr>
          </a:p>
          <a:p>
            <a:pPr algn="just"/>
            <a:r>
              <a:rPr lang="en-US" sz="2800" dirty="0" smtClean="0">
                <a:latin typeface="Times New Roman" panose="02020603050405020304" pitchFamily="18" charset="0"/>
                <a:cs typeface="Times New Roman" panose="02020603050405020304" pitchFamily="18" charset="0"/>
              </a:rPr>
              <a:t>Although stress is typically discussed in a negative context, it also has a positive purpose. </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58274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9875520" cy="686937"/>
          </a:xfrm>
          <a:solidFill>
            <a:srgbClr val="002060"/>
          </a:solidFill>
        </p:spPr>
        <p:txBody>
          <a:bodyPr>
            <a:normAutofit fontScale="90000"/>
          </a:bodyPr>
          <a:lstStyle/>
          <a:p>
            <a:pPr algn="ctr"/>
            <a:r>
              <a:rPr lang="en-US" b="1" dirty="0" smtClean="0"/>
              <a:t>A Model of Stress</a:t>
            </a:r>
            <a:endParaRPr lang="en-US" b="1" dirty="0"/>
          </a:p>
        </p:txBody>
      </p:sp>
      <p:pic>
        <p:nvPicPr>
          <p:cNvPr id="7" name="Content Placeholder 6"/>
          <p:cNvPicPr>
            <a:picLocks noGrp="1" noChangeAspect="1"/>
          </p:cNvPicPr>
          <p:nvPr>
            <p:ph idx="1"/>
          </p:nvPr>
        </p:nvPicPr>
        <p:blipFill>
          <a:blip r:embed="rId2"/>
          <a:stretch>
            <a:fillRect/>
          </a:stretch>
        </p:blipFill>
        <p:spPr>
          <a:xfrm>
            <a:off x="1143000" y="1473959"/>
            <a:ext cx="9875519" cy="4681182"/>
          </a:xfrm>
          <a:prstGeom prst="rect">
            <a:avLst/>
          </a:prstGeom>
        </p:spPr>
      </p:pic>
    </p:spTree>
    <p:extLst>
      <p:ext uri="{BB962C8B-B14F-4D97-AF65-F5344CB8AC3E}">
        <p14:creationId xmlns:p14="http://schemas.microsoft.com/office/powerpoint/2010/main" val="25607612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9875520" cy="632346"/>
          </a:xfrm>
          <a:solidFill>
            <a:srgbClr val="002060"/>
          </a:solidFill>
        </p:spPr>
        <p:txBody>
          <a:bodyPr>
            <a:normAutofit fontScale="90000"/>
          </a:bodyPr>
          <a:lstStyle/>
          <a:p>
            <a:pPr algn="ctr"/>
            <a:r>
              <a:rPr lang="en-US" b="1" dirty="0" smtClean="0"/>
              <a:t>Potential Sources of Stress</a:t>
            </a:r>
            <a:endParaRPr lang="en-US" b="1" dirty="0"/>
          </a:p>
        </p:txBody>
      </p:sp>
      <p:sp>
        <p:nvSpPr>
          <p:cNvPr id="3" name="Content Placeholder 2"/>
          <p:cNvSpPr>
            <a:spLocks noGrp="1"/>
          </p:cNvSpPr>
          <p:nvPr>
            <p:ph idx="1"/>
          </p:nvPr>
        </p:nvSpPr>
        <p:spPr>
          <a:xfrm>
            <a:off x="1143000" y="1473958"/>
            <a:ext cx="9872871" cy="4622042"/>
          </a:xfrm>
        </p:spPr>
        <p:txBody>
          <a:bodyPr/>
          <a:lstStyle/>
          <a:p>
            <a:pPr>
              <a:buFont typeface="Wingdings" panose="05000000000000000000" pitchFamily="2" charset="2"/>
              <a:buChar char="Ø"/>
            </a:pPr>
            <a:r>
              <a:rPr lang="en-US" sz="2800" b="1" dirty="0" smtClean="0">
                <a:solidFill>
                  <a:srgbClr val="00B0F0"/>
                </a:solidFill>
                <a:latin typeface="Times New Roman" panose="02020603050405020304" pitchFamily="18" charset="0"/>
                <a:cs typeface="Times New Roman" panose="02020603050405020304" pitchFamily="18" charset="0"/>
              </a:rPr>
              <a:t>Environmental Factors – </a:t>
            </a:r>
          </a:p>
          <a:p>
            <a:pPr>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Economic uncertainties of the business cycle.</a:t>
            </a:r>
          </a:p>
          <a:p>
            <a:pPr>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Political uncertainties of political systems.</a:t>
            </a:r>
          </a:p>
          <a:p>
            <a:pPr>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Technological uncertainties of technical innovations.</a:t>
            </a:r>
          </a:p>
          <a:p>
            <a:pPr>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Terrorism in threats to physical safety and security.</a:t>
            </a:r>
          </a:p>
          <a:p>
            <a:pPr marL="45720" indent="0">
              <a:buNone/>
            </a:pPr>
            <a:endParaRPr lang="en-US" dirty="0"/>
          </a:p>
        </p:txBody>
      </p:sp>
    </p:spTree>
    <p:extLst>
      <p:ext uri="{BB962C8B-B14F-4D97-AF65-F5344CB8AC3E}">
        <p14:creationId xmlns:p14="http://schemas.microsoft.com/office/powerpoint/2010/main" val="2997560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9875520" cy="536812"/>
          </a:xfrm>
          <a:solidFill>
            <a:srgbClr val="002060"/>
          </a:solidFill>
        </p:spPr>
        <p:txBody>
          <a:bodyPr>
            <a:normAutofit fontScale="90000"/>
          </a:bodyPr>
          <a:lstStyle/>
          <a:p>
            <a:pPr algn="ctr"/>
            <a:r>
              <a:rPr lang="en-US" b="1" dirty="0"/>
              <a:t>Potential Sources of Stress</a:t>
            </a:r>
          </a:p>
        </p:txBody>
      </p:sp>
      <p:sp>
        <p:nvSpPr>
          <p:cNvPr id="3" name="Content Placeholder 2"/>
          <p:cNvSpPr>
            <a:spLocks noGrp="1"/>
          </p:cNvSpPr>
          <p:nvPr>
            <p:ph idx="1"/>
          </p:nvPr>
        </p:nvSpPr>
        <p:spPr>
          <a:xfrm>
            <a:off x="1143000" y="1323833"/>
            <a:ext cx="9872871" cy="4772167"/>
          </a:xfrm>
        </p:spPr>
        <p:txBody>
          <a:bodyPr/>
          <a:lstStyle/>
          <a:p>
            <a:pPr>
              <a:buFont typeface="Wingdings" panose="05000000000000000000" pitchFamily="2" charset="2"/>
              <a:buChar char="Ø"/>
            </a:pPr>
            <a:r>
              <a:rPr lang="en-US" sz="2800" b="1" dirty="0" smtClean="0">
                <a:solidFill>
                  <a:srgbClr val="00B0F0"/>
                </a:solidFill>
                <a:latin typeface="Times New Roman" panose="02020603050405020304" pitchFamily="18" charset="0"/>
                <a:cs typeface="Times New Roman" panose="02020603050405020304" pitchFamily="18" charset="0"/>
              </a:rPr>
              <a:t>Organizational Factors – </a:t>
            </a:r>
          </a:p>
          <a:p>
            <a:pPr>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Task demands related to the job</a:t>
            </a:r>
          </a:p>
          <a:p>
            <a:pP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a:t>
            </a:r>
            <a:r>
              <a:rPr lang="en-US" sz="2800" dirty="0" smtClean="0">
                <a:latin typeface="Times New Roman" panose="02020603050405020304" pitchFamily="18" charset="0"/>
                <a:cs typeface="Times New Roman" panose="02020603050405020304" pitchFamily="18" charset="0"/>
              </a:rPr>
              <a:t>ole demands of functioning in an organization</a:t>
            </a:r>
          </a:p>
          <a:p>
            <a:pPr>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Interpersonal demands created by other employees</a:t>
            </a:r>
          </a:p>
          <a:p>
            <a:pPr>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Organizational structure (rules and regulations)</a:t>
            </a:r>
          </a:p>
          <a:p>
            <a:pPr>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Organizational leadership (managerial style)</a:t>
            </a:r>
          </a:p>
          <a:p>
            <a:pPr>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Organization’s life stage (growth, stability, and decline)</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4284720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9875520" cy="550460"/>
          </a:xfrm>
          <a:solidFill>
            <a:srgbClr val="002060"/>
          </a:solidFill>
        </p:spPr>
        <p:txBody>
          <a:bodyPr>
            <a:normAutofit fontScale="90000"/>
          </a:bodyPr>
          <a:lstStyle/>
          <a:p>
            <a:pPr algn="ctr"/>
            <a:r>
              <a:rPr lang="en-US" b="1" dirty="0"/>
              <a:t>Potential Sources of Stress</a:t>
            </a:r>
            <a:endParaRPr lang="en-US" dirty="0"/>
          </a:p>
        </p:txBody>
      </p:sp>
      <p:sp>
        <p:nvSpPr>
          <p:cNvPr id="3" name="Content Placeholder 2"/>
          <p:cNvSpPr>
            <a:spLocks noGrp="1"/>
          </p:cNvSpPr>
          <p:nvPr>
            <p:ph idx="1"/>
          </p:nvPr>
        </p:nvSpPr>
        <p:spPr>
          <a:xfrm>
            <a:off x="1143000" y="1323833"/>
            <a:ext cx="9872871" cy="4772167"/>
          </a:xfrm>
        </p:spPr>
        <p:txBody>
          <a:bodyPr>
            <a:normAutofit/>
          </a:bodyPr>
          <a:lstStyle/>
          <a:p>
            <a:pPr>
              <a:buFont typeface="Wingdings" panose="05000000000000000000" pitchFamily="2" charset="2"/>
              <a:buChar char="Ø"/>
            </a:pPr>
            <a:r>
              <a:rPr lang="en-US" sz="2800" b="1" dirty="0" smtClean="0">
                <a:solidFill>
                  <a:srgbClr val="00B0F0"/>
                </a:solidFill>
                <a:latin typeface="Times New Roman" panose="02020603050405020304" pitchFamily="18" charset="0"/>
                <a:cs typeface="Times New Roman" panose="02020603050405020304" pitchFamily="18" charset="0"/>
              </a:rPr>
              <a:t>Individual Factor – </a:t>
            </a:r>
          </a:p>
          <a:p>
            <a:pPr>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Family and personal relationship.</a:t>
            </a:r>
          </a:p>
          <a:p>
            <a:pPr>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Economic problem for exceeding earning capacity.</a:t>
            </a:r>
          </a:p>
          <a:p>
            <a:pPr>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Personality problem arising for basic disposition.</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60951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9875520" cy="605051"/>
          </a:xfrm>
          <a:solidFill>
            <a:srgbClr val="002060"/>
          </a:solidFill>
        </p:spPr>
        <p:txBody>
          <a:bodyPr>
            <a:normAutofit fontScale="90000"/>
          </a:bodyPr>
          <a:lstStyle/>
          <a:p>
            <a:pPr algn="ctr"/>
            <a:r>
              <a:rPr lang="en-US" b="1" dirty="0" smtClean="0"/>
              <a:t>Consequences of Stress</a:t>
            </a:r>
            <a:endParaRPr lang="en-US" b="1" dirty="0"/>
          </a:p>
        </p:txBody>
      </p:sp>
      <p:sp>
        <p:nvSpPr>
          <p:cNvPr id="3" name="Content Placeholder 2"/>
          <p:cNvSpPr>
            <a:spLocks noGrp="1"/>
          </p:cNvSpPr>
          <p:nvPr>
            <p:ph idx="1"/>
          </p:nvPr>
        </p:nvSpPr>
        <p:spPr>
          <a:xfrm>
            <a:off x="1143000" y="1501254"/>
            <a:ext cx="9872871" cy="4763068"/>
          </a:xfrm>
        </p:spPr>
        <p:txBody>
          <a:bodyPr/>
          <a:lstStyle/>
          <a:p>
            <a:pPr>
              <a:buFont typeface="Wingdings" panose="05000000000000000000" pitchFamily="2" charset="2"/>
              <a:buChar char="Ø"/>
            </a:pPr>
            <a:r>
              <a:rPr lang="en-US" sz="2800" b="1" dirty="0" smtClean="0">
                <a:solidFill>
                  <a:srgbClr val="00B0F0"/>
                </a:solidFill>
                <a:latin typeface="Times New Roman" panose="02020603050405020304" pitchFamily="18" charset="0"/>
                <a:cs typeface="Times New Roman" panose="02020603050405020304" pitchFamily="18" charset="0"/>
              </a:rPr>
              <a:t>Physiological Symptoms-</a:t>
            </a:r>
          </a:p>
          <a:p>
            <a:pPr>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Immediate effects</a:t>
            </a:r>
          </a:p>
          <a:p>
            <a:pPr>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Illness</a:t>
            </a:r>
          </a:p>
          <a:p>
            <a:pPr>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Chronic health conditions</a:t>
            </a:r>
          </a:p>
          <a:p>
            <a:pPr>
              <a:buFont typeface="Wingdings" panose="05000000000000000000" pitchFamily="2" charset="2"/>
              <a:buChar char="Ø"/>
            </a:pPr>
            <a:r>
              <a:rPr lang="en-US" sz="2800" b="1" dirty="0" smtClean="0">
                <a:solidFill>
                  <a:srgbClr val="00B0F0"/>
                </a:solidFill>
                <a:latin typeface="Times New Roman" panose="02020603050405020304" pitchFamily="18" charset="0"/>
                <a:cs typeface="Times New Roman" panose="02020603050405020304" pitchFamily="18" charset="0"/>
              </a:rPr>
              <a:t>Psychological Symptoms-</a:t>
            </a:r>
          </a:p>
          <a:p>
            <a:pPr>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Anxiety</a:t>
            </a:r>
          </a:p>
          <a:p>
            <a:pPr>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Lower emotional well-being</a:t>
            </a:r>
          </a:p>
          <a:p>
            <a:pPr>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Lower job satisfaction</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8561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9875520" cy="673290"/>
          </a:xfrm>
          <a:solidFill>
            <a:srgbClr val="002060"/>
          </a:solidFill>
        </p:spPr>
        <p:txBody>
          <a:bodyPr>
            <a:normAutofit fontScale="90000"/>
          </a:bodyPr>
          <a:lstStyle/>
          <a:p>
            <a:pPr algn="ctr"/>
            <a:r>
              <a:rPr lang="en-US" b="1" dirty="0"/>
              <a:t>Consequences of Stress</a:t>
            </a:r>
            <a:endParaRPr lang="en-US" dirty="0"/>
          </a:p>
        </p:txBody>
      </p:sp>
      <p:sp>
        <p:nvSpPr>
          <p:cNvPr id="3" name="Content Placeholder 2"/>
          <p:cNvSpPr>
            <a:spLocks noGrp="1"/>
          </p:cNvSpPr>
          <p:nvPr>
            <p:ph idx="1"/>
          </p:nvPr>
        </p:nvSpPr>
        <p:spPr>
          <a:xfrm>
            <a:off x="1143000" y="1473958"/>
            <a:ext cx="9872871" cy="4622042"/>
          </a:xfrm>
        </p:spPr>
        <p:txBody>
          <a:bodyPr/>
          <a:lstStyle/>
          <a:p>
            <a:pPr>
              <a:buFont typeface="Wingdings" panose="05000000000000000000" pitchFamily="2" charset="2"/>
              <a:buChar char="Ø"/>
            </a:pPr>
            <a:r>
              <a:rPr lang="en-US" sz="2800" b="1" dirty="0" smtClean="0">
                <a:solidFill>
                  <a:srgbClr val="00B0F0"/>
                </a:solidFill>
                <a:latin typeface="Times New Roman" panose="02020603050405020304" pitchFamily="18" charset="0"/>
                <a:cs typeface="Times New Roman" panose="02020603050405020304" pitchFamily="18" charset="0"/>
              </a:rPr>
              <a:t>Behavioral Symptoms-</a:t>
            </a:r>
          </a:p>
          <a:p>
            <a:pPr>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Lower job performance</a:t>
            </a:r>
          </a:p>
          <a:p>
            <a:pPr>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Higher absenteeism</a:t>
            </a:r>
          </a:p>
          <a:p>
            <a:pPr>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Higher turnover</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3694505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9980" y="1269242"/>
            <a:ext cx="9966960" cy="1596788"/>
          </a:xfrm>
        </p:spPr>
        <p:txBody>
          <a:bodyPr/>
          <a:lstStyle/>
          <a:p>
            <a:r>
              <a:rPr lang="en-US" dirty="0" smtClean="0">
                <a:solidFill>
                  <a:srgbClr val="00B0F0"/>
                </a:solidFill>
              </a:rPr>
              <a:t>END OF CHAPTER</a:t>
            </a:r>
            <a:endParaRPr lang="en-US" dirty="0">
              <a:solidFill>
                <a:srgbClr val="00B0F0"/>
              </a:solidFill>
            </a:endParaRPr>
          </a:p>
        </p:txBody>
      </p:sp>
      <p:sp>
        <p:nvSpPr>
          <p:cNvPr id="3" name="Subtitle 2"/>
          <p:cNvSpPr>
            <a:spLocks noGrp="1"/>
          </p:cNvSpPr>
          <p:nvPr>
            <p:ph type="subTitle" idx="1"/>
          </p:nvPr>
        </p:nvSpPr>
        <p:spPr>
          <a:xfrm>
            <a:off x="2105315" y="3780429"/>
            <a:ext cx="8767860" cy="1091821"/>
          </a:xfrm>
        </p:spPr>
        <p:txBody>
          <a:bodyPr>
            <a:normAutofit/>
          </a:bodyPr>
          <a:lstStyle/>
          <a:p>
            <a:r>
              <a:rPr lang="en-US" sz="4800" dirty="0" smtClean="0">
                <a:solidFill>
                  <a:srgbClr val="FFFF00"/>
                </a:solidFill>
              </a:rPr>
              <a:t>HAVE A GOOD DAY………</a:t>
            </a:r>
            <a:endParaRPr lang="en-US" sz="4800" dirty="0">
              <a:solidFill>
                <a:srgbClr val="FFFF00"/>
              </a:solidFill>
            </a:endParaRPr>
          </a:p>
        </p:txBody>
      </p:sp>
    </p:spTree>
    <p:extLst>
      <p:ext uri="{BB962C8B-B14F-4D97-AF65-F5344CB8AC3E}">
        <p14:creationId xmlns:p14="http://schemas.microsoft.com/office/powerpoint/2010/main" val="2798849562"/>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emplate>Basis</Template>
  <TotalTime>422</TotalTime>
  <Words>1918</Words>
  <Application>Microsoft Office PowerPoint</Application>
  <PresentationFormat>Widescreen</PresentationFormat>
  <Paragraphs>120</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Corbel</vt:lpstr>
      <vt:lpstr>Courier New</vt:lpstr>
      <vt:lpstr>Times New Roman</vt:lpstr>
      <vt:lpstr>Wingdings</vt:lpstr>
      <vt:lpstr>Basis</vt:lpstr>
      <vt:lpstr>Chapter-Four Organizational Change and Stress Management</vt:lpstr>
      <vt:lpstr>Organizational Change</vt:lpstr>
      <vt:lpstr>Forces for Change</vt:lpstr>
      <vt:lpstr>Forces for Change</vt:lpstr>
      <vt:lpstr>Forces for Change</vt:lpstr>
      <vt:lpstr>Forces for Change</vt:lpstr>
      <vt:lpstr>Overcoming Resistance to Change</vt:lpstr>
      <vt:lpstr>Overcoming Resistance to Change</vt:lpstr>
      <vt:lpstr>Overcoming Resistance to Change</vt:lpstr>
      <vt:lpstr>Overcoming Resistance to Change</vt:lpstr>
      <vt:lpstr>Overcoming Resistance to Change</vt:lpstr>
      <vt:lpstr>Approaches to Managing Organizational Change</vt:lpstr>
      <vt:lpstr>Kurt Lewin’s Three Steep Model of Change Process</vt:lpstr>
      <vt:lpstr>Kurt Lewin’s Three Steep Model of Change Process</vt:lpstr>
      <vt:lpstr>Kurt Lewin’s Three Steep Model of Change Process</vt:lpstr>
      <vt:lpstr>Kurt Lewin’s Three Steep Model of Change Process</vt:lpstr>
      <vt:lpstr>Kurt Lewin’s Three Steep Model of Change Process</vt:lpstr>
      <vt:lpstr>John Kotter Eight-Step Plan for Implementing Change</vt:lpstr>
      <vt:lpstr>John Kotter Eight-Step Plan for Implementing Change</vt:lpstr>
      <vt:lpstr>John Kotter Eight-Step Plan for Implementing Change</vt:lpstr>
      <vt:lpstr>John Kotter Eight-Step Plan for Implementing Change</vt:lpstr>
      <vt:lpstr>Stress</vt:lpstr>
      <vt:lpstr>A Model of Stress</vt:lpstr>
      <vt:lpstr>Potential Sources of Stress</vt:lpstr>
      <vt:lpstr>Potential Sources of Stress</vt:lpstr>
      <vt:lpstr>Potential Sources of Stress</vt:lpstr>
      <vt:lpstr>Consequences of Stress</vt:lpstr>
      <vt:lpstr>Consequences of Stress</vt:lpstr>
      <vt:lpstr>END OF CHAPTER</vt:lpstr>
    </vt:vector>
  </TitlesOfParts>
  <Company>CyberSpace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Chapter-Seven Organizational Change and Stress Management</dc:title>
  <dc:creator>admin</dc:creator>
  <cp:lastModifiedBy>User</cp:lastModifiedBy>
  <cp:revision>52</cp:revision>
  <dcterms:created xsi:type="dcterms:W3CDTF">2023-05-15T17:36:47Z</dcterms:created>
  <dcterms:modified xsi:type="dcterms:W3CDTF">2024-01-08T07:59:34Z</dcterms:modified>
</cp:coreProperties>
</file>