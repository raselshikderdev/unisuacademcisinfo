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4" d="100"/>
          <a:sy n="74" d="100"/>
        </p:scale>
        <p:origin x="576" y="72"/>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BBB2603-4BC2-4617-9E0E-E43D810C00AA}"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0589C8E-1943-4520-B178-B9DFFFA3C979}" type="slidenum">
              <a:rPr lang="en-US" smtClean="0"/>
              <a:t>‹#›</a:t>
            </a:fld>
            <a:endParaRPr lang="en-US"/>
          </a:p>
        </p:txBody>
      </p:sp>
    </p:spTree>
    <p:extLst>
      <p:ext uri="{BB962C8B-B14F-4D97-AF65-F5344CB8AC3E}">
        <p14:creationId xmlns:p14="http://schemas.microsoft.com/office/powerpoint/2010/main" val="2884856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BB2603-4BC2-4617-9E0E-E43D810C00AA}"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0589C8E-1943-4520-B178-B9DFFFA3C979}" type="slidenum">
              <a:rPr lang="en-US" smtClean="0"/>
              <a:t>‹#›</a:t>
            </a:fld>
            <a:endParaRPr lang="en-US"/>
          </a:p>
        </p:txBody>
      </p:sp>
    </p:spTree>
    <p:extLst>
      <p:ext uri="{BB962C8B-B14F-4D97-AF65-F5344CB8AC3E}">
        <p14:creationId xmlns:p14="http://schemas.microsoft.com/office/powerpoint/2010/main" val="3756644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BB2603-4BC2-4617-9E0E-E43D810C00AA}"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0589C8E-1943-4520-B178-B9DFFFA3C979}" type="slidenum">
              <a:rPr lang="en-US" smtClean="0"/>
              <a:t>‹#›</a:t>
            </a:fld>
            <a:endParaRPr lang="en-US"/>
          </a:p>
        </p:txBody>
      </p:sp>
    </p:spTree>
    <p:extLst>
      <p:ext uri="{BB962C8B-B14F-4D97-AF65-F5344CB8AC3E}">
        <p14:creationId xmlns:p14="http://schemas.microsoft.com/office/powerpoint/2010/main" val="1492067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BBB2603-4BC2-4617-9E0E-E43D810C00AA}"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90589C8E-1943-4520-B178-B9DFFFA3C979}" type="slidenum">
              <a:rPr lang="en-US" smtClean="0"/>
              <a:t>‹#›</a:t>
            </a:fld>
            <a:endParaRPr lang="en-US"/>
          </a:p>
        </p:txBody>
      </p:sp>
    </p:spTree>
    <p:extLst>
      <p:ext uri="{BB962C8B-B14F-4D97-AF65-F5344CB8AC3E}">
        <p14:creationId xmlns:p14="http://schemas.microsoft.com/office/powerpoint/2010/main" val="2323747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BBB2603-4BC2-4617-9E0E-E43D810C00AA}" type="datetimeFigureOut">
              <a:rPr lang="en-US" smtClean="0"/>
              <a:t>1/8/2024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0589C8E-1943-4520-B178-B9DFFFA3C979}" type="slidenum">
              <a:rPr lang="en-US" smtClean="0"/>
              <a:t>‹#›</a:t>
            </a:fld>
            <a:endParaRPr lang="en-US"/>
          </a:p>
        </p:txBody>
      </p:sp>
    </p:spTree>
    <p:extLst>
      <p:ext uri="{BB962C8B-B14F-4D97-AF65-F5344CB8AC3E}">
        <p14:creationId xmlns:p14="http://schemas.microsoft.com/office/powerpoint/2010/main" val="2476558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BBB2603-4BC2-4617-9E0E-E43D810C00AA}" type="datetimeFigureOut">
              <a:rPr lang="en-US" smtClean="0"/>
              <a:t>1/8/2024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0589C8E-1943-4520-B178-B9DFFFA3C979}" type="slidenum">
              <a:rPr lang="en-US" smtClean="0"/>
              <a:t>‹#›</a:t>
            </a:fld>
            <a:endParaRPr lang="en-US"/>
          </a:p>
        </p:txBody>
      </p:sp>
    </p:spTree>
    <p:extLst>
      <p:ext uri="{BB962C8B-B14F-4D97-AF65-F5344CB8AC3E}">
        <p14:creationId xmlns:p14="http://schemas.microsoft.com/office/powerpoint/2010/main" val="3857626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BB2603-4BC2-4617-9E0E-E43D810C00AA}" type="datetimeFigureOut">
              <a:rPr lang="en-US" smtClean="0"/>
              <a:t>1/8/2024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0589C8E-1943-4520-B178-B9DFFFA3C979}" type="slidenum">
              <a:rPr lang="en-US" smtClean="0"/>
              <a:t>‹#›</a:t>
            </a:fld>
            <a:endParaRPr lang="en-US"/>
          </a:p>
        </p:txBody>
      </p:sp>
    </p:spTree>
    <p:extLst>
      <p:ext uri="{BB962C8B-B14F-4D97-AF65-F5344CB8AC3E}">
        <p14:creationId xmlns:p14="http://schemas.microsoft.com/office/powerpoint/2010/main" val="1686395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BBB2603-4BC2-4617-9E0E-E43D810C00AA}"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0589C8E-1943-4520-B178-B9DFFFA3C979}" type="slidenum">
              <a:rPr lang="en-US" smtClean="0"/>
              <a:t>‹#›</a:t>
            </a:fld>
            <a:endParaRPr lang="en-US"/>
          </a:p>
        </p:txBody>
      </p:sp>
    </p:spTree>
    <p:extLst>
      <p:ext uri="{BB962C8B-B14F-4D97-AF65-F5344CB8AC3E}">
        <p14:creationId xmlns:p14="http://schemas.microsoft.com/office/powerpoint/2010/main" val="2012767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BBB2603-4BC2-4617-9E0E-E43D810C00AA}"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589C8E-1943-4520-B178-B9DFFFA3C979}" type="slidenum">
              <a:rPr lang="en-US" smtClean="0"/>
              <a:t>‹#›</a:t>
            </a:fld>
            <a:endParaRPr lang="en-US"/>
          </a:p>
        </p:txBody>
      </p:sp>
    </p:spTree>
    <p:extLst>
      <p:ext uri="{BB962C8B-B14F-4D97-AF65-F5344CB8AC3E}">
        <p14:creationId xmlns:p14="http://schemas.microsoft.com/office/powerpoint/2010/main" val="279496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BB2603-4BC2-4617-9E0E-E43D810C00AA}"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0589C8E-1943-4520-B178-B9DFFFA3C979}" type="slidenum">
              <a:rPr lang="en-US" smtClean="0"/>
              <a:t>‹#›</a:t>
            </a:fld>
            <a:endParaRPr lang="en-US"/>
          </a:p>
        </p:txBody>
      </p:sp>
    </p:spTree>
    <p:extLst>
      <p:ext uri="{BB962C8B-B14F-4D97-AF65-F5344CB8AC3E}">
        <p14:creationId xmlns:p14="http://schemas.microsoft.com/office/powerpoint/2010/main" val="4203265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BB2603-4BC2-4617-9E0E-E43D810C00AA}"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0589C8E-1943-4520-B178-B9DFFFA3C979}"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88018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9BBB2603-4BC2-4617-9E0E-E43D810C00AA}"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589C8E-1943-4520-B178-B9DFFFA3C979}" type="slidenum">
              <a:rPr lang="en-US" smtClean="0"/>
              <a:t>‹#›</a:t>
            </a:fld>
            <a:endParaRPr lang="en-US"/>
          </a:p>
        </p:txBody>
      </p:sp>
    </p:spTree>
    <p:extLst>
      <p:ext uri="{BB962C8B-B14F-4D97-AF65-F5344CB8AC3E}">
        <p14:creationId xmlns:p14="http://schemas.microsoft.com/office/powerpoint/2010/main" val="40661173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9BBB2603-4BC2-4617-9E0E-E43D810C00AA}"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589C8E-1943-4520-B178-B9DFFFA3C979}"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09577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9BBB2603-4BC2-4617-9E0E-E43D810C00AA}"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589C8E-1943-4520-B178-B9DFFFA3C979}" type="slidenum">
              <a:rPr lang="en-US" smtClean="0"/>
              <a:t>‹#›</a:t>
            </a:fld>
            <a:endParaRPr lang="en-US"/>
          </a:p>
        </p:txBody>
      </p:sp>
    </p:spTree>
    <p:extLst>
      <p:ext uri="{BB962C8B-B14F-4D97-AF65-F5344CB8AC3E}">
        <p14:creationId xmlns:p14="http://schemas.microsoft.com/office/powerpoint/2010/main" val="11887874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BB2603-4BC2-4617-9E0E-E43D810C00AA}"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0589C8E-1943-4520-B178-B9DFFFA3C979}" type="slidenum">
              <a:rPr lang="en-US" smtClean="0"/>
              <a:t>‹#›</a:t>
            </a:fld>
            <a:endParaRPr lang="en-US"/>
          </a:p>
        </p:txBody>
      </p:sp>
    </p:spTree>
    <p:extLst>
      <p:ext uri="{BB962C8B-B14F-4D97-AF65-F5344CB8AC3E}">
        <p14:creationId xmlns:p14="http://schemas.microsoft.com/office/powerpoint/2010/main" val="38870164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BB2603-4BC2-4617-9E0E-E43D810C00AA}"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0589C8E-1943-4520-B178-B9DFFFA3C979}" type="slidenum">
              <a:rPr lang="en-US" smtClean="0"/>
              <a:t>‹#›</a:t>
            </a:fld>
            <a:endParaRPr lang="en-US"/>
          </a:p>
        </p:txBody>
      </p:sp>
    </p:spTree>
    <p:extLst>
      <p:ext uri="{BB962C8B-B14F-4D97-AF65-F5344CB8AC3E}">
        <p14:creationId xmlns:p14="http://schemas.microsoft.com/office/powerpoint/2010/main" val="736797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BBB2603-4BC2-4617-9E0E-E43D810C00AA}" type="datetimeFigureOut">
              <a:rPr lang="en-US" smtClean="0"/>
              <a:t>1/8/2024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0589C8E-1943-4520-B178-B9DFFFA3C979}" type="slidenum">
              <a:rPr lang="en-US" smtClean="0"/>
              <a:t>‹#›</a:t>
            </a:fld>
            <a:endParaRPr lang="en-US"/>
          </a:p>
        </p:txBody>
      </p:sp>
    </p:spTree>
    <p:extLst>
      <p:ext uri="{BB962C8B-B14F-4D97-AF65-F5344CB8AC3E}">
        <p14:creationId xmlns:p14="http://schemas.microsoft.com/office/powerpoint/2010/main" val="10636538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88358" y="1122363"/>
            <a:ext cx="8279642" cy="1852849"/>
          </a:xfrm>
        </p:spPr>
        <p:txBody>
          <a:bodyPr/>
          <a:lstStyle/>
          <a:p>
            <a:pPr algn="ctr"/>
            <a:r>
              <a:rPr lang="en-US" b="1" dirty="0" smtClean="0">
                <a:solidFill>
                  <a:srgbClr val="92D050"/>
                </a:solidFill>
              </a:rPr>
              <a:t>Chapter – Two</a:t>
            </a:r>
            <a:br>
              <a:rPr lang="en-US" b="1" dirty="0" smtClean="0">
                <a:solidFill>
                  <a:srgbClr val="92D050"/>
                </a:solidFill>
              </a:rPr>
            </a:br>
            <a:r>
              <a:rPr lang="en-US" b="1" dirty="0" smtClean="0">
                <a:solidFill>
                  <a:srgbClr val="92D050"/>
                </a:solidFill>
              </a:rPr>
              <a:t>Diversity in Organization</a:t>
            </a:r>
            <a:endParaRPr lang="en-US" b="1" dirty="0">
              <a:solidFill>
                <a:srgbClr val="92D050"/>
              </a:solidFill>
            </a:endParaRPr>
          </a:p>
        </p:txBody>
      </p:sp>
      <p:sp>
        <p:nvSpPr>
          <p:cNvPr id="3" name="Subtitle 2"/>
          <p:cNvSpPr>
            <a:spLocks noGrp="1"/>
          </p:cNvSpPr>
          <p:nvPr>
            <p:ph type="subTitle" idx="1"/>
          </p:nvPr>
        </p:nvSpPr>
        <p:spPr>
          <a:xfrm>
            <a:off x="2589213" y="3712191"/>
            <a:ext cx="8078787" cy="2191471"/>
          </a:xfrm>
        </p:spPr>
        <p:txBody>
          <a:bodyPr>
            <a:normAutofit/>
          </a:bodyPr>
          <a:lstStyle/>
          <a:p>
            <a:pPr algn="ctr"/>
            <a:r>
              <a:rPr lang="en-US" sz="2400" b="1" dirty="0" smtClean="0">
                <a:solidFill>
                  <a:srgbClr val="00B050"/>
                </a:solidFill>
              </a:rPr>
              <a:t>Md. </a:t>
            </a:r>
            <a:r>
              <a:rPr lang="en-US" sz="2400" b="1" dirty="0" err="1" smtClean="0">
                <a:solidFill>
                  <a:srgbClr val="00B050"/>
                </a:solidFill>
              </a:rPr>
              <a:t>Mostakin</a:t>
            </a:r>
            <a:r>
              <a:rPr lang="en-US" sz="2400" b="1" dirty="0" smtClean="0">
                <a:solidFill>
                  <a:srgbClr val="00B050"/>
                </a:solidFill>
              </a:rPr>
              <a:t> Arafat Riaz</a:t>
            </a:r>
            <a:endParaRPr lang="en-US" sz="2400" b="1" dirty="0" smtClean="0">
              <a:solidFill>
                <a:srgbClr val="00B050"/>
              </a:solidFill>
            </a:endParaRPr>
          </a:p>
          <a:p>
            <a:pPr algn="ctr"/>
            <a:r>
              <a:rPr lang="en-US" sz="2400" b="1" dirty="0" smtClean="0">
                <a:solidFill>
                  <a:srgbClr val="00B050"/>
                </a:solidFill>
              </a:rPr>
              <a:t>Lecturer</a:t>
            </a:r>
          </a:p>
          <a:p>
            <a:pPr algn="ctr"/>
            <a:r>
              <a:rPr lang="en-US" sz="2400" b="1" dirty="0" smtClean="0">
                <a:solidFill>
                  <a:srgbClr val="00B050"/>
                </a:solidFill>
              </a:rPr>
              <a:t>Department of Business Administration</a:t>
            </a:r>
          </a:p>
          <a:p>
            <a:pPr algn="ctr"/>
            <a:r>
              <a:rPr lang="en-US" sz="2400" b="1" dirty="0" smtClean="0">
                <a:solidFill>
                  <a:srgbClr val="00B050"/>
                </a:solidFill>
              </a:rPr>
              <a:t>Sonargaon University</a:t>
            </a:r>
            <a:endParaRPr lang="en-US" sz="2400" b="1" dirty="0">
              <a:solidFill>
                <a:srgbClr val="00B050"/>
              </a:solidFill>
            </a:endParaRPr>
          </a:p>
        </p:txBody>
      </p:sp>
    </p:spTree>
    <p:extLst>
      <p:ext uri="{BB962C8B-B14F-4D97-AF65-F5344CB8AC3E}">
        <p14:creationId xmlns:p14="http://schemas.microsoft.com/office/powerpoint/2010/main" val="3762147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86075"/>
          </a:xfrm>
          <a:solidFill>
            <a:srgbClr val="00B0F0"/>
          </a:solidFill>
        </p:spPr>
        <p:txBody>
          <a:bodyPr/>
          <a:lstStyle/>
          <a:p>
            <a:pPr algn="ctr"/>
            <a:r>
              <a:rPr lang="en-US" b="1" dirty="0" smtClean="0"/>
              <a:t>Diversity</a:t>
            </a:r>
            <a:endParaRPr lang="en-US" b="1" dirty="0"/>
          </a:p>
        </p:txBody>
      </p:sp>
      <p:sp>
        <p:nvSpPr>
          <p:cNvPr id="3" name="Content Placeholder 2"/>
          <p:cNvSpPr>
            <a:spLocks noGrp="1"/>
          </p:cNvSpPr>
          <p:nvPr>
            <p:ph idx="1"/>
          </p:nvPr>
        </p:nvSpPr>
        <p:spPr>
          <a:xfrm>
            <a:off x="2589212" y="1501254"/>
            <a:ext cx="8915400" cy="4790364"/>
          </a:xfrm>
        </p:spPr>
        <p:txBody>
          <a:bodyPr>
            <a:noAutofit/>
          </a:bodyPr>
          <a:lstStyle/>
          <a:p>
            <a:pPr algn="just"/>
            <a:r>
              <a:rPr lang="en-US" sz="2800" dirty="0">
                <a:latin typeface="Times New Roman" panose="02020603050405020304" pitchFamily="18" charset="0"/>
                <a:cs typeface="Times New Roman" panose="02020603050405020304" pitchFamily="18" charset="0"/>
              </a:rPr>
              <a:t>Diversity is the range of human differences, including but not limited to race, ethnicity, gender, gender identity, </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age, social class, physical ability or attributes, religious or ethical values system, national origin, and political beliefs</a:t>
            </a:r>
            <a:r>
              <a:rPr lang="en-US" sz="2800" dirty="0" smtClean="0">
                <a:latin typeface="Times New Roman" panose="02020603050405020304" pitchFamily="18" charset="0"/>
                <a:cs typeface="Times New Roman" panose="02020603050405020304" pitchFamily="18" charset="0"/>
              </a:rPr>
              <a:t>.</a:t>
            </a:r>
          </a:p>
          <a:p>
            <a:pPr algn="just"/>
            <a:r>
              <a:rPr lang="en-US" sz="2800" dirty="0">
                <a:latin typeface="Times New Roman" panose="02020603050405020304" pitchFamily="18" charset="0"/>
                <a:cs typeface="Times New Roman" panose="02020603050405020304" pitchFamily="18" charset="0"/>
              </a:rPr>
              <a:t>Diversity means having a range of people with various racial, ethnic, socioeconomic, and cultural backgrounds and various lifestyles, experience, and interests. Having a variety of individuals and points of view represented in the department. Diversity is a group of people who are different in the same place.</a:t>
            </a:r>
          </a:p>
        </p:txBody>
      </p:sp>
    </p:spTree>
    <p:extLst>
      <p:ext uri="{BB962C8B-B14F-4D97-AF65-F5344CB8AC3E}">
        <p14:creationId xmlns:p14="http://schemas.microsoft.com/office/powerpoint/2010/main" val="4233796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63245"/>
          </a:xfrm>
          <a:solidFill>
            <a:srgbClr val="00B0F0"/>
          </a:solidFill>
        </p:spPr>
        <p:txBody>
          <a:bodyPr>
            <a:normAutofit fontScale="90000"/>
          </a:bodyPr>
          <a:lstStyle/>
          <a:p>
            <a:pPr algn="ctr"/>
            <a:r>
              <a:rPr lang="en-US" b="1" dirty="0" smtClean="0"/>
              <a:t>Levels of Diversity</a:t>
            </a:r>
            <a:endParaRPr lang="en-US" b="1" dirty="0"/>
          </a:p>
        </p:txBody>
      </p:sp>
      <p:sp>
        <p:nvSpPr>
          <p:cNvPr id="3" name="Content Placeholder 2"/>
          <p:cNvSpPr>
            <a:spLocks noGrp="1"/>
          </p:cNvSpPr>
          <p:nvPr>
            <p:ph idx="1"/>
          </p:nvPr>
        </p:nvSpPr>
        <p:spPr>
          <a:xfrm>
            <a:off x="2589212" y="1433015"/>
            <a:ext cx="8915400" cy="4478207"/>
          </a:xfrm>
        </p:spPr>
        <p:txBody>
          <a:bodyPr>
            <a:normAutofit/>
          </a:bodyPr>
          <a:lstStyle/>
          <a:p>
            <a:pPr algn="just"/>
            <a:r>
              <a:rPr lang="en-US" sz="2800" dirty="0">
                <a:latin typeface="Times New Roman" panose="02020603050405020304" pitchFamily="18" charset="0"/>
                <a:cs typeface="Times New Roman" panose="02020603050405020304" pitchFamily="18" charset="0"/>
              </a:rPr>
              <a:t>The United Nations recognizes over thirty characteristics that represent diversity, but in truth, there are many more than that. Some are visible and some are not. Still, others are immutable parts of who we are, while some change many times over the course of our lives. </a:t>
            </a:r>
            <a:endParaRPr lang="en-US" sz="2800" dirty="0" smtClean="0">
              <a:latin typeface="Times New Roman" panose="02020603050405020304" pitchFamily="18" charset="0"/>
              <a:cs typeface="Times New Roman" panose="02020603050405020304" pitchFamily="18" charset="0"/>
            </a:endParaRPr>
          </a:p>
          <a:p>
            <a:pPr algn="just"/>
            <a:r>
              <a:rPr lang="en-US" sz="2800" dirty="0" smtClean="0">
                <a:latin typeface="Times New Roman" panose="02020603050405020304" pitchFamily="18" charset="0"/>
                <a:cs typeface="Times New Roman" panose="02020603050405020304" pitchFamily="18" charset="0"/>
              </a:rPr>
              <a:t>There are two levels of diversity. These are</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Surface-level diversity</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Deep-level diversity</a:t>
            </a:r>
          </a:p>
        </p:txBody>
      </p:sp>
    </p:spTree>
    <p:extLst>
      <p:ext uri="{BB962C8B-B14F-4D97-AF65-F5344CB8AC3E}">
        <p14:creationId xmlns:p14="http://schemas.microsoft.com/office/powerpoint/2010/main" val="2692149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49597"/>
          </a:xfrm>
          <a:solidFill>
            <a:srgbClr val="00B0F0"/>
          </a:solidFill>
        </p:spPr>
        <p:txBody>
          <a:bodyPr>
            <a:normAutofit fontScale="90000"/>
          </a:bodyPr>
          <a:lstStyle/>
          <a:p>
            <a:pPr algn="ctr"/>
            <a:r>
              <a:rPr lang="en-US" b="1" dirty="0"/>
              <a:t>Levels of Diversity</a:t>
            </a:r>
            <a:endParaRPr lang="en-US" dirty="0"/>
          </a:p>
        </p:txBody>
      </p:sp>
      <p:sp>
        <p:nvSpPr>
          <p:cNvPr id="3" name="Content Placeholder 2"/>
          <p:cNvSpPr>
            <a:spLocks noGrp="1"/>
          </p:cNvSpPr>
          <p:nvPr>
            <p:ph idx="1"/>
          </p:nvPr>
        </p:nvSpPr>
        <p:spPr>
          <a:xfrm>
            <a:off x="2589212" y="1364775"/>
            <a:ext cx="8915400" cy="5117911"/>
          </a:xfrm>
        </p:spPr>
        <p:txBody>
          <a:bodyPr>
            <a:noAutofit/>
          </a:bodyPr>
          <a:lstStyle/>
          <a:p>
            <a:pPr marL="0" indent="0" algn="just">
              <a:buNone/>
            </a:pPr>
            <a:r>
              <a:rPr lang="en-US" sz="2400" b="1" dirty="0" smtClean="0">
                <a:solidFill>
                  <a:srgbClr val="002060"/>
                </a:solidFill>
                <a:latin typeface="Times New Roman" panose="02020603050405020304" pitchFamily="18" charset="0"/>
                <a:cs typeface="Times New Roman" panose="02020603050405020304" pitchFamily="18" charset="0"/>
              </a:rPr>
              <a:t>Surface-level Diversity</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Surface-level diversity refers to a sort of diversity in which the features are observable and palpable. Age, color, sex, gender balance, visible disability, and physical size are just a few examples. Surface-level diversity in office activities refers to the disparities </a:t>
            </a:r>
            <a:r>
              <a:rPr lang="en-US" sz="2400" dirty="0" smtClean="0">
                <a:latin typeface="Times New Roman" panose="02020603050405020304" pitchFamily="18" charset="0"/>
                <a:cs typeface="Times New Roman" panose="02020603050405020304" pitchFamily="18" charset="0"/>
              </a:rPr>
              <a:t>and stereotypes that </a:t>
            </a:r>
            <a:r>
              <a:rPr lang="en-US" sz="2400" dirty="0">
                <a:latin typeface="Times New Roman" panose="02020603050405020304" pitchFamily="18" charset="0"/>
                <a:cs typeface="Times New Roman" panose="02020603050405020304" pitchFamily="18" charset="0"/>
              </a:rPr>
              <a:t>can be seen merely by glancing at them or talking to them once or twice</a:t>
            </a:r>
            <a:r>
              <a:rPr lang="en-US" sz="24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Surface-level activities, whether well-intentioned or not, have the impact of making individuals feel "outcasted" and weakening their sense of community, which is a sure way to push them out of the company. These behaviors can breed skepticism in the workplace, making developing a truly diverse and inclusive atmosphere more challenging.</a:t>
            </a:r>
          </a:p>
        </p:txBody>
      </p:sp>
    </p:spTree>
    <p:extLst>
      <p:ext uri="{BB962C8B-B14F-4D97-AF65-F5344CB8AC3E}">
        <p14:creationId xmlns:p14="http://schemas.microsoft.com/office/powerpoint/2010/main" val="3876507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22302"/>
          </a:xfrm>
          <a:solidFill>
            <a:srgbClr val="00B0F0"/>
          </a:solidFill>
        </p:spPr>
        <p:txBody>
          <a:bodyPr>
            <a:normAutofit fontScale="90000"/>
          </a:bodyPr>
          <a:lstStyle/>
          <a:p>
            <a:pPr algn="ctr"/>
            <a:r>
              <a:rPr lang="en-US" b="1" dirty="0"/>
              <a:t>Levels of Diversity</a:t>
            </a:r>
            <a:endParaRPr lang="en-US" dirty="0"/>
          </a:p>
        </p:txBody>
      </p:sp>
      <p:sp>
        <p:nvSpPr>
          <p:cNvPr id="3" name="Content Placeholder 2"/>
          <p:cNvSpPr>
            <a:spLocks noGrp="1"/>
          </p:cNvSpPr>
          <p:nvPr>
            <p:ph idx="1"/>
          </p:nvPr>
        </p:nvSpPr>
        <p:spPr>
          <a:xfrm>
            <a:off x="2589212" y="1296537"/>
            <a:ext cx="8915400" cy="4995081"/>
          </a:xfrm>
        </p:spPr>
        <p:txBody>
          <a:bodyPr>
            <a:normAutofit lnSpcReduction="10000"/>
          </a:bodyPr>
          <a:lstStyle/>
          <a:p>
            <a:pPr marL="0" indent="0" algn="just">
              <a:buNone/>
            </a:pPr>
            <a:r>
              <a:rPr lang="en-US" sz="2800" b="1" dirty="0" smtClean="0">
                <a:solidFill>
                  <a:srgbClr val="002060"/>
                </a:solidFill>
                <a:latin typeface="Times New Roman" panose="02020603050405020304" pitchFamily="18" charset="0"/>
                <a:cs typeface="Times New Roman" panose="02020603050405020304" pitchFamily="18" charset="0"/>
              </a:rPr>
              <a:t>Deep-level Diversity</a:t>
            </a:r>
          </a:p>
          <a:p>
            <a:pPr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Non-observing qualities, or not apparent features, are included in deep-level diversity. Opinions, beliefs, and religious affiliations are among them. They're related to hidden diversity in that they're difficult to spot</a:t>
            </a:r>
            <a:r>
              <a:rPr lang="en-US" sz="28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Deep-level diversity increases engagement and productivity, according to research. When employees feel appreciated, respected, and involved, they are better, stronger, and more productive. Top management can benefit from fabulous ideas, broader views, and better solutions.</a:t>
            </a:r>
            <a:endParaRPr lang="en-US" sz="2800" dirty="0" smtClean="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4272446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1"/>
            <a:ext cx="8911687" cy="508654"/>
          </a:xfrm>
          <a:solidFill>
            <a:srgbClr val="00B0F0"/>
          </a:solidFill>
        </p:spPr>
        <p:txBody>
          <a:bodyPr>
            <a:normAutofit fontScale="90000"/>
          </a:bodyPr>
          <a:lstStyle/>
          <a:p>
            <a:pPr algn="ctr"/>
            <a:r>
              <a:rPr lang="en-US" b="1" dirty="0" smtClean="0"/>
              <a:t>Discrimination in the Workplace</a:t>
            </a:r>
            <a:endParaRPr lang="en-US" b="1" dirty="0"/>
          </a:p>
        </p:txBody>
      </p:sp>
      <p:sp>
        <p:nvSpPr>
          <p:cNvPr id="3" name="Content Placeholder 2"/>
          <p:cNvSpPr>
            <a:spLocks noGrp="1"/>
          </p:cNvSpPr>
          <p:nvPr>
            <p:ph idx="1"/>
          </p:nvPr>
        </p:nvSpPr>
        <p:spPr>
          <a:xfrm>
            <a:off x="2589212" y="1337481"/>
            <a:ext cx="8915400" cy="4626591"/>
          </a:xfrm>
        </p:spPr>
        <p:txBody>
          <a:bodyPr>
            <a:normAutofit/>
          </a:bodyPr>
          <a:lstStyle/>
          <a:p>
            <a:pPr algn="just"/>
            <a:r>
              <a:rPr lang="en-US" sz="2800" dirty="0" smtClean="0">
                <a:latin typeface="Times New Roman" panose="02020603050405020304" pitchFamily="18" charset="0"/>
                <a:cs typeface="Times New Roman" panose="02020603050405020304" pitchFamily="18" charset="0"/>
              </a:rPr>
              <a:t>Although diversity presents many opportunities for organizations, diversity management includes working to eliminate unfair discrimination.</a:t>
            </a:r>
          </a:p>
          <a:p>
            <a:pPr algn="just"/>
            <a:r>
              <a:rPr lang="en-US" sz="2800" dirty="0" smtClean="0">
                <a:latin typeface="Times New Roman" panose="02020603050405020304" pitchFamily="18" charset="0"/>
                <a:cs typeface="Times New Roman" panose="02020603050405020304" pitchFamily="18" charset="0"/>
              </a:rPr>
              <a:t>To review, unfair discrimination assumes that everyone in a group is the same rather than looking at the characteristics of individuals within the group. This discrimination is often very harmful for employees.</a:t>
            </a:r>
          </a:p>
          <a:p>
            <a:pPr algn="just"/>
            <a:r>
              <a:rPr lang="en-US" sz="2800" dirty="0" smtClean="0">
                <a:latin typeface="Times New Roman" panose="02020603050405020304" pitchFamily="18" charset="0"/>
                <a:cs typeface="Times New Roman" panose="02020603050405020304" pitchFamily="18" charset="0"/>
              </a:rPr>
              <a:t>The following slides provide definitions and examples of some form of discrimination in organizations.</a:t>
            </a: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5612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49597"/>
          </a:xfrm>
          <a:solidFill>
            <a:srgbClr val="00B0F0"/>
          </a:solidFill>
        </p:spPr>
        <p:txBody>
          <a:bodyPr>
            <a:normAutofit fontScale="90000"/>
          </a:bodyPr>
          <a:lstStyle/>
          <a:p>
            <a:pPr algn="ctr"/>
            <a:r>
              <a:rPr lang="en-US" b="1" dirty="0" smtClean="0"/>
              <a:t>Forms of Discrimination</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42895066"/>
              </p:ext>
            </p:extLst>
          </p:nvPr>
        </p:nvGraphicFramePr>
        <p:xfrm>
          <a:off x="1719618" y="1282891"/>
          <a:ext cx="9784995" cy="5459103"/>
        </p:xfrm>
        <a:graphic>
          <a:graphicData uri="http://schemas.openxmlformats.org/drawingml/2006/table">
            <a:tbl>
              <a:tblPr firstRow="1" bandRow="1">
                <a:tableStyleId>{21E4AEA4-8DFA-4A89-87EB-49C32662AFE0}</a:tableStyleId>
              </a:tblPr>
              <a:tblGrid>
                <a:gridCol w="3261665">
                  <a:extLst>
                    <a:ext uri="{9D8B030D-6E8A-4147-A177-3AD203B41FA5}">
                      <a16:colId xmlns:a16="http://schemas.microsoft.com/office/drawing/2014/main" xmlns="" val="1867146424"/>
                    </a:ext>
                  </a:extLst>
                </a:gridCol>
                <a:gridCol w="3261665">
                  <a:extLst>
                    <a:ext uri="{9D8B030D-6E8A-4147-A177-3AD203B41FA5}">
                      <a16:colId xmlns:a16="http://schemas.microsoft.com/office/drawing/2014/main" xmlns="" val="2717992823"/>
                    </a:ext>
                  </a:extLst>
                </a:gridCol>
                <a:gridCol w="3261665">
                  <a:extLst>
                    <a:ext uri="{9D8B030D-6E8A-4147-A177-3AD203B41FA5}">
                      <a16:colId xmlns:a16="http://schemas.microsoft.com/office/drawing/2014/main" xmlns="" val="2455172309"/>
                    </a:ext>
                  </a:extLst>
                </a:gridCol>
              </a:tblGrid>
              <a:tr h="642034">
                <a:tc>
                  <a:txBody>
                    <a:bodyPr/>
                    <a:lstStyle/>
                    <a:p>
                      <a:pPr algn="ctr"/>
                      <a:r>
                        <a:rPr lang="en-US" b="1" dirty="0" smtClean="0"/>
                        <a:t>Types of Discrimination</a:t>
                      </a:r>
                      <a:endParaRPr lang="en-US" b="1" dirty="0"/>
                    </a:p>
                  </a:txBody>
                  <a:tcPr/>
                </a:tc>
                <a:tc>
                  <a:txBody>
                    <a:bodyPr/>
                    <a:lstStyle/>
                    <a:p>
                      <a:pPr algn="ctr"/>
                      <a:r>
                        <a:rPr lang="en-US" b="1" dirty="0" smtClean="0"/>
                        <a:t>Definition</a:t>
                      </a:r>
                      <a:endParaRPr lang="en-US" b="1" dirty="0"/>
                    </a:p>
                  </a:txBody>
                  <a:tcPr/>
                </a:tc>
                <a:tc>
                  <a:txBody>
                    <a:bodyPr/>
                    <a:lstStyle/>
                    <a:p>
                      <a:pPr algn="ctr"/>
                      <a:r>
                        <a:rPr lang="en-US" b="1" dirty="0" smtClean="0"/>
                        <a:t>Examples from Organizations</a:t>
                      </a:r>
                      <a:endParaRPr lang="en-US" b="1" dirty="0"/>
                    </a:p>
                  </a:txBody>
                  <a:tcPr/>
                </a:tc>
                <a:extLst>
                  <a:ext uri="{0D108BD9-81ED-4DB2-BD59-A6C34878D82A}">
                    <a16:rowId xmlns:a16="http://schemas.microsoft.com/office/drawing/2014/main" xmlns="" val="1278540825"/>
                  </a:ext>
                </a:extLst>
              </a:tr>
              <a:tr h="1738953">
                <a:tc>
                  <a:txBody>
                    <a:bodyPr/>
                    <a:lstStyle/>
                    <a:p>
                      <a:pPr algn="ctr"/>
                      <a:r>
                        <a:rPr lang="en-US" b="1" dirty="0" smtClean="0"/>
                        <a:t>Discriminatory Policies or Practices</a:t>
                      </a:r>
                      <a:endParaRPr lang="en-US" b="1" dirty="0"/>
                    </a:p>
                  </a:txBody>
                  <a:tcPr anchor="ctr"/>
                </a:tc>
                <a:tc>
                  <a:txBody>
                    <a:bodyPr/>
                    <a:lstStyle/>
                    <a:p>
                      <a:pPr algn="just"/>
                      <a:r>
                        <a:rPr lang="en-US" dirty="0" smtClean="0"/>
                        <a:t>Actions taken by representatives of the organization that deny equal opportunity to perform or unequal rewards for performance.</a:t>
                      </a:r>
                      <a:endParaRPr lang="en-US" dirty="0"/>
                    </a:p>
                  </a:txBody>
                  <a:tcPr/>
                </a:tc>
                <a:tc>
                  <a:txBody>
                    <a:bodyPr/>
                    <a:lstStyle/>
                    <a:p>
                      <a:pPr algn="just"/>
                      <a:r>
                        <a:rPr lang="en-US" dirty="0" smtClean="0"/>
                        <a:t>Older workers may be targeted for layoffs because they are highly paid and have lucrative benefits.</a:t>
                      </a:r>
                      <a:endParaRPr lang="en-US" dirty="0"/>
                    </a:p>
                  </a:txBody>
                  <a:tcPr/>
                </a:tc>
                <a:extLst>
                  <a:ext uri="{0D108BD9-81ED-4DB2-BD59-A6C34878D82A}">
                    <a16:rowId xmlns:a16="http://schemas.microsoft.com/office/drawing/2014/main" xmlns="" val="2242143373"/>
                  </a:ext>
                </a:extLst>
              </a:tr>
              <a:tr h="1539058">
                <a:tc>
                  <a:txBody>
                    <a:bodyPr/>
                    <a:lstStyle/>
                    <a:p>
                      <a:pPr algn="ctr"/>
                      <a:r>
                        <a:rPr lang="en-US" b="1" dirty="0" smtClean="0"/>
                        <a:t>Intimidation</a:t>
                      </a:r>
                      <a:endParaRPr lang="en-US" b="1" dirty="0"/>
                    </a:p>
                  </a:txBody>
                  <a:tcPr anchor="ctr"/>
                </a:tc>
                <a:tc>
                  <a:txBody>
                    <a:bodyPr/>
                    <a:lstStyle/>
                    <a:p>
                      <a:pPr algn="just"/>
                      <a:r>
                        <a:rPr lang="en-US" dirty="0" smtClean="0"/>
                        <a:t>Over threats or bullying directed at members of specific groups of employees.</a:t>
                      </a:r>
                      <a:endParaRPr lang="en-US" dirty="0"/>
                    </a:p>
                  </a:txBody>
                  <a:tcPr/>
                </a:tc>
                <a:tc>
                  <a:txBody>
                    <a:bodyPr/>
                    <a:lstStyle/>
                    <a:p>
                      <a:pPr algn="just"/>
                      <a:r>
                        <a:rPr lang="en-US" dirty="0" smtClean="0"/>
                        <a:t>African-American employees at some companies have found nooses</a:t>
                      </a:r>
                      <a:r>
                        <a:rPr lang="en-US" baseline="0" dirty="0" smtClean="0"/>
                        <a:t> hanging over their work stations.</a:t>
                      </a:r>
                      <a:endParaRPr lang="en-US" dirty="0"/>
                    </a:p>
                  </a:txBody>
                  <a:tcPr/>
                </a:tc>
                <a:extLst>
                  <a:ext uri="{0D108BD9-81ED-4DB2-BD59-A6C34878D82A}">
                    <a16:rowId xmlns:a16="http://schemas.microsoft.com/office/drawing/2014/main" xmlns="" val="3501080202"/>
                  </a:ext>
                </a:extLst>
              </a:tr>
              <a:tr h="1539058">
                <a:tc>
                  <a:txBody>
                    <a:bodyPr/>
                    <a:lstStyle/>
                    <a:p>
                      <a:pPr algn="ctr"/>
                      <a:r>
                        <a:rPr lang="en-US" b="1" dirty="0" smtClean="0"/>
                        <a:t>Mockery and Insults</a:t>
                      </a:r>
                      <a:endParaRPr lang="en-US" b="1" dirty="0"/>
                    </a:p>
                  </a:txBody>
                  <a:tcPr anchor="ctr"/>
                </a:tc>
                <a:tc>
                  <a:txBody>
                    <a:bodyPr/>
                    <a:lstStyle/>
                    <a:p>
                      <a:pPr algn="just"/>
                      <a:r>
                        <a:rPr lang="en-US" dirty="0" smtClean="0"/>
                        <a:t>Jokes or negative stereotypes;</a:t>
                      </a:r>
                      <a:r>
                        <a:rPr lang="en-US" baseline="0" dirty="0" smtClean="0"/>
                        <a:t> sometimes the result of jokes taken too far.</a:t>
                      </a:r>
                      <a:endParaRPr lang="en-US" dirty="0"/>
                    </a:p>
                  </a:txBody>
                  <a:tcPr/>
                </a:tc>
                <a:tc>
                  <a:txBody>
                    <a:bodyPr/>
                    <a:lstStyle/>
                    <a:p>
                      <a:pPr algn="just"/>
                      <a:r>
                        <a:rPr lang="en-US" dirty="0" smtClean="0"/>
                        <a:t>Arab-American</a:t>
                      </a:r>
                      <a:r>
                        <a:rPr lang="en-US" baseline="0" dirty="0" smtClean="0"/>
                        <a:t>s have been asked at work whether they were carrying bombs or were members of terrorists organizations. </a:t>
                      </a:r>
                      <a:endParaRPr lang="en-US" dirty="0"/>
                    </a:p>
                  </a:txBody>
                  <a:tcPr/>
                </a:tc>
                <a:extLst>
                  <a:ext uri="{0D108BD9-81ED-4DB2-BD59-A6C34878D82A}">
                    <a16:rowId xmlns:a16="http://schemas.microsoft.com/office/drawing/2014/main" xmlns="" val="2127553092"/>
                  </a:ext>
                </a:extLst>
              </a:tr>
            </a:tbl>
          </a:graphicData>
        </a:graphic>
      </p:graphicFrame>
    </p:spTree>
    <p:extLst>
      <p:ext uri="{BB962C8B-B14F-4D97-AF65-F5344CB8AC3E}">
        <p14:creationId xmlns:p14="http://schemas.microsoft.com/office/powerpoint/2010/main" val="131682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76893"/>
          </a:xfrm>
          <a:solidFill>
            <a:srgbClr val="00B0F0"/>
          </a:solidFill>
        </p:spPr>
        <p:txBody>
          <a:bodyPr>
            <a:normAutofit fontScale="90000"/>
          </a:bodyPr>
          <a:lstStyle/>
          <a:p>
            <a:pPr algn="ctr"/>
            <a:r>
              <a:rPr lang="en-US" b="1" dirty="0"/>
              <a:t>Forms of Discrimination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99223278"/>
              </p:ext>
            </p:extLst>
          </p:nvPr>
        </p:nvGraphicFramePr>
        <p:xfrm>
          <a:off x="2589213" y="1323834"/>
          <a:ext cx="8915400" cy="4435522"/>
        </p:xfrm>
        <a:graphic>
          <a:graphicData uri="http://schemas.openxmlformats.org/drawingml/2006/table">
            <a:tbl>
              <a:tblPr firstRow="1" bandRow="1">
                <a:tableStyleId>{21E4AEA4-8DFA-4A89-87EB-49C32662AFE0}</a:tableStyleId>
              </a:tblPr>
              <a:tblGrid>
                <a:gridCol w="2971800">
                  <a:extLst>
                    <a:ext uri="{9D8B030D-6E8A-4147-A177-3AD203B41FA5}">
                      <a16:colId xmlns:a16="http://schemas.microsoft.com/office/drawing/2014/main" xmlns="" val="2915531243"/>
                    </a:ext>
                  </a:extLst>
                </a:gridCol>
                <a:gridCol w="2971800">
                  <a:extLst>
                    <a:ext uri="{9D8B030D-6E8A-4147-A177-3AD203B41FA5}">
                      <a16:colId xmlns:a16="http://schemas.microsoft.com/office/drawing/2014/main" xmlns="" val="3896104730"/>
                    </a:ext>
                  </a:extLst>
                </a:gridCol>
                <a:gridCol w="2971800">
                  <a:extLst>
                    <a:ext uri="{9D8B030D-6E8A-4147-A177-3AD203B41FA5}">
                      <a16:colId xmlns:a16="http://schemas.microsoft.com/office/drawing/2014/main" xmlns="" val="1543219825"/>
                    </a:ext>
                  </a:extLst>
                </a:gridCol>
              </a:tblGrid>
              <a:tr h="759968">
                <a:tc>
                  <a:txBody>
                    <a:bodyPr/>
                    <a:lstStyle/>
                    <a:p>
                      <a:pPr algn="ctr"/>
                      <a:r>
                        <a:rPr lang="en-US" b="1" dirty="0" smtClean="0"/>
                        <a:t>Types of Discrimination</a:t>
                      </a:r>
                      <a:endParaRPr lang="en-US" b="1" dirty="0"/>
                    </a:p>
                  </a:txBody>
                  <a:tcPr/>
                </a:tc>
                <a:tc>
                  <a:txBody>
                    <a:bodyPr/>
                    <a:lstStyle/>
                    <a:p>
                      <a:pPr algn="ctr"/>
                      <a:r>
                        <a:rPr lang="en-US" b="1" dirty="0" smtClean="0"/>
                        <a:t>Definition</a:t>
                      </a:r>
                      <a:endParaRPr lang="en-US" b="1" dirty="0"/>
                    </a:p>
                  </a:txBody>
                  <a:tcPr/>
                </a:tc>
                <a:tc>
                  <a:txBody>
                    <a:bodyPr/>
                    <a:lstStyle/>
                    <a:p>
                      <a:pPr algn="ctr"/>
                      <a:r>
                        <a:rPr lang="en-US" b="1" dirty="0" smtClean="0"/>
                        <a:t>Examples from Organizations</a:t>
                      </a:r>
                      <a:endParaRPr lang="en-US" b="1" dirty="0"/>
                    </a:p>
                  </a:txBody>
                  <a:tcPr/>
                </a:tc>
                <a:extLst>
                  <a:ext uri="{0D108BD9-81ED-4DB2-BD59-A6C34878D82A}">
                    <a16:rowId xmlns:a16="http://schemas.microsoft.com/office/drawing/2014/main" xmlns="" val="3492850488"/>
                  </a:ext>
                </a:extLst>
              </a:tr>
              <a:tr h="1837777">
                <a:tc>
                  <a:txBody>
                    <a:bodyPr/>
                    <a:lstStyle/>
                    <a:p>
                      <a:pPr algn="ctr"/>
                      <a:r>
                        <a:rPr lang="en-US" b="1" dirty="0" smtClean="0"/>
                        <a:t>Exclusion</a:t>
                      </a:r>
                      <a:endParaRPr lang="en-US" b="1" dirty="0"/>
                    </a:p>
                  </a:txBody>
                  <a:tcPr anchor="ctr"/>
                </a:tc>
                <a:tc>
                  <a:txBody>
                    <a:bodyPr/>
                    <a:lstStyle/>
                    <a:p>
                      <a:pPr algn="just"/>
                      <a:r>
                        <a:rPr lang="en-US" dirty="0" smtClean="0"/>
                        <a:t>Exclusion of</a:t>
                      </a:r>
                      <a:r>
                        <a:rPr lang="en-US" baseline="0" dirty="0" smtClean="0"/>
                        <a:t> certain people from job opportunities, social events, discussions, or informal mentoring ; can occur unintentionally.</a:t>
                      </a:r>
                      <a:endParaRPr lang="en-US" dirty="0"/>
                    </a:p>
                  </a:txBody>
                  <a:tcPr/>
                </a:tc>
                <a:tc>
                  <a:txBody>
                    <a:bodyPr/>
                    <a:lstStyle/>
                    <a:p>
                      <a:pPr algn="just"/>
                      <a:r>
                        <a:rPr lang="en-US" dirty="0" smtClean="0"/>
                        <a:t>Many women in finance claim they are assigned to marginal job roles or are given light workloads that don’t lead to promotion.</a:t>
                      </a:r>
                      <a:endParaRPr lang="en-US" dirty="0"/>
                    </a:p>
                  </a:txBody>
                  <a:tcPr/>
                </a:tc>
                <a:extLst>
                  <a:ext uri="{0D108BD9-81ED-4DB2-BD59-A6C34878D82A}">
                    <a16:rowId xmlns:a16="http://schemas.microsoft.com/office/drawing/2014/main" xmlns="" val="3877816898"/>
                  </a:ext>
                </a:extLst>
              </a:tr>
              <a:tr h="1837777">
                <a:tc>
                  <a:txBody>
                    <a:bodyPr/>
                    <a:lstStyle/>
                    <a:p>
                      <a:pPr algn="ctr"/>
                      <a:r>
                        <a:rPr lang="en-US" b="1" dirty="0" smtClean="0"/>
                        <a:t>Incivility</a:t>
                      </a:r>
                      <a:endParaRPr lang="en-US" b="1" dirty="0"/>
                    </a:p>
                  </a:txBody>
                  <a:tcPr anchor="ctr"/>
                </a:tc>
                <a:tc>
                  <a:txBody>
                    <a:bodyPr/>
                    <a:lstStyle/>
                    <a:p>
                      <a:pPr algn="just"/>
                      <a:r>
                        <a:rPr lang="en-US" dirty="0" smtClean="0"/>
                        <a:t>Disrespectful treatment, including behaving in an aggressive manner, interrupting</a:t>
                      </a:r>
                      <a:r>
                        <a:rPr lang="en-US" baseline="0" dirty="0" smtClean="0"/>
                        <a:t> the person, or ignoring his or her opinions.</a:t>
                      </a:r>
                      <a:endParaRPr lang="en-US" dirty="0"/>
                    </a:p>
                  </a:txBody>
                  <a:tcPr/>
                </a:tc>
                <a:tc>
                  <a:txBody>
                    <a:bodyPr/>
                    <a:lstStyle/>
                    <a:p>
                      <a:pPr algn="just"/>
                      <a:r>
                        <a:rPr lang="en-US" dirty="0" smtClean="0"/>
                        <a:t>Female lawyers note that male attorneys frequently</a:t>
                      </a:r>
                      <a:r>
                        <a:rPr lang="en-US" baseline="0" dirty="0" smtClean="0"/>
                        <a:t> cut them off or do not adequately address their comments.</a:t>
                      </a:r>
                      <a:endParaRPr lang="en-US" dirty="0"/>
                    </a:p>
                  </a:txBody>
                  <a:tcPr/>
                </a:tc>
                <a:extLst>
                  <a:ext uri="{0D108BD9-81ED-4DB2-BD59-A6C34878D82A}">
                    <a16:rowId xmlns:a16="http://schemas.microsoft.com/office/drawing/2014/main" xmlns="" val="1502067104"/>
                  </a:ext>
                </a:extLst>
              </a:tr>
            </a:tbl>
          </a:graphicData>
        </a:graphic>
      </p:graphicFrame>
    </p:spTree>
    <p:extLst>
      <p:ext uri="{BB962C8B-B14F-4D97-AF65-F5344CB8AC3E}">
        <p14:creationId xmlns:p14="http://schemas.microsoft.com/office/powerpoint/2010/main" val="1723337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04189"/>
          </a:xfrm>
          <a:solidFill>
            <a:srgbClr val="00B0F0"/>
          </a:solidFill>
        </p:spPr>
        <p:txBody>
          <a:bodyPr>
            <a:normAutofit fontScale="90000"/>
          </a:bodyPr>
          <a:lstStyle/>
          <a:p>
            <a:pPr algn="ctr"/>
            <a:r>
              <a:rPr lang="en-US" b="1" dirty="0" smtClean="0"/>
              <a:t>Ability</a:t>
            </a:r>
            <a:endParaRPr lang="en-US" b="1" dirty="0"/>
          </a:p>
        </p:txBody>
      </p:sp>
      <p:sp>
        <p:nvSpPr>
          <p:cNvPr id="3" name="Content Placeholder 2"/>
          <p:cNvSpPr>
            <a:spLocks noGrp="1"/>
          </p:cNvSpPr>
          <p:nvPr>
            <p:ph idx="1"/>
          </p:nvPr>
        </p:nvSpPr>
        <p:spPr>
          <a:xfrm>
            <a:off x="2589212" y="1228299"/>
            <a:ext cx="8915400" cy="5513695"/>
          </a:xfrm>
        </p:spPr>
        <p:txBody>
          <a:bodyPr>
            <a:normAutofit lnSpcReduction="10000"/>
          </a:bodyPr>
          <a:lstStyle/>
          <a:p>
            <a:pPr algn="just"/>
            <a:r>
              <a:rPr lang="en-US" sz="2400" dirty="0" smtClean="0">
                <a:latin typeface="Times New Roman" panose="02020603050405020304" pitchFamily="18" charset="0"/>
                <a:cs typeface="Times New Roman" panose="02020603050405020304" pitchFamily="18" charset="0"/>
              </a:rPr>
              <a:t>Ability is an individual’s current capacity to perform the various tasks in a job. Overall abilities are essentially made up of two sets of factors. These are-</a:t>
            </a:r>
          </a:p>
          <a:p>
            <a:pPr algn="just">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Intellectual Abilities</a:t>
            </a:r>
          </a:p>
          <a:p>
            <a:pPr algn="just">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Physical Abilities</a:t>
            </a:r>
          </a:p>
          <a:p>
            <a:pPr algn="just">
              <a:buFont typeface="Wingdings" panose="05000000000000000000" pitchFamily="2" charset="2"/>
              <a:buChar char="v"/>
            </a:pPr>
            <a:r>
              <a:rPr lang="en-US" sz="2400" b="1" dirty="0" smtClean="0">
                <a:solidFill>
                  <a:srgbClr val="00B050"/>
                </a:solidFill>
                <a:latin typeface="Times New Roman" panose="02020603050405020304" pitchFamily="18" charset="0"/>
                <a:cs typeface="Times New Roman" panose="02020603050405020304" pitchFamily="18" charset="0"/>
              </a:rPr>
              <a:t>Intellectual Abilities: </a:t>
            </a:r>
            <a:r>
              <a:rPr lang="en-US" sz="2400" dirty="0" smtClean="0">
                <a:latin typeface="Times New Roman" panose="02020603050405020304" pitchFamily="18" charset="0"/>
                <a:cs typeface="Times New Roman" panose="02020603050405020304" pitchFamily="18" charset="0"/>
              </a:rPr>
              <a:t>Intellectual abilities are abilities needed to perform mental activities such as thinking, reasoning, and problem solving. Most societies place a high value on intelligence , and for good reason. However, assessing and measuring intellectual ability are not always simple. IQ tests are designed to ascertain a person’s general intellectual abilities, but the origins, influence factors, and testing of intelligence quotients are controversial.</a:t>
            </a:r>
          </a:p>
          <a:p>
            <a:pPr algn="just">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The seven most frequently cited dimensions making up intellectual abilities are discussed in the following slides.</a:t>
            </a:r>
          </a:p>
          <a:p>
            <a:pPr marL="0" indent="0">
              <a:buNone/>
            </a:pPr>
            <a:endParaRPr lang="en-US" dirty="0"/>
          </a:p>
        </p:txBody>
      </p:sp>
    </p:spTree>
    <p:extLst>
      <p:ext uri="{BB962C8B-B14F-4D97-AF65-F5344CB8AC3E}">
        <p14:creationId xmlns:p14="http://schemas.microsoft.com/office/powerpoint/2010/main" val="2563723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76893"/>
          </a:xfrm>
          <a:solidFill>
            <a:srgbClr val="00B0F0"/>
          </a:solidFill>
        </p:spPr>
        <p:txBody>
          <a:bodyPr>
            <a:normAutofit fontScale="90000"/>
          </a:bodyPr>
          <a:lstStyle/>
          <a:p>
            <a:pPr algn="ctr"/>
            <a:r>
              <a:rPr lang="en-US" b="1" dirty="0" smtClean="0"/>
              <a:t>Dimensions of Intellectual Ability</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03794937"/>
              </p:ext>
            </p:extLst>
          </p:nvPr>
        </p:nvGraphicFramePr>
        <p:xfrm>
          <a:off x="2589213" y="1337480"/>
          <a:ext cx="8915400" cy="5336275"/>
        </p:xfrm>
        <a:graphic>
          <a:graphicData uri="http://schemas.openxmlformats.org/drawingml/2006/table">
            <a:tbl>
              <a:tblPr firstRow="1" bandRow="1">
                <a:tableStyleId>{93296810-A885-4BE3-A3E7-6D5BEEA58F35}</a:tableStyleId>
              </a:tblPr>
              <a:tblGrid>
                <a:gridCol w="2971800">
                  <a:extLst>
                    <a:ext uri="{9D8B030D-6E8A-4147-A177-3AD203B41FA5}">
                      <a16:colId xmlns:a16="http://schemas.microsoft.com/office/drawing/2014/main" xmlns="" val="1121860382"/>
                    </a:ext>
                  </a:extLst>
                </a:gridCol>
                <a:gridCol w="2971800">
                  <a:extLst>
                    <a:ext uri="{9D8B030D-6E8A-4147-A177-3AD203B41FA5}">
                      <a16:colId xmlns:a16="http://schemas.microsoft.com/office/drawing/2014/main" xmlns="" val="2670524824"/>
                    </a:ext>
                  </a:extLst>
                </a:gridCol>
                <a:gridCol w="2971800">
                  <a:extLst>
                    <a:ext uri="{9D8B030D-6E8A-4147-A177-3AD203B41FA5}">
                      <a16:colId xmlns:a16="http://schemas.microsoft.com/office/drawing/2014/main" xmlns="" val="2001283689"/>
                    </a:ext>
                  </a:extLst>
                </a:gridCol>
              </a:tblGrid>
              <a:tr h="566607">
                <a:tc>
                  <a:txBody>
                    <a:bodyPr/>
                    <a:lstStyle/>
                    <a:p>
                      <a:pPr algn="ctr"/>
                      <a:r>
                        <a:rPr lang="en-US" dirty="0" smtClean="0"/>
                        <a:t>Dimension</a:t>
                      </a:r>
                      <a:endParaRPr lang="en-US" dirty="0"/>
                    </a:p>
                  </a:txBody>
                  <a:tcPr/>
                </a:tc>
                <a:tc>
                  <a:txBody>
                    <a:bodyPr/>
                    <a:lstStyle/>
                    <a:p>
                      <a:pPr algn="ctr"/>
                      <a:r>
                        <a:rPr lang="en-US" dirty="0" smtClean="0"/>
                        <a:t>Description</a:t>
                      </a:r>
                      <a:endParaRPr lang="en-US" dirty="0"/>
                    </a:p>
                  </a:txBody>
                  <a:tcPr/>
                </a:tc>
                <a:tc>
                  <a:txBody>
                    <a:bodyPr/>
                    <a:lstStyle/>
                    <a:p>
                      <a:pPr algn="ctr"/>
                      <a:r>
                        <a:rPr lang="en-US" dirty="0" smtClean="0"/>
                        <a:t>Job Example</a:t>
                      </a:r>
                      <a:endParaRPr lang="en-US" dirty="0"/>
                    </a:p>
                  </a:txBody>
                  <a:tcPr/>
                </a:tc>
                <a:extLst>
                  <a:ext uri="{0D108BD9-81ED-4DB2-BD59-A6C34878D82A}">
                    <a16:rowId xmlns:a16="http://schemas.microsoft.com/office/drawing/2014/main" xmlns="" val="3163790073"/>
                  </a:ext>
                </a:extLst>
              </a:tr>
              <a:tr h="973402">
                <a:tc>
                  <a:txBody>
                    <a:bodyPr/>
                    <a:lstStyle/>
                    <a:p>
                      <a:pPr algn="ctr"/>
                      <a:r>
                        <a:rPr lang="en-US" b="1" dirty="0" smtClean="0"/>
                        <a:t>Number</a:t>
                      </a:r>
                      <a:r>
                        <a:rPr lang="en-US" b="1" baseline="0" dirty="0" smtClean="0"/>
                        <a:t> Aptitude</a:t>
                      </a:r>
                      <a:endParaRPr lang="en-US" b="1" dirty="0"/>
                    </a:p>
                  </a:txBody>
                  <a:tcPr anchor="ctr"/>
                </a:tc>
                <a:tc>
                  <a:txBody>
                    <a:bodyPr/>
                    <a:lstStyle/>
                    <a:p>
                      <a:pPr algn="just"/>
                      <a:r>
                        <a:rPr lang="en-US" dirty="0" smtClean="0"/>
                        <a:t>Ability to do speedy and accurate arithmetic.</a:t>
                      </a:r>
                      <a:endParaRPr lang="en-US" dirty="0"/>
                    </a:p>
                  </a:txBody>
                  <a:tcPr/>
                </a:tc>
                <a:tc>
                  <a:txBody>
                    <a:bodyPr/>
                    <a:lstStyle/>
                    <a:p>
                      <a:pPr algn="just"/>
                      <a:r>
                        <a:rPr lang="en-US" dirty="0" smtClean="0"/>
                        <a:t>Accountant: Computing the sales tax on a set of items.</a:t>
                      </a:r>
                      <a:endParaRPr lang="en-US" dirty="0"/>
                    </a:p>
                  </a:txBody>
                  <a:tcPr/>
                </a:tc>
                <a:extLst>
                  <a:ext uri="{0D108BD9-81ED-4DB2-BD59-A6C34878D82A}">
                    <a16:rowId xmlns:a16="http://schemas.microsoft.com/office/drawing/2014/main" xmlns="" val="1325383692"/>
                  </a:ext>
                </a:extLst>
              </a:tr>
              <a:tr h="1265422">
                <a:tc>
                  <a:txBody>
                    <a:bodyPr/>
                    <a:lstStyle/>
                    <a:p>
                      <a:pPr algn="ctr"/>
                      <a:r>
                        <a:rPr lang="en-US" b="1" dirty="0" smtClean="0"/>
                        <a:t>Verbal Comprehension</a:t>
                      </a:r>
                      <a:endParaRPr lang="en-US" b="1" dirty="0"/>
                    </a:p>
                  </a:txBody>
                  <a:tcPr anchor="ctr"/>
                </a:tc>
                <a:tc>
                  <a:txBody>
                    <a:bodyPr/>
                    <a:lstStyle/>
                    <a:p>
                      <a:pPr algn="just"/>
                      <a:r>
                        <a:rPr lang="en-US" dirty="0" smtClean="0"/>
                        <a:t>Ability to understand what is read or heard and the relationship of</a:t>
                      </a:r>
                      <a:r>
                        <a:rPr lang="en-US" baseline="0" dirty="0" smtClean="0"/>
                        <a:t> words to each other.</a:t>
                      </a:r>
                      <a:endParaRPr lang="en-US" dirty="0"/>
                    </a:p>
                  </a:txBody>
                  <a:tcPr/>
                </a:tc>
                <a:tc>
                  <a:txBody>
                    <a:bodyPr/>
                    <a:lstStyle/>
                    <a:p>
                      <a:pPr algn="just"/>
                      <a:r>
                        <a:rPr lang="en-US" dirty="0" smtClean="0"/>
                        <a:t>Plant manager: Following corporate policies on hiring.</a:t>
                      </a:r>
                      <a:endParaRPr lang="en-US" dirty="0"/>
                    </a:p>
                  </a:txBody>
                  <a:tcPr/>
                </a:tc>
                <a:extLst>
                  <a:ext uri="{0D108BD9-81ED-4DB2-BD59-A6C34878D82A}">
                    <a16:rowId xmlns:a16="http://schemas.microsoft.com/office/drawing/2014/main" xmlns="" val="3254695319"/>
                  </a:ext>
                </a:extLst>
              </a:tr>
              <a:tr h="1265422">
                <a:tc>
                  <a:txBody>
                    <a:bodyPr/>
                    <a:lstStyle/>
                    <a:p>
                      <a:pPr algn="ctr"/>
                      <a:r>
                        <a:rPr lang="en-US" b="1" dirty="0" smtClean="0"/>
                        <a:t>Perceptual Speed</a:t>
                      </a:r>
                      <a:endParaRPr lang="en-US" b="1" dirty="0"/>
                    </a:p>
                  </a:txBody>
                  <a:tcPr anchor="ctr"/>
                </a:tc>
                <a:tc>
                  <a:txBody>
                    <a:bodyPr/>
                    <a:lstStyle/>
                    <a:p>
                      <a:pPr algn="just"/>
                      <a:r>
                        <a:rPr lang="en-US" dirty="0" smtClean="0"/>
                        <a:t>Ability to identify visual similarities</a:t>
                      </a:r>
                      <a:r>
                        <a:rPr lang="en-US" baseline="0" dirty="0" smtClean="0"/>
                        <a:t> and differences quickly and accurately. </a:t>
                      </a:r>
                      <a:endParaRPr lang="en-US" dirty="0"/>
                    </a:p>
                  </a:txBody>
                  <a:tcPr/>
                </a:tc>
                <a:tc>
                  <a:txBody>
                    <a:bodyPr/>
                    <a:lstStyle/>
                    <a:p>
                      <a:pPr algn="just"/>
                      <a:r>
                        <a:rPr lang="en-US" dirty="0" smtClean="0"/>
                        <a:t>Fire investigation: Identifying</a:t>
                      </a:r>
                      <a:r>
                        <a:rPr lang="en-US" baseline="0" dirty="0" smtClean="0"/>
                        <a:t> clues to support a charge of arson.</a:t>
                      </a:r>
                      <a:endParaRPr lang="en-US" dirty="0"/>
                    </a:p>
                  </a:txBody>
                  <a:tcPr/>
                </a:tc>
                <a:extLst>
                  <a:ext uri="{0D108BD9-81ED-4DB2-BD59-A6C34878D82A}">
                    <a16:rowId xmlns:a16="http://schemas.microsoft.com/office/drawing/2014/main" xmlns="" val="581560089"/>
                  </a:ext>
                </a:extLst>
              </a:tr>
              <a:tr h="1265422">
                <a:tc>
                  <a:txBody>
                    <a:bodyPr/>
                    <a:lstStyle/>
                    <a:p>
                      <a:pPr algn="ctr"/>
                      <a:r>
                        <a:rPr lang="en-US" b="1" dirty="0" smtClean="0"/>
                        <a:t>Inductive Reasoning</a:t>
                      </a:r>
                      <a:endParaRPr lang="en-US" b="1" dirty="0"/>
                    </a:p>
                  </a:txBody>
                  <a:tcPr anchor="ctr"/>
                </a:tc>
                <a:tc>
                  <a:txBody>
                    <a:bodyPr/>
                    <a:lstStyle/>
                    <a:p>
                      <a:pPr algn="just"/>
                      <a:r>
                        <a:rPr lang="en-US" dirty="0" smtClean="0"/>
                        <a:t>Ability to identify a logical sequence</a:t>
                      </a:r>
                      <a:r>
                        <a:rPr lang="en-US" baseline="0" dirty="0" smtClean="0"/>
                        <a:t> in a problem and then solve the problem.</a:t>
                      </a:r>
                      <a:endParaRPr lang="en-US" dirty="0"/>
                    </a:p>
                  </a:txBody>
                  <a:tcPr/>
                </a:tc>
                <a:tc>
                  <a:txBody>
                    <a:bodyPr/>
                    <a:lstStyle/>
                    <a:p>
                      <a:pPr algn="just"/>
                      <a:r>
                        <a:rPr lang="en-US" dirty="0" smtClean="0"/>
                        <a:t>Market researcher: Forecasting demand for a product in the next time period.</a:t>
                      </a:r>
                      <a:endParaRPr lang="en-US" dirty="0"/>
                    </a:p>
                  </a:txBody>
                  <a:tcPr/>
                </a:tc>
                <a:extLst>
                  <a:ext uri="{0D108BD9-81ED-4DB2-BD59-A6C34878D82A}">
                    <a16:rowId xmlns:a16="http://schemas.microsoft.com/office/drawing/2014/main" xmlns="" val="2516872281"/>
                  </a:ext>
                </a:extLst>
              </a:tr>
            </a:tbl>
          </a:graphicData>
        </a:graphic>
      </p:graphicFrame>
    </p:spTree>
    <p:extLst>
      <p:ext uri="{BB962C8B-B14F-4D97-AF65-F5344CB8AC3E}">
        <p14:creationId xmlns:p14="http://schemas.microsoft.com/office/powerpoint/2010/main" val="4178530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63245"/>
          </a:xfrm>
          <a:solidFill>
            <a:srgbClr val="00B0F0"/>
          </a:solidFill>
        </p:spPr>
        <p:txBody>
          <a:bodyPr>
            <a:normAutofit fontScale="90000"/>
          </a:bodyPr>
          <a:lstStyle/>
          <a:p>
            <a:pPr algn="ctr"/>
            <a:r>
              <a:rPr lang="en-US" b="1" dirty="0"/>
              <a:t>Dimensions of Intellectual Ability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04909323"/>
              </p:ext>
            </p:extLst>
          </p:nvPr>
        </p:nvGraphicFramePr>
        <p:xfrm>
          <a:off x="2589213" y="1528549"/>
          <a:ext cx="8915400" cy="4462817"/>
        </p:xfrm>
        <a:graphic>
          <a:graphicData uri="http://schemas.openxmlformats.org/drawingml/2006/table">
            <a:tbl>
              <a:tblPr firstRow="1" bandRow="1">
                <a:tableStyleId>{93296810-A885-4BE3-A3E7-6D5BEEA58F35}</a:tableStyleId>
              </a:tblPr>
              <a:tblGrid>
                <a:gridCol w="2971800">
                  <a:extLst>
                    <a:ext uri="{9D8B030D-6E8A-4147-A177-3AD203B41FA5}">
                      <a16:colId xmlns:a16="http://schemas.microsoft.com/office/drawing/2014/main" xmlns="" val="1772415595"/>
                    </a:ext>
                  </a:extLst>
                </a:gridCol>
                <a:gridCol w="2971800">
                  <a:extLst>
                    <a:ext uri="{9D8B030D-6E8A-4147-A177-3AD203B41FA5}">
                      <a16:colId xmlns:a16="http://schemas.microsoft.com/office/drawing/2014/main" xmlns="" val="2626066775"/>
                    </a:ext>
                  </a:extLst>
                </a:gridCol>
                <a:gridCol w="2971800">
                  <a:extLst>
                    <a:ext uri="{9D8B030D-6E8A-4147-A177-3AD203B41FA5}">
                      <a16:colId xmlns:a16="http://schemas.microsoft.com/office/drawing/2014/main" xmlns="" val="3419532983"/>
                    </a:ext>
                  </a:extLst>
                </a:gridCol>
              </a:tblGrid>
              <a:tr h="455285">
                <a:tc>
                  <a:txBody>
                    <a:bodyPr/>
                    <a:lstStyle/>
                    <a:p>
                      <a:pPr algn="ctr"/>
                      <a:r>
                        <a:rPr lang="en-US" dirty="0" smtClean="0"/>
                        <a:t>Dimension</a:t>
                      </a:r>
                      <a:endParaRPr lang="en-US" dirty="0"/>
                    </a:p>
                  </a:txBody>
                  <a:tcPr/>
                </a:tc>
                <a:tc>
                  <a:txBody>
                    <a:bodyPr/>
                    <a:lstStyle/>
                    <a:p>
                      <a:pPr algn="ctr"/>
                      <a:r>
                        <a:rPr lang="en-US" dirty="0" smtClean="0"/>
                        <a:t>Description</a:t>
                      </a:r>
                      <a:endParaRPr lang="en-US" dirty="0"/>
                    </a:p>
                  </a:txBody>
                  <a:tcPr/>
                </a:tc>
                <a:tc>
                  <a:txBody>
                    <a:bodyPr/>
                    <a:lstStyle/>
                    <a:p>
                      <a:pPr algn="ctr"/>
                      <a:r>
                        <a:rPr lang="en-US" dirty="0" smtClean="0"/>
                        <a:t>Job Example</a:t>
                      </a:r>
                      <a:endParaRPr lang="en-US" dirty="0"/>
                    </a:p>
                  </a:txBody>
                  <a:tcPr/>
                </a:tc>
                <a:extLst>
                  <a:ext uri="{0D108BD9-81ED-4DB2-BD59-A6C34878D82A}">
                    <a16:rowId xmlns:a16="http://schemas.microsoft.com/office/drawing/2014/main" xmlns="" val="3796041258"/>
                  </a:ext>
                </a:extLst>
              </a:tr>
              <a:tr h="1363521">
                <a:tc>
                  <a:txBody>
                    <a:bodyPr/>
                    <a:lstStyle/>
                    <a:p>
                      <a:pPr algn="ctr"/>
                      <a:r>
                        <a:rPr lang="en-US" b="1" dirty="0" smtClean="0"/>
                        <a:t>Deductive Reasoning</a:t>
                      </a:r>
                      <a:endParaRPr lang="en-US" b="1" dirty="0"/>
                    </a:p>
                  </a:txBody>
                  <a:tcPr anchor="ctr"/>
                </a:tc>
                <a:tc>
                  <a:txBody>
                    <a:bodyPr/>
                    <a:lstStyle/>
                    <a:p>
                      <a:pPr algn="just"/>
                      <a:r>
                        <a:rPr lang="en-US" dirty="0" smtClean="0"/>
                        <a:t>Ability to use logic and assess the implications of an argument.</a:t>
                      </a:r>
                      <a:endParaRPr lang="en-US" dirty="0"/>
                    </a:p>
                  </a:txBody>
                  <a:tcPr/>
                </a:tc>
                <a:tc>
                  <a:txBody>
                    <a:bodyPr/>
                    <a:lstStyle/>
                    <a:p>
                      <a:pPr algn="just"/>
                      <a:r>
                        <a:rPr lang="en-US" dirty="0" smtClean="0"/>
                        <a:t>Supervisor: Choosing</a:t>
                      </a:r>
                      <a:r>
                        <a:rPr lang="en-US" baseline="0" dirty="0" smtClean="0"/>
                        <a:t> between two different suggestions offered by employees.</a:t>
                      </a:r>
                      <a:endParaRPr lang="en-US" dirty="0"/>
                    </a:p>
                  </a:txBody>
                  <a:tcPr/>
                </a:tc>
                <a:extLst>
                  <a:ext uri="{0D108BD9-81ED-4DB2-BD59-A6C34878D82A}">
                    <a16:rowId xmlns:a16="http://schemas.microsoft.com/office/drawing/2014/main" xmlns="" val="1578333435"/>
                  </a:ext>
                </a:extLst>
              </a:tr>
              <a:tr h="1363521">
                <a:tc>
                  <a:txBody>
                    <a:bodyPr/>
                    <a:lstStyle/>
                    <a:p>
                      <a:pPr algn="ctr"/>
                      <a:r>
                        <a:rPr lang="en-US" b="1" dirty="0" smtClean="0"/>
                        <a:t>Spatial Visualization</a:t>
                      </a:r>
                      <a:endParaRPr lang="en-US" b="1" dirty="0"/>
                    </a:p>
                  </a:txBody>
                  <a:tcPr anchor="ctr"/>
                </a:tc>
                <a:tc>
                  <a:txBody>
                    <a:bodyPr/>
                    <a:lstStyle/>
                    <a:p>
                      <a:pPr algn="just"/>
                      <a:r>
                        <a:rPr lang="en-US" dirty="0" smtClean="0"/>
                        <a:t>Ability to imagine how an object would look if its position in</a:t>
                      </a:r>
                      <a:r>
                        <a:rPr lang="en-US" baseline="0" dirty="0" smtClean="0"/>
                        <a:t> space were changed.</a:t>
                      </a:r>
                      <a:endParaRPr lang="en-US" dirty="0"/>
                    </a:p>
                  </a:txBody>
                  <a:tcPr/>
                </a:tc>
                <a:tc>
                  <a:txBody>
                    <a:bodyPr/>
                    <a:lstStyle/>
                    <a:p>
                      <a:pPr algn="just"/>
                      <a:r>
                        <a:rPr lang="en-US" dirty="0" smtClean="0"/>
                        <a:t>Interior decorator: Redecorating an office.</a:t>
                      </a:r>
                      <a:endParaRPr lang="en-US" dirty="0"/>
                    </a:p>
                  </a:txBody>
                  <a:tcPr/>
                </a:tc>
                <a:extLst>
                  <a:ext uri="{0D108BD9-81ED-4DB2-BD59-A6C34878D82A}">
                    <a16:rowId xmlns:a16="http://schemas.microsoft.com/office/drawing/2014/main" xmlns="" val="3082783499"/>
                  </a:ext>
                </a:extLst>
              </a:tr>
              <a:tr h="1280490">
                <a:tc>
                  <a:txBody>
                    <a:bodyPr/>
                    <a:lstStyle/>
                    <a:p>
                      <a:pPr algn="ctr"/>
                      <a:r>
                        <a:rPr lang="en-US" b="1" dirty="0" smtClean="0"/>
                        <a:t>Memory</a:t>
                      </a:r>
                      <a:endParaRPr lang="en-US" b="1" dirty="0"/>
                    </a:p>
                  </a:txBody>
                  <a:tcPr anchor="ctr"/>
                </a:tc>
                <a:tc>
                  <a:txBody>
                    <a:bodyPr/>
                    <a:lstStyle/>
                    <a:p>
                      <a:pPr algn="just"/>
                      <a:r>
                        <a:rPr lang="en-US" dirty="0" smtClean="0"/>
                        <a:t>Ability to retain and recall past experiences.</a:t>
                      </a:r>
                      <a:endParaRPr lang="en-US" dirty="0"/>
                    </a:p>
                  </a:txBody>
                  <a:tcPr/>
                </a:tc>
                <a:tc>
                  <a:txBody>
                    <a:bodyPr/>
                    <a:lstStyle/>
                    <a:p>
                      <a:pPr algn="just"/>
                      <a:r>
                        <a:rPr lang="en-US" dirty="0" smtClean="0"/>
                        <a:t>Salesperson: Remembering the names</a:t>
                      </a:r>
                      <a:r>
                        <a:rPr lang="en-US" baseline="0" dirty="0" smtClean="0"/>
                        <a:t> of customers.</a:t>
                      </a:r>
                      <a:endParaRPr lang="en-US" dirty="0"/>
                    </a:p>
                  </a:txBody>
                  <a:tcPr/>
                </a:tc>
                <a:extLst>
                  <a:ext uri="{0D108BD9-81ED-4DB2-BD59-A6C34878D82A}">
                    <a16:rowId xmlns:a16="http://schemas.microsoft.com/office/drawing/2014/main" xmlns="" val="2827975557"/>
                  </a:ext>
                </a:extLst>
              </a:tr>
            </a:tbl>
          </a:graphicData>
        </a:graphic>
      </p:graphicFrame>
    </p:spTree>
    <p:extLst>
      <p:ext uri="{BB962C8B-B14F-4D97-AF65-F5344CB8AC3E}">
        <p14:creationId xmlns:p14="http://schemas.microsoft.com/office/powerpoint/2010/main" val="791807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63245"/>
          </a:xfrm>
          <a:solidFill>
            <a:srgbClr val="00B0F0"/>
          </a:solidFill>
        </p:spPr>
        <p:txBody>
          <a:bodyPr>
            <a:normAutofit fontScale="90000"/>
          </a:bodyPr>
          <a:lstStyle/>
          <a:p>
            <a:pPr algn="ctr"/>
            <a:r>
              <a:rPr lang="en-US" b="1" dirty="0" smtClean="0"/>
              <a:t>Physical Abilities</a:t>
            </a:r>
            <a:endParaRPr lang="en-US" b="1" dirty="0"/>
          </a:p>
        </p:txBody>
      </p:sp>
      <p:sp>
        <p:nvSpPr>
          <p:cNvPr id="3" name="Content Placeholder 2"/>
          <p:cNvSpPr>
            <a:spLocks noGrp="1"/>
          </p:cNvSpPr>
          <p:nvPr>
            <p:ph idx="1"/>
          </p:nvPr>
        </p:nvSpPr>
        <p:spPr>
          <a:xfrm>
            <a:off x="2589212" y="1282890"/>
            <a:ext cx="8915400" cy="4628332"/>
          </a:xfrm>
        </p:spPr>
        <p:txBody>
          <a:bodyPr>
            <a:normAutofit/>
          </a:bodyPr>
          <a:lstStyle/>
          <a:p>
            <a:pPr algn="just"/>
            <a:r>
              <a:rPr lang="en-US" sz="2800" dirty="0" smtClean="0">
                <a:latin typeface="Times New Roman" panose="02020603050405020304" pitchFamily="18" charset="0"/>
                <a:cs typeface="Times New Roman" panose="02020603050405020304" pitchFamily="18" charset="0"/>
              </a:rPr>
              <a:t>The capacity to do tasks that demand stamina, dexterity, strength, and similar characteristics.</a:t>
            </a:r>
          </a:p>
          <a:p>
            <a:pPr algn="just"/>
            <a:r>
              <a:rPr lang="en-US" sz="2800" dirty="0" smtClean="0">
                <a:latin typeface="Times New Roman" panose="02020603050405020304" pitchFamily="18" charset="0"/>
                <a:cs typeface="Times New Roman" panose="02020603050405020304" pitchFamily="18" charset="0"/>
              </a:rPr>
              <a:t>Although the changing nature of work suggests intellectual abilities are increasingly important for many jobs, physical abilities have been and will remain valuable. </a:t>
            </a:r>
          </a:p>
          <a:p>
            <a:pPr algn="just"/>
            <a:r>
              <a:rPr lang="en-US" sz="2800" dirty="0" smtClean="0">
                <a:latin typeface="Times New Roman" panose="02020603050405020304" pitchFamily="18" charset="0"/>
                <a:cs typeface="Times New Roman" panose="02020603050405020304" pitchFamily="18" charset="0"/>
              </a:rPr>
              <a:t>Research on hundreds of jobs has identified nine basic abilities needed in the performance of physical tasks. These are described in the following slide-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1884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436728"/>
            <a:ext cx="8911687" cy="545911"/>
          </a:xfrm>
          <a:solidFill>
            <a:srgbClr val="00B0F0"/>
          </a:solidFill>
        </p:spPr>
        <p:txBody>
          <a:bodyPr>
            <a:normAutofit fontScale="90000"/>
          </a:bodyPr>
          <a:lstStyle/>
          <a:p>
            <a:pPr algn="ctr"/>
            <a:r>
              <a:rPr lang="en-US" b="1" dirty="0" smtClean="0"/>
              <a:t>Nine Basic Physical Abilities</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17569450"/>
              </p:ext>
            </p:extLst>
          </p:nvPr>
        </p:nvGraphicFramePr>
        <p:xfrm>
          <a:off x="2589213" y="1078172"/>
          <a:ext cx="8915400" cy="5491042"/>
        </p:xfrm>
        <a:graphic>
          <a:graphicData uri="http://schemas.openxmlformats.org/drawingml/2006/table">
            <a:tbl>
              <a:tblPr firstRow="1" bandRow="1">
                <a:tableStyleId>{93296810-A885-4BE3-A3E7-6D5BEEA58F35}</a:tableStyleId>
              </a:tblPr>
              <a:tblGrid>
                <a:gridCol w="2283038">
                  <a:extLst>
                    <a:ext uri="{9D8B030D-6E8A-4147-A177-3AD203B41FA5}">
                      <a16:colId xmlns:a16="http://schemas.microsoft.com/office/drawing/2014/main" xmlns="" val="157809246"/>
                    </a:ext>
                  </a:extLst>
                </a:gridCol>
                <a:gridCol w="6632362">
                  <a:extLst>
                    <a:ext uri="{9D8B030D-6E8A-4147-A177-3AD203B41FA5}">
                      <a16:colId xmlns:a16="http://schemas.microsoft.com/office/drawing/2014/main" xmlns="" val="3213678654"/>
                    </a:ext>
                  </a:extLst>
                </a:gridCol>
              </a:tblGrid>
              <a:tr h="389885">
                <a:tc>
                  <a:txBody>
                    <a:bodyPr/>
                    <a:lstStyle/>
                    <a:p>
                      <a:pPr algn="ctr"/>
                      <a:r>
                        <a:rPr lang="en-US" b="1" dirty="0" smtClean="0"/>
                        <a:t>Particulars</a:t>
                      </a:r>
                      <a:endParaRPr lang="en-US" b="1" dirty="0"/>
                    </a:p>
                  </a:txBody>
                  <a:tcPr/>
                </a:tc>
                <a:tc>
                  <a:txBody>
                    <a:bodyPr/>
                    <a:lstStyle/>
                    <a:p>
                      <a:pPr algn="ctr"/>
                      <a:r>
                        <a:rPr lang="en-US" b="1" dirty="0" smtClean="0"/>
                        <a:t>Explanation</a:t>
                      </a:r>
                      <a:endParaRPr lang="en-US" b="1" dirty="0"/>
                    </a:p>
                  </a:txBody>
                  <a:tcPr/>
                </a:tc>
                <a:extLst>
                  <a:ext uri="{0D108BD9-81ED-4DB2-BD59-A6C34878D82A}">
                    <a16:rowId xmlns:a16="http://schemas.microsoft.com/office/drawing/2014/main" xmlns="" val="980705411"/>
                  </a:ext>
                </a:extLst>
              </a:tr>
              <a:tr h="621152">
                <a:tc>
                  <a:txBody>
                    <a:bodyPr/>
                    <a:lstStyle/>
                    <a:p>
                      <a:pPr algn="ctr"/>
                      <a:r>
                        <a:rPr lang="en-US" b="1" dirty="0" smtClean="0"/>
                        <a:t>Dynamic Strength</a:t>
                      </a:r>
                      <a:endParaRPr lang="en-US" b="1" dirty="0"/>
                    </a:p>
                  </a:txBody>
                  <a:tcPr anchor="ctr"/>
                </a:tc>
                <a:tc>
                  <a:txBody>
                    <a:bodyPr/>
                    <a:lstStyle/>
                    <a:p>
                      <a:pPr algn="just"/>
                      <a:r>
                        <a:rPr lang="en-US" dirty="0" smtClean="0"/>
                        <a:t>Ability to exert</a:t>
                      </a:r>
                      <a:r>
                        <a:rPr lang="en-US" baseline="0" dirty="0" smtClean="0"/>
                        <a:t> muscular force repeatedly or continuously over time.</a:t>
                      </a:r>
                      <a:endParaRPr lang="en-US" dirty="0"/>
                    </a:p>
                  </a:txBody>
                  <a:tcPr/>
                </a:tc>
                <a:extLst>
                  <a:ext uri="{0D108BD9-81ED-4DB2-BD59-A6C34878D82A}">
                    <a16:rowId xmlns:a16="http://schemas.microsoft.com/office/drawing/2014/main" xmlns="" val="4162446432"/>
                  </a:ext>
                </a:extLst>
              </a:tr>
              <a:tr h="366523">
                <a:tc>
                  <a:txBody>
                    <a:bodyPr/>
                    <a:lstStyle/>
                    <a:p>
                      <a:pPr algn="ctr"/>
                      <a:r>
                        <a:rPr lang="en-US" b="1" dirty="0" smtClean="0"/>
                        <a:t>Trunk  Strength</a:t>
                      </a:r>
                      <a:r>
                        <a:rPr lang="en-US" b="1" baseline="0" dirty="0" smtClean="0"/>
                        <a:t> </a:t>
                      </a:r>
                      <a:endParaRPr lang="en-US" b="1" dirty="0"/>
                    </a:p>
                  </a:txBody>
                  <a:tcPr anchor="ctr"/>
                </a:tc>
                <a:tc>
                  <a:txBody>
                    <a:bodyPr/>
                    <a:lstStyle/>
                    <a:p>
                      <a:pPr algn="just"/>
                      <a:r>
                        <a:rPr lang="en-US" dirty="0" smtClean="0"/>
                        <a:t>Ability to exert muscular strength using the trunk muscles.</a:t>
                      </a:r>
                    </a:p>
                  </a:txBody>
                  <a:tcPr/>
                </a:tc>
                <a:extLst>
                  <a:ext uri="{0D108BD9-81ED-4DB2-BD59-A6C34878D82A}">
                    <a16:rowId xmlns:a16="http://schemas.microsoft.com/office/drawing/2014/main" xmlns="" val="4291774052"/>
                  </a:ext>
                </a:extLst>
              </a:tr>
              <a:tr h="377308">
                <a:tc>
                  <a:txBody>
                    <a:bodyPr/>
                    <a:lstStyle/>
                    <a:p>
                      <a:pPr algn="ctr"/>
                      <a:r>
                        <a:rPr lang="en-US" b="1" dirty="0" smtClean="0"/>
                        <a:t>Static Strength</a:t>
                      </a:r>
                      <a:endParaRPr lang="en-US" b="1" dirty="0"/>
                    </a:p>
                  </a:txBody>
                  <a:tcPr anchor="ctr"/>
                </a:tc>
                <a:tc>
                  <a:txBody>
                    <a:bodyPr/>
                    <a:lstStyle/>
                    <a:p>
                      <a:pPr algn="just"/>
                      <a:r>
                        <a:rPr lang="en-US" dirty="0" smtClean="0"/>
                        <a:t>Ability to exert force against external objects.</a:t>
                      </a:r>
                      <a:endParaRPr lang="en-US" dirty="0"/>
                    </a:p>
                  </a:txBody>
                  <a:tcPr/>
                </a:tc>
                <a:extLst>
                  <a:ext uri="{0D108BD9-81ED-4DB2-BD59-A6C34878D82A}">
                    <a16:rowId xmlns:a16="http://schemas.microsoft.com/office/drawing/2014/main" xmlns="" val="3885611235"/>
                  </a:ext>
                </a:extLst>
              </a:tr>
              <a:tr h="641416">
                <a:tc>
                  <a:txBody>
                    <a:bodyPr/>
                    <a:lstStyle/>
                    <a:p>
                      <a:pPr algn="ctr"/>
                      <a:r>
                        <a:rPr lang="en-US" b="1" dirty="0" smtClean="0"/>
                        <a:t>Explosive Strength</a:t>
                      </a:r>
                      <a:endParaRPr lang="en-US" b="1" dirty="0"/>
                    </a:p>
                  </a:txBody>
                  <a:tcPr anchor="ctr"/>
                </a:tc>
                <a:tc>
                  <a:txBody>
                    <a:bodyPr/>
                    <a:lstStyle/>
                    <a:p>
                      <a:pPr algn="just"/>
                      <a:r>
                        <a:rPr lang="en-US" dirty="0" smtClean="0"/>
                        <a:t>Ability to expend</a:t>
                      </a:r>
                      <a:r>
                        <a:rPr lang="en-US" baseline="0" dirty="0" smtClean="0"/>
                        <a:t> a maximum of energy in one or a series of explosive acts.</a:t>
                      </a:r>
                      <a:endParaRPr lang="en-US" dirty="0"/>
                    </a:p>
                  </a:txBody>
                  <a:tcPr/>
                </a:tc>
                <a:extLst>
                  <a:ext uri="{0D108BD9-81ED-4DB2-BD59-A6C34878D82A}">
                    <a16:rowId xmlns:a16="http://schemas.microsoft.com/office/drawing/2014/main" xmlns="" val="156047954"/>
                  </a:ext>
                </a:extLst>
              </a:tr>
              <a:tr h="621152">
                <a:tc>
                  <a:txBody>
                    <a:bodyPr/>
                    <a:lstStyle/>
                    <a:p>
                      <a:pPr algn="ctr"/>
                      <a:r>
                        <a:rPr lang="en-US" b="1" dirty="0" smtClean="0"/>
                        <a:t>Extent Flexibility</a:t>
                      </a:r>
                      <a:endParaRPr lang="en-US" b="1" dirty="0"/>
                    </a:p>
                  </a:txBody>
                  <a:tcPr anchor="ctr"/>
                </a:tc>
                <a:tc>
                  <a:txBody>
                    <a:bodyPr/>
                    <a:lstStyle/>
                    <a:p>
                      <a:pPr algn="just"/>
                      <a:r>
                        <a:rPr lang="en-US" dirty="0" smtClean="0"/>
                        <a:t>Ability to move the</a:t>
                      </a:r>
                      <a:r>
                        <a:rPr lang="en-US" baseline="0" dirty="0" smtClean="0"/>
                        <a:t> trunk and back muscles as far as possible.</a:t>
                      </a:r>
                      <a:endParaRPr lang="en-US" dirty="0"/>
                    </a:p>
                  </a:txBody>
                  <a:tcPr/>
                </a:tc>
                <a:extLst>
                  <a:ext uri="{0D108BD9-81ED-4DB2-BD59-A6C34878D82A}">
                    <a16:rowId xmlns:a16="http://schemas.microsoft.com/office/drawing/2014/main" xmlns="" val="2179052324"/>
                  </a:ext>
                </a:extLst>
              </a:tr>
              <a:tr h="354944">
                <a:tc>
                  <a:txBody>
                    <a:bodyPr/>
                    <a:lstStyle/>
                    <a:p>
                      <a:pPr algn="ctr"/>
                      <a:r>
                        <a:rPr lang="en-US" b="1" dirty="0" smtClean="0"/>
                        <a:t>Dynamic Flexibility</a:t>
                      </a:r>
                      <a:endParaRPr lang="en-US" b="1" dirty="0"/>
                    </a:p>
                  </a:txBody>
                  <a:tcPr anchor="ctr"/>
                </a:tc>
                <a:tc>
                  <a:txBody>
                    <a:bodyPr/>
                    <a:lstStyle/>
                    <a:p>
                      <a:pPr algn="just"/>
                      <a:r>
                        <a:rPr lang="en-US" dirty="0" smtClean="0"/>
                        <a:t>Ability to make rapid, repeated flexing movements.</a:t>
                      </a:r>
                      <a:endParaRPr lang="en-US" dirty="0"/>
                    </a:p>
                  </a:txBody>
                  <a:tcPr/>
                </a:tc>
                <a:extLst>
                  <a:ext uri="{0D108BD9-81ED-4DB2-BD59-A6C34878D82A}">
                    <a16:rowId xmlns:a16="http://schemas.microsoft.com/office/drawing/2014/main" xmlns="" val="2968796246"/>
                  </a:ext>
                </a:extLst>
              </a:tr>
              <a:tr h="621152">
                <a:tc>
                  <a:txBody>
                    <a:bodyPr/>
                    <a:lstStyle/>
                    <a:p>
                      <a:pPr algn="ctr"/>
                      <a:r>
                        <a:rPr lang="en-US" b="1" dirty="0" smtClean="0"/>
                        <a:t>Body Coordination</a:t>
                      </a:r>
                      <a:endParaRPr lang="en-US" b="1" dirty="0"/>
                    </a:p>
                  </a:txBody>
                  <a:tcPr anchor="ctr"/>
                </a:tc>
                <a:tc>
                  <a:txBody>
                    <a:bodyPr/>
                    <a:lstStyle/>
                    <a:p>
                      <a:pPr algn="just"/>
                      <a:r>
                        <a:rPr lang="en-US" dirty="0" smtClean="0"/>
                        <a:t>Ability to coordinate the simultaneous</a:t>
                      </a:r>
                      <a:r>
                        <a:rPr lang="en-US" baseline="0" dirty="0" smtClean="0"/>
                        <a:t> actions of different parts of the body.</a:t>
                      </a:r>
                      <a:endParaRPr lang="en-US" dirty="0"/>
                    </a:p>
                  </a:txBody>
                  <a:tcPr/>
                </a:tc>
                <a:extLst>
                  <a:ext uri="{0D108BD9-81ED-4DB2-BD59-A6C34878D82A}">
                    <a16:rowId xmlns:a16="http://schemas.microsoft.com/office/drawing/2014/main" xmlns="" val="2025893620"/>
                  </a:ext>
                </a:extLst>
              </a:tr>
              <a:tr h="621152">
                <a:tc>
                  <a:txBody>
                    <a:bodyPr/>
                    <a:lstStyle/>
                    <a:p>
                      <a:pPr algn="ctr"/>
                      <a:r>
                        <a:rPr lang="en-US" b="1" dirty="0" smtClean="0"/>
                        <a:t>Balance</a:t>
                      </a:r>
                      <a:endParaRPr lang="en-US" b="1" dirty="0"/>
                    </a:p>
                  </a:txBody>
                  <a:tcPr anchor="ctr"/>
                </a:tc>
                <a:tc>
                  <a:txBody>
                    <a:bodyPr/>
                    <a:lstStyle/>
                    <a:p>
                      <a:pPr algn="just"/>
                      <a:r>
                        <a:rPr lang="en-US" dirty="0" smtClean="0"/>
                        <a:t>Ability</a:t>
                      </a:r>
                      <a:r>
                        <a:rPr lang="en-US" baseline="0" dirty="0" smtClean="0"/>
                        <a:t> to maintain equilibrium despite forces pulling off balance.</a:t>
                      </a:r>
                      <a:endParaRPr lang="en-US" dirty="0"/>
                    </a:p>
                  </a:txBody>
                  <a:tcPr/>
                </a:tc>
                <a:extLst>
                  <a:ext uri="{0D108BD9-81ED-4DB2-BD59-A6C34878D82A}">
                    <a16:rowId xmlns:a16="http://schemas.microsoft.com/office/drawing/2014/main" xmlns="" val="19770999"/>
                  </a:ext>
                </a:extLst>
              </a:tr>
              <a:tr h="789830">
                <a:tc>
                  <a:txBody>
                    <a:bodyPr/>
                    <a:lstStyle/>
                    <a:p>
                      <a:pPr algn="ctr"/>
                      <a:r>
                        <a:rPr lang="en-US" b="1" dirty="0" smtClean="0"/>
                        <a:t>Stamina</a:t>
                      </a:r>
                      <a:endParaRPr lang="en-US" b="1" dirty="0"/>
                    </a:p>
                  </a:txBody>
                  <a:tcPr anchor="ctr"/>
                </a:tc>
                <a:tc>
                  <a:txBody>
                    <a:bodyPr/>
                    <a:lstStyle/>
                    <a:p>
                      <a:pPr algn="just"/>
                      <a:r>
                        <a:rPr lang="en-US" dirty="0" smtClean="0"/>
                        <a:t>Ability</a:t>
                      </a:r>
                      <a:r>
                        <a:rPr lang="en-US" baseline="0" dirty="0" smtClean="0"/>
                        <a:t> to continue maximum effort requiring prolonged effort overtime.</a:t>
                      </a:r>
                      <a:endParaRPr lang="en-US" dirty="0"/>
                    </a:p>
                  </a:txBody>
                  <a:tcPr/>
                </a:tc>
                <a:extLst>
                  <a:ext uri="{0D108BD9-81ED-4DB2-BD59-A6C34878D82A}">
                    <a16:rowId xmlns:a16="http://schemas.microsoft.com/office/drawing/2014/main" xmlns="" val="2773306114"/>
                  </a:ext>
                </a:extLst>
              </a:tr>
            </a:tbl>
          </a:graphicData>
        </a:graphic>
      </p:graphicFrame>
    </p:spTree>
    <p:extLst>
      <p:ext uri="{BB962C8B-B14F-4D97-AF65-F5344CB8AC3E}">
        <p14:creationId xmlns:p14="http://schemas.microsoft.com/office/powerpoint/2010/main" val="2124162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1"/>
            <a:ext cx="8915399" cy="952500"/>
          </a:xfrm>
        </p:spPr>
        <p:txBody>
          <a:bodyPr/>
          <a:lstStyle/>
          <a:p>
            <a:pPr algn="ctr"/>
            <a:r>
              <a:rPr lang="en-US" b="1" dirty="0" smtClean="0">
                <a:solidFill>
                  <a:srgbClr val="00B050"/>
                </a:solidFill>
              </a:rPr>
              <a:t>END OF CHAPTER</a:t>
            </a:r>
            <a:endParaRPr lang="en-US" b="1" dirty="0">
              <a:solidFill>
                <a:srgbClr val="00B050"/>
              </a:solidFill>
            </a:endParaRPr>
          </a:p>
        </p:txBody>
      </p:sp>
      <p:sp>
        <p:nvSpPr>
          <p:cNvPr id="3" name="Subtitle 2"/>
          <p:cNvSpPr>
            <a:spLocks noGrp="1"/>
          </p:cNvSpPr>
          <p:nvPr>
            <p:ph type="subTitle" idx="1"/>
          </p:nvPr>
        </p:nvSpPr>
        <p:spPr>
          <a:xfrm>
            <a:off x="2589213" y="4285398"/>
            <a:ext cx="8915399" cy="791570"/>
          </a:xfrm>
        </p:spPr>
        <p:txBody>
          <a:bodyPr>
            <a:normAutofit/>
          </a:bodyPr>
          <a:lstStyle/>
          <a:p>
            <a:pPr algn="ctr"/>
            <a:r>
              <a:rPr lang="en-US" sz="4000" b="1" dirty="0" smtClean="0">
                <a:solidFill>
                  <a:srgbClr val="00B050"/>
                </a:solidFill>
              </a:rPr>
              <a:t>HAVE A GOOD DAY……</a:t>
            </a:r>
            <a:endParaRPr lang="en-US" sz="4000" b="1" dirty="0">
              <a:solidFill>
                <a:srgbClr val="00B050"/>
              </a:solidFill>
            </a:endParaRPr>
          </a:p>
        </p:txBody>
      </p:sp>
    </p:spTree>
    <p:extLst>
      <p:ext uri="{BB962C8B-B14F-4D97-AF65-F5344CB8AC3E}">
        <p14:creationId xmlns:p14="http://schemas.microsoft.com/office/powerpoint/2010/main" val="51582311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383</TotalTime>
  <Words>1195</Words>
  <Application>Microsoft Office PowerPoint</Application>
  <PresentationFormat>Widescreen</PresentationFormat>
  <Paragraphs>110</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Century Gothic</vt:lpstr>
      <vt:lpstr>Times New Roman</vt:lpstr>
      <vt:lpstr>Wingdings</vt:lpstr>
      <vt:lpstr>Wingdings 3</vt:lpstr>
      <vt:lpstr>Wisp</vt:lpstr>
      <vt:lpstr>Chapter – Two Diversity in Organization</vt:lpstr>
      <vt:lpstr>Diversity</vt:lpstr>
      <vt:lpstr>Levels of Diversity</vt:lpstr>
      <vt:lpstr>Levels of Diversity</vt:lpstr>
      <vt:lpstr>Levels of Diversity</vt:lpstr>
      <vt:lpstr>Discrimination in the Workplace</vt:lpstr>
      <vt:lpstr>Forms of Discrimination</vt:lpstr>
      <vt:lpstr>Forms of Discrimination</vt:lpstr>
      <vt:lpstr>Ability</vt:lpstr>
      <vt:lpstr>Dimensions of Intellectual Ability</vt:lpstr>
      <vt:lpstr>Dimensions of Intellectual Ability</vt:lpstr>
      <vt:lpstr>Physical Abilities</vt:lpstr>
      <vt:lpstr>Nine Basic Physical Abilities</vt:lpstr>
      <vt:lpstr>END OF CHAPTER</vt:lpstr>
    </vt:vector>
  </TitlesOfParts>
  <Company>CyberSpace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 Two Diversity in Organization</dc:title>
  <dc:creator>admin</dc:creator>
  <cp:lastModifiedBy>User</cp:lastModifiedBy>
  <cp:revision>47</cp:revision>
  <dcterms:created xsi:type="dcterms:W3CDTF">2023-01-15T05:02:29Z</dcterms:created>
  <dcterms:modified xsi:type="dcterms:W3CDTF">2024-01-08T08:06:40Z</dcterms:modified>
</cp:coreProperties>
</file>