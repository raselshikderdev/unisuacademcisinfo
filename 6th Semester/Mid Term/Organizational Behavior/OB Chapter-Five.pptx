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3365B6B-00BE-4C4C-B5E7-359562ADCBE8}"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320932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3365B6B-00BE-4C4C-B5E7-359562ADCBE8}"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2729619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365B6B-00BE-4C4C-B5E7-359562ADCBE8}"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2752123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3365B6B-00BE-4C4C-B5E7-359562ADCBE8}"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1775330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3365B6B-00BE-4C4C-B5E7-359562ADCBE8}" type="datetimeFigureOut">
              <a:rPr lang="en-US" smtClean="0"/>
              <a:t>1/8/2024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180923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3365B6B-00BE-4C4C-B5E7-359562ADCBE8}" type="datetimeFigureOut">
              <a:rPr lang="en-US" smtClean="0"/>
              <a:t>1/8/2024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4265603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365B6B-00BE-4C4C-B5E7-359562ADCBE8}" type="datetimeFigureOut">
              <a:rPr lang="en-US" smtClean="0"/>
              <a:t>1/8/2024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2362179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3365B6B-00BE-4C4C-B5E7-359562ADCBE8}"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88987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3365B6B-00BE-4C4C-B5E7-359562ADCBE8}"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2266848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365B6B-00BE-4C4C-B5E7-359562ADCBE8}"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2155287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365B6B-00BE-4C4C-B5E7-359562ADCBE8}"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CE3C710-2807-4550-BA4D-6F4FED7ABBE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81681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F3365B6B-00BE-4C4C-B5E7-359562ADCBE8}"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34729019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F3365B6B-00BE-4C4C-B5E7-359562ADCBE8}"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CE3C710-2807-4550-BA4D-6F4FED7ABBE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10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F3365B6B-00BE-4C4C-B5E7-359562ADCBE8}"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28106822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3365B6B-00BE-4C4C-B5E7-359562ADCBE8}"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3315268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3365B6B-00BE-4C4C-B5E7-359562ADCBE8}"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CE3C710-2807-4550-BA4D-6F4FED7ABBE6}" type="slidenum">
              <a:rPr lang="en-US" smtClean="0"/>
              <a:t>‹#›</a:t>
            </a:fld>
            <a:endParaRPr lang="en-US"/>
          </a:p>
        </p:txBody>
      </p:sp>
    </p:spTree>
    <p:extLst>
      <p:ext uri="{BB962C8B-B14F-4D97-AF65-F5344CB8AC3E}">
        <p14:creationId xmlns:p14="http://schemas.microsoft.com/office/powerpoint/2010/main" val="2569696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3365B6B-00BE-4C4C-B5E7-359562ADCBE8}" type="datetimeFigureOut">
              <a:rPr lang="en-US" smtClean="0"/>
              <a:t>1/8/2024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CE3C710-2807-4550-BA4D-6F4FED7ABBE6}" type="slidenum">
              <a:rPr lang="en-US" smtClean="0"/>
              <a:t>‹#›</a:t>
            </a:fld>
            <a:endParaRPr lang="en-US"/>
          </a:p>
        </p:txBody>
      </p:sp>
    </p:spTree>
    <p:extLst>
      <p:ext uri="{BB962C8B-B14F-4D97-AF65-F5344CB8AC3E}">
        <p14:creationId xmlns:p14="http://schemas.microsoft.com/office/powerpoint/2010/main" val="19783275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166747"/>
          </a:xfrm>
        </p:spPr>
        <p:txBody>
          <a:bodyPr>
            <a:normAutofit fontScale="90000"/>
          </a:bodyPr>
          <a:lstStyle/>
          <a:p>
            <a:pPr algn="ctr"/>
            <a:r>
              <a:rPr lang="en-US" b="1" dirty="0" smtClean="0">
                <a:solidFill>
                  <a:srgbClr val="00B050"/>
                </a:solidFill>
              </a:rPr>
              <a:t>Chapter-Five</a:t>
            </a:r>
            <a:br>
              <a:rPr lang="en-US" b="1" dirty="0" smtClean="0">
                <a:solidFill>
                  <a:srgbClr val="00B050"/>
                </a:solidFill>
              </a:rPr>
            </a:br>
            <a:r>
              <a:rPr lang="en-US" b="1" dirty="0" smtClean="0">
                <a:solidFill>
                  <a:srgbClr val="00B050"/>
                </a:solidFill>
              </a:rPr>
              <a:t>Perception and Individual</a:t>
            </a:r>
            <a:br>
              <a:rPr lang="en-US" b="1" dirty="0" smtClean="0">
                <a:solidFill>
                  <a:srgbClr val="00B050"/>
                </a:solidFill>
              </a:rPr>
            </a:br>
            <a:r>
              <a:rPr lang="en-US" b="1" dirty="0" smtClean="0">
                <a:solidFill>
                  <a:srgbClr val="00B050"/>
                </a:solidFill>
              </a:rPr>
              <a:t>Decision Making</a:t>
            </a:r>
            <a:endParaRPr lang="en-US" b="1" dirty="0">
              <a:solidFill>
                <a:srgbClr val="00B050"/>
              </a:solidFill>
            </a:endParaRPr>
          </a:p>
        </p:txBody>
      </p:sp>
      <p:sp>
        <p:nvSpPr>
          <p:cNvPr id="3" name="Subtitle 2"/>
          <p:cNvSpPr>
            <a:spLocks noGrp="1"/>
          </p:cNvSpPr>
          <p:nvPr>
            <p:ph type="subTitle" idx="1"/>
          </p:nvPr>
        </p:nvSpPr>
        <p:spPr>
          <a:xfrm>
            <a:off x="1524000" y="3602038"/>
            <a:ext cx="9144000" cy="2430272"/>
          </a:xfrm>
        </p:spPr>
        <p:txBody>
          <a:bodyPr>
            <a:normAutofit/>
          </a:bodyPr>
          <a:lstStyle/>
          <a:p>
            <a:pPr algn="ctr"/>
            <a:r>
              <a:rPr lang="en-US" sz="2800" b="1" dirty="0" smtClean="0">
                <a:solidFill>
                  <a:srgbClr val="002060"/>
                </a:solidFill>
              </a:rPr>
              <a:t>Md. </a:t>
            </a:r>
            <a:r>
              <a:rPr lang="en-US" sz="2800" b="1" dirty="0" err="1" smtClean="0">
                <a:solidFill>
                  <a:srgbClr val="002060"/>
                </a:solidFill>
              </a:rPr>
              <a:t>Mostakin</a:t>
            </a:r>
            <a:r>
              <a:rPr lang="en-US" sz="2800" b="1" dirty="0" smtClean="0">
                <a:solidFill>
                  <a:srgbClr val="002060"/>
                </a:solidFill>
              </a:rPr>
              <a:t> </a:t>
            </a:r>
            <a:r>
              <a:rPr lang="en-US" sz="2800" b="1" smtClean="0">
                <a:solidFill>
                  <a:srgbClr val="002060"/>
                </a:solidFill>
              </a:rPr>
              <a:t>Arafat Riaz</a:t>
            </a:r>
            <a:endParaRPr lang="en-US" sz="2800" b="1" dirty="0" smtClean="0">
              <a:solidFill>
                <a:srgbClr val="002060"/>
              </a:solidFill>
            </a:endParaRPr>
          </a:p>
          <a:p>
            <a:pPr algn="ctr"/>
            <a:r>
              <a:rPr lang="en-US" sz="2800" b="1" dirty="0" smtClean="0">
                <a:solidFill>
                  <a:srgbClr val="002060"/>
                </a:solidFill>
              </a:rPr>
              <a:t>Lecturer</a:t>
            </a:r>
          </a:p>
          <a:p>
            <a:pPr algn="ctr"/>
            <a:r>
              <a:rPr lang="en-US" sz="2800" b="1" dirty="0" smtClean="0">
                <a:solidFill>
                  <a:srgbClr val="002060"/>
                </a:solidFill>
              </a:rPr>
              <a:t>Department of Business Administration</a:t>
            </a:r>
          </a:p>
          <a:p>
            <a:pPr algn="ctr"/>
            <a:r>
              <a:rPr lang="en-US" sz="2800" b="1" dirty="0" smtClean="0">
                <a:solidFill>
                  <a:srgbClr val="002060"/>
                </a:solidFill>
              </a:rPr>
              <a:t>Sonargaon University</a:t>
            </a:r>
          </a:p>
        </p:txBody>
      </p:sp>
    </p:spTree>
    <p:extLst>
      <p:ext uri="{BB962C8B-B14F-4D97-AF65-F5344CB8AC3E}">
        <p14:creationId xmlns:p14="http://schemas.microsoft.com/office/powerpoint/2010/main" val="1233526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27546"/>
            <a:ext cx="8911687" cy="614150"/>
          </a:xfrm>
          <a:solidFill>
            <a:schemeClr val="accent6"/>
          </a:solidFill>
        </p:spPr>
        <p:txBody>
          <a:bodyPr>
            <a:normAutofit fontScale="90000"/>
          </a:bodyPr>
          <a:lstStyle/>
          <a:p>
            <a:pPr algn="ctr"/>
            <a:r>
              <a:rPr lang="en-US" b="1" dirty="0" smtClean="0"/>
              <a:t>Perception</a:t>
            </a:r>
            <a:endParaRPr lang="en-US" b="1" dirty="0"/>
          </a:p>
        </p:txBody>
      </p:sp>
      <p:sp>
        <p:nvSpPr>
          <p:cNvPr id="3" name="Content Placeholder 2"/>
          <p:cNvSpPr>
            <a:spLocks noGrp="1"/>
          </p:cNvSpPr>
          <p:nvPr>
            <p:ph idx="1"/>
          </p:nvPr>
        </p:nvSpPr>
        <p:spPr>
          <a:xfrm>
            <a:off x="2589212" y="941696"/>
            <a:ext cx="8915400" cy="5775628"/>
          </a:xfrm>
        </p:spPr>
        <p:txBody>
          <a:bodyPr>
            <a:noAutofit/>
          </a:bodyPr>
          <a:lstStyle/>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Perception is a process by which we organize and interpret sensory impressions to give meaning to our environment. What we perceive can be substantially different from objective reality.</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For example, all employees in a firm may view it as a great place to work – favorable working conditions, interesting job assignments, good pay, excellent benefits, understanding and responsible management – but, as most of us know, it’s very unusual to find universal agreement across people.</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Perception is important in organizational behavior because people’s behavior is based on their perception of what reality is, not on reality itself.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229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86862"/>
            <a:ext cx="8911687" cy="649695"/>
          </a:xfrm>
          <a:solidFill>
            <a:schemeClr val="accent6"/>
          </a:solidFill>
        </p:spPr>
        <p:txBody>
          <a:bodyPr>
            <a:normAutofit/>
          </a:bodyPr>
          <a:lstStyle/>
          <a:p>
            <a:pPr algn="ctr"/>
            <a:r>
              <a:rPr lang="en-US" b="1" dirty="0" smtClean="0">
                <a:solidFill>
                  <a:schemeClr val="tx1"/>
                </a:solidFill>
              </a:rPr>
              <a:t>Factors That Influence Perception </a:t>
            </a:r>
            <a:endParaRPr lang="en-US" b="1" dirty="0">
              <a:solidFill>
                <a:schemeClr val="tx1"/>
              </a:solidFill>
            </a:endParaRPr>
          </a:p>
        </p:txBody>
      </p:sp>
      <p:sp>
        <p:nvSpPr>
          <p:cNvPr id="3" name="Content Placeholder 2"/>
          <p:cNvSpPr>
            <a:spLocks noGrp="1"/>
          </p:cNvSpPr>
          <p:nvPr>
            <p:ph idx="1"/>
          </p:nvPr>
        </p:nvSpPr>
        <p:spPr>
          <a:xfrm>
            <a:off x="1991335" y="1036558"/>
            <a:ext cx="8915400" cy="5516642"/>
          </a:xfrm>
        </p:spPr>
        <p:txBody>
          <a:bodyPr>
            <a:normAutofit/>
          </a:bodyPr>
          <a:lstStyle/>
          <a:p>
            <a:pPr algn="just"/>
            <a:r>
              <a:rPr lang="en-US" sz="2400" dirty="0" smtClean="0">
                <a:solidFill>
                  <a:schemeClr val="tx1"/>
                </a:solidFill>
                <a:latin typeface="Times New Roman" panose="02020603050405020304" pitchFamily="18" charset="0"/>
                <a:cs typeface="Times New Roman" panose="02020603050405020304" pitchFamily="18" charset="0"/>
              </a:rPr>
              <a:t>Many factors shape and sometimes distort perception. These factors can reside in the perceiver, the object or target being perceived, or the situation in which the perception is made.</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https://benchpartner.com/bp-content/uploads/2022/02/10-DangcrOFvZ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123" y="2297722"/>
            <a:ext cx="8229600" cy="4255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758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99292"/>
            <a:ext cx="8911687" cy="621323"/>
          </a:xfrm>
          <a:solidFill>
            <a:schemeClr val="accent6"/>
          </a:solidFill>
        </p:spPr>
        <p:txBody>
          <a:bodyPr>
            <a:normAutofit fontScale="90000"/>
          </a:bodyPr>
          <a:lstStyle/>
          <a:p>
            <a:pPr algn="ctr"/>
            <a:r>
              <a:rPr lang="en-US" b="1" dirty="0">
                <a:solidFill>
                  <a:schemeClr val="tx1"/>
                </a:solidFill>
              </a:rPr>
              <a:t>Factors That Influence Perception </a:t>
            </a:r>
            <a:endParaRPr lang="en-US" dirty="0"/>
          </a:p>
        </p:txBody>
      </p:sp>
      <p:sp>
        <p:nvSpPr>
          <p:cNvPr id="3" name="Content Placeholder 2"/>
          <p:cNvSpPr>
            <a:spLocks noGrp="1"/>
          </p:cNvSpPr>
          <p:nvPr>
            <p:ph idx="1"/>
          </p:nvPr>
        </p:nvSpPr>
        <p:spPr>
          <a:xfrm>
            <a:off x="2589212" y="820615"/>
            <a:ext cx="8915400" cy="5866788"/>
          </a:xfrm>
        </p:spPr>
        <p:txBody>
          <a:bodyPr>
            <a:noAutofit/>
          </a:bodyPr>
          <a:lstStyle/>
          <a:p>
            <a:pPr algn="just"/>
            <a:r>
              <a:rPr lang="en-US" sz="2800" b="1" dirty="0">
                <a:latin typeface="Times New Roman" panose="02020603050405020304" pitchFamily="18" charset="0"/>
                <a:cs typeface="Times New Roman" panose="02020603050405020304" pitchFamily="18" charset="0"/>
              </a:rPr>
              <a:t>Factors in the </a:t>
            </a:r>
            <a:r>
              <a:rPr lang="en-US" sz="2800" b="1" dirty="0" smtClean="0">
                <a:latin typeface="Times New Roman" panose="02020603050405020304" pitchFamily="18" charset="0"/>
                <a:cs typeface="Times New Roman" panose="02020603050405020304" pitchFamily="18" charset="0"/>
              </a:rPr>
              <a:t>Perceiver: </a:t>
            </a:r>
            <a:r>
              <a:rPr lang="en-US" sz="2800" dirty="0">
                <a:latin typeface="Times New Roman" panose="02020603050405020304" pitchFamily="18" charset="0"/>
                <a:cs typeface="Times New Roman" panose="02020603050405020304" pitchFamily="18" charset="0"/>
              </a:rPr>
              <a:t>The factors in the perceiver that affect perception are</a:t>
            </a:r>
            <a:r>
              <a:rPr lang="en-US" sz="28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Attitudes</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Attitudes have a powerful influence on what we pay attention to, what we remember, and how we interpret information. Different attitudes lead to different interpretations.</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Motives</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Motives stimulate individuals. It is unsatisfied need. They exert strong influence on perception. For example; hungry people tend to see images of food.</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Emotions</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An individual’s emotional state strongly influences perception. Anger and frustration distort perception.</a:t>
            </a:r>
          </a:p>
          <a:p>
            <a:pPr marL="0" indent="0" algn="just">
              <a:buNone/>
            </a:pPr>
            <a:endParaRPr lang="en-US" b="1" dirty="0"/>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67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16523"/>
            <a:ext cx="8911687" cy="586154"/>
          </a:xfrm>
          <a:solidFill>
            <a:schemeClr val="accent6"/>
          </a:solidFill>
        </p:spPr>
        <p:txBody>
          <a:bodyPr>
            <a:normAutofit fontScale="90000"/>
          </a:bodyPr>
          <a:lstStyle/>
          <a:p>
            <a:pPr algn="ctr"/>
            <a:r>
              <a:rPr lang="en-US" b="1" dirty="0">
                <a:solidFill>
                  <a:schemeClr val="tx1"/>
                </a:solidFill>
              </a:rPr>
              <a:t>Factors That Influence Perception </a:t>
            </a:r>
            <a:endParaRPr lang="en-US" dirty="0"/>
          </a:p>
        </p:txBody>
      </p:sp>
      <p:sp>
        <p:nvSpPr>
          <p:cNvPr id="3" name="Content Placeholder 2"/>
          <p:cNvSpPr>
            <a:spLocks noGrp="1"/>
          </p:cNvSpPr>
          <p:nvPr>
            <p:ph idx="1"/>
          </p:nvPr>
        </p:nvSpPr>
        <p:spPr>
          <a:xfrm>
            <a:off x="2589212" y="1043354"/>
            <a:ext cx="8915400" cy="4982308"/>
          </a:xfrm>
        </p:spPr>
        <p:txBody>
          <a:bodyPr>
            <a:noAutofit/>
          </a:bodyPr>
          <a:lstStyle/>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Interests</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Individual interests differ considerably. Interest influences the focus of attention. Differences in individual interests result in differing perceptions.</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Experiences</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Past experiences affect the focus of attention. Individuals tend to perceive those objects or events to which they can relate to.</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Expectations</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People see what they expect to see.</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767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82137"/>
            <a:ext cx="8911687" cy="579155"/>
          </a:xfrm>
          <a:solidFill>
            <a:schemeClr val="accent6"/>
          </a:solidFill>
        </p:spPr>
        <p:txBody>
          <a:bodyPr>
            <a:normAutofit fontScale="90000"/>
          </a:bodyPr>
          <a:lstStyle/>
          <a:p>
            <a:pPr algn="ctr"/>
            <a:r>
              <a:rPr lang="en-US" b="1" dirty="0">
                <a:solidFill>
                  <a:schemeClr val="tx1"/>
                </a:solidFill>
              </a:rPr>
              <a:t>Factors That Influence Perception </a:t>
            </a:r>
            <a:endParaRPr lang="en-US" dirty="0"/>
          </a:p>
        </p:txBody>
      </p:sp>
      <p:sp>
        <p:nvSpPr>
          <p:cNvPr id="3" name="Content Placeholder 2"/>
          <p:cNvSpPr>
            <a:spLocks noGrp="1"/>
          </p:cNvSpPr>
          <p:nvPr>
            <p:ph idx="1"/>
          </p:nvPr>
        </p:nvSpPr>
        <p:spPr>
          <a:xfrm>
            <a:off x="2589212" y="1148862"/>
            <a:ext cx="8915400" cy="5552189"/>
          </a:xfrm>
        </p:spPr>
        <p:txBody>
          <a:bodyPr>
            <a:noAutofit/>
          </a:bodyPr>
          <a:lstStyle/>
          <a:p>
            <a:pPr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Factors in the </a:t>
            </a:r>
            <a:r>
              <a:rPr lang="en-US" sz="2400" b="1" dirty="0" smtClean="0">
                <a:latin typeface="Times New Roman" panose="02020603050405020304" pitchFamily="18" charset="0"/>
                <a:cs typeface="Times New Roman" panose="02020603050405020304" pitchFamily="18" charset="0"/>
              </a:rPr>
              <a:t>Target: </a:t>
            </a:r>
            <a:r>
              <a:rPr lang="en-US" sz="2400" dirty="0">
                <a:latin typeface="Times New Roman" panose="02020603050405020304" pitchFamily="18" charset="0"/>
                <a:cs typeface="Times New Roman" panose="02020603050405020304" pitchFamily="18" charset="0"/>
              </a:rPr>
              <a:t>The factors in the target that affect perception are</a:t>
            </a:r>
            <a:r>
              <a:rPr lang="en-US" sz="24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b="1" dirty="0">
                <a:solidFill>
                  <a:srgbClr val="00B050"/>
                </a:solidFill>
                <a:latin typeface="Times New Roman" panose="02020603050405020304" pitchFamily="18" charset="0"/>
                <a:cs typeface="Times New Roman" panose="02020603050405020304" pitchFamily="18" charset="0"/>
              </a:rPr>
              <a:t>Novelty</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Novelty targets are more likely to be noticed than the targets observed in the past.</a:t>
            </a:r>
          </a:p>
          <a:p>
            <a:pPr algn="just">
              <a:buFont typeface="Arial" panose="020B0604020202020204" pitchFamily="34" charset="0"/>
              <a:buChar char="•"/>
            </a:pPr>
            <a:r>
              <a:rPr lang="en-US" sz="2400" b="1" dirty="0">
                <a:solidFill>
                  <a:srgbClr val="00B050"/>
                </a:solidFill>
                <a:latin typeface="Times New Roman" panose="02020603050405020304" pitchFamily="18" charset="0"/>
                <a:cs typeface="Times New Roman" panose="02020603050405020304" pitchFamily="18" charset="0"/>
              </a:rPr>
              <a:t>Motion, sound, size</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They shape the way we see the target. Loud people are more likely to be noticed.</a:t>
            </a:r>
          </a:p>
          <a:p>
            <a:pPr algn="just">
              <a:buFont typeface="Arial" panose="020B0604020202020204" pitchFamily="34" charset="0"/>
              <a:buChar char="•"/>
            </a:pPr>
            <a:r>
              <a:rPr lang="en-US" sz="2400" b="1" dirty="0">
                <a:solidFill>
                  <a:srgbClr val="00B050"/>
                </a:solidFill>
                <a:latin typeface="Times New Roman" panose="02020603050405020304" pitchFamily="18" charset="0"/>
                <a:cs typeface="Times New Roman" panose="02020603050405020304" pitchFamily="18" charset="0"/>
              </a:rPr>
              <a:t>Background</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target is not looked at in isolation. The relationship of target to its background influences perception.</a:t>
            </a:r>
          </a:p>
          <a:p>
            <a:pPr algn="just">
              <a:buFont typeface="Arial" panose="020B0604020202020204" pitchFamily="34" charset="0"/>
              <a:buChar char="•"/>
            </a:pPr>
            <a:r>
              <a:rPr lang="en-US" sz="2400" b="1" dirty="0">
                <a:solidFill>
                  <a:srgbClr val="00B050"/>
                </a:solidFill>
                <a:latin typeface="Times New Roman" panose="02020603050405020304" pitchFamily="18" charset="0"/>
                <a:cs typeface="Times New Roman" panose="02020603050405020304" pitchFamily="18" charset="0"/>
              </a:rPr>
              <a:t>Proximity</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Objects that are close to each other tend to be perceived together.</a:t>
            </a:r>
          </a:p>
          <a:p>
            <a:pPr algn="just">
              <a:buFont typeface="Arial" panose="020B0604020202020204" pitchFamily="34" charset="0"/>
              <a:buChar char="•"/>
            </a:pPr>
            <a:r>
              <a:rPr lang="en-US" sz="2400" b="1" dirty="0">
                <a:solidFill>
                  <a:srgbClr val="00B050"/>
                </a:solidFill>
                <a:latin typeface="Times New Roman" panose="02020603050405020304" pitchFamily="18" charset="0"/>
                <a:cs typeface="Times New Roman" panose="02020603050405020304" pitchFamily="18" charset="0"/>
              </a:rPr>
              <a:t>Similarity</a:t>
            </a:r>
            <a:r>
              <a:rPr lang="en-US" sz="2400" dirty="0">
                <a:solidFill>
                  <a:srgbClr val="00B05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Similar things need to be grouped together. For example; black people are perceived as alike even in unrelated characteristics.</a:t>
            </a:r>
          </a:p>
          <a:p>
            <a:pPr marL="0" indent="0" algn="just">
              <a:buNone/>
            </a:pPr>
            <a:endParaRPr lang="en-US" b="1" dirty="0"/>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85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16523"/>
            <a:ext cx="8911687" cy="611525"/>
          </a:xfrm>
          <a:solidFill>
            <a:schemeClr val="accent6"/>
          </a:solidFill>
        </p:spPr>
        <p:txBody>
          <a:bodyPr>
            <a:normAutofit/>
          </a:bodyPr>
          <a:lstStyle/>
          <a:p>
            <a:pPr algn="ctr"/>
            <a:r>
              <a:rPr lang="en-US" sz="3200" b="1" dirty="0">
                <a:solidFill>
                  <a:schemeClr val="tx1"/>
                </a:solidFill>
              </a:rPr>
              <a:t>Factors That Influence Perception </a:t>
            </a:r>
            <a:endParaRPr lang="en-US" sz="3200" dirty="0"/>
          </a:p>
        </p:txBody>
      </p:sp>
      <p:sp>
        <p:nvSpPr>
          <p:cNvPr id="3" name="Content Placeholder 2"/>
          <p:cNvSpPr>
            <a:spLocks noGrp="1"/>
          </p:cNvSpPr>
          <p:nvPr>
            <p:ph idx="1"/>
          </p:nvPr>
        </p:nvSpPr>
        <p:spPr>
          <a:xfrm>
            <a:off x="2589212" y="928048"/>
            <a:ext cx="8915400" cy="5813946"/>
          </a:xfrm>
        </p:spPr>
        <p:txBody>
          <a:bodyPr>
            <a:noAutofit/>
          </a:bodyPr>
          <a:lstStyle/>
          <a:p>
            <a:pPr algn="just">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Factors in the </a:t>
            </a:r>
            <a:r>
              <a:rPr lang="en-US" sz="2800" b="1" dirty="0" smtClean="0">
                <a:latin typeface="Times New Roman" panose="02020603050405020304" pitchFamily="18" charset="0"/>
                <a:cs typeface="Times New Roman" panose="02020603050405020304" pitchFamily="18" charset="0"/>
              </a:rPr>
              <a:t>Situation</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factors in the situation that affect perception are</a:t>
            </a:r>
            <a:r>
              <a:rPr lang="en-US" sz="28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Time</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The time at which an object or event is seen affects perception. For example; a daily report arriving after two days may be ignored by the perceiver.</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Work setting</a:t>
            </a:r>
            <a:r>
              <a:rPr lang="en-US" sz="2800" dirty="0">
                <a:solidFill>
                  <a:srgbClr val="00B05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changing context of the work setting influences perception. For example; stressful work situations distort perception.</a:t>
            </a:r>
          </a:p>
          <a:p>
            <a:pPr algn="just">
              <a:buFont typeface="Arial" panose="020B0604020202020204" pitchFamily="34" charset="0"/>
              <a:buChar char="•"/>
            </a:pPr>
            <a:r>
              <a:rPr lang="en-US" sz="2800" b="1" dirty="0">
                <a:solidFill>
                  <a:srgbClr val="00B050"/>
                </a:solidFill>
                <a:latin typeface="Times New Roman" panose="02020603050405020304" pitchFamily="18" charset="0"/>
                <a:cs typeface="Times New Roman" panose="02020603050405020304" pitchFamily="18" charset="0"/>
              </a:rPr>
              <a:t>Social setting</a:t>
            </a:r>
            <a:r>
              <a:rPr lang="en-US" sz="2800" dirty="0">
                <a:solidFill>
                  <a:srgbClr val="00B05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changing social setting influences perception. For example; a male student wearing earrings may not be noticed in a disco but highly noticeable in the classroom.</a:t>
            </a:r>
          </a:p>
          <a:p>
            <a:pPr marL="0" indent="0" algn="just">
              <a:buNone/>
            </a:pP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514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232012"/>
            <a:ext cx="8911687" cy="588603"/>
          </a:xfrm>
          <a:solidFill>
            <a:schemeClr val="accent6"/>
          </a:solidFill>
        </p:spPr>
        <p:txBody>
          <a:bodyPr>
            <a:normAutofit/>
          </a:bodyPr>
          <a:lstStyle/>
          <a:p>
            <a:pPr algn="ctr"/>
            <a:r>
              <a:rPr lang="en-US" sz="3200" b="1" dirty="0" smtClean="0"/>
              <a:t>Common Shortcuts in Judging Others</a:t>
            </a:r>
            <a:endParaRPr lang="en-US" sz="3200" b="1" dirty="0"/>
          </a:p>
        </p:txBody>
      </p:sp>
      <p:sp>
        <p:nvSpPr>
          <p:cNvPr id="3" name="Content Placeholder 2"/>
          <p:cNvSpPr>
            <a:spLocks noGrp="1"/>
          </p:cNvSpPr>
          <p:nvPr>
            <p:ph idx="1"/>
          </p:nvPr>
        </p:nvSpPr>
        <p:spPr>
          <a:xfrm>
            <a:off x="2589212" y="1019908"/>
            <a:ext cx="8915400" cy="4982307"/>
          </a:xfrm>
        </p:spPr>
        <p:txBody>
          <a:bodyPr>
            <a:noAutofit/>
          </a:bodyPr>
          <a:lstStyle/>
          <a:p>
            <a:pPr marL="0" indent="0" algn="just">
              <a:buNone/>
            </a:pPr>
            <a:r>
              <a:rPr lang="en-US" sz="2800" dirty="0" smtClean="0">
                <a:latin typeface="Times New Roman" panose="02020603050405020304" pitchFamily="18" charset="0"/>
                <a:cs typeface="Times New Roman" panose="02020603050405020304" pitchFamily="18" charset="0"/>
              </a:rPr>
              <a:t>Shortcuts for judging others often allow us to make accurate perception rapidly and provide valid data for making predictions. However, they can and do sometimes result in significant distortions. These are – </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Selective Perception</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Halo and Horns Effects</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Contrast Effects</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Stereotyping</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7489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00253"/>
            <a:ext cx="8911687" cy="590702"/>
          </a:xfrm>
          <a:solidFill>
            <a:schemeClr val="accent6"/>
          </a:solidFill>
        </p:spPr>
        <p:txBody>
          <a:bodyPr>
            <a:normAutofit fontScale="90000"/>
          </a:bodyPr>
          <a:lstStyle/>
          <a:p>
            <a:pPr algn="ctr"/>
            <a:r>
              <a:rPr lang="en-US" b="1" dirty="0"/>
              <a:t>Common Shortcuts in Judging Others</a:t>
            </a:r>
            <a:endParaRPr lang="en-US" dirty="0"/>
          </a:p>
        </p:txBody>
      </p:sp>
      <p:sp>
        <p:nvSpPr>
          <p:cNvPr id="3" name="Content Placeholder 2"/>
          <p:cNvSpPr>
            <a:spLocks noGrp="1"/>
          </p:cNvSpPr>
          <p:nvPr>
            <p:ph idx="1"/>
          </p:nvPr>
        </p:nvSpPr>
        <p:spPr>
          <a:xfrm>
            <a:off x="2589212" y="1148862"/>
            <a:ext cx="8915400" cy="5064369"/>
          </a:xfrm>
        </p:spPr>
        <p:txBody>
          <a:bodyPr>
            <a:noAutofit/>
          </a:bodyPr>
          <a:lstStyle/>
          <a:p>
            <a:pPr algn="just">
              <a:buFont typeface="Wingdings" panose="05000000000000000000" pitchFamily="2" charset="2"/>
              <a:buChar char="§"/>
            </a:pPr>
            <a:r>
              <a:rPr lang="en-US" sz="2800" b="1" dirty="0" smtClean="0">
                <a:solidFill>
                  <a:srgbClr val="00B050"/>
                </a:solidFill>
                <a:latin typeface="Times New Roman" panose="02020603050405020304" pitchFamily="18" charset="0"/>
                <a:cs typeface="Times New Roman" panose="02020603050405020304" pitchFamily="18" charset="0"/>
              </a:rPr>
              <a:t>Selective Perception: </a:t>
            </a:r>
            <a:r>
              <a:rPr lang="en-US" sz="2800" dirty="0" smtClean="0">
                <a:latin typeface="Times New Roman" panose="02020603050405020304" pitchFamily="18" charset="0"/>
                <a:cs typeface="Times New Roman" panose="02020603050405020304" pitchFamily="18" charset="0"/>
              </a:rPr>
              <a:t>It is impossible for us to assimilate everything we see; we can take in only certain stimuli. Because we can not observe everything going on around us, we use selective perception. But we don’t choose randomly. We make selections based on our perceptions. Selective perception is the tendency to choose to interpret what one sees based on one’s interest, background, experience and attitudes. Seeing what we want to see, we sometimes draw unwarranted conclusions from an ambiguous situation.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3761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41982"/>
          </a:xfrm>
          <a:solidFill>
            <a:schemeClr val="accent6"/>
          </a:solidFill>
        </p:spPr>
        <p:txBody>
          <a:bodyPr>
            <a:normAutofit/>
          </a:bodyPr>
          <a:lstStyle/>
          <a:p>
            <a:pPr algn="ctr"/>
            <a:r>
              <a:rPr lang="en-US" b="1" dirty="0"/>
              <a:t>Common Shortcuts in Judging Others</a:t>
            </a:r>
            <a:endParaRPr lang="en-US" dirty="0"/>
          </a:p>
        </p:txBody>
      </p:sp>
      <p:sp>
        <p:nvSpPr>
          <p:cNvPr id="3" name="Content Placeholder 2"/>
          <p:cNvSpPr>
            <a:spLocks noGrp="1"/>
          </p:cNvSpPr>
          <p:nvPr>
            <p:ph idx="1"/>
          </p:nvPr>
        </p:nvSpPr>
        <p:spPr>
          <a:xfrm>
            <a:off x="2589212" y="1512278"/>
            <a:ext cx="8915400" cy="3673872"/>
          </a:xfrm>
        </p:spPr>
        <p:txBody>
          <a:bodyPr>
            <a:normAutofit/>
          </a:bodyPr>
          <a:lstStyle/>
          <a:p>
            <a:pPr algn="just"/>
            <a:r>
              <a:rPr lang="en-US" sz="2800" b="1" dirty="0" smtClean="0">
                <a:solidFill>
                  <a:srgbClr val="00B050"/>
                </a:solidFill>
                <a:latin typeface="Times New Roman" panose="02020603050405020304" pitchFamily="18" charset="0"/>
                <a:cs typeface="Times New Roman" panose="02020603050405020304" pitchFamily="18" charset="0"/>
              </a:rPr>
              <a:t>Halo and Horns Effects: </a:t>
            </a:r>
            <a:r>
              <a:rPr lang="en-US" sz="2800" dirty="0" smtClean="0">
                <a:latin typeface="Times New Roman" panose="02020603050405020304" pitchFamily="18" charset="0"/>
                <a:cs typeface="Times New Roman" panose="02020603050405020304" pitchFamily="18" charset="0"/>
              </a:rPr>
              <a:t>Halo effect is the tendency to draw a positive general impression about an individual based on a single characteristic. Such as intelligence, sociability, or appearance. Horns effect is the tendency to draw a negative general impression about an individual based on a single characteristic. These effects are easy to demonstrate.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379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86075"/>
          </a:xfrm>
          <a:solidFill>
            <a:schemeClr val="accent6"/>
          </a:solidFill>
        </p:spPr>
        <p:txBody>
          <a:bodyPr>
            <a:normAutofit/>
          </a:bodyPr>
          <a:lstStyle/>
          <a:p>
            <a:pPr algn="ctr"/>
            <a:r>
              <a:rPr lang="en-US" b="1" dirty="0"/>
              <a:t>Common Shortcuts in Judging Others</a:t>
            </a:r>
            <a:endParaRPr lang="en-US" dirty="0"/>
          </a:p>
        </p:txBody>
      </p:sp>
      <p:sp>
        <p:nvSpPr>
          <p:cNvPr id="3" name="Content Placeholder 2"/>
          <p:cNvSpPr>
            <a:spLocks noGrp="1"/>
          </p:cNvSpPr>
          <p:nvPr>
            <p:ph idx="1"/>
          </p:nvPr>
        </p:nvSpPr>
        <p:spPr>
          <a:xfrm>
            <a:off x="2589212" y="1406769"/>
            <a:ext cx="8915400" cy="5111262"/>
          </a:xfrm>
        </p:spPr>
        <p:txBody>
          <a:bodyPr>
            <a:normAutofit lnSpcReduction="10000"/>
          </a:bodyPr>
          <a:lstStyle/>
          <a:p>
            <a:pPr algn="just"/>
            <a:r>
              <a:rPr lang="en-US" sz="2800" b="1" dirty="0" smtClean="0">
                <a:solidFill>
                  <a:srgbClr val="00B050"/>
                </a:solidFill>
                <a:latin typeface="Times New Roman" panose="02020603050405020304" pitchFamily="18" charset="0"/>
                <a:cs typeface="Times New Roman" panose="02020603050405020304" pitchFamily="18" charset="0"/>
              </a:rPr>
              <a:t>Contrast Effect: </a:t>
            </a:r>
            <a:r>
              <a:rPr lang="en-US" sz="2800" dirty="0" smtClean="0">
                <a:latin typeface="Times New Roman" panose="02020603050405020304" pitchFamily="18" charset="0"/>
                <a:cs typeface="Times New Roman" panose="02020603050405020304" pitchFamily="18" charset="0"/>
              </a:rPr>
              <a:t>Contrast effect is the evaluation of a person’s characteristics that is affected by comparisons with other people recently encounter who rank higher or lower on the same characteristics. We don’t evaluate a person in isolation. Our reaction is influenced by other people we have recently encountered. For example, research on 22 teams in a Chinese hospitality organization that was undergoing radical organizational change and new leader appointments suggests that transformational leadership is more effective in improving support for the changes among followers when the former leader was not transformational.</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703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00598"/>
          </a:xfrm>
          <a:solidFill>
            <a:schemeClr val="accent6"/>
          </a:solidFill>
        </p:spPr>
        <p:txBody>
          <a:bodyPr/>
          <a:lstStyle/>
          <a:p>
            <a:pPr algn="ctr"/>
            <a:r>
              <a:rPr lang="en-US" b="1" dirty="0"/>
              <a:t>Common Shortcuts in Judging Others</a:t>
            </a:r>
            <a:endParaRPr lang="en-US" dirty="0"/>
          </a:p>
        </p:txBody>
      </p:sp>
      <p:sp>
        <p:nvSpPr>
          <p:cNvPr id="3" name="Content Placeholder 2"/>
          <p:cNvSpPr>
            <a:spLocks noGrp="1"/>
          </p:cNvSpPr>
          <p:nvPr>
            <p:ph idx="1"/>
          </p:nvPr>
        </p:nvSpPr>
        <p:spPr>
          <a:xfrm>
            <a:off x="2589212" y="1512277"/>
            <a:ext cx="8915400" cy="4747846"/>
          </a:xfrm>
        </p:spPr>
        <p:txBody>
          <a:bodyPr>
            <a:normAutofit/>
          </a:bodyPr>
          <a:lstStyle/>
          <a:p>
            <a:pPr algn="just"/>
            <a:r>
              <a:rPr lang="en-US" sz="2800" b="1" dirty="0" smtClean="0">
                <a:solidFill>
                  <a:srgbClr val="00B050"/>
                </a:solidFill>
                <a:latin typeface="Times New Roman" panose="02020603050405020304" pitchFamily="18" charset="0"/>
                <a:cs typeface="Times New Roman" panose="02020603050405020304" pitchFamily="18" charset="0"/>
              </a:rPr>
              <a:t>Stereotyping: </a:t>
            </a:r>
            <a:r>
              <a:rPr lang="en-US" sz="2800" dirty="0" smtClean="0">
                <a:latin typeface="Times New Roman" panose="02020603050405020304" pitchFamily="18" charset="0"/>
                <a:cs typeface="Times New Roman" panose="02020603050405020304" pitchFamily="18" charset="0"/>
              </a:rPr>
              <a:t>Stereotyping means judging based on one’s perception of  the group to which that person belongs. We deal with our complex world’s unmanageable number of stimuli by using stereotypes or shortcuts called heuristics to make decision quickly.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1576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436728"/>
            <a:ext cx="8911687" cy="600502"/>
          </a:xfrm>
          <a:solidFill>
            <a:schemeClr val="accent6"/>
          </a:solidFill>
        </p:spPr>
        <p:txBody>
          <a:bodyPr>
            <a:normAutofit fontScale="90000"/>
          </a:bodyPr>
          <a:lstStyle/>
          <a:p>
            <a:pPr algn="ctr"/>
            <a:r>
              <a:rPr lang="en-US" b="1" dirty="0" smtClean="0"/>
              <a:t>Decision</a:t>
            </a:r>
            <a:endParaRPr lang="en-US" b="1" dirty="0"/>
          </a:p>
        </p:txBody>
      </p:sp>
      <p:sp>
        <p:nvSpPr>
          <p:cNvPr id="3" name="Content Placeholder 2"/>
          <p:cNvSpPr>
            <a:spLocks noGrp="1"/>
          </p:cNvSpPr>
          <p:nvPr>
            <p:ph idx="1"/>
          </p:nvPr>
        </p:nvSpPr>
        <p:spPr>
          <a:xfrm>
            <a:off x="2589212" y="1173707"/>
            <a:ext cx="8915400" cy="5486400"/>
          </a:xfrm>
        </p:spPr>
        <p:txBody>
          <a:bodyPr>
            <a:normAutofit/>
          </a:bodyPr>
          <a:lstStyle/>
          <a:p>
            <a:pPr algn="just"/>
            <a:r>
              <a:rPr lang="en-US" sz="2800" dirty="0" smtClean="0">
                <a:latin typeface="Times New Roman" panose="02020603050405020304" pitchFamily="18" charset="0"/>
                <a:cs typeface="Times New Roman" panose="02020603050405020304" pitchFamily="18" charset="0"/>
              </a:rPr>
              <a:t>Decision is a choice among two or more alternatives.</a:t>
            </a:r>
          </a:p>
          <a:p>
            <a:pPr algn="just"/>
            <a:r>
              <a:rPr lang="en-US" sz="2800" dirty="0" smtClean="0">
                <a:latin typeface="Times New Roman" panose="02020603050405020304" pitchFamily="18" charset="0"/>
                <a:cs typeface="Times New Roman" panose="02020603050405020304" pitchFamily="18" charset="0"/>
              </a:rPr>
              <a:t>Managers at all levels and in all areas of organization make decisions. That is they make choices.</a:t>
            </a:r>
          </a:p>
          <a:p>
            <a:pPr algn="just"/>
            <a:r>
              <a:rPr lang="en-US" sz="2800" dirty="0" smtClean="0">
                <a:latin typeface="Times New Roman" panose="02020603050405020304" pitchFamily="18" charset="0"/>
                <a:cs typeface="Times New Roman" panose="02020603050405020304" pitchFamily="18" charset="0"/>
              </a:rPr>
              <a:t>For instance, top-level managers make decisions about their organization’s goals, where to locate manufacturing facilities, or what new markets to move into. </a:t>
            </a:r>
          </a:p>
          <a:p>
            <a:pPr algn="just"/>
            <a:r>
              <a:rPr lang="en-US" sz="2800" dirty="0" smtClean="0">
                <a:latin typeface="Times New Roman" panose="02020603050405020304" pitchFamily="18" charset="0"/>
                <a:cs typeface="Times New Roman" panose="02020603050405020304" pitchFamily="18" charset="0"/>
              </a:rPr>
              <a:t>Middle-lower level managers make decisions about production schedules, product quality problem, pay raises, and employee discipline. </a:t>
            </a:r>
          </a:p>
          <a:p>
            <a:pPr algn="just"/>
            <a:r>
              <a:rPr lang="en-US" sz="2800" dirty="0" smtClean="0">
                <a:latin typeface="Times New Roman" panose="02020603050405020304" pitchFamily="18" charset="0"/>
                <a:cs typeface="Times New Roman" panose="02020603050405020304" pitchFamily="18" charset="0"/>
              </a:rPr>
              <a:t>Our focus on this chapter is on how managers make decisions.</a:t>
            </a:r>
          </a:p>
        </p:txBody>
      </p:sp>
    </p:spTree>
    <p:extLst>
      <p:ext uri="{BB962C8B-B14F-4D97-AF65-F5344CB8AC3E}">
        <p14:creationId xmlns:p14="http://schemas.microsoft.com/office/powerpoint/2010/main" val="4026651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22831"/>
            <a:ext cx="8911687" cy="586854"/>
          </a:xfrm>
          <a:solidFill>
            <a:schemeClr val="accent6"/>
          </a:solidFill>
        </p:spPr>
        <p:txBody>
          <a:bodyPr>
            <a:normAutofit fontScale="90000"/>
          </a:bodyPr>
          <a:lstStyle/>
          <a:p>
            <a:pPr algn="ctr"/>
            <a:r>
              <a:rPr lang="en-US" b="1" dirty="0" smtClean="0"/>
              <a:t>Decision-Making Conditions</a:t>
            </a:r>
            <a:endParaRPr lang="en-US" b="1" dirty="0"/>
          </a:p>
        </p:txBody>
      </p:sp>
      <p:sp>
        <p:nvSpPr>
          <p:cNvPr id="3" name="Content Placeholder 2"/>
          <p:cNvSpPr>
            <a:spLocks noGrp="1"/>
          </p:cNvSpPr>
          <p:nvPr>
            <p:ph idx="1"/>
          </p:nvPr>
        </p:nvSpPr>
        <p:spPr>
          <a:xfrm>
            <a:off x="2589212" y="614150"/>
            <a:ext cx="8915400" cy="6141492"/>
          </a:xfrm>
        </p:spPr>
        <p:txBody>
          <a:bodyPr>
            <a:noAutofit/>
          </a:bodyPr>
          <a:lstStyle/>
          <a:p>
            <a:pPr marL="0" indent="0" algn="just">
              <a:buNone/>
            </a:pPr>
            <a:r>
              <a:rPr lang="en-US" sz="2800" dirty="0" smtClean="0">
                <a:latin typeface="Times New Roman" panose="02020603050405020304" pitchFamily="18" charset="0"/>
                <a:cs typeface="Times New Roman" panose="02020603050405020304" pitchFamily="18" charset="0"/>
              </a:rPr>
              <a:t>When making decisions, managers may face three different conditions. These are-</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Certainty</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Risk</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Uncertainty</a:t>
            </a:r>
          </a:p>
          <a:p>
            <a:pPr algn="just">
              <a:buFont typeface="Wingdings" panose="05000000000000000000" pitchFamily="2" charset="2"/>
              <a:buChar char="v"/>
            </a:pPr>
            <a:r>
              <a:rPr lang="en-US" sz="2800" b="1" dirty="0" smtClean="0">
                <a:solidFill>
                  <a:srgbClr val="00B050"/>
                </a:solidFill>
                <a:latin typeface="Times New Roman" panose="02020603050405020304" pitchFamily="18" charset="0"/>
                <a:cs typeface="Times New Roman" panose="02020603050405020304" pitchFamily="18" charset="0"/>
              </a:rPr>
              <a:t>Decision-Making Under Certainty:</a:t>
            </a:r>
            <a:r>
              <a:rPr lang="en-US" sz="2800" dirty="0" smtClean="0">
                <a:solidFill>
                  <a:srgbClr val="00B05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The ideal situation for making decision is one of certainty, a situation where a manager can make accurate decisions because the outcomes of every alternative is known. For example, entrepreneurs and business managers in Sweden can be certain they will receive prompt payment for goods and services when they decide to allow customers to make purchases through financial service apps.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5370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1484"/>
          </a:xfrm>
          <a:solidFill>
            <a:schemeClr val="accent6"/>
          </a:solidFill>
        </p:spPr>
        <p:txBody>
          <a:bodyPr>
            <a:normAutofit fontScale="90000"/>
          </a:bodyPr>
          <a:lstStyle/>
          <a:p>
            <a:pPr algn="ctr"/>
            <a:r>
              <a:rPr lang="en-US" b="1" dirty="0"/>
              <a:t>Decision-Making Conditions</a:t>
            </a:r>
            <a:endParaRPr lang="en-US" dirty="0"/>
          </a:p>
        </p:txBody>
      </p:sp>
      <p:sp>
        <p:nvSpPr>
          <p:cNvPr id="3" name="Content Placeholder 2"/>
          <p:cNvSpPr>
            <a:spLocks noGrp="1"/>
          </p:cNvSpPr>
          <p:nvPr>
            <p:ph idx="1"/>
          </p:nvPr>
        </p:nvSpPr>
        <p:spPr>
          <a:xfrm>
            <a:off x="2589212" y="1255594"/>
            <a:ext cx="8915400" cy="5349922"/>
          </a:xfrm>
        </p:spPr>
        <p:txBody>
          <a:bodyPr/>
          <a:lstStyle/>
          <a:p>
            <a:pPr algn="just"/>
            <a:r>
              <a:rPr lang="en-US" sz="2800" b="1" dirty="0" smtClean="0">
                <a:solidFill>
                  <a:srgbClr val="00B050"/>
                </a:solidFill>
                <a:latin typeface="Times New Roman" panose="02020603050405020304" pitchFamily="18" charset="0"/>
                <a:cs typeface="Times New Roman" panose="02020603050405020304" pitchFamily="18" charset="0"/>
              </a:rPr>
              <a:t>Decision-Making Under Risk:</a:t>
            </a:r>
            <a:r>
              <a:rPr lang="en-US" sz="2800" dirty="0" smtClean="0">
                <a:solidFill>
                  <a:srgbClr val="00B05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A far more common situation is one of risk, conditions in which the decision maker is able to estimate the likelihood of certain outcomes. Under risk managers have historical data from past personal experiences or secondary information that lets them assign probabilities to different alternatives. </a:t>
            </a:r>
          </a:p>
          <a:p>
            <a:pPr algn="just"/>
            <a:r>
              <a:rPr lang="en-US" sz="2800" b="1" dirty="0" smtClean="0">
                <a:solidFill>
                  <a:srgbClr val="00B050"/>
                </a:solidFill>
                <a:latin typeface="Times New Roman" panose="02020603050405020304" pitchFamily="18" charset="0"/>
                <a:cs typeface="Times New Roman" panose="02020603050405020304" pitchFamily="18" charset="0"/>
              </a:rPr>
              <a:t>Decision-Making Under Uncertainty: </a:t>
            </a:r>
            <a:r>
              <a:rPr lang="en-US" sz="2800" dirty="0" smtClean="0">
                <a:latin typeface="Times New Roman" panose="02020603050405020304" pitchFamily="18" charset="0"/>
                <a:cs typeface="Times New Roman" panose="02020603050405020304" pitchFamily="18" charset="0"/>
              </a:rPr>
              <a:t>Uncertainty is a situation in which a decision maker has neither certainty nor reasonable probability estimates available. Under these conditions, the choice of alternatives is influenced by the limited amount of available information and by the psychological orientation of the decision maker.</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2895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218364"/>
            <a:ext cx="8911687" cy="518615"/>
          </a:xfrm>
          <a:solidFill>
            <a:schemeClr val="accent6"/>
          </a:solidFill>
        </p:spPr>
        <p:txBody>
          <a:bodyPr>
            <a:normAutofit fontScale="90000"/>
          </a:bodyPr>
          <a:lstStyle/>
          <a:p>
            <a:pPr algn="ctr"/>
            <a:r>
              <a:rPr lang="en-US" b="1" dirty="0" smtClean="0"/>
              <a:t>Decision-Making Biases and Errors</a:t>
            </a:r>
            <a:endParaRPr lang="en-US" b="1" dirty="0"/>
          </a:p>
        </p:txBody>
      </p:sp>
      <p:sp>
        <p:nvSpPr>
          <p:cNvPr id="3" name="Content Placeholder 2"/>
          <p:cNvSpPr>
            <a:spLocks noGrp="1"/>
          </p:cNvSpPr>
          <p:nvPr>
            <p:ph idx="1"/>
          </p:nvPr>
        </p:nvSpPr>
        <p:spPr>
          <a:xfrm>
            <a:off x="1934120" y="859809"/>
            <a:ext cx="9570492" cy="5868537"/>
          </a:xfrm>
        </p:spPr>
        <p:txBody>
          <a:bodyPr/>
          <a:lstStyle/>
          <a:p>
            <a:pPr marL="0" indent="0" algn="just">
              <a:buNone/>
            </a:pPr>
            <a:r>
              <a:rPr lang="en-US" sz="2000" dirty="0" smtClean="0">
                <a:latin typeface="Times New Roman" panose="02020603050405020304" pitchFamily="18" charset="0"/>
                <a:cs typeface="Times New Roman" panose="02020603050405020304" pitchFamily="18" charset="0"/>
              </a:rPr>
              <a:t>When managers make decisions, they may use the “rules of thumb”, or heuristics, to simplify their decision making. Rules of thumb can be useful because they help make sense of complex, uncertain, and ambiguous information. Even though managers may use rules of thumb, that doesn’t mean those rules are reliable.</a:t>
            </a:r>
          </a:p>
          <a:p>
            <a:pPr marL="0" indent="0">
              <a:buNone/>
            </a:pPr>
            <a:endParaRPr lang="en-US" dirty="0"/>
          </a:p>
        </p:txBody>
      </p:sp>
      <p:pic>
        <p:nvPicPr>
          <p:cNvPr id="1026" name="Picture 2" descr="https://3.bp.blogspot.com/-S7MTbkaJrqM/WuiTXRrJ1sI/AAAAAAAAFec/zj9c8oT5XLMnw079qtSy4tjXjGJ_ZZQrgCLcBGAs/s400/Errors.jpg"/>
          <p:cNvPicPr>
            <a:picLocks noChangeAspect="1" noChangeArrowheads="1"/>
          </p:cNvPicPr>
          <p:nvPr/>
        </p:nvPicPr>
        <p:blipFill rotWithShape="1">
          <a:blip r:embed="rId2">
            <a:extLst>
              <a:ext uri="{28A0092B-C50C-407E-A947-70E740481C1C}">
                <a14:useLocalDpi xmlns:a14="http://schemas.microsoft.com/office/drawing/2010/main" val="0"/>
              </a:ext>
            </a:extLst>
          </a:blip>
          <a:srcRect l="4760" t="15923" r="23146" b="6974"/>
          <a:stretch/>
        </p:blipFill>
        <p:spPr bwMode="auto">
          <a:xfrm>
            <a:off x="2101756" y="2169994"/>
            <a:ext cx="9402856" cy="455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670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04189"/>
          </a:xfrm>
          <a:solidFill>
            <a:schemeClr val="accent6"/>
          </a:solidFill>
        </p:spPr>
        <p:txBody>
          <a:bodyPr>
            <a:normAutofit fontScale="90000"/>
          </a:bodyPr>
          <a:lstStyle/>
          <a:p>
            <a:pPr algn="ctr"/>
            <a:r>
              <a:rPr lang="en-US" b="1" dirty="0"/>
              <a:t>Decision-Making Biases and Errors</a:t>
            </a:r>
            <a:endParaRPr lang="en-US" dirty="0"/>
          </a:p>
        </p:txBody>
      </p:sp>
      <p:sp>
        <p:nvSpPr>
          <p:cNvPr id="3" name="Content Placeholder 2"/>
          <p:cNvSpPr>
            <a:spLocks noGrp="1"/>
          </p:cNvSpPr>
          <p:nvPr>
            <p:ph idx="1"/>
          </p:nvPr>
        </p:nvSpPr>
        <p:spPr>
          <a:xfrm>
            <a:off x="2589212" y="1228299"/>
            <a:ext cx="8915400" cy="5445456"/>
          </a:xfrm>
        </p:spPr>
        <p:txBody>
          <a:bodyPr>
            <a:noAutofit/>
          </a:bodyPr>
          <a:lstStyle/>
          <a:p>
            <a:pPr algn="just"/>
            <a:r>
              <a:rPr lang="en-US" sz="2400" b="1" dirty="0" smtClean="0">
                <a:solidFill>
                  <a:srgbClr val="00B050"/>
                </a:solidFill>
                <a:latin typeface="Times New Roman" panose="02020603050405020304" pitchFamily="18" charset="0"/>
                <a:cs typeface="Times New Roman" panose="02020603050405020304" pitchFamily="18" charset="0"/>
              </a:rPr>
              <a:t>Overconfidence Bias: </a:t>
            </a:r>
            <a:r>
              <a:rPr lang="en-US" sz="2400" dirty="0" smtClean="0">
                <a:latin typeface="Times New Roman" panose="02020603050405020304" pitchFamily="18" charset="0"/>
                <a:cs typeface="Times New Roman" panose="02020603050405020304" pitchFamily="18" charset="0"/>
              </a:rPr>
              <a:t>When decision makers tend to think they know more than they do or hold unrealistically positive views of themselves and their performance, they are exhibiting the overconfidence bias.</a:t>
            </a:r>
          </a:p>
          <a:p>
            <a:pPr algn="just"/>
            <a:r>
              <a:rPr lang="en-US" sz="2400" b="1" dirty="0" smtClean="0">
                <a:solidFill>
                  <a:srgbClr val="00B050"/>
                </a:solidFill>
                <a:latin typeface="Times New Roman" panose="02020603050405020304" pitchFamily="18" charset="0"/>
                <a:cs typeface="Times New Roman" panose="02020603050405020304" pitchFamily="18" charset="0"/>
              </a:rPr>
              <a:t>Immediate Gratification Bias: </a:t>
            </a:r>
            <a:r>
              <a:rPr lang="en-US" sz="2400" dirty="0" smtClean="0">
                <a:latin typeface="Times New Roman" panose="02020603050405020304" pitchFamily="18" charset="0"/>
                <a:cs typeface="Times New Roman" panose="02020603050405020304" pitchFamily="18" charset="0"/>
              </a:rPr>
              <a:t>The immediate gratification bias describes decision makers who tend to want immediate rewards and to avoid immediate costs. For these individuals decision choices that provide quick payoffs are more appealing than those with payoffs in the future.</a:t>
            </a:r>
          </a:p>
          <a:p>
            <a:pPr algn="just"/>
            <a:r>
              <a:rPr lang="en-US" sz="2400" b="1" dirty="0" smtClean="0">
                <a:solidFill>
                  <a:srgbClr val="00B050"/>
                </a:solidFill>
                <a:latin typeface="Times New Roman" panose="02020603050405020304" pitchFamily="18" charset="0"/>
                <a:cs typeface="Times New Roman" panose="02020603050405020304" pitchFamily="18" charset="0"/>
              </a:rPr>
              <a:t>Anchoring Effect: </a:t>
            </a:r>
            <a:r>
              <a:rPr lang="en-US" sz="2400" dirty="0" smtClean="0">
                <a:latin typeface="Times New Roman" panose="02020603050405020304" pitchFamily="18" charset="0"/>
                <a:cs typeface="Times New Roman" panose="02020603050405020304" pitchFamily="18" charset="0"/>
              </a:rPr>
              <a:t>The anchoring effect describes how decision makers fixate on initial information as a starting point and then, once set, fail to adequately adjust for subsequent information. First impressions, ideas, prices, and estimates carry unwarranted weight relative to information received later.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7568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63245"/>
          </a:xfrm>
          <a:solidFill>
            <a:schemeClr val="accent6"/>
          </a:solidFill>
        </p:spPr>
        <p:txBody>
          <a:bodyPr>
            <a:normAutofit fontScale="90000"/>
          </a:bodyPr>
          <a:lstStyle/>
          <a:p>
            <a:pPr algn="ctr"/>
            <a:r>
              <a:rPr lang="en-US" b="1" dirty="0"/>
              <a:t>Decision-Making Biases and Errors</a:t>
            </a:r>
            <a:endParaRPr lang="en-US" dirty="0"/>
          </a:p>
        </p:txBody>
      </p:sp>
      <p:sp>
        <p:nvSpPr>
          <p:cNvPr id="3" name="Content Placeholder 2"/>
          <p:cNvSpPr>
            <a:spLocks noGrp="1"/>
          </p:cNvSpPr>
          <p:nvPr>
            <p:ph idx="1"/>
          </p:nvPr>
        </p:nvSpPr>
        <p:spPr>
          <a:xfrm>
            <a:off x="2589212" y="1187355"/>
            <a:ext cx="8915400" cy="5336275"/>
          </a:xfrm>
        </p:spPr>
        <p:txBody>
          <a:bodyPr>
            <a:normAutofit/>
          </a:bodyPr>
          <a:lstStyle/>
          <a:p>
            <a:pPr algn="just"/>
            <a:r>
              <a:rPr lang="en-US" sz="2400" b="1" dirty="0" smtClean="0">
                <a:solidFill>
                  <a:srgbClr val="00B050"/>
                </a:solidFill>
                <a:latin typeface="Times New Roman" panose="02020603050405020304" pitchFamily="18" charset="0"/>
                <a:cs typeface="Times New Roman" panose="02020603050405020304" pitchFamily="18" charset="0"/>
              </a:rPr>
              <a:t>Selective Perception Bias: </a:t>
            </a:r>
            <a:r>
              <a:rPr lang="en-US" sz="2400" dirty="0" smtClean="0">
                <a:latin typeface="Times New Roman" panose="02020603050405020304" pitchFamily="18" charset="0"/>
                <a:cs typeface="Times New Roman" panose="02020603050405020304" pitchFamily="18" charset="0"/>
              </a:rPr>
              <a:t>When decision makers selectively organize and interpret events based on their biased perceptions, they are using the selective perception bias. This influences the information they pay attention to, the problems they identify, and the alternatives they develop. </a:t>
            </a:r>
          </a:p>
          <a:p>
            <a:pPr algn="just"/>
            <a:r>
              <a:rPr lang="en-US" sz="2400" b="1" dirty="0" smtClean="0">
                <a:solidFill>
                  <a:srgbClr val="00B050"/>
                </a:solidFill>
                <a:latin typeface="Times New Roman" panose="02020603050405020304" pitchFamily="18" charset="0"/>
                <a:cs typeface="Times New Roman" panose="02020603050405020304" pitchFamily="18" charset="0"/>
              </a:rPr>
              <a:t>Confirmation Bias: </a:t>
            </a:r>
            <a:r>
              <a:rPr lang="en-US" sz="2400" dirty="0" smtClean="0">
                <a:latin typeface="Times New Roman" panose="02020603050405020304" pitchFamily="18" charset="0"/>
                <a:cs typeface="Times New Roman" panose="02020603050405020304" pitchFamily="18" charset="0"/>
              </a:rPr>
              <a:t>Decision makers who seek out information that reaffirms their past choices and discounts information that contradicts past judgements exhibit the confirmation bias.</a:t>
            </a:r>
          </a:p>
          <a:p>
            <a:pPr algn="just"/>
            <a:r>
              <a:rPr lang="en-US" sz="2400" b="1" dirty="0" smtClean="0">
                <a:solidFill>
                  <a:srgbClr val="00B050"/>
                </a:solidFill>
                <a:latin typeface="Times New Roman" panose="02020603050405020304" pitchFamily="18" charset="0"/>
                <a:cs typeface="Times New Roman" panose="02020603050405020304" pitchFamily="18" charset="0"/>
              </a:rPr>
              <a:t>Framing Bias: </a:t>
            </a:r>
            <a:r>
              <a:rPr lang="en-US" sz="2400" dirty="0" smtClean="0">
                <a:latin typeface="Times New Roman" panose="02020603050405020304" pitchFamily="18" charset="0"/>
                <a:cs typeface="Times New Roman" panose="02020603050405020304" pitchFamily="18" charset="0"/>
              </a:rPr>
              <a:t>The framing bias occurs when decision makers select and highlight certain aspects of a situation while excluding others. By drawing attention to specific aspects of a situation while excluding others. By drawing attention to specific aspects of a situation and highlighting them.</a:t>
            </a:r>
          </a:p>
        </p:txBody>
      </p:sp>
    </p:spTree>
    <p:extLst>
      <p:ext uri="{BB962C8B-B14F-4D97-AF65-F5344CB8AC3E}">
        <p14:creationId xmlns:p14="http://schemas.microsoft.com/office/powerpoint/2010/main" val="4230421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76893"/>
          </a:xfrm>
          <a:solidFill>
            <a:schemeClr val="accent6"/>
          </a:solidFill>
        </p:spPr>
        <p:txBody>
          <a:bodyPr>
            <a:normAutofit fontScale="90000"/>
          </a:bodyPr>
          <a:lstStyle/>
          <a:p>
            <a:pPr algn="ctr"/>
            <a:r>
              <a:rPr lang="en-US" b="1" dirty="0"/>
              <a:t>Decision-Making Biases and Errors</a:t>
            </a:r>
            <a:endParaRPr lang="en-US" dirty="0"/>
          </a:p>
        </p:txBody>
      </p:sp>
      <p:sp>
        <p:nvSpPr>
          <p:cNvPr id="3" name="Content Placeholder 2"/>
          <p:cNvSpPr>
            <a:spLocks noGrp="1"/>
          </p:cNvSpPr>
          <p:nvPr>
            <p:ph idx="1"/>
          </p:nvPr>
        </p:nvSpPr>
        <p:spPr>
          <a:xfrm>
            <a:off x="2589212" y="1201003"/>
            <a:ext cx="8915400" cy="5513696"/>
          </a:xfrm>
        </p:spPr>
        <p:txBody>
          <a:bodyPr>
            <a:normAutofit lnSpcReduction="10000"/>
          </a:bodyPr>
          <a:lstStyle/>
          <a:p>
            <a:pPr algn="just"/>
            <a:r>
              <a:rPr lang="en-US" sz="2400" b="1" dirty="0" smtClean="0">
                <a:solidFill>
                  <a:srgbClr val="00B050"/>
                </a:solidFill>
                <a:latin typeface="Times New Roman" panose="02020603050405020304" pitchFamily="18" charset="0"/>
                <a:cs typeface="Times New Roman" panose="02020603050405020304" pitchFamily="18" charset="0"/>
              </a:rPr>
              <a:t>Availability Bias: </a:t>
            </a:r>
            <a:r>
              <a:rPr lang="en-US" sz="2400" dirty="0" smtClean="0">
                <a:latin typeface="Times New Roman" panose="02020603050405020304" pitchFamily="18" charset="0"/>
                <a:cs typeface="Times New Roman" panose="02020603050405020304" pitchFamily="18" charset="0"/>
              </a:rPr>
              <a:t>The availability bias happens when decision makers tend to remember events that most recent and vivid in their memory. It distorts their ability to recall events in an objective manner and results in distorted judgements and probability estimates.</a:t>
            </a:r>
          </a:p>
          <a:p>
            <a:pPr algn="just"/>
            <a:r>
              <a:rPr lang="en-US" sz="2400" b="1" dirty="0" smtClean="0">
                <a:solidFill>
                  <a:srgbClr val="00B050"/>
                </a:solidFill>
                <a:latin typeface="Times New Roman" panose="02020603050405020304" pitchFamily="18" charset="0"/>
                <a:cs typeface="Times New Roman" panose="02020603050405020304" pitchFamily="18" charset="0"/>
              </a:rPr>
              <a:t>Representation Bias: </a:t>
            </a:r>
            <a:r>
              <a:rPr lang="en-US" sz="2400" dirty="0" smtClean="0">
                <a:latin typeface="Times New Roman" panose="02020603050405020304" pitchFamily="18" charset="0"/>
                <a:cs typeface="Times New Roman" panose="02020603050405020304" pitchFamily="18" charset="0"/>
              </a:rPr>
              <a:t>When decision makers assess the likelihood of an events based on how closely it resembles other events or sets of events, that’s the representation bias. Managers exhibiting this bias draw analogies and see identical situations where they don’t exist.</a:t>
            </a:r>
          </a:p>
          <a:p>
            <a:pPr algn="just"/>
            <a:r>
              <a:rPr lang="en-US" sz="2400" b="1" dirty="0" smtClean="0">
                <a:solidFill>
                  <a:srgbClr val="00B050"/>
                </a:solidFill>
                <a:latin typeface="Times New Roman" panose="02020603050405020304" pitchFamily="18" charset="0"/>
                <a:cs typeface="Times New Roman" panose="02020603050405020304" pitchFamily="18" charset="0"/>
              </a:rPr>
              <a:t>Randomness Bias: </a:t>
            </a:r>
            <a:r>
              <a:rPr lang="en-US" sz="2400" dirty="0" smtClean="0">
                <a:latin typeface="Times New Roman" panose="02020603050405020304" pitchFamily="18" charset="0"/>
                <a:cs typeface="Times New Roman" panose="02020603050405020304" pitchFamily="18" charset="0"/>
              </a:rPr>
              <a:t>The randomness bias describes the actions of decision makers who try to create meaning out random events. They do this because most decision makers have difficulty dealing with chance even though random events happen to everyone, and there is nothing that can be done to predict them. </a:t>
            </a:r>
          </a:p>
        </p:txBody>
      </p:sp>
    </p:spTree>
    <p:extLst>
      <p:ext uri="{BB962C8B-B14F-4D97-AF65-F5344CB8AC3E}">
        <p14:creationId xmlns:p14="http://schemas.microsoft.com/office/powerpoint/2010/main" val="2215744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76893"/>
          </a:xfrm>
          <a:solidFill>
            <a:schemeClr val="accent6"/>
          </a:solidFill>
        </p:spPr>
        <p:txBody>
          <a:bodyPr>
            <a:normAutofit fontScale="90000"/>
          </a:bodyPr>
          <a:lstStyle/>
          <a:p>
            <a:pPr algn="ctr"/>
            <a:r>
              <a:rPr lang="en-US" b="1" dirty="0"/>
              <a:t>Decision-Making Biases and Errors</a:t>
            </a:r>
            <a:endParaRPr lang="en-US" dirty="0"/>
          </a:p>
        </p:txBody>
      </p:sp>
      <p:sp>
        <p:nvSpPr>
          <p:cNvPr id="3" name="Content Placeholder 2"/>
          <p:cNvSpPr>
            <a:spLocks noGrp="1"/>
          </p:cNvSpPr>
          <p:nvPr>
            <p:ph idx="1"/>
          </p:nvPr>
        </p:nvSpPr>
        <p:spPr>
          <a:xfrm>
            <a:off x="2589212" y="1378423"/>
            <a:ext cx="8915400" cy="5008729"/>
          </a:xfrm>
        </p:spPr>
        <p:txBody>
          <a:bodyPr>
            <a:normAutofit/>
          </a:bodyPr>
          <a:lstStyle/>
          <a:p>
            <a:pPr algn="just"/>
            <a:r>
              <a:rPr lang="en-US" sz="2400" b="1" dirty="0" smtClean="0">
                <a:solidFill>
                  <a:srgbClr val="00B050"/>
                </a:solidFill>
                <a:latin typeface="Times New Roman" panose="02020603050405020304" pitchFamily="18" charset="0"/>
                <a:cs typeface="Times New Roman" panose="02020603050405020304" pitchFamily="18" charset="0"/>
              </a:rPr>
              <a:t>Sunk Costs Error: </a:t>
            </a:r>
            <a:r>
              <a:rPr lang="en-US" sz="2400" dirty="0" smtClean="0">
                <a:latin typeface="Times New Roman" panose="02020603050405020304" pitchFamily="18" charset="0"/>
                <a:cs typeface="Times New Roman" panose="02020603050405020304" pitchFamily="18" charset="0"/>
              </a:rPr>
              <a:t>The sunk cost error occurs when decision makers forget that current choices can’t correct the past. They incorrectly fixate on past expenditures of time, money, or effort in assessing choices rather than on future consequences. Instead of ignoring sunk costs, they can’t forget them. </a:t>
            </a:r>
          </a:p>
          <a:p>
            <a:pPr algn="just"/>
            <a:r>
              <a:rPr lang="en-US" sz="2400" b="1" dirty="0" smtClean="0">
                <a:solidFill>
                  <a:srgbClr val="00B050"/>
                </a:solidFill>
                <a:latin typeface="Times New Roman" panose="02020603050405020304" pitchFamily="18" charset="0"/>
                <a:cs typeface="Times New Roman" panose="02020603050405020304" pitchFamily="18" charset="0"/>
              </a:rPr>
              <a:t>Self-serving Bias: </a:t>
            </a:r>
            <a:r>
              <a:rPr lang="en-US" sz="2400" dirty="0" smtClean="0">
                <a:latin typeface="Times New Roman" panose="02020603050405020304" pitchFamily="18" charset="0"/>
                <a:cs typeface="Times New Roman" panose="02020603050405020304" pitchFamily="18" charset="0"/>
              </a:rPr>
              <a:t>Decision makers who are quick to take credit for their successes and to blame failure on outside factors are exhibiting the self-serving bias.</a:t>
            </a:r>
          </a:p>
          <a:p>
            <a:pPr algn="just"/>
            <a:r>
              <a:rPr lang="en-US" sz="2400" b="1" dirty="0" smtClean="0">
                <a:solidFill>
                  <a:srgbClr val="00B050"/>
                </a:solidFill>
                <a:latin typeface="Times New Roman" panose="02020603050405020304" pitchFamily="18" charset="0"/>
                <a:cs typeface="Times New Roman" panose="02020603050405020304" pitchFamily="18" charset="0"/>
              </a:rPr>
              <a:t>Hindsight Bias: </a:t>
            </a:r>
            <a:r>
              <a:rPr lang="en-US" sz="2400" dirty="0" smtClean="0">
                <a:latin typeface="Times New Roman" panose="02020603050405020304" pitchFamily="18" charset="0"/>
                <a:cs typeface="Times New Roman" panose="02020603050405020304" pitchFamily="18" charset="0"/>
              </a:rPr>
              <a:t>Finally, the hindsight bias is the tendency for decision makers to falsely believe that they would have accurately predicted the outcome of an event once that outcome is actually known.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055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1"/>
            <a:ext cx="8915399" cy="914399"/>
          </a:xfrm>
        </p:spPr>
        <p:txBody>
          <a:bodyPr>
            <a:noAutofit/>
          </a:bodyPr>
          <a:lstStyle/>
          <a:p>
            <a:pPr algn="ctr"/>
            <a:r>
              <a:rPr lang="en-US" sz="6000" b="1" dirty="0" smtClean="0">
                <a:solidFill>
                  <a:srgbClr val="00B050"/>
                </a:solidFill>
              </a:rPr>
              <a:t>END OF CHAPTER</a:t>
            </a:r>
            <a:endParaRPr lang="en-US" sz="6000" b="1" dirty="0">
              <a:solidFill>
                <a:srgbClr val="00B050"/>
              </a:solidFill>
            </a:endParaRPr>
          </a:p>
        </p:txBody>
      </p:sp>
      <p:sp>
        <p:nvSpPr>
          <p:cNvPr id="3" name="Subtitle 2"/>
          <p:cNvSpPr>
            <a:spLocks noGrp="1"/>
          </p:cNvSpPr>
          <p:nvPr>
            <p:ph type="subTitle" idx="1"/>
          </p:nvPr>
        </p:nvSpPr>
        <p:spPr>
          <a:xfrm>
            <a:off x="2589213" y="3821373"/>
            <a:ext cx="8915399" cy="1173708"/>
          </a:xfrm>
        </p:spPr>
        <p:txBody>
          <a:bodyPr>
            <a:normAutofit/>
          </a:bodyPr>
          <a:lstStyle/>
          <a:p>
            <a:pPr algn="ctr"/>
            <a:r>
              <a:rPr lang="en-US" sz="5400" b="1" dirty="0" smtClean="0">
                <a:solidFill>
                  <a:srgbClr val="002060"/>
                </a:solidFill>
              </a:rPr>
              <a:t>HAVE A GOOD DAY</a:t>
            </a:r>
            <a:endParaRPr lang="en-US" sz="5400" b="1" dirty="0">
              <a:solidFill>
                <a:srgbClr val="002060"/>
              </a:solidFill>
            </a:endParaRPr>
          </a:p>
        </p:txBody>
      </p:sp>
    </p:spTree>
    <p:extLst>
      <p:ext uri="{BB962C8B-B14F-4D97-AF65-F5344CB8AC3E}">
        <p14:creationId xmlns:p14="http://schemas.microsoft.com/office/powerpoint/2010/main" val="97036771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307</TotalTime>
  <Words>1756</Words>
  <Application>Microsoft Office PowerPoint</Application>
  <PresentationFormat>Widescreen</PresentationFormat>
  <Paragraphs>81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Century Gothic</vt:lpstr>
      <vt:lpstr>Times New Roman</vt:lpstr>
      <vt:lpstr>Wingdings</vt:lpstr>
      <vt:lpstr>Wingdings 3</vt:lpstr>
      <vt:lpstr>Wisp</vt:lpstr>
      <vt:lpstr>Chapter-Five Perception and Individual Decision Making</vt:lpstr>
      <vt:lpstr>Perception</vt:lpstr>
      <vt:lpstr>Factors That Influence Perception </vt:lpstr>
      <vt:lpstr>Factors That Influence Perception </vt:lpstr>
      <vt:lpstr>Factors That Influence Perception </vt:lpstr>
      <vt:lpstr>Factors That Influence Perception </vt:lpstr>
      <vt:lpstr>Factors That Influence Perception </vt:lpstr>
      <vt:lpstr>Common Shortcuts in Judging Others</vt:lpstr>
      <vt:lpstr>Common Shortcuts in Judging Others</vt:lpstr>
      <vt:lpstr>Common Shortcuts in Judging Others</vt:lpstr>
      <vt:lpstr>Common Shortcuts in Judging Others</vt:lpstr>
      <vt:lpstr>Common Shortcuts in Judging Others</vt:lpstr>
      <vt:lpstr>Decision</vt:lpstr>
      <vt:lpstr>Decision-Making Conditions</vt:lpstr>
      <vt:lpstr>Decision-Making Conditions</vt:lpstr>
      <vt:lpstr>Decision-Making Biases and Errors</vt:lpstr>
      <vt:lpstr>Decision-Making Biases and Errors</vt:lpstr>
      <vt:lpstr>Decision-Making Biases and Errors</vt:lpstr>
      <vt:lpstr>Decision-Making Biases and Errors</vt:lpstr>
      <vt:lpstr>Decision-Making Biases and Errors</vt:lpstr>
      <vt:lpstr>END OF CHAPTER</vt:lpstr>
    </vt:vector>
  </TitlesOfParts>
  <Company>CyberSpace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Chapter-Eleven Preparing Informative and Influential Business Reports</dc:title>
  <dc:creator>admin</dc:creator>
  <cp:lastModifiedBy>User</cp:lastModifiedBy>
  <cp:revision>59</cp:revision>
  <dcterms:created xsi:type="dcterms:W3CDTF">2023-03-03T18:49:46Z</dcterms:created>
  <dcterms:modified xsi:type="dcterms:W3CDTF">2024-01-08T08:00:38Z</dcterms:modified>
</cp:coreProperties>
</file>